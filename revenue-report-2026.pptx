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7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8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9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0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4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5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6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1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8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19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20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21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22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23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24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25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26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27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charts/chart28.xml" ContentType="application/vnd.openxmlformats-officedocument.drawingml.chart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charts/chart29.xml" ContentType="application/vnd.openxmlformats-officedocument.drawingml.chart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30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31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charts/chart32.xml" ContentType="application/vnd.openxmlformats-officedocument.drawingml.chart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charts/chart33.xml" ContentType="application/vnd.openxmlformats-officedocument.drawingml.chart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charts/chart34.xml" ContentType="application/vnd.openxmlformats-officedocument.drawingml.chart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charts/chart35.xml" ContentType="application/vnd.openxmlformats-officedocument.drawingml.chart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charts/chart36.xml" ContentType="application/vnd.openxmlformats-officedocument.drawingml.chart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charts/chart37.xml" ContentType="application/vnd.openxmlformats-officedocument.drawingml.chart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charts/chart38.xml" ContentType="application/vnd.openxmlformats-officedocument.drawingml.chart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charts/chart39.xml" ContentType="application/vnd.openxmlformats-officedocument.drawingml.chart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charts/chart40.xml" ContentType="application/vnd.openxmlformats-officedocument.drawingml.chart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charts/chart41.xml" ContentType="application/vnd.openxmlformats-officedocument.drawingml.chart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charts/chart42.xml" ContentType="application/vnd.openxmlformats-officedocument.drawingml.chart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charts/chart43.xml" ContentType="application/vnd.openxmlformats-officedocument.drawingml.chart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charts/chart44.xml" ContentType="application/vnd.openxmlformats-officedocument.drawingml.chart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charts/chart45.xml" ContentType="application/vnd.openxmlformats-officedocument.drawingml.chart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charts/chart46.xml" ContentType="application/vnd.openxmlformats-officedocument.drawingml.chart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charts/chart47.xml" ContentType="application/vnd.openxmlformats-officedocument.drawingml.chart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charts/chart48.xml" ContentType="application/vnd.openxmlformats-officedocument.drawingml.chart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charts/chart49.xml" ContentType="application/vnd.openxmlformats-officedocument.drawingml.chart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charts/chart50.xml" ContentType="application/vnd.openxmlformats-officedocument.drawingml.chart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charts/chart51.xml" ContentType="application/vnd.openxmlformats-officedocument.drawingml.chart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</p:sldIdLst>
  <p:notesMasterIdLst>
    <p:notesMasterId r:id="rId6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غلاف" id="{3b4520c1-c215-b0df-1c50-b5c25136d851}">
          <p14:sldIdLst/>
        </p14:section>
        <p14:section name="الفهرس" id="{edd258c5-e8d3-0591-6501-1de53e0818cd}">
          <p14:sldIdLst>
            <p14:sldId id="257"/>
          </p14:sldIdLst>
        </p14:section>
        <p14:section name="المؤشرات الرئيسة" id="{b89ef064-418b-e48c-a82a-4cd22577eabc}">
          <p14:sldIdLst>
            <p14:sldId id="258"/>
          </p14:sldIdLst>
        </p14:section>
        <p14:section name="الإيراد حتى تاريخه" id="{26b09df4-1a76-4581-92ed-eb99996e6260}">
          <p14:sldIdLst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الإيراد لنهاية السنة" id="{a4e0f137-8f8d-8f67-9a73-b598d8312109}">
          <p14:sldIdLst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الإيراد للشهر الحالي" id="{840236eb-af9a-87da-3de0-88cbf6f5e1f9}">
          <p14:sldIdLst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الإيراد حسب القطاع" id="{f0e809e9-c0b3-6ac6-8cfd-4a158fa51483}">
          <p14:sldIdLst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ملخص التبويبات" id="{0c903930-3b41-0cae-ffe6-c8b1849fd068}">
          <p14:sldIdLst>
            <p14:sldId id="286"/>
            <p14:sldId id="287"/>
            <p14:sldId id="288"/>
            <p14:sldId id="289"/>
          </p14:sldIdLst>
        </p14:section>
        <p14:section name="الاستقطاع" id="{7e779094-83dd-5a7e-2d23-479d8530747f}">
          <p14:sldIdLst>
            <p14:sldId id="290"/>
            <p14:sldId id="291"/>
            <p14:sldId id="292"/>
          </p14:sldIdLst>
        </p14:section>
        <p14:section name="سيناريوهات الإقفال" id="{eb952599-d470-8760-ad92-86b4a8cbe480}">
          <p14:sldIdLst>
            <p14:sldId id="293"/>
            <p14:sldId id="294"/>
            <p14:sldId id="295"/>
          </p14:sldIdLst>
        </p14:section>
        <p14:section name="الجزاءات والغرامات الشهرية" id="{967d44a7-e47b-2fee-604c-23f790b19726}">
          <p14:sldIdLst>
            <p14:sldId id="296"/>
            <p14:sldId id="297"/>
            <p14:sldId id="298"/>
            <p14:sldId id="299"/>
            <p14:sldId id="300"/>
          </p14:sldIdLst>
        </p14:section>
        <p14:section name="التنفيذ والاسترداد" id="{31a4c3cd-aaca-a983-ed60-dee439522cfa}">
          <p14:sldIdLst>
            <p14:sldId id="301"/>
            <p14:sldId id="302"/>
            <p14:sldId id="303"/>
            <p14:sldId id="304"/>
          </p14:sldIdLst>
        </p14:section>
        <p14:section name="المفوتر والميزانية والمستهدف" id="{f71ac4e0-ad1b-5d31-4db9-1802fe3fe03b}">
          <p14:sldIdLst>
            <p14:sldId id="305"/>
            <p14:sldId id="306"/>
            <p14:sldId id="307"/>
          </p14:sldIdLst>
        </p14:section>
        <p14:section name="تبويبات الوزارة" id="{16e09a33-e4da-2e76-5e0c-45227fe854ac}">
          <p14:sldIdLst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</p14:sldIdLst>
        </p14:section>
        <p14:section name="المديونية" id="{9a2313f7-cbea-0e96-b233-441487f0e373}">
          <p14:sldIdLst>
            <p14:sldId id="316"/>
            <p14:sldId id="317"/>
            <p14:sldId id="318"/>
            <p14:sldId id="319"/>
            <p14:sldId id="320"/>
            <p14:sldId id="321"/>
          </p14:sldIdLst>
        </p14:section>
        <p14:section name="ملاحظات منهجية" id="{26dd415d-9410-b7d6-ec2c-fb3179e860ba}">
          <p14:sldIdLst>
            <p14:sldId id="32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notesMaster" Target="notesMasters/notesMaster1.xml"/><Relationship Id="rId70" Type="http://schemas.openxmlformats.org/officeDocument/2006/relationships/presProps" Target="presProps.xml"/><Relationship Id="rId71" Type="http://schemas.openxmlformats.org/officeDocument/2006/relationships/viewProps" Target="viewProps.xml"/><Relationship Id="rId72" Type="http://schemas.openxmlformats.org/officeDocument/2006/relationships/theme" Target="theme/theme1.xml"/><Relationship Id="rId7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1052.1</c:v>
                </c:pt>
                <c:pt idx="1">
                  <c:v>892.8</c:v>
                </c:pt>
                <c:pt idx="2">
                  <c:v>638.9</c:v>
                </c:pt>
                <c:pt idx="3">
                  <c:v>209.1</c:v>
                </c:pt>
                <c:pt idx="4">
                  <c:v>193.3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927.6</c:v>
                </c:pt>
                <c:pt idx="1">
                  <c:v>796.4</c:v>
                </c:pt>
                <c:pt idx="2">
                  <c:v>306.8</c:v>
                </c:pt>
                <c:pt idx="3">
                  <c:v>255.2</c:v>
                </c:pt>
                <c:pt idx="4">
                  <c:v>12.8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961.4</c:v>
                </c:pt>
                <c:pt idx="1">
                  <c:v>848.9</c:v>
                </c:pt>
                <c:pt idx="2">
                  <c:v>376</c:v>
                </c:pt>
                <c:pt idx="3">
                  <c:v>275.3</c:v>
                </c:pt>
                <c:pt idx="4">
                  <c:v>7.9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710.4</c:v>
                </c:pt>
                <c:pt idx="1">
                  <c:v>815.2</c:v>
                </c:pt>
                <c:pt idx="2">
                  <c:v>240.8</c:v>
                </c:pt>
                <c:pt idx="3">
                  <c:v>216.3</c:v>
                </c:pt>
                <c:pt idx="4">
                  <c:v>4.9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1076.4</c:v>
                </c:pt>
                <c:pt idx="1">
                  <c:v>887.7</c:v>
                </c:pt>
                <c:pt idx="2">
                  <c:v>188.7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1052.1</c:v>
                </c:pt>
                <c:pt idx="1">
                  <c:v>909</c:v>
                </c:pt>
                <c:pt idx="2">
                  <c:v>143.1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927.6</c:v>
                </c:pt>
                <c:pt idx="1">
                  <c:v>799.1</c:v>
                </c:pt>
                <c:pt idx="2">
                  <c:v>128.5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961.4</c:v>
                </c:pt>
                <c:pt idx="1">
                  <c:v>793.6</c:v>
                </c:pt>
                <c:pt idx="2">
                  <c:v>167.9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710.4</c:v>
                </c:pt>
                <c:pt idx="1">
                  <c:v>569.5</c:v>
                </c:pt>
                <c:pt idx="2">
                  <c:v>140.9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886.3</c:v>
                </c:pt>
                <c:pt idx="1">
                  <c:v>856</c:v>
                </c:pt>
                <c:pt idx="2">
                  <c:v>30.2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892.8</c:v>
                </c:pt>
                <c:pt idx="1">
                  <c:v>777.3</c:v>
                </c:pt>
                <c:pt idx="2">
                  <c:v>115.5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796.4</c:v>
                </c:pt>
                <c:pt idx="1">
                  <c:v>704.3</c:v>
                </c:pt>
                <c:pt idx="2">
                  <c:v>92.1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848.9</c:v>
                </c:pt>
                <c:pt idx="1">
                  <c:v>753.1</c:v>
                </c:pt>
                <c:pt idx="2">
                  <c:v>95.8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815.2</c:v>
                </c:pt>
                <c:pt idx="1">
                  <c:v>734.1</c:v>
                </c:pt>
                <c:pt idx="2">
                  <c:v>81.1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1178.3</c:v>
                </c:pt>
                <c:pt idx="1">
                  <c:v>1013.3</c:v>
                </c:pt>
                <c:pt idx="2">
                  <c:v>165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638.9</c:v>
                </c:pt>
                <c:pt idx="1">
                  <c:v>605.7</c:v>
                </c:pt>
                <c:pt idx="2">
                  <c:v>33.2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306.8</c:v>
                </c:pt>
                <c:pt idx="1">
                  <c:v>293.8</c:v>
                </c:pt>
                <c:pt idx="2">
                  <c:v>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376</c:v>
                </c:pt>
                <c:pt idx="1">
                  <c:v>360.3</c:v>
                </c:pt>
                <c:pt idx="2">
                  <c:v>15.7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240.8</c:v>
                </c:pt>
                <c:pt idx="1">
                  <c:v>233.3</c:v>
                </c:pt>
                <c:pt idx="2">
                  <c:v>7.4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234.6</c:v>
                </c:pt>
                <c:pt idx="1">
                  <c:v>226.1</c:v>
                </c:pt>
                <c:pt idx="2">
                  <c:v>8.5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209.1</c:v>
                </c:pt>
                <c:pt idx="1">
                  <c:v>200</c:v>
                </c:pt>
                <c:pt idx="2">
                  <c:v>9.1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255.2</c:v>
                </c:pt>
                <c:pt idx="1">
                  <c:v>250.4</c:v>
                </c:pt>
                <c:pt idx="2">
                  <c:v>4.7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275.3</c:v>
                </c:pt>
                <c:pt idx="1">
                  <c:v>270.1</c:v>
                </c:pt>
                <c:pt idx="2">
                  <c:v>5.2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216.3</c:v>
                </c:pt>
                <c:pt idx="1">
                  <c:v>206.2</c:v>
                </c:pt>
                <c:pt idx="2">
                  <c:v>10.1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444.3</c:v>
                </c:pt>
                <c:pt idx="1">
                  <c:v>359.9</c:v>
                </c:pt>
                <c:pt idx="2">
                  <c:v>84.4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193.3</c:v>
                </c:pt>
                <c:pt idx="1">
                  <c:v>110</c:v>
                </c:pt>
                <c:pt idx="2">
                  <c:v>83.3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12.8</c:v>
                </c:pt>
                <c:pt idx="1">
                  <c:v>2.7</c:v>
                </c:pt>
                <c:pt idx="2">
                  <c:v>10.2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7.9</c:v>
                </c:pt>
                <c:pt idx="1">
                  <c:v>4.2</c:v>
                </c:pt>
                <c:pt idx="2">
                  <c:v>3.6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4.9</c:v>
                </c:pt>
                <c:pt idx="1">
                  <c:v>4.7</c:v>
                </c:pt>
                <c:pt idx="2">
                  <c:v>0.2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875.5</c:v>
                </c:pt>
                <c:pt idx="1">
                  <c:v>793.1</c:v>
                </c:pt>
                <c:pt idx="2">
                  <c:v>552.3</c:v>
                </c:pt>
                <c:pt idx="3">
                  <c:v>171.8</c:v>
                </c:pt>
                <c:pt idx="4">
                  <c:v>62.1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760.6</c:v>
                </c:pt>
                <c:pt idx="1">
                  <c:v>674.2</c:v>
                </c:pt>
                <c:pt idx="2">
                  <c:v>256.1</c:v>
                </c:pt>
                <c:pt idx="3">
                  <c:v>226.6</c:v>
                </c:pt>
                <c:pt idx="4">
                  <c:v>11.2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861.8</c:v>
                </c:pt>
                <c:pt idx="1">
                  <c:v>730.1</c:v>
                </c:pt>
                <c:pt idx="2">
                  <c:v>317.9</c:v>
                </c:pt>
                <c:pt idx="3">
                  <c:v>244.4</c:v>
                </c:pt>
                <c:pt idx="4">
                  <c:v>6.9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644.3</c:v>
                </c:pt>
                <c:pt idx="1">
                  <c:v>713.4</c:v>
                </c:pt>
                <c:pt idx="2">
                  <c:v>205.3</c:v>
                </c:pt>
                <c:pt idx="3">
                  <c:v>193.5</c:v>
                </c:pt>
                <c:pt idx="4">
                  <c:v>3.2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875.5</c:v>
                </c:pt>
                <c:pt idx="1">
                  <c:v>783.1</c:v>
                </c:pt>
                <c:pt idx="2">
                  <c:v>92.5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760.6</c:v>
                </c:pt>
                <c:pt idx="1">
                  <c:v>650.6</c:v>
                </c:pt>
                <c:pt idx="2">
                  <c:v>110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861.8</c:v>
                </c:pt>
                <c:pt idx="1">
                  <c:v>717</c:v>
                </c:pt>
                <c:pt idx="2">
                  <c:v>144.9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644.3</c:v>
                </c:pt>
                <c:pt idx="1">
                  <c:v>470.2</c:v>
                </c:pt>
                <c:pt idx="2">
                  <c:v>174.1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793.1</c:v>
                </c:pt>
                <c:pt idx="1">
                  <c:v>697.9</c:v>
                </c:pt>
                <c:pt idx="2">
                  <c:v>95.3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674.2</c:v>
                </c:pt>
                <c:pt idx="1">
                  <c:v>594.6</c:v>
                </c:pt>
                <c:pt idx="2">
                  <c:v>79.6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730.1</c:v>
                </c:pt>
                <c:pt idx="1">
                  <c:v>649</c:v>
                </c:pt>
                <c:pt idx="2">
                  <c:v>81.1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713.4</c:v>
                </c:pt>
                <c:pt idx="1">
                  <c:v>535.4</c:v>
                </c:pt>
                <c:pt idx="2">
                  <c:v>178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552.3</c:v>
                </c:pt>
                <c:pt idx="1">
                  <c:v>530.9</c:v>
                </c:pt>
                <c:pt idx="2">
                  <c:v>21.3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256.1</c:v>
                </c:pt>
                <c:pt idx="1">
                  <c:v>244.9</c:v>
                </c:pt>
                <c:pt idx="2">
                  <c:v>11.2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317.9</c:v>
                </c:pt>
                <c:pt idx="1">
                  <c:v>304.5</c:v>
                </c:pt>
                <c:pt idx="2">
                  <c:v>13.4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205.3</c:v>
                </c:pt>
                <c:pt idx="1">
                  <c:v>196.9</c:v>
                </c:pt>
                <c:pt idx="2">
                  <c:v>8.5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171.8</c:v>
                </c:pt>
                <c:pt idx="1">
                  <c:v>164</c:v>
                </c:pt>
                <c:pt idx="2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226.6</c:v>
                </c:pt>
                <c:pt idx="1">
                  <c:v>222.4</c:v>
                </c:pt>
                <c:pt idx="2">
                  <c:v>4.2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244.4</c:v>
                </c:pt>
                <c:pt idx="1">
                  <c:v>239.9</c:v>
                </c:pt>
                <c:pt idx="2">
                  <c:v>4.5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193.5</c:v>
                </c:pt>
                <c:pt idx="1">
                  <c:v>187.1</c:v>
                </c:pt>
                <c:pt idx="2">
                  <c:v>6.4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62.1</c:v>
                </c:pt>
                <c:pt idx="1">
                  <c:v>62.1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11.2</c:v>
                </c:pt>
                <c:pt idx="1">
                  <c:v>2.3</c:v>
                </c:pt>
                <c:pt idx="2">
                  <c:v>8.9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6.9</c:v>
                </c:pt>
                <c:pt idx="1">
                  <c:v>3.7</c:v>
                </c:pt>
                <c:pt idx="2">
                  <c:v>3.2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3.2</c:v>
                </c:pt>
                <c:pt idx="1">
                  <c:v>3.2</c:v>
                </c:pt>
                <c:pt idx="2">
                  <c:v>0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</c:v>
                </c:pt>
                <c:pt idx="1">
                  <c:v>122.6</c:v>
                </c:pt>
                <c:pt idx="2">
                  <c:v>12.7</c:v>
                </c:pt>
                <c:pt idx="3">
                  <c:v>17.2</c:v>
                </c:pt>
                <c:pt idx="4">
                  <c:v>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54.8</c:v>
                </c:pt>
                <c:pt idx="1">
                  <c:v>97.7</c:v>
                </c:pt>
                <c:pt idx="2">
                  <c:v>51.8</c:v>
                </c:pt>
                <c:pt idx="3">
                  <c:v>28.4</c:v>
                </c:pt>
                <c:pt idx="4">
                  <c:v>1.6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70</c:v>
                </c:pt>
                <c:pt idx="1">
                  <c:v>99.8</c:v>
                </c:pt>
                <c:pt idx="2">
                  <c:v>65.6</c:v>
                </c:pt>
                <c:pt idx="3">
                  <c:v>30.5</c:v>
                </c:pt>
                <c:pt idx="4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13.8</c:v>
                </c:pt>
                <c:pt idx="1">
                  <c:v>0.6</c:v>
                </c:pt>
                <c:pt idx="2">
                  <c:v>6.4</c:v>
                </c:pt>
                <c:pt idx="3">
                  <c:v>0.4</c:v>
                </c:pt>
                <c:pt idx="4">
                  <c:v>0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23</c:v>
                </c:pt>
                <c:pt idx="1">
                  <c:v>17.7</c:v>
                </c:pt>
                <c:pt idx="2">
                  <c:v>5.3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54.8</c:v>
                </c:pt>
                <c:pt idx="1">
                  <c:v>424</c:v>
                </c:pt>
                <c:pt idx="2">
                  <c:v>-369.2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70</c:v>
                </c:pt>
                <c:pt idx="1">
                  <c:v>426.2</c:v>
                </c:pt>
                <c:pt idx="2">
                  <c:v>-356.2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13.8</c:v>
                </c:pt>
                <c:pt idx="1">
                  <c:v>5.3</c:v>
                </c:pt>
                <c:pt idx="2">
                  <c:v>8.5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122.6</c:v>
                </c:pt>
                <c:pt idx="1">
                  <c:v>78.8</c:v>
                </c:pt>
                <c:pt idx="2">
                  <c:v>43.8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97.7</c:v>
                </c:pt>
                <c:pt idx="1">
                  <c:v>60.7</c:v>
                </c:pt>
                <c:pt idx="2">
                  <c:v>37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99.8</c:v>
                </c:pt>
                <c:pt idx="1">
                  <c:v>72.5</c:v>
                </c:pt>
                <c:pt idx="2">
                  <c:v>27.2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0.6</c:v>
                </c:pt>
                <c:pt idx="1">
                  <c:v>0.5</c:v>
                </c:pt>
                <c:pt idx="2">
                  <c:v>0.1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12.7</c:v>
                </c:pt>
                <c:pt idx="1">
                  <c:v>12.3</c:v>
                </c:pt>
                <c:pt idx="2">
                  <c:v>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51.8</c:v>
                </c:pt>
                <c:pt idx="1">
                  <c:v>30.4</c:v>
                </c:pt>
                <c:pt idx="2">
                  <c:v>21.4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65.6</c:v>
                </c:pt>
                <c:pt idx="1">
                  <c:v>36.3</c:v>
                </c:pt>
                <c:pt idx="2">
                  <c:v>29.3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6.4</c:v>
                </c:pt>
                <c:pt idx="1">
                  <c:v>6.1</c:v>
                </c:pt>
                <c:pt idx="2">
                  <c:v>0.3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17.2</c:v>
                </c:pt>
                <c:pt idx="1">
                  <c:v>17.2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28.4</c:v>
                </c:pt>
                <c:pt idx="1">
                  <c:v>25.9</c:v>
                </c:pt>
                <c:pt idx="2">
                  <c:v>2.5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30.5</c:v>
                </c:pt>
                <c:pt idx="1">
                  <c:v>27.9</c:v>
                </c:pt>
                <c:pt idx="2">
                  <c:v>2.6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</c:v>
                </c:pt>
                <c:pt idx="1">
                  <c:v>0.4</c:v>
                </c:pt>
                <c:pt idx="2">
                  <c:v>0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0.2</c:v>
                </c:pt>
                <c:pt idx="2">
                  <c:v>0.1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مقدر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1.6</c:v>
                </c:pt>
                <c:pt idx="1">
                  <c:v>0.3</c:v>
                </c:pt>
                <c:pt idx="2">
                  <c:v>1.3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</c:v>
                </c:pt>
                <c:pt idx="1">
                  <c:v>0.5</c:v>
                </c:pt>
                <c:pt idx="2">
                  <c:v>0.5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السنة الماضية</c:v>
                </c:pt>
              </c:strCache>
            </c:strRef>
          </c:tx>
          <c:spPr>
            <a:solidFill>
              <a:srgbClr val="E4A42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منطقة الرياض</c:v>
                  </c:pt>
                  <c:pt idx="1">
                    <c:v>مدينة الرياض</c:v>
                  </c:pt>
                  <c:pt idx="2">
                    <c:v>بلديات المنطقة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إيرادات إستثمارية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125</c:v>
                </c:pt>
                <c:pt idx="1">
                  <c:v>56.4</c:v>
                </c:pt>
                <c:pt idx="2">
                  <c:v>50.5</c:v>
                </c:pt>
                <c:pt idx="3">
                  <c:v>29.5</c:v>
                </c:pt>
                <c:pt idx="4">
                  <c:v>66</c:v>
                </c:pt>
                <c:pt idx="5">
                  <c:v>22.4</c:v>
                </c:pt>
                <c:pt idx="6">
                  <c:v>62.8</c:v>
                </c:pt>
                <c:pt idx="7">
                  <c:v>61.4</c:v>
                </c:pt>
                <c:pt idx="8">
                  <c:v>36.6</c:v>
                </c:pt>
                <c:pt idx="9">
                  <c:v>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الرسوم والتراخيص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165</c:v>
                </c:pt>
                <c:pt idx="1">
                  <c:v>128.8</c:v>
                </c:pt>
                <c:pt idx="2">
                  <c:v>102.9</c:v>
                </c:pt>
                <c:pt idx="3">
                  <c:v>87.9</c:v>
                </c:pt>
                <c:pt idx="4">
                  <c:v>185.4</c:v>
                </c:pt>
                <c:pt idx="5">
                  <c:v>20.9</c:v>
                </c:pt>
                <c:pt idx="6">
                  <c:v>32.9</c:v>
                </c:pt>
                <c:pt idx="7">
                  <c:v>19.9</c:v>
                </c:pt>
                <c:pt idx="8">
                  <c:v>9.1</c:v>
                </c:pt>
                <c:pt idx="9">
                  <c:v>2.5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جزاءات وغرامات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52.8</c:v>
                </c:pt>
                <c:pt idx="1">
                  <c:v>59.4</c:v>
                </c:pt>
                <c:pt idx="2">
                  <c:v>39.9</c:v>
                </c:pt>
                <c:pt idx="3">
                  <c:v>39.3</c:v>
                </c:pt>
                <c:pt idx="4">
                  <c:v>56.2</c:v>
                </c:pt>
                <c:pt idx="5">
                  <c:v>3.9</c:v>
                </c:pt>
                <c:pt idx="6">
                  <c:v>5.1</c:v>
                </c:pt>
                <c:pt idx="7">
                  <c:v>3.6</c:v>
                </c:pt>
                <c:pt idx="8">
                  <c:v>1.7</c:v>
                </c:pt>
                <c:pt idx="9">
                  <c:v>0.4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التبغ والإيواء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0.9</c:v>
                </c:pt>
                <c:pt idx="1">
                  <c:v>2.5</c:v>
                </c:pt>
                <c:pt idx="2">
                  <c:v>2.8</c:v>
                </c:pt>
                <c:pt idx="3">
                  <c:v>1.1</c:v>
                </c:pt>
                <c:pt idx="4">
                  <c:v>6</c:v>
                </c:pt>
                <c:pt idx="5">
                  <c:v>0.9</c:v>
                </c:pt>
                <c:pt idx="6">
                  <c:v>1.9</c:v>
                </c:pt>
                <c:pt idx="7">
                  <c:v>0.5</c:v>
                </c:pt>
                <c:pt idx="8">
                  <c:v>0.3</c:v>
                </c:pt>
                <c:pt idx="9">
                  <c:v>1.1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إجمالي الفواتير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152.7</c:v>
                </c:pt>
                <c:pt idx="1">
                  <c:v>65.8</c:v>
                </c:pt>
                <c:pt idx="2">
                  <c:v>48.7</c:v>
                </c:pt>
                <c:pt idx="3">
                  <c:v>33.4</c:v>
                </c:pt>
                <c:pt idx="4">
                  <c:v>58.7</c:v>
                </c:pt>
                <c:pt idx="5">
                  <c:v>20</c:v>
                </c:pt>
                <c:pt idx="6">
                  <c:v>66.3</c:v>
                </c:pt>
                <c:pt idx="7">
                  <c:v>56.1</c:v>
                </c:pt>
                <c:pt idx="8">
                  <c:v>40.1</c:v>
                </c:pt>
                <c:pt idx="9">
                  <c:v>6.2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101.7</c:v>
                </c:pt>
                <c:pt idx="1">
                  <c:v>45.9</c:v>
                </c:pt>
                <c:pt idx="2">
                  <c:v>38.8</c:v>
                </c:pt>
                <c:pt idx="3">
                  <c:v>25.1</c:v>
                </c:pt>
                <c:pt idx="4">
                  <c:v>47.9</c:v>
                </c:pt>
                <c:pt idx="5">
                  <c:v>17</c:v>
                </c:pt>
                <c:pt idx="6">
                  <c:v>40.3</c:v>
                </c:pt>
                <c:pt idx="7">
                  <c:v>37.1</c:v>
                </c:pt>
                <c:pt idx="8">
                  <c:v>25.5</c:v>
                </c:pt>
                <c:pt idx="9">
                  <c:v>2.3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سنوات سابقة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23.3</c:v>
                </c:pt>
                <c:pt idx="1">
                  <c:v>10.4</c:v>
                </c:pt>
                <c:pt idx="2">
                  <c:v>11.7</c:v>
                </c:pt>
                <c:pt idx="3">
                  <c:v>4.4</c:v>
                </c:pt>
                <c:pt idx="4">
                  <c:v>18.2</c:v>
                </c:pt>
                <c:pt idx="5">
                  <c:v>5.4</c:v>
                </c:pt>
                <c:pt idx="6">
                  <c:v>22.5</c:v>
                </c:pt>
                <c:pt idx="7">
                  <c:v>24.3</c:v>
                </c:pt>
                <c:pt idx="8">
                  <c:v>11.1</c:v>
                </c:pt>
                <c:pt idx="9">
                  <c:v>5.6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إجمالي المحصل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125</c:v>
                </c:pt>
                <c:pt idx="1">
                  <c:v>56.4</c:v>
                </c:pt>
                <c:pt idx="2">
                  <c:v>50.5</c:v>
                </c:pt>
                <c:pt idx="3">
                  <c:v>29.5</c:v>
                </c:pt>
                <c:pt idx="4">
                  <c:v>66</c:v>
                </c:pt>
                <c:pt idx="5">
                  <c:v>22.4</c:v>
                </c:pt>
                <c:pt idx="6">
                  <c:v>62.8</c:v>
                </c:pt>
                <c:pt idx="7">
                  <c:v>61.4</c:v>
                </c:pt>
                <c:pt idx="8">
                  <c:v>36.6</c:v>
                </c:pt>
                <c:pt idx="9">
                  <c:v>7.9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إجمالي الفواتير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174.1</c:v>
                </c:pt>
                <c:pt idx="1">
                  <c:v>132.9</c:v>
                </c:pt>
                <c:pt idx="2">
                  <c:v>105</c:v>
                </c:pt>
                <c:pt idx="3">
                  <c:v>90.1</c:v>
                </c:pt>
                <c:pt idx="4">
                  <c:v>189.2</c:v>
                </c:pt>
                <c:pt idx="5">
                  <c:v>21.5</c:v>
                </c:pt>
                <c:pt idx="6">
                  <c:v>33.9</c:v>
                </c:pt>
                <c:pt idx="7">
                  <c:v>20.2</c:v>
                </c:pt>
                <c:pt idx="8">
                  <c:v>9.1</c:v>
                </c:pt>
                <c:pt idx="9">
                  <c:v>2.3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162.6</c:v>
                </c:pt>
                <c:pt idx="1">
                  <c:v>126.7</c:v>
                </c:pt>
                <c:pt idx="2">
                  <c:v>101.2</c:v>
                </c:pt>
                <c:pt idx="3">
                  <c:v>86.7</c:v>
                </c:pt>
                <c:pt idx="4">
                  <c:v>182</c:v>
                </c:pt>
                <c:pt idx="5">
                  <c:v>20.4</c:v>
                </c:pt>
                <c:pt idx="6">
                  <c:v>31.8</c:v>
                </c:pt>
                <c:pt idx="7">
                  <c:v>19.1</c:v>
                </c:pt>
                <c:pt idx="8">
                  <c:v>8.7</c:v>
                </c:pt>
                <c:pt idx="9">
                  <c:v>2.2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سنوات سابقة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2.4</c:v>
                </c:pt>
                <c:pt idx="1">
                  <c:v>2.2</c:v>
                </c:pt>
                <c:pt idx="2">
                  <c:v>1.7</c:v>
                </c:pt>
                <c:pt idx="3">
                  <c:v>1.2</c:v>
                </c:pt>
                <c:pt idx="4">
                  <c:v>3.4</c:v>
                </c:pt>
                <c:pt idx="5">
                  <c:v>0.4</c:v>
                </c:pt>
                <c:pt idx="6">
                  <c:v>1</c:v>
                </c:pt>
                <c:pt idx="7">
                  <c:v>0.8</c:v>
                </c:pt>
                <c:pt idx="8">
                  <c:v>0.5</c:v>
                </c:pt>
                <c:pt idx="9">
                  <c:v>0.3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إجمالي المحصل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165</c:v>
                </c:pt>
                <c:pt idx="1">
                  <c:v>128.8</c:v>
                </c:pt>
                <c:pt idx="2">
                  <c:v>102.9</c:v>
                </c:pt>
                <c:pt idx="3">
                  <c:v>87.9</c:v>
                </c:pt>
                <c:pt idx="4">
                  <c:v>185.4</c:v>
                </c:pt>
                <c:pt idx="5">
                  <c:v>20.9</c:v>
                </c:pt>
                <c:pt idx="6">
                  <c:v>32.9</c:v>
                </c:pt>
                <c:pt idx="7">
                  <c:v>19.9</c:v>
                </c:pt>
                <c:pt idx="8">
                  <c:v>9.1</c:v>
                </c:pt>
                <c:pt idx="9">
                  <c:v>2.5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إجمالي الفواتير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102</c:v>
                </c:pt>
                <c:pt idx="1">
                  <c:v>187.8</c:v>
                </c:pt>
                <c:pt idx="2">
                  <c:v>115.8</c:v>
                </c:pt>
                <c:pt idx="3">
                  <c:v>95.5</c:v>
                </c:pt>
                <c:pt idx="4">
                  <c:v>103.8</c:v>
                </c:pt>
                <c:pt idx="5">
                  <c:v>10.7</c:v>
                </c:pt>
                <c:pt idx="6">
                  <c:v>7.4</c:v>
                </c:pt>
                <c:pt idx="7">
                  <c:v>5.4</c:v>
                </c:pt>
                <c:pt idx="8">
                  <c:v>2.5</c:v>
                </c:pt>
                <c:pt idx="9">
                  <c:v>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20.5</c:v>
                </c:pt>
                <c:pt idx="1">
                  <c:v>39</c:v>
                </c:pt>
                <c:pt idx="2">
                  <c:v>21.8</c:v>
                </c:pt>
                <c:pt idx="3">
                  <c:v>19.1</c:v>
                </c:pt>
                <c:pt idx="4">
                  <c:v>24.4</c:v>
                </c:pt>
                <c:pt idx="5">
                  <c:v>2.8</c:v>
                </c:pt>
                <c:pt idx="6">
                  <c:v>2.7</c:v>
                </c:pt>
                <c:pt idx="7">
                  <c:v>1.6</c:v>
                </c:pt>
                <c:pt idx="8">
                  <c:v>1</c:v>
                </c:pt>
                <c:pt idx="9">
                  <c:v>0.2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سنوات سابقة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32.3</c:v>
                </c:pt>
                <c:pt idx="1">
                  <c:v>20.4</c:v>
                </c:pt>
                <c:pt idx="2">
                  <c:v>18.1</c:v>
                </c:pt>
                <c:pt idx="3">
                  <c:v>20.2</c:v>
                </c:pt>
                <c:pt idx="4">
                  <c:v>31.8</c:v>
                </c:pt>
                <c:pt idx="5">
                  <c:v>1.1</c:v>
                </c:pt>
                <c:pt idx="6">
                  <c:v>2.3</c:v>
                </c:pt>
                <c:pt idx="7">
                  <c:v>2</c:v>
                </c:pt>
                <c:pt idx="8">
                  <c:v>0.7</c:v>
                </c:pt>
                <c:pt idx="9">
                  <c:v>0.2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إجمالي المحصل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52.8</c:v>
                </c:pt>
                <c:pt idx="1">
                  <c:v>59.4</c:v>
                </c:pt>
                <c:pt idx="2">
                  <c:v>39.9</c:v>
                </c:pt>
                <c:pt idx="3">
                  <c:v>39.3</c:v>
                </c:pt>
                <c:pt idx="4">
                  <c:v>56.2</c:v>
                </c:pt>
                <c:pt idx="5">
                  <c:v>3.9</c:v>
                </c:pt>
                <c:pt idx="6">
                  <c:v>5.1</c:v>
                </c:pt>
                <c:pt idx="7">
                  <c:v>3.6</c:v>
                </c:pt>
                <c:pt idx="8">
                  <c:v>1.7</c:v>
                </c:pt>
                <c:pt idx="9">
                  <c:v>0.4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إجمالي الفواتير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0.9</c:v>
                </c:pt>
                <c:pt idx="1">
                  <c:v>2.4</c:v>
                </c:pt>
                <c:pt idx="2">
                  <c:v>2.8</c:v>
                </c:pt>
                <c:pt idx="3">
                  <c:v>1.2</c:v>
                </c:pt>
                <c:pt idx="4">
                  <c:v>5.9</c:v>
                </c:pt>
                <c:pt idx="5">
                  <c:v>1</c:v>
                </c:pt>
                <c:pt idx="6">
                  <c:v>1.8</c:v>
                </c:pt>
                <c:pt idx="7">
                  <c:v>0.5</c:v>
                </c:pt>
                <c:pt idx="8">
                  <c:v>0.4</c:v>
                </c:pt>
                <c:pt idx="9">
                  <c:v>1.2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فعلي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0.9</c:v>
                </c:pt>
                <c:pt idx="1">
                  <c:v>2.4</c:v>
                </c:pt>
                <c:pt idx="2">
                  <c:v>2.8</c:v>
                </c:pt>
                <c:pt idx="3">
                  <c:v>1.1</c:v>
                </c:pt>
                <c:pt idx="4">
                  <c:v>5.9</c:v>
                </c:pt>
                <c:pt idx="5">
                  <c:v>0.8</c:v>
                </c:pt>
                <c:pt idx="6">
                  <c:v>1.6</c:v>
                </c:pt>
                <c:pt idx="7">
                  <c:v>0.4</c:v>
                </c:pt>
                <c:pt idx="8">
                  <c:v>0.3</c:v>
                </c:pt>
                <c:pt idx="9">
                  <c:v>1.1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سنوات سابقة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</c:v>
                </c:pt>
                <c:pt idx="1">
                  <c:v>0.1</c:v>
                </c:pt>
                <c:pt idx="2">
                  <c:v>0.1</c:v>
                </c:pt>
                <c:pt idx="3">
                  <c:v>0</c:v>
                </c:pt>
                <c:pt idx="4">
                  <c:v>0.2</c:v>
                </c:pt>
                <c:pt idx="5">
                  <c:v>0.1</c:v>
                </c:pt>
                <c:pt idx="6">
                  <c:v>0.3</c:v>
                </c:pt>
                <c:pt idx="7">
                  <c:v>0.1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إجمالي المحصل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قطاع الامانة - الجنوب</c:v>
                  </c:pt>
                  <c:pt idx="1">
                    <c:v>قطاع الامانة - الشرق</c:v>
                  </c:pt>
                  <c:pt idx="2">
                    <c:v>قطاع الامانة - الشمال</c:v>
                  </c:pt>
                  <c:pt idx="3">
                    <c:v>قطاع الامانة - الغرب</c:v>
                  </c:pt>
                  <c:pt idx="4">
                    <c:v>قطاع الامانة - الوسط</c:v>
                  </c:pt>
                  <c:pt idx="5">
                    <c:v>بلديات (أ)</c:v>
                  </c:pt>
                  <c:pt idx="6">
                    <c:v>بلديات (ب)</c:v>
                  </c:pt>
                  <c:pt idx="7">
                    <c:v>بلديات (ج)</c:v>
                  </c:pt>
                  <c:pt idx="8">
                    <c:v>بلديات (د)</c:v>
                  </c:pt>
                  <c:pt idx="9">
                    <c:v>بلديات (هـ)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0.9</c:v>
                </c:pt>
                <c:pt idx="1">
                  <c:v>2.5</c:v>
                </c:pt>
                <c:pt idx="2">
                  <c:v>2.8</c:v>
                </c:pt>
                <c:pt idx="3">
                  <c:v>1.1</c:v>
                </c:pt>
                <c:pt idx="4">
                  <c:v>6</c:v>
                </c:pt>
                <c:pt idx="5">
                  <c:v>0.9</c:v>
                </c:pt>
                <c:pt idx="6">
                  <c:v>1.9</c:v>
                </c:pt>
                <c:pt idx="7">
                  <c:v>0.5</c:v>
                </c:pt>
                <c:pt idx="8">
                  <c:v>0.3</c:v>
                </c:pt>
                <c:pt idx="9">
                  <c:v>1.1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إيرادات استثمارية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محصل السنة الحالية</c:v>
                  </c:pt>
                  <c:pt idx="1">
                    <c:v>فعلي</c:v>
                  </c:pt>
                  <c:pt idx="2">
                    <c:v>محصل سنوات سابقة</c:v>
                  </c:pt>
                  <c:pt idx="3">
                    <c:v>مقدر</c:v>
                  </c:pt>
                  <c:pt idx="4">
                    <c:v>مستهدف</c:v>
                  </c:pt>
                  <c:pt idx="5">
                    <c:v>محصل السنة الماضية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880.1</c:v>
                </c:pt>
                <c:pt idx="1">
                  <c:v>1052.1</c:v>
                </c:pt>
                <c:pt idx="2">
                  <c:v>172.1</c:v>
                </c:pt>
                <c:pt idx="3">
                  <c:v>927.6</c:v>
                </c:pt>
                <c:pt idx="4">
                  <c:v>961.4</c:v>
                </c:pt>
                <c:pt idx="5">
                  <c:v>710.4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جزاءات وغرامات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مفوتر</c:v>
                  </c:pt>
                  <c:pt idx="1">
                    <c:v>فعلي</c:v>
                  </c:pt>
                  <c:pt idx="2">
                    <c:v>محصل سنوات سابقة</c:v>
                  </c:pt>
                  <c:pt idx="3">
                    <c:v>مقدر</c:v>
                  </c:pt>
                  <c:pt idx="4">
                    <c:v>مستهدف</c:v>
                  </c:pt>
                  <c:pt idx="5">
                    <c:v>محصل السنة الماضية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1178</c:v>
                </c:pt>
                <c:pt idx="1">
                  <c:v>635.4</c:v>
                </c:pt>
                <c:pt idx="2">
                  <c:v>166.1</c:v>
                </c:pt>
                <c:pt idx="3">
                  <c:v>349.1</c:v>
                </c:pt>
                <c:pt idx="4">
                  <c:v>426.7</c:v>
                </c:pt>
                <c:pt idx="5">
                  <c:v>272.5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التبغ والإيواء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مفوتر</c:v>
                  </c:pt>
                  <c:pt idx="1">
                    <c:v>فعلي</c:v>
                  </c:pt>
                  <c:pt idx="2">
                    <c:v>محصل سنوات سابقة</c:v>
                  </c:pt>
                  <c:pt idx="3">
                    <c:v>مقدر</c:v>
                  </c:pt>
                  <c:pt idx="4">
                    <c:v>مستهدف</c:v>
                  </c:pt>
                  <c:pt idx="5">
                    <c:v>محصل السنة الماضية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234.1</c:v>
                </c:pt>
                <c:pt idx="1">
                  <c:v>209.1</c:v>
                </c:pt>
                <c:pt idx="2">
                  <c:v>9.5</c:v>
                </c:pt>
                <c:pt idx="3">
                  <c:v>285.9</c:v>
                </c:pt>
                <c:pt idx="4">
                  <c:v>308.4</c:v>
                </c:pt>
                <c:pt idx="5">
                  <c:v>240.5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الإيراد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مدينة الرياض — الرسوم والتراخيص</c:v>
                  </c:pt>
                  <c:pt idx="1">
                    <c:v>مدينة الرياض — التبغ والإيواء</c:v>
                  </c:pt>
                  <c:pt idx="2">
                    <c:v>بلديات المنطقة — الرسوم والتراخيص</c:v>
                  </c:pt>
                  <c:pt idx="3">
                    <c:v>بلديات المنطقة — التبغ والإيواء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608</c:v>
                </c:pt>
                <c:pt idx="1">
                  <c:v>318.9</c:v>
                </c:pt>
                <c:pt idx="2">
                  <c:v>84.3</c:v>
                </c:pt>
                <c:pt idx="3">
                  <c:v>5.7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المستقطع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مدينة الرياض — الرسوم والتراخيص</c:v>
                  </c:pt>
                  <c:pt idx="1">
                    <c:v>مدينة الرياض — التبغ والإيواء</c:v>
                  </c:pt>
                  <c:pt idx="2">
                    <c:v>بلديات المنطقة — الرسوم والتراخيص</c:v>
                  </c:pt>
                  <c:pt idx="3">
                    <c:v>بلديات المنطقة — التبغ والإيواء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91.2</c:v>
                </c:pt>
                <c:pt idx="1">
                  <c:v>47.8</c:v>
                </c:pt>
                <c:pt idx="2">
                  <c:v>12.6</c:v>
                </c:pt>
                <c:pt idx="3">
                  <c:v>0.9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الإيراد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مدينة الرياض — الرسوم والتراخيص</c:v>
                  </c:pt>
                  <c:pt idx="1">
                    <c:v>مدينة الرياض — التبغ والإيواء</c:v>
                  </c:pt>
                  <c:pt idx="2">
                    <c:v>بلديات المنطقة — الرسوم والتراخيص</c:v>
                  </c:pt>
                  <c:pt idx="3">
                    <c:v>بلديات المنطقة — التبغ والإيواء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420.1</c:v>
                </c:pt>
                <c:pt idx="1">
                  <c:v>176</c:v>
                </c:pt>
                <c:pt idx="2">
                  <c:v>57</c:v>
                </c:pt>
                <c:pt idx="3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المستقطع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مدينة الرياض — الرسوم والتراخيص</c:v>
                  </c:pt>
                  <c:pt idx="1">
                    <c:v>مدينة الرياض — التبغ والإيواء</c:v>
                  </c:pt>
                  <c:pt idx="2">
                    <c:v>بلديات المنطقة — الرسوم والتراخيص</c:v>
                  </c:pt>
                  <c:pt idx="3">
                    <c:v>بلديات المنطقة — التبغ والإيواء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71.4</c:v>
                </c:pt>
                <c:pt idx="1">
                  <c:v>29.3</c:v>
                </c:pt>
                <c:pt idx="2">
                  <c:v>9.6</c:v>
                </c:pt>
                <c:pt idx="3">
                  <c:v>0.6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محصل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سبتمبر</c:v>
                  </c:pt>
                  <c:pt idx="1">
                    <c:v>أكتوبر</c:v>
                  </c:pt>
                  <c:pt idx="2">
                    <c:v>نوفمبر</c:v>
                  </c:pt>
                  <c:pt idx="3">
                    <c:v>ديسمبر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1081.4</c:v>
                </c:pt>
                <c:pt idx="1">
                  <c:v>432.5</c:v>
                </c:pt>
                <c:pt idx="2">
                  <c:v>462.8</c:v>
                </c:pt>
                <c:pt idx="3">
                  <c:v>486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سبتمبر</c:v>
                  </c:pt>
                  <c:pt idx="1">
                    <c:v>أكتوبر</c:v>
                  </c:pt>
                  <c:pt idx="2">
                    <c:v>نوفمبر</c:v>
                  </c:pt>
                  <c:pt idx="3">
                    <c:v>ديسمبر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1351</c:v>
                </c:pt>
                <c:pt idx="1">
                  <c:v>540.4</c:v>
                </c:pt>
                <c:pt idx="2">
                  <c:v>578.2</c:v>
                </c:pt>
                <c:pt idx="3">
                  <c:v>607.2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محصل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سبتمبر</c:v>
                  </c:pt>
                  <c:pt idx="1">
                    <c:v>أكتوبر</c:v>
                  </c:pt>
                  <c:pt idx="2">
                    <c:v>نوفمبر</c:v>
                  </c:pt>
                  <c:pt idx="3">
                    <c:v>ديسمبر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1081.4</c:v>
                </c:pt>
                <c:pt idx="1">
                  <c:v>432.5</c:v>
                </c:pt>
                <c:pt idx="2">
                  <c:v>462.8</c:v>
                </c:pt>
                <c:pt idx="3">
                  <c:v>486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سبتمبر</c:v>
                  </c:pt>
                  <c:pt idx="1">
                    <c:v>أكتوبر</c:v>
                  </c:pt>
                  <c:pt idx="2">
                    <c:v>نوفمبر</c:v>
                  </c:pt>
                  <c:pt idx="3">
                    <c:v>ديسمبر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1351</c:v>
                </c:pt>
                <c:pt idx="1">
                  <c:v>540.4</c:v>
                </c:pt>
                <c:pt idx="2">
                  <c:v>578.2</c:v>
                </c:pt>
                <c:pt idx="3">
                  <c:v>607.2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الشهر</c:v>
                </c:pt>
              </c:strCache>
            </c:strRef>
          </c:tx>
          <c:spPr>
            <a:solidFill>
              <a:srgbClr val="004D33"/>
            </a:solidFill>
            <a:ln w="38100" cap="flat">
              <a:solidFill>
                <a:srgbClr val="004D33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4D33"/>
              </a:solidFill>
              <a:ln w="9525" cap="flat">
                <a:solidFill>
                  <a:srgbClr val="004D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محصل عن الفترة الماضية</c:v>
                </c:pt>
              </c:strCache>
            </c:strRef>
          </c:tx>
          <c:spPr>
            <a:solidFill>
              <a:srgbClr val="A4CCBC"/>
            </a:solidFill>
            <a:ln w="38100" cap="flat">
              <a:solidFill>
                <a:srgbClr val="A4CCBC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4CCBC"/>
              </a:solidFill>
              <a:ln w="9525" cap="flat">
                <a:solidFill>
                  <a:srgbClr val="A4CCB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عن ذات الشهر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10.7</c:v>
                </c:pt>
                <c:pt idx="1">
                  <c:v>10.7</c:v>
                </c:pt>
                <c:pt idx="2">
                  <c:v>10.7</c:v>
                </c:pt>
                <c:pt idx="3">
                  <c:v>10.7</c:v>
                </c:pt>
                <c:pt idx="4">
                  <c:v>10.7</c:v>
                </c:pt>
                <c:pt idx="5">
                  <c:v>10.7</c:v>
                </c:pt>
                <c:pt idx="6">
                  <c:v>10.7</c:v>
                </c:pt>
                <c:pt idx="7">
                  <c:v>10.7</c:v>
                </c:pt>
                <c:pt idx="8">
                  <c:v>10.7</c:v>
                </c:pt>
                <c:pt idx="9">
                  <c:v>10.7</c:v>
                </c:pt>
                <c:pt idx="10">
                  <c:v>10.7</c:v>
                </c:pt>
                <c:pt idx="11">
                  <c:v>10.7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الشهر</c:v>
                </c:pt>
              </c:strCache>
            </c:strRef>
          </c:tx>
          <c:spPr>
            <a:solidFill>
              <a:srgbClr val="004D33"/>
            </a:solidFill>
            <a:ln w="38100" cap="flat">
              <a:solidFill>
                <a:srgbClr val="004D33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4D33"/>
              </a:solidFill>
              <a:ln w="9525" cap="flat">
                <a:solidFill>
                  <a:srgbClr val="004D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محصل عن الفترة الماضية</c:v>
                </c:pt>
              </c:strCache>
            </c:strRef>
          </c:tx>
          <c:spPr>
            <a:solidFill>
              <a:srgbClr val="A4CCBC"/>
            </a:solidFill>
            <a:ln w="38100" cap="flat">
              <a:solidFill>
                <a:srgbClr val="A4CCBC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4CCBC"/>
              </a:solidFill>
              <a:ln w="9525" cap="flat">
                <a:solidFill>
                  <a:srgbClr val="A4CCB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عن ذات الشهر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10.7</c:v>
                </c:pt>
                <c:pt idx="1">
                  <c:v>10.7</c:v>
                </c:pt>
                <c:pt idx="2">
                  <c:v>10.7</c:v>
                </c:pt>
                <c:pt idx="3">
                  <c:v>10.7</c:v>
                </c:pt>
                <c:pt idx="4">
                  <c:v>10.7</c:v>
                </c:pt>
                <c:pt idx="5">
                  <c:v>10.7</c:v>
                </c:pt>
                <c:pt idx="6">
                  <c:v>10.7</c:v>
                </c:pt>
                <c:pt idx="7">
                  <c:v>10.7</c:v>
                </c:pt>
                <c:pt idx="8">
                  <c:v>10.7</c:v>
                </c:pt>
                <c:pt idx="9">
                  <c:v>10.7</c:v>
                </c:pt>
                <c:pt idx="10">
                  <c:v>10.7</c:v>
                </c:pt>
                <c:pt idx="11">
                  <c:v>10.7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الشهر</c:v>
                </c:pt>
              </c:strCache>
            </c:strRef>
          </c:tx>
          <c:spPr>
            <a:solidFill>
              <a:srgbClr val="004D33"/>
            </a:solidFill>
            <a:ln w="38100" cap="flat">
              <a:solidFill>
                <a:srgbClr val="004D33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4D33"/>
              </a:solidFill>
              <a:ln w="9525" cap="flat">
                <a:solidFill>
                  <a:srgbClr val="004D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محصل عن الفترة الماضية</c:v>
                </c:pt>
              </c:strCache>
            </c:strRef>
          </c:tx>
          <c:spPr>
            <a:solidFill>
              <a:srgbClr val="A4CCBC"/>
            </a:solidFill>
            <a:ln w="38100" cap="flat">
              <a:solidFill>
                <a:srgbClr val="A4CCBC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4CCBC"/>
              </a:solidFill>
              <a:ln w="9525" cap="flat">
                <a:solidFill>
                  <a:srgbClr val="A4CCB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عن ذات الشهر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10.7</c:v>
                </c:pt>
                <c:pt idx="1">
                  <c:v>10.7</c:v>
                </c:pt>
                <c:pt idx="2">
                  <c:v>10.7</c:v>
                </c:pt>
                <c:pt idx="3">
                  <c:v>10.7</c:v>
                </c:pt>
                <c:pt idx="4">
                  <c:v>10.7</c:v>
                </c:pt>
                <c:pt idx="5">
                  <c:v>10.7</c:v>
                </c:pt>
                <c:pt idx="6">
                  <c:v>10.7</c:v>
                </c:pt>
                <c:pt idx="7">
                  <c:v>10.7</c:v>
                </c:pt>
                <c:pt idx="8">
                  <c:v>10.7</c:v>
                </c:pt>
                <c:pt idx="9">
                  <c:v>10.7</c:v>
                </c:pt>
                <c:pt idx="10">
                  <c:v>10.7</c:v>
                </c:pt>
                <c:pt idx="11">
                  <c:v>10.7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الشهر</c:v>
                </c:pt>
              </c:strCache>
            </c:strRef>
          </c:tx>
          <c:spPr>
            <a:solidFill>
              <a:srgbClr val="004D33"/>
            </a:solidFill>
            <a:ln w="38100" cap="flat">
              <a:solidFill>
                <a:srgbClr val="004D33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4D33"/>
              </a:solidFill>
              <a:ln w="9525" cap="flat">
                <a:solidFill>
                  <a:srgbClr val="004D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محصل عن الفترة الماضية</c:v>
                </c:pt>
              </c:strCache>
            </c:strRef>
          </c:tx>
          <c:spPr>
            <a:solidFill>
              <a:srgbClr val="A4CCBC"/>
            </a:solidFill>
            <a:ln w="38100" cap="flat">
              <a:solidFill>
                <a:srgbClr val="A4CCBC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4CCBC"/>
              </a:solidFill>
              <a:ln w="9525" cap="flat">
                <a:solidFill>
                  <a:srgbClr val="A4CCB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عن ذات الشهر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10.7</c:v>
                </c:pt>
                <c:pt idx="1">
                  <c:v>10.7</c:v>
                </c:pt>
                <c:pt idx="2">
                  <c:v>10.7</c:v>
                </c:pt>
                <c:pt idx="3">
                  <c:v>10.7</c:v>
                </c:pt>
                <c:pt idx="4">
                  <c:v>10.7</c:v>
                </c:pt>
                <c:pt idx="5">
                  <c:v>10.7</c:v>
                </c:pt>
                <c:pt idx="6">
                  <c:v>10.7</c:v>
                </c:pt>
                <c:pt idx="7">
                  <c:v>10.7</c:v>
                </c:pt>
                <c:pt idx="8">
                  <c:v>10.7</c:v>
                </c:pt>
                <c:pt idx="9">
                  <c:v>10.7</c:v>
                </c:pt>
                <c:pt idx="10">
                  <c:v>10.7</c:v>
                </c:pt>
                <c:pt idx="11">
                  <c:v>10.7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قيمة الفواتير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795.4</c:v>
                </c:pt>
                <c:pt idx="1">
                  <c:v>60.4</c:v>
                </c:pt>
                <c:pt idx="2">
                  <c:v>405.9</c:v>
                </c:pt>
                <c:pt idx="3">
                  <c:v>0</c:v>
                </c:pt>
                <c:pt idx="4">
                  <c:v>47.7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المنفذ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253.2</c:v>
                </c:pt>
                <c:pt idx="1">
                  <c:v>25.9</c:v>
                </c:pt>
                <c:pt idx="2">
                  <c:v>109.5</c:v>
                </c:pt>
                <c:pt idx="3">
                  <c:v>0</c:v>
                </c:pt>
                <c:pt idx="4">
                  <c:v>20.8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إجمالي استرداد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42.8</c:v>
                </c:pt>
                <c:pt idx="1">
                  <c:v>14.1</c:v>
                </c:pt>
                <c:pt idx="2">
                  <c:v>19.1</c:v>
                </c:pt>
                <c:pt idx="3">
                  <c:v>0</c:v>
                </c:pt>
                <c:pt idx="4">
                  <c:v>0.9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استرداد فعلي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26.4</c:v>
                </c:pt>
                <c:pt idx="1">
                  <c:v>13.2</c:v>
                </c:pt>
                <c:pt idx="2">
                  <c:v>18.4</c:v>
                </c:pt>
                <c:pt idx="3">
                  <c:v>0</c:v>
                </c:pt>
                <c:pt idx="4">
                  <c:v>0.9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قيمة الفواتير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708.7</c:v>
                </c:pt>
                <c:pt idx="1">
                  <c:v>39.6</c:v>
                </c:pt>
                <c:pt idx="2">
                  <c:v>391</c:v>
                </c:pt>
                <c:pt idx="3">
                  <c:v>0</c:v>
                </c:pt>
                <c:pt idx="4">
                  <c:v>47.6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المنفذ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183.3</c:v>
                </c:pt>
                <c:pt idx="1">
                  <c:v>25.9</c:v>
                </c:pt>
                <c:pt idx="2">
                  <c:v>105.3</c:v>
                </c:pt>
                <c:pt idx="3">
                  <c:v>0</c:v>
                </c:pt>
                <c:pt idx="4">
                  <c:v>20.7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إجمالي استرداد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33.5</c:v>
                </c:pt>
                <c:pt idx="1">
                  <c:v>14</c:v>
                </c:pt>
                <c:pt idx="2">
                  <c:v>18.8</c:v>
                </c:pt>
                <c:pt idx="3">
                  <c:v>0</c:v>
                </c:pt>
                <c:pt idx="4">
                  <c:v>0.9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استرداد فعلي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20.7</c:v>
                </c:pt>
                <c:pt idx="1">
                  <c:v>13.1</c:v>
                </c:pt>
                <c:pt idx="2">
                  <c:v>18</c:v>
                </c:pt>
                <c:pt idx="3">
                  <c:v>0</c:v>
                </c:pt>
                <c:pt idx="4">
                  <c:v>0.9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قيمة الفواتير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86.7</c:v>
                </c:pt>
                <c:pt idx="1">
                  <c:v>20.9</c:v>
                </c:pt>
                <c:pt idx="2">
                  <c:v>14.9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المنفذ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69.9</c:v>
                </c:pt>
                <c:pt idx="1">
                  <c:v>0</c:v>
                </c:pt>
                <c:pt idx="2">
                  <c:v>4.2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إجمالي استرداد</c:v>
                </c:pt>
              </c:strCache>
            </c:strRef>
          </c:tx>
          <c:spPr>
            <a:solidFill>
              <a:srgbClr val="A4CCBC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9.3</c:v>
                </c:pt>
                <c:pt idx="1">
                  <c:v>0.1</c:v>
                </c:pt>
                <c:pt idx="2">
                  <c:v>0.4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استرداد فعلي</c:v>
                </c:pt>
              </c:strCache>
            </c:strRef>
          </c:tx>
          <c:spPr>
            <a:solidFill>
              <a:srgbClr val="74A4D4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إيرادات إستثمارية</c:v>
                  </c:pt>
                  <c:pt idx="1">
                    <c:v>الرسوم والتراخيص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5.7</c:v>
                </c:pt>
                <c:pt idx="1">
                  <c:v>0.1</c:v>
                </c:pt>
                <c:pt idx="2">
                  <c:v>0.4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4D33"/>
            </a:solidFill>
            <a:ln w="38100" cap="flat">
              <a:solidFill>
                <a:srgbClr val="004D33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4D33"/>
              </a:solidFill>
              <a:ln w="9525" cap="flat">
                <a:solidFill>
                  <a:srgbClr val="004D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592.7</c:v>
                </c:pt>
                <c:pt idx="1">
                  <c:v>336.1</c:v>
                </c:pt>
                <c:pt idx="2">
                  <c:v>263.2</c:v>
                </c:pt>
                <c:pt idx="3">
                  <c:v>887.6</c:v>
                </c:pt>
                <c:pt idx="4">
                  <c:v>289.6</c:v>
                </c:pt>
                <c:pt idx="5">
                  <c:v>414.4</c:v>
                </c:pt>
                <c:pt idx="6">
                  <c:v>413.9</c:v>
                </c:pt>
                <c:pt idx="7">
                  <c:v>325.9</c:v>
                </c:pt>
                <c:pt idx="8">
                  <c:v>375.3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صافي المفوتر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590.5</c:v>
                </c:pt>
                <c:pt idx="1">
                  <c:v>334.6</c:v>
                </c:pt>
                <c:pt idx="2">
                  <c:v>246.2</c:v>
                </c:pt>
                <c:pt idx="3">
                  <c:v>880.8</c:v>
                </c:pt>
                <c:pt idx="4">
                  <c:v>287.3</c:v>
                </c:pt>
                <c:pt idx="5">
                  <c:v>393</c:v>
                </c:pt>
                <c:pt idx="6">
                  <c:v>368</c:v>
                </c:pt>
                <c:pt idx="7">
                  <c:v>216</c:v>
                </c:pt>
                <c:pt idx="8">
                  <c:v>148.4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محصل السنة الحالية</c:v>
                </c:pt>
              </c:strCache>
            </c:strRef>
          </c:tx>
          <c:spPr>
            <a:solidFill>
              <a:srgbClr val="A4CCBC"/>
            </a:solidFill>
            <a:ln w="38100" cap="flat">
              <a:solidFill>
                <a:srgbClr val="A4CCBC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4CCBC"/>
              </a:solidFill>
              <a:ln w="9525" cap="flat">
                <a:solidFill>
                  <a:srgbClr val="A4CCB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146.3</c:v>
                </c:pt>
                <c:pt idx="1">
                  <c:v>221.2</c:v>
                </c:pt>
                <c:pt idx="2">
                  <c:v>144.5</c:v>
                </c:pt>
                <c:pt idx="3">
                  <c:v>209.8</c:v>
                </c:pt>
                <c:pt idx="4">
                  <c:v>202.9</c:v>
                </c:pt>
                <c:pt idx="5">
                  <c:v>635.2</c:v>
                </c:pt>
                <c:pt idx="6">
                  <c:v>253.7</c:v>
                </c:pt>
                <c:pt idx="7">
                  <c:v>263.4</c:v>
                </c:pt>
                <c:pt idx="8">
                  <c:v>250.2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محصل السنوات السابقة</c:v>
                </c:pt>
              </c:strCache>
            </c:strRef>
          </c:tx>
          <c:spPr>
            <a:solidFill>
              <a:srgbClr val="74A4D4"/>
            </a:solidFill>
            <a:ln w="38100" cap="flat">
              <a:solidFill>
                <a:srgbClr val="74A4D4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4A4D4"/>
              </a:solidFill>
              <a:ln w="9525" cap="flat">
                <a:solidFill>
                  <a:srgbClr val="74A4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92.6</c:v>
                </c:pt>
                <c:pt idx="1">
                  <c:v>71.4</c:v>
                </c:pt>
                <c:pt idx="2">
                  <c:v>26.9</c:v>
                </c:pt>
                <c:pt idx="3">
                  <c:v>61.8</c:v>
                </c:pt>
                <c:pt idx="4">
                  <c:v>58.2</c:v>
                </c:pt>
                <c:pt idx="5">
                  <c:v>92.3</c:v>
                </c:pt>
                <c:pt idx="6">
                  <c:v>28.9</c:v>
                </c:pt>
                <c:pt idx="7">
                  <c:v>8.5</c:v>
                </c:pt>
                <c:pt idx="8">
                  <c:v>12.5</c:v>
                </c:pt>
              </c:numCache>
            </c:numRef>
          </c:val>
          <c:smooth val="1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مستهدف المفوتر</c:v>
                </c:pt>
              </c:strCache>
            </c:strRef>
          </c:tx>
          <c:spPr>
            <a:solidFill>
              <a:srgbClr val="A0AAB8"/>
            </a:solidFill>
            <a:ln w="38100" cap="flat">
              <a:solidFill>
                <a:srgbClr val="A0AAB8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AAB8"/>
              </a:solidFill>
              <a:ln w="9525" cap="flat">
                <a:solidFill>
                  <a:srgbClr val="A0AA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Sheet1!$F$2:$F$10</c:f>
              <c:numCache>
                <c:formatCode>General</c:formatCode>
                <c:ptCount val="9"/>
                <c:pt idx="0">
                  <c:v>317.6</c:v>
                </c:pt>
                <c:pt idx="1">
                  <c:v>283.6</c:v>
                </c:pt>
                <c:pt idx="2">
                  <c:v>275.6</c:v>
                </c:pt>
                <c:pt idx="3">
                  <c:v>685</c:v>
                </c:pt>
                <c:pt idx="4">
                  <c:v>362.8</c:v>
                </c:pt>
                <c:pt idx="5">
                  <c:v>361.7</c:v>
                </c:pt>
                <c:pt idx="6">
                  <c:v>364.8</c:v>
                </c:pt>
                <c:pt idx="7">
                  <c:v>370.4</c:v>
                </c:pt>
                <c:pt idx="8">
                  <c:v>363.8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الاعتماد الأصلي</c:v>
                </c:pt>
              </c:strCache>
            </c:strRef>
          </c:tx>
          <c:spPr>
            <a:solidFill>
              <a:srgbClr val="004D33"/>
            </a:solidFill>
            <a:ln w="38100" cap="flat">
              <a:solidFill>
                <a:srgbClr val="004D33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4D33"/>
              </a:solidFill>
              <a:ln w="9525" cap="flat">
                <a:solidFill>
                  <a:srgbClr val="004D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523.7</c:v>
                </c:pt>
                <c:pt idx="1">
                  <c:v>523.7</c:v>
                </c:pt>
                <c:pt idx="2">
                  <c:v>523.7</c:v>
                </c:pt>
                <c:pt idx="3">
                  <c:v>523.7</c:v>
                </c:pt>
                <c:pt idx="4">
                  <c:v>523.7</c:v>
                </c:pt>
                <c:pt idx="5">
                  <c:v>523.7</c:v>
                </c:pt>
                <c:pt idx="6">
                  <c:v>523.7</c:v>
                </c:pt>
                <c:pt idx="7">
                  <c:v>523.7</c:v>
                </c:pt>
                <c:pt idx="8">
                  <c:v>523.7</c:v>
                </c:pt>
                <c:pt idx="9">
                  <c:v>523.7</c:v>
                </c:pt>
                <c:pt idx="10">
                  <c:v>523.7</c:v>
                </c:pt>
                <c:pt idx="11">
                  <c:v>523.7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بعد الاعتماد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523.8</c:v>
                </c:pt>
                <c:pt idx="1">
                  <c:v>523.8</c:v>
                </c:pt>
                <c:pt idx="2">
                  <c:v>523.8</c:v>
                </c:pt>
                <c:pt idx="3">
                  <c:v>523.8</c:v>
                </c:pt>
                <c:pt idx="4">
                  <c:v>523.8</c:v>
                </c:pt>
                <c:pt idx="5">
                  <c:v>523.8</c:v>
                </c:pt>
                <c:pt idx="6">
                  <c:v>523.8</c:v>
                </c:pt>
                <c:pt idx="7">
                  <c:v>523.8</c:v>
                </c:pt>
                <c:pt idx="8">
                  <c:v>523.8</c:v>
                </c:pt>
                <c:pt idx="9">
                  <c:v>523.8</c:v>
                </c:pt>
                <c:pt idx="10">
                  <c:v>523.8</c:v>
                </c:pt>
                <c:pt idx="11">
                  <c:v>523.8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 المفوتر</c:v>
                </c:pt>
              </c:strCache>
            </c:strRef>
          </c:tx>
          <c:spPr>
            <a:solidFill>
              <a:srgbClr val="A0AAB8"/>
            </a:solidFill>
            <a:ln w="38100" cap="flat">
              <a:solidFill>
                <a:srgbClr val="A0AAB8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AAB8"/>
              </a:solidFill>
              <a:ln w="9525" cap="flat">
                <a:solidFill>
                  <a:srgbClr val="A0AA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317.6</c:v>
                </c:pt>
                <c:pt idx="1">
                  <c:v>283.6</c:v>
                </c:pt>
                <c:pt idx="2">
                  <c:v>275.6</c:v>
                </c:pt>
                <c:pt idx="3">
                  <c:v>685</c:v>
                </c:pt>
                <c:pt idx="4">
                  <c:v>362.8</c:v>
                </c:pt>
                <c:pt idx="5">
                  <c:v>361.7</c:v>
                </c:pt>
                <c:pt idx="6">
                  <c:v>364.8</c:v>
                </c:pt>
                <c:pt idx="7">
                  <c:v>370.4</c:v>
                </c:pt>
                <c:pt idx="8">
                  <c:v>363.8</c:v>
                </c:pt>
                <c:pt idx="9">
                  <c:v>378</c:v>
                </c:pt>
                <c:pt idx="10">
                  <c:v>858.8</c:v>
                </c:pt>
                <c:pt idx="11">
                  <c:v>422.4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(يناير–سبتمبر)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استثمار العقارات</c:v>
                  </c:pt>
                  <c:pt idx="1">
                    <c:v>الرسوم والمقابلات</c:v>
                  </c:pt>
                  <c:pt idx="2">
                    <c:v>الجزاءات والغرامات</c:v>
                  </c:pt>
                  <c:pt idx="3">
                    <c:v>إشغال الإيواء</c:v>
                  </c:pt>
                  <c:pt idx="4">
                    <c:v>منتجات التبغ</c:v>
                  </c:pt>
                  <c:pt idx="5">
                    <c:v>إيرادات مختلفة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1239.5</c:v>
                </c:pt>
                <c:pt idx="1">
                  <c:v>918.3</c:v>
                </c:pt>
                <c:pt idx="2">
                  <c:v>1047.3</c:v>
                </c:pt>
                <c:pt idx="3">
                  <c:v>141</c:v>
                </c:pt>
                <c:pt idx="4">
                  <c:v>87</c:v>
                </c:pt>
                <c:pt idx="5">
                  <c:v>465.6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 (يناير–سبتمبر)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استثمار العقارات</c:v>
                  </c:pt>
                  <c:pt idx="1">
                    <c:v>الرسوم والمقابلات</c:v>
                  </c:pt>
                  <c:pt idx="2">
                    <c:v>الجزاءات والغرامات</c:v>
                  </c:pt>
                  <c:pt idx="3">
                    <c:v>إشغال الإيواء</c:v>
                  </c:pt>
                  <c:pt idx="4">
                    <c:v>منتجات التبغ</c:v>
                  </c:pt>
                  <c:pt idx="5">
                    <c:v>إيرادات مختلفة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1139</c:v>
                </c:pt>
                <c:pt idx="1">
                  <c:v>988.7</c:v>
                </c:pt>
                <c:pt idx="2">
                  <c:v>814.9</c:v>
                </c:pt>
                <c:pt idx="3">
                  <c:v>197.5</c:v>
                </c:pt>
                <c:pt idx="4">
                  <c:v>164.6</c:v>
                </c:pt>
                <c:pt idx="5">
                  <c:v>80.6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 السنة</c:v>
                </c:pt>
              </c:strCache>
            </c:strRef>
          </c:tx>
          <c:spPr>
            <a:solidFill>
              <a:srgbClr val="A0AAB8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استثمار العقارات</c:v>
                  </c:pt>
                  <c:pt idx="1">
                    <c:v>الرسوم والمقابلات</c:v>
                  </c:pt>
                  <c:pt idx="2">
                    <c:v>الجزاءات والغرامات</c:v>
                  </c:pt>
                  <c:pt idx="3">
                    <c:v>إشغال الإيواء</c:v>
                  </c:pt>
                  <c:pt idx="4">
                    <c:v>منتجات التبغ</c:v>
                  </c:pt>
                  <c:pt idx="5">
                    <c:v>إيرادات مختلفة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1920.7</c:v>
                </c:pt>
                <c:pt idx="1">
                  <c:v>1410.5</c:v>
                </c:pt>
                <c:pt idx="2">
                  <c:v>1097.2</c:v>
                </c:pt>
                <c:pt idx="3">
                  <c:v>287.5</c:v>
                </c:pt>
                <c:pt idx="4">
                  <c:v>222.6</c:v>
                </c:pt>
                <c:pt idx="5">
                  <c:v>106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123.6</c:v>
                </c:pt>
                <c:pt idx="1">
                  <c:v>96.8</c:v>
                </c:pt>
                <c:pt idx="2">
                  <c:v>53.6</c:v>
                </c:pt>
                <c:pt idx="3">
                  <c:v>552.4</c:v>
                </c:pt>
                <c:pt idx="4">
                  <c:v>91</c:v>
                </c:pt>
                <c:pt idx="5">
                  <c:v>97</c:v>
                </c:pt>
                <c:pt idx="6">
                  <c:v>75.1</c:v>
                </c:pt>
                <c:pt idx="7">
                  <c:v>82</c:v>
                </c:pt>
                <c:pt idx="8">
                  <c:v>68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004D33"/>
            </a:solidFill>
            <a:ln w="38100" cap="flat">
              <a:solidFill>
                <a:srgbClr val="004D33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4D33"/>
              </a:solidFill>
              <a:ln w="9525" cap="flat">
                <a:solidFill>
                  <a:srgbClr val="004D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42.5</c:v>
                </c:pt>
                <c:pt idx="1">
                  <c:v>44.2</c:v>
                </c:pt>
                <c:pt idx="2">
                  <c:v>48.7</c:v>
                </c:pt>
                <c:pt idx="3">
                  <c:v>501.2</c:v>
                </c:pt>
                <c:pt idx="4">
                  <c:v>95.1</c:v>
                </c:pt>
                <c:pt idx="5">
                  <c:v>108.2</c:v>
                </c:pt>
                <c:pt idx="6">
                  <c:v>94.1</c:v>
                </c:pt>
                <c:pt idx="7">
                  <c:v>108</c:v>
                </c:pt>
                <c:pt idx="8">
                  <c:v>97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114</c:v>
                </c:pt>
                <c:pt idx="1">
                  <c:v>91.5</c:v>
                </c:pt>
                <c:pt idx="2">
                  <c:v>66.9</c:v>
                </c:pt>
                <c:pt idx="3">
                  <c:v>152</c:v>
                </c:pt>
                <c:pt idx="4">
                  <c:v>73.3</c:v>
                </c:pt>
                <c:pt idx="5">
                  <c:v>109.8</c:v>
                </c:pt>
                <c:pt idx="6">
                  <c:v>104.2</c:v>
                </c:pt>
                <c:pt idx="7">
                  <c:v>103.5</c:v>
                </c:pt>
                <c:pt idx="8">
                  <c:v>103.3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004D33"/>
            </a:solidFill>
            <a:ln w="38100" cap="flat">
              <a:solidFill>
                <a:srgbClr val="004D33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4D33"/>
              </a:solidFill>
              <a:ln w="9525" cap="flat">
                <a:solidFill>
                  <a:srgbClr val="004D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122.8</c:v>
                </c:pt>
                <c:pt idx="1">
                  <c:v>105.2</c:v>
                </c:pt>
                <c:pt idx="2">
                  <c:v>96.5</c:v>
                </c:pt>
                <c:pt idx="3">
                  <c:v>68.8</c:v>
                </c:pt>
                <c:pt idx="4">
                  <c:v>136.7</c:v>
                </c:pt>
                <c:pt idx="5">
                  <c:v>112.9</c:v>
                </c:pt>
                <c:pt idx="6">
                  <c:v>124.7</c:v>
                </c:pt>
                <c:pt idx="7">
                  <c:v>114.6</c:v>
                </c:pt>
                <c:pt idx="8">
                  <c:v>106.6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93.7</c:v>
                </c:pt>
                <c:pt idx="1">
                  <c:v>111.6</c:v>
                </c:pt>
                <c:pt idx="2">
                  <c:v>95.2</c:v>
                </c:pt>
                <c:pt idx="3">
                  <c:v>124</c:v>
                </c:pt>
                <c:pt idx="4">
                  <c:v>102.1</c:v>
                </c:pt>
                <c:pt idx="5">
                  <c:v>126.3</c:v>
                </c:pt>
                <c:pt idx="6">
                  <c:v>146.1</c:v>
                </c:pt>
                <c:pt idx="7">
                  <c:v>116.3</c:v>
                </c:pt>
                <c:pt idx="8">
                  <c:v>131.9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004D33"/>
            </a:solidFill>
            <a:ln w="38100" cap="flat">
              <a:solidFill>
                <a:srgbClr val="004D33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4D33"/>
              </a:solidFill>
              <a:ln w="9525" cap="flat">
                <a:solidFill>
                  <a:srgbClr val="004D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86.1</c:v>
                </c:pt>
                <c:pt idx="1">
                  <c:v>90.7</c:v>
                </c:pt>
                <c:pt idx="2">
                  <c:v>88.1</c:v>
                </c:pt>
                <c:pt idx="3">
                  <c:v>77</c:v>
                </c:pt>
                <c:pt idx="4">
                  <c:v>90.2</c:v>
                </c:pt>
                <c:pt idx="5">
                  <c:v>86.7</c:v>
                </c:pt>
                <c:pt idx="6">
                  <c:v>104.1</c:v>
                </c:pt>
                <c:pt idx="7">
                  <c:v>99.4</c:v>
                </c:pt>
                <c:pt idx="8">
                  <c:v>92.7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22.3</c:v>
                </c:pt>
                <c:pt idx="1">
                  <c:v>24.3</c:v>
                </c:pt>
                <c:pt idx="2">
                  <c:v>21.8</c:v>
                </c:pt>
                <c:pt idx="3">
                  <c:v>10.9</c:v>
                </c:pt>
                <c:pt idx="4">
                  <c:v>11</c:v>
                </c:pt>
                <c:pt idx="5">
                  <c:v>13</c:v>
                </c:pt>
                <c:pt idx="6">
                  <c:v>11.8</c:v>
                </c:pt>
                <c:pt idx="7">
                  <c:v>12.5</c:v>
                </c:pt>
                <c:pt idx="8">
                  <c:v>13.4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004D33"/>
            </a:solidFill>
            <a:ln w="38100" cap="flat">
              <a:solidFill>
                <a:srgbClr val="004D33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4D33"/>
              </a:solidFill>
              <a:ln w="9525" cap="flat">
                <a:solidFill>
                  <a:srgbClr val="004D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26.1</c:v>
                </c:pt>
                <c:pt idx="1">
                  <c:v>28.2</c:v>
                </c:pt>
                <c:pt idx="2">
                  <c:v>28.3</c:v>
                </c:pt>
                <c:pt idx="3">
                  <c:v>18.4</c:v>
                </c:pt>
                <c:pt idx="4">
                  <c:v>16.7</c:v>
                </c:pt>
                <c:pt idx="5">
                  <c:v>22.5</c:v>
                </c:pt>
                <c:pt idx="6">
                  <c:v>13.1</c:v>
                </c:pt>
                <c:pt idx="7">
                  <c:v>19.4</c:v>
                </c:pt>
                <c:pt idx="8">
                  <c:v>24.9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10.1</c:v>
                </c:pt>
                <c:pt idx="1">
                  <c:v>9.6</c:v>
                </c:pt>
                <c:pt idx="2">
                  <c:v>8.5</c:v>
                </c:pt>
                <c:pt idx="3">
                  <c:v>10</c:v>
                </c:pt>
                <c:pt idx="4">
                  <c:v>9.6</c:v>
                </c:pt>
                <c:pt idx="5">
                  <c:v>10.9</c:v>
                </c:pt>
                <c:pt idx="6">
                  <c:v>9.4</c:v>
                </c:pt>
                <c:pt idx="7">
                  <c:v>9</c:v>
                </c:pt>
                <c:pt idx="8">
                  <c:v>9.9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004D33"/>
            </a:solidFill>
            <a:ln w="38100" cap="flat">
              <a:solidFill>
                <a:srgbClr val="004D33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4D33"/>
              </a:solidFill>
              <a:ln w="9525" cap="flat">
                <a:solidFill>
                  <a:srgbClr val="004D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16.1</c:v>
                </c:pt>
                <c:pt idx="1">
                  <c:v>10.5</c:v>
                </c:pt>
                <c:pt idx="2">
                  <c:v>10.2</c:v>
                </c:pt>
                <c:pt idx="3">
                  <c:v>10.1</c:v>
                </c:pt>
                <c:pt idx="4">
                  <c:v>19</c:v>
                </c:pt>
                <c:pt idx="5">
                  <c:v>20.9</c:v>
                </c:pt>
                <c:pt idx="6">
                  <c:v>20.7</c:v>
                </c:pt>
                <c:pt idx="7">
                  <c:v>20</c:v>
                </c:pt>
                <c:pt idx="8">
                  <c:v>37.1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228.9</c:v>
                </c:pt>
                <c:pt idx="1">
                  <c:v>2.2</c:v>
                </c:pt>
                <c:pt idx="2">
                  <c:v>17.2</c:v>
                </c:pt>
                <c:pt idx="3">
                  <c:v>38.5</c:v>
                </c:pt>
                <c:pt idx="4">
                  <c:v>2.6</c:v>
                </c:pt>
                <c:pt idx="5">
                  <c:v>57.4</c:v>
                </c:pt>
                <c:pt idx="6">
                  <c:v>67.4</c:v>
                </c:pt>
                <c:pt idx="7">
                  <c:v>2.5</c:v>
                </c:pt>
                <c:pt idx="8">
                  <c:v>48.9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004D33"/>
            </a:solidFill>
            <a:ln w="38100" cap="flat">
              <a:solidFill>
                <a:srgbClr val="004D33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4D33"/>
              </a:solidFill>
              <a:ln w="9525" cap="flat">
                <a:solidFill>
                  <a:srgbClr val="004D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24</c:v>
                </c:pt>
                <c:pt idx="1">
                  <c:v>5</c:v>
                </c:pt>
                <c:pt idx="2">
                  <c:v>3.8</c:v>
                </c:pt>
                <c:pt idx="3">
                  <c:v>9.6</c:v>
                </c:pt>
                <c:pt idx="4">
                  <c:v>5.1</c:v>
                </c:pt>
                <c:pt idx="5">
                  <c:v>10.5</c:v>
                </c:pt>
                <c:pt idx="6">
                  <c:v>8.1</c:v>
                </c:pt>
                <c:pt idx="7">
                  <c:v>9</c:v>
                </c:pt>
                <c:pt idx="8">
                  <c:v>5.4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المتبقي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إيرادات استثمارية</c:v>
                  </c:pt>
                  <c:pt idx="1">
                    <c:v>جزاءات وغرامات</c:v>
                  </c:pt>
                  <c:pt idx="2">
                    <c:v>التبغ والإيواء</c:v>
                  </c:pt>
                  <c:pt idx="3">
                    <c:v>أخرى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373.1</c:v>
                </c:pt>
                <c:pt idx="1">
                  <c:v>1672</c:v>
                </c:pt>
                <c:pt idx="2">
                  <c:v>195.7</c:v>
                </c:pt>
                <c:pt idx="3">
                  <c:v>85.7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ما تم سداده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إيرادات استثمارية</c:v>
                  </c:pt>
                  <c:pt idx="1">
                    <c:v>جزاءات وغرامات</c:v>
                  </c:pt>
                  <c:pt idx="2">
                    <c:v>التبغ والإيواء</c:v>
                  </c:pt>
                  <c:pt idx="3">
                    <c:v>أخرى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172.1</c:v>
                </c:pt>
                <c:pt idx="1">
                  <c:v>166.1</c:v>
                </c:pt>
                <c:pt idx="2">
                  <c:v>10.8</c:v>
                </c:pt>
                <c:pt idx="3">
                  <c:v>19.3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الملغي</c:v>
                </c:pt>
              </c:strCache>
            </c:strRef>
          </c:tx>
          <c:spPr>
            <a:solidFill>
              <a:srgbClr val="A0AAB8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إيرادات استثمارية</c:v>
                  </c:pt>
                  <c:pt idx="1">
                    <c:v>جزاءات وغرامات</c:v>
                  </c:pt>
                  <c:pt idx="2">
                    <c:v>التبغ والإيواء</c:v>
                  </c:pt>
                  <c:pt idx="3">
                    <c:v>أخرى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15.6</c:v>
                </c:pt>
                <c:pt idx="1">
                  <c:v>28.6</c:v>
                </c:pt>
                <c:pt idx="2">
                  <c:v>5.2</c:v>
                </c:pt>
                <c:pt idx="3">
                  <c:v>0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المتبقي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2009</c:v>
                  </c:pt>
                  <c:pt idx="1">
                    <c:v>2010</c:v>
                  </c:pt>
                  <c:pt idx="2">
                    <c:v>2011</c:v>
                  </c:pt>
                  <c:pt idx="3">
                    <c:v>2012</c:v>
                  </c:pt>
                  <c:pt idx="4">
                    <c:v>2013</c:v>
                  </c:pt>
                  <c:pt idx="5">
                    <c:v>2014</c:v>
                  </c:pt>
                  <c:pt idx="6">
                    <c:v>2015</c:v>
                  </c:pt>
                  <c:pt idx="7">
                    <c:v>2016</c:v>
                  </c:pt>
                  <c:pt idx="8">
                    <c:v>2017</c:v>
                  </c:pt>
                  <c:pt idx="9">
                    <c:v>2018</c:v>
                  </c:pt>
                  <c:pt idx="10">
                    <c:v>2019</c:v>
                  </c:pt>
                  <c:pt idx="11">
                    <c:v>2020</c:v>
                  </c:pt>
                  <c:pt idx="12">
                    <c:v>2021</c:v>
                  </c:pt>
                  <c:pt idx="13">
                    <c:v>2022</c:v>
                  </c:pt>
                  <c:pt idx="14">
                    <c:v>2023</c:v>
                  </c:pt>
                  <c:pt idx="15">
                    <c:v>2024</c:v>
                  </c:pt>
                  <c:pt idx="16">
                    <c:v>2025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0.1</c:v>
                </c:pt>
                <c:pt idx="1">
                  <c:v>0.2</c:v>
                </c:pt>
                <c:pt idx="2">
                  <c:v>5</c:v>
                </c:pt>
                <c:pt idx="3">
                  <c:v>0.3</c:v>
                </c:pt>
                <c:pt idx="4">
                  <c:v>1.2</c:v>
                </c:pt>
                <c:pt idx="5">
                  <c:v>3.8</c:v>
                </c:pt>
                <c:pt idx="6">
                  <c:v>6.9</c:v>
                </c:pt>
                <c:pt idx="7">
                  <c:v>5.5</c:v>
                </c:pt>
                <c:pt idx="8">
                  <c:v>26.6</c:v>
                </c:pt>
                <c:pt idx="9">
                  <c:v>10.7</c:v>
                </c:pt>
                <c:pt idx="10">
                  <c:v>20.9</c:v>
                </c:pt>
                <c:pt idx="11">
                  <c:v>14.3</c:v>
                </c:pt>
                <c:pt idx="12">
                  <c:v>66.5</c:v>
                </c:pt>
                <c:pt idx="13">
                  <c:v>36.9</c:v>
                </c:pt>
                <c:pt idx="14">
                  <c:v>31.3</c:v>
                </c:pt>
                <c:pt idx="15">
                  <c:v>57</c:v>
                </c:pt>
                <c:pt idx="16">
                  <c:v>85.9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ما تم سداده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2009</c:v>
                  </c:pt>
                  <c:pt idx="1">
                    <c:v>2010</c:v>
                  </c:pt>
                  <c:pt idx="2">
                    <c:v>2011</c:v>
                  </c:pt>
                  <c:pt idx="3">
                    <c:v>2012</c:v>
                  </c:pt>
                  <c:pt idx="4">
                    <c:v>2013</c:v>
                  </c:pt>
                  <c:pt idx="5">
                    <c:v>2014</c:v>
                  </c:pt>
                  <c:pt idx="6">
                    <c:v>2015</c:v>
                  </c:pt>
                  <c:pt idx="7">
                    <c:v>2016</c:v>
                  </c:pt>
                  <c:pt idx="8">
                    <c:v>2017</c:v>
                  </c:pt>
                  <c:pt idx="9">
                    <c:v>2018</c:v>
                  </c:pt>
                  <c:pt idx="10">
                    <c:v>2019</c:v>
                  </c:pt>
                  <c:pt idx="11">
                    <c:v>2020</c:v>
                  </c:pt>
                  <c:pt idx="12">
                    <c:v>2021</c:v>
                  </c:pt>
                  <c:pt idx="13">
                    <c:v>2022</c:v>
                  </c:pt>
                  <c:pt idx="14">
                    <c:v>2023</c:v>
                  </c:pt>
                  <c:pt idx="15">
                    <c:v>2024</c:v>
                  </c:pt>
                  <c:pt idx="16">
                    <c:v>2025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4</c:v>
                </c:pt>
                <c:pt idx="3">
                  <c:v>0</c:v>
                </c:pt>
                <c:pt idx="4">
                  <c:v>0</c:v>
                </c:pt>
                <c:pt idx="5">
                  <c:v>0.2</c:v>
                </c:pt>
                <c:pt idx="6">
                  <c:v>0.7</c:v>
                </c:pt>
                <c:pt idx="7">
                  <c:v>0.6</c:v>
                </c:pt>
                <c:pt idx="8">
                  <c:v>1.2</c:v>
                </c:pt>
                <c:pt idx="9">
                  <c:v>2.8</c:v>
                </c:pt>
                <c:pt idx="10">
                  <c:v>1.7</c:v>
                </c:pt>
                <c:pt idx="11">
                  <c:v>1.7</c:v>
                </c:pt>
                <c:pt idx="12">
                  <c:v>1.9</c:v>
                </c:pt>
                <c:pt idx="13">
                  <c:v>14.6</c:v>
                </c:pt>
                <c:pt idx="14">
                  <c:v>5.4</c:v>
                </c:pt>
                <c:pt idx="15">
                  <c:v>21.3</c:v>
                </c:pt>
                <c:pt idx="16">
                  <c:v>115.8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الملغي</c:v>
                </c:pt>
              </c:strCache>
            </c:strRef>
          </c:tx>
          <c:spPr>
            <a:solidFill>
              <a:srgbClr val="A0AAB8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2009</c:v>
                  </c:pt>
                  <c:pt idx="1">
                    <c:v>2010</c:v>
                  </c:pt>
                  <c:pt idx="2">
                    <c:v>2011</c:v>
                  </c:pt>
                  <c:pt idx="3">
                    <c:v>2012</c:v>
                  </c:pt>
                  <c:pt idx="4">
                    <c:v>2013</c:v>
                  </c:pt>
                  <c:pt idx="5">
                    <c:v>2014</c:v>
                  </c:pt>
                  <c:pt idx="6">
                    <c:v>2015</c:v>
                  </c:pt>
                  <c:pt idx="7">
                    <c:v>2016</c:v>
                  </c:pt>
                  <c:pt idx="8">
                    <c:v>2017</c:v>
                  </c:pt>
                  <c:pt idx="9">
                    <c:v>2018</c:v>
                  </c:pt>
                  <c:pt idx="10">
                    <c:v>2019</c:v>
                  </c:pt>
                  <c:pt idx="11">
                    <c:v>2020</c:v>
                  </c:pt>
                  <c:pt idx="12">
                    <c:v>2021</c:v>
                  </c:pt>
                  <c:pt idx="13">
                    <c:v>2022</c:v>
                  </c:pt>
                  <c:pt idx="14">
                    <c:v>2023</c:v>
                  </c:pt>
                  <c:pt idx="15">
                    <c:v>2024</c:v>
                  </c:pt>
                  <c:pt idx="16">
                    <c:v>2025</c:v>
                  </c:pt>
                </c:lvl>
              </c:multiLvlStrCache>
            </c:multiLvlStrRef>
          </c:cat>
          <c:val>
            <c:numRef>
              <c:f>Sheet1!$D$2:$D$18</c:f>
              <c:numCache>
                <c:formatCode>General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0.1</c:v>
                </c:pt>
                <c:pt idx="3">
                  <c:v>0.2</c:v>
                </c:pt>
                <c:pt idx="4">
                  <c:v>0</c:v>
                </c:pt>
                <c:pt idx="5">
                  <c:v>0.1</c:v>
                </c:pt>
                <c:pt idx="6">
                  <c:v>0</c:v>
                </c:pt>
                <c:pt idx="7">
                  <c:v>0.2</c:v>
                </c:pt>
                <c:pt idx="8">
                  <c:v>0.2</c:v>
                </c:pt>
                <c:pt idx="9">
                  <c:v>0.2</c:v>
                </c:pt>
                <c:pt idx="10">
                  <c:v>0</c:v>
                </c:pt>
                <c:pt idx="11">
                  <c:v>0</c:v>
                </c:pt>
                <c:pt idx="12">
                  <c:v>0.1</c:v>
                </c:pt>
                <c:pt idx="13">
                  <c:v>0.5</c:v>
                </c:pt>
                <c:pt idx="14">
                  <c:v>1.4</c:v>
                </c:pt>
                <c:pt idx="15">
                  <c:v>2.3</c:v>
                </c:pt>
                <c:pt idx="16">
                  <c:v>10.3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المتبقي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Sheet1!$A$2:$A$20</c:f>
              <c:multiLvlStrCache>
                <c:ptCount val="19"/>
                <c:lvl>
                  <c:pt idx="0">
                    <c:v>2007</c:v>
                  </c:pt>
                  <c:pt idx="1">
                    <c:v>2008</c:v>
                  </c:pt>
                  <c:pt idx="2">
                    <c:v>2009</c:v>
                  </c:pt>
                  <c:pt idx="3">
                    <c:v>2010</c:v>
                  </c:pt>
                  <c:pt idx="4">
                    <c:v>2011</c:v>
                  </c:pt>
                  <c:pt idx="5">
                    <c:v>2012</c:v>
                  </c:pt>
                  <c:pt idx="6">
                    <c:v>2013</c:v>
                  </c:pt>
                  <c:pt idx="7">
                    <c:v>2014</c:v>
                  </c:pt>
                  <c:pt idx="8">
                    <c:v>2015</c:v>
                  </c:pt>
                  <c:pt idx="9">
                    <c:v>2016</c:v>
                  </c:pt>
                  <c:pt idx="10">
                    <c:v>2017</c:v>
                  </c:pt>
                  <c:pt idx="11">
                    <c:v>2018</c:v>
                  </c:pt>
                  <c:pt idx="12">
                    <c:v>2019</c:v>
                  </c:pt>
                  <c:pt idx="13">
                    <c:v>2020</c:v>
                  </c:pt>
                  <c:pt idx="14">
                    <c:v>2021</c:v>
                  </c:pt>
                  <c:pt idx="15">
                    <c:v>2022</c:v>
                  </c:pt>
                  <c:pt idx="16">
                    <c:v>2023</c:v>
                  </c:pt>
                  <c:pt idx="17">
                    <c:v>2024</c:v>
                  </c:pt>
                  <c:pt idx="18">
                    <c:v>2025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0.1</c:v>
                </c:pt>
                <c:pt idx="1">
                  <c:v>1.1</c:v>
                </c:pt>
                <c:pt idx="2">
                  <c:v>1.2</c:v>
                </c:pt>
                <c:pt idx="3">
                  <c:v>1.3</c:v>
                </c:pt>
                <c:pt idx="4">
                  <c:v>1.1</c:v>
                </c:pt>
                <c:pt idx="5">
                  <c:v>1.3</c:v>
                </c:pt>
                <c:pt idx="6">
                  <c:v>1.8</c:v>
                </c:pt>
                <c:pt idx="7">
                  <c:v>2.5</c:v>
                </c:pt>
                <c:pt idx="8">
                  <c:v>2.5</c:v>
                </c:pt>
                <c:pt idx="9">
                  <c:v>6.4</c:v>
                </c:pt>
                <c:pt idx="10">
                  <c:v>7.9</c:v>
                </c:pt>
                <c:pt idx="11">
                  <c:v>24.4</c:v>
                </c:pt>
                <c:pt idx="12">
                  <c:v>40</c:v>
                </c:pt>
                <c:pt idx="13">
                  <c:v>47.5</c:v>
                </c:pt>
                <c:pt idx="14">
                  <c:v>88.2</c:v>
                </c:pt>
                <c:pt idx="15">
                  <c:v>164.6</c:v>
                </c:pt>
                <c:pt idx="16">
                  <c:v>254.2</c:v>
                </c:pt>
                <c:pt idx="17">
                  <c:v>443.2</c:v>
                </c:pt>
                <c:pt idx="18">
                  <c:v>582.9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ما تم سداده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Sheet1!$A$2:$A$20</c:f>
              <c:multiLvlStrCache>
                <c:ptCount val="19"/>
                <c:lvl>
                  <c:pt idx="0">
                    <c:v>2007</c:v>
                  </c:pt>
                  <c:pt idx="1">
                    <c:v>2008</c:v>
                  </c:pt>
                  <c:pt idx="2">
                    <c:v>2009</c:v>
                  </c:pt>
                  <c:pt idx="3">
                    <c:v>2010</c:v>
                  </c:pt>
                  <c:pt idx="4">
                    <c:v>2011</c:v>
                  </c:pt>
                  <c:pt idx="5">
                    <c:v>2012</c:v>
                  </c:pt>
                  <c:pt idx="6">
                    <c:v>2013</c:v>
                  </c:pt>
                  <c:pt idx="7">
                    <c:v>2014</c:v>
                  </c:pt>
                  <c:pt idx="8">
                    <c:v>2015</c:v>
                  </c:pt>
                  <c:pt idx="9">
                    <c:v>2016</c:v>
                  </c:pt>
                  <c:pt idx="10">
                    <c:v>2017</c:v>
                  </c:pt>
                  <c:pt idx="11">
                    <c:v>2018</c:v>
                  </c:pt>
                  <c:pt idx="12">
                    <c:v>2019</c:v>
                  </c:pt>
                  <c:pt idx="13">
                    <c:v>2020</c:v>
                  </c:pt>
                  <c:pt idx="14">
                    <c:v>2021</c:v>
                  </c:pt>
                  <c:pt idx="15">
                    <c:v>2022</c:v>
                  </c:pt>
                  <c:pt idx="16">
                    <c:v>2023</c:v>
                  </c:pt>
                  <c:pt idx="17">
                    <c:v>2024</c:v>
                  </c:pt>
                  <c:pt idx="18">
                    <c:v>2025</c:v>
                  </c:pt>
                </c:lvl>
              </c:multiLvlStrCache>
            </c:multiLvl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0.1</c:v>
                </c:pt>
                <c:pt idx="13">
                  <c:v>0.4</c:v>
                </c:pt>
                <c:pt idx="14">
                  <c:v>2</c:v>
                </c:pt>
                <c:pt idx="15">
                  <c:v>4.1</c:v>
                </c:pt>
                <c:pt idx="16">
                  <c:v>4.1</c:v>
                </c:pt>
                <c:pt idx="17">
                  <c:v>41</c:v>
                </c:pt>
                <c:pt idx="18">
                  <c:v>114.4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الملغي</c:v>
                </c:pt>
              </c:strCache>
            </c:strRef>
          </c:tx>
          <c:spPr>
            <a:solidFill>
              <a:srgbClr val="A0AAB8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Sheet1!$A$2:$A$20</c:f>
              <c:multiLvlStrCache>
                <c:ptCount val="19"/>
                <c:lvl>
                  <c:pt idx="0">
                    <c:v>2007</c:v>
                  </c:pt>
                  <c:pt idx="1">
                    <c:v>2008</c:v>
                  </c:pt>
                  <c:pt idx="2">
                    <c:v>2009</c:v>
                  </c:pt>
                  <c:pt idx="3">
                    <c:v>2010</c:v>
                  </c:pt>
                  <c:pt idx="4">
                    <c:v>2011</c:v>
                  </c:pt>
                  <c:pt idx="5">
                    <c:v>2012</c:v>
                  </c:pt>
                  <c:pt idx="6">
                    <c:v>2013</c:v>
                  </c:pt>
                  <c:pt idx="7">
                    <c:v>2014</c:v>
                  </c:pt>
                  <c:pt idx="8">
                    <c:v>2015</c:v>
                  </c:pt>
                  <c:pt idx="9">
                    <c:v>2016</c:v>
                  </c:pt>
                  <c:pt idx="10">
                    <c:v>2017</c:v>
                  </c:pt>
                  <c:pt idx="11">
                    <c:v>2018</c:v>
                  </c:pt>
                  <c:pt idx="12">
                    <c:v>2019</c:v>
                  </c:pt>
                  <c:pt idx="13">
                    <c:v>2020</c:v>
                  </c:pt>
                  <c:pt idx="14">
                    <c:v>2021</c:v>
                  </c:pt>
                  <c:pt idx="15">
                    <c:v>2022</c:v>
                  </c:pt>
                  <c:pt idx="16">
                    <c:v>2023</c:v>
                  </c:pt>
                  <c:pt idx="17">
                    <c:v>2024</c:v>
                  </c:pt>
                  <c:pt idx="18">
                    <c:v>2025</c:v>
                  </c:pt>
                </c:lvl>
              </c:multiLvlStrCache>
            </c:multiLvl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0.7</c:v>
                </c:pt>
                <c:pt idx="16">
                  <c:v>0.8</c:v>
                </c:pt>
                <c:pt idx="17">
                  <c:v>2.7</c:v>
                </c:pt>
                <c:pt idx="18">
                  <c:v>24.3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المتبقي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2019</c:v>
                  </c:pt>
                  <c:pt idx="3">
                    <c:v>2020</c:v>
                  </c:pt>
                  <c:pt idx="4">
                    <c:v>2021</c:v>
                  </c:pt>
                  <c:pt idx="5">
                    <c:v>2022</c:v>
                  </c:pt>
                  <c:pt idx="6">
                    <c:v>2023</c:v>
                  </c:pt>
                  <c:pt idx="7">
                    <c:v>2024</c:v>
                  </c:pt>
                  <c:pt idx="8">
                    <c:v>2025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0.5</c:v>
                </c:pt>
                <c:pt idx="2">
                  <c:v>4.7</c:v>
                </c:pt>
                <c:pt idx="3">
                  <c:v>8.8</c:v>
                </c:pt>
                <c:pt idx="4">
                  <c:v>5.4</c:v>
                </c:pt>
                <c:pt idx="5">
                  <c:v>16.7</c:v>
                </c:pt>
                <c:pt idx="6">
                  <c:v>13.6</c:v>
                </c:pt>
                <c:pt idx="7">
                  <c:v>83.3</c:v>
                </c:pt>
                <c:pt idx="8">
                  <c:v>62.7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ما تم سداده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2019</c:v>
                  </c:pt>
                  <c:pt idx="3">
                    <c:v>2020</c:v>
                  </c:pt>
                  <c:pt idx="4">
                    <c:v>2021</c:v>
                  </c:pt>
                  <c:pt idx="5">
                    <c:v>2022</c:v>
                  </c:pt>
                  <c:pt idx="6">
                    <c:v>2023</c:v>
                  </c:pt>
                  <c:pt idx="7">
                    <c:v>2024</c:v>
                  </c:pt>
                  <c:pt idx="8">
                    <c:v>2025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0.1</c:v>
                </c:pt>
                <c:pt idx="4">
                  <c:v>0.2</c:v>
                </c:pt>
                <c:pt idx="5">
                  <c:v>0.1</c:v>
                </c:pt>
                <c:pt idx="6">
                  <c:v>0.1</c:v>
                </c:pt>
                <c:pt idx="7">
                  <c:v>2.1</c:v>
                </c:pt>
                <c:pt idx="8">
                  <c:v>8.1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الملغي</c:v>
                </c:pt>
              </c:strCache>
            </c:strRef>
          </c:tx>
          <c:spPr>
            <a:solidFill>
              <a:srgbClr val="A0AAB8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2019</c:v>
                  </c:pt>
                  <c:pt idx="3">
                    <c:v>2020</c:v>
                  </c:pt>
                  <c:pt idx="4">
                    <c:v>2021</c:v>
                  </c:pt>
                  <c:pt idx="5">
                    <c:v>2022</c:v>
                  </c:pt>
                  <c:pt idx="6">
                    <c:v>2023</c:v>
                  </c:pt>
                  <c:pt idx="7">
                    <c:v>2024</c:v>
                  </c:pt>
                  <c:pt idx="8">
                    <c:v>2025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0.8</c:v>
                </c:pt>
                <c:pt idx="8">
                  <c:v>4.3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المتبقي</c:v>
                </c:pt>
              </c:strCache>
            </c:strRef>
          </c:tx>
          <c:spPr>
            <a:solidFill>
              <a:srgbClr val="004D33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2009</c:v>
                  </c:pt>
                  <c:pt idx="1">
                    <c:v>2010</c:v>
                  </c:pt>
                  <c:pt idx="2">
                    <c:v>2011</c:v>
                  </c:pt>
                  <c:pt idx="3">
                    <c:v>2012</c:v>
                  </c:pt>
                  <c:pt idx="4">
                    <c:v>2013</c:v>
                  </c:pt>
                  <c:pt idx="5">
                    <c:v>2014</c:v>
                  </c:pt>
                  <c:pt idx="6">
                    <c:v>2015</c:v>
                  </c:pt>
                  <c:pt idx="7">
                    <c:v>2016</c:v>
                  </c:pt>
                  <c:pt idx="8">
                    <c:v>2017</c:v>
                  </c:pt>
                  <c:pt idx="9">
                    <c:v>2018</c:v>
                  </c:pt>
                  <c:pt idx="10">
                    <c:v>2019</c:v>
                  </c:pt>
                  <c:pt idx="11">
                    <c:v>2020</c:v>
                  </c:pt>
                  <c:pt idx="12">
                    <c:v>2021</c:v>
                  </c:pt>
                  <c:pt idx="13">
                    <c:v>2022</c:v>
                  </c:pt>
                  <c:pt idx="14">
                    <c:v>2023</c:v>
                  </c:pt>
                  <c:pt idx="15">
                    <c:v>2024</c:v>
                  </c:pt>
                  <c:pt idx="16">
                    <c:v>2025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1.6</c:v>
                </c:pt>
                <c:pt idx="7">
                  <c:v>0</c:v>
                </c:pt>
                <c:pt idx="8">
                  <c:v>0.5</c:v>
                </c:pt>
                <c:pt idx="9">
                  <c:v>0.2</c:v>
                </c:pt>
                <c:pt idx="10">
                  <c:v>0.1</c:v>
                </c:pt>
                <c:pt idx="11">
                  <c:v>0</c:v>
                </c:pt>
                <c:pt idx="12">
                  <c:v>0.2</c:v>
                </c:pt>
                <c:pt idx="13">
                  <c:v>0.4</c:v>
                </c:pt>
                <c:pt idx="14">
                  <c:v>0.4</c:v>
                </c:pt>
                <c:pt idx="15">
                  <c:v>4</c:v>
                </c:pt>
                <c:pt idx="16">
                  <c:v>78.2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ما تم سداده</c:v>
                </c:pt>
              </c:strCache>
            </c:strRef>
          </c:tx>
          <c:spPr>
            <a:solidFill>
              <a:srgbClr val="006A46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2009</c:v>
                  </c:pt>
                  <c:pt idx="1">
                    <c:v>2010</c:v>
                  </c:pt>
                  <c:pt idx="2">
                    <c:v>2011</c:v>
                  </c:pt>
                  <c:pt idx="3">
                    <c:v>2012</c:v>
                  </c:pt>
                  <c:pt idx="4">
                    <c:v>2013</c:v>
                  </c:pt>
                  <c:pt idx="5">
                    <c:v>2014</c:v>
                  </c:pt>
                  <c:pt idx="6">
                    <c:v>2015</c:v>
                  </c:pt>
                  <c:pt idx="7">
                    <c:v>2016</c:v>
                  </c:pt>
                  <c:pt idx="8">
                    <c:v>2017</c:v>
                  </c:pt>
                  <c:pt idx="9">
                    <c:v>2018</c:v>
                  </c:pt>
                  <c:pt idx="10">
                    <c:v>2019</c:v>
                  </c:pt>
                  <c:pt idx="11">
                    <c:v>2020</c:v>
                  </c:pt>
                  <c:pt idx="12">
                    <c:v>2021</c:v>
                  </c:pt>
                  <c:pt idx="13">
                    <c:v>2022</c:v>
                  </c:pt>
                  <c:pt idx="14">
                    <c:v>2023</c:v>
                  </c:pt>
                  <c:pt idx="15">
                    <c:v>2024</c:v>
                  </c:pt>
                  <c:pt idx="16">
                    <c:v>2025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19.3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الملغي</c:v>
                </c:pt>
              </c:strCache>
            </c:strRef>
          </c:tx>
          <c:spPr>
            <a:solidFill>
              <a:srgbClr val="A0AAB8"/>
            </a:solidFill>
            <a:effectLst/>
          </c:spPr>
          <c:invertIfNegative val="0"/>
          <c:dLbls>
            <c:numFmt formatCode="#,##0.0;-#,##0.0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2424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2009</c:v>
                  </c:pt>
                  <c:pt idx="1">
                    <c:v>2010</c:v>
                  </c:pt>
                  <c:pt idx="2">
                    <c:v>2011</c:v>
                  </c:pt>
                  <c:pt idx="3">
                    <c:v>2012</c:v>
                  </c:pt>
                  <c:pt idx="4">
                    <c:v>2013</c:v>
                  </c:pt>
                  <c:pt idx="5">
                    <c:v>2014</c:v>
                  </c:pt>
                  <c:pt idx="6">
                    <c:v>2015</c:v>
                  </c:pt>
                  <c:pt idx="7">
                    <c:v>2016</c:v>
                  </c:pt>
                  <c:pt idx="8">
                    <c:v>2017</c:v>
                  </c:pt>
                  <c:pt idx="9">
                    <c:v>2018</c:v>
                  </c:pt>
                  <c:pt idx="10">
                    <c:v>2019</c:v>
                  </c:pt>
                  <c:pt idx="11">
                    <c:v>2020</c:v>
                  </c:pt>
                  <c:pt idx="12">
                    <c:v>2021</c:v>
                  </c:pt>
                  <c:pt idx="13">
                    <c:v>2022</c:v>
                  </c:pt>
                  <c:pt idx="14">
                    <c:v>2023</c:v>
                  </c:pt>
                  <c:pt idx="15">
                    <c:v>2024</c:v>
                  </c:pt>
                  <c:pt idx="16">
                    <c:v>2025</c:v>
                  </c:pt>
                </c:lvl>
              </c:multiLvlStrCache>
            </c:multiLvlStrRef>
          </c:cat>
          <c:val>
            <c:numRef>
              <c:f>Sheet1!$D$2:$D$18</c:f>
              <c:numCache>
                <c:formatCode>General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</c:numCache>
            </c:numRef>
          </c:val>
        </c:ser>
        <c:dLbls>
          <c:numFmt formatCode="#,##0.0;-#,##0.0;" sourceLinked="0"/>
          <c:txPr>
            <a:bodyPr/>
            <a:lstStyle/>
            <a:p>
              <a:pPr>
                <a:defRPr b="0" i="0" strike="noStrike" sz="1000" u="none">
                  <a:solidFill>
                    <a:srgbClr val="242424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CE6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LIGHT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DARK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BLANK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est4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28600"/>
            <a:ext cx="1783080" cy="685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926080" y="6419088"/>
            <a:ext cx="8805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B"/>
                </a:solidFill>
              </a:rPr>
              <a:t>تقرير الإيرادات 2026  |  المبالغ بالمليون ريال، والأرقام مقرّبة وقد لا تتطابق المجاميع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783080" cy="685800"/>
          </a:xfrm>
          <a:prstGeom prst="rect">
            <a:avLst>
              <a:gd name="adj" fmla="val 16000"/>
            </a:avLst>
          </a:prstGeom>
          <a:solidFill>
            <a:srgbClr val="FFFFFF"/>
          </a:solidFill>
          <a:ln/>
        </p:spPr>
      </p:sp>
      <p:pic>
        <p:nvPicPr>
          <p:cNvPr id="3" name="Image 0" descr="/home/user/test4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28600"/>
            <a:ext cx="178308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926080" y="6419088"/>
            <a:ext cx="8805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8AE"/>
                </a:solidFill>
              </a:rPr>
              <a:t>تقرير الإيرادات 2026  |  المبالغ بالمليون ريال، والأرقام مقرّبة وقد لا تتطابق المجاميع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8A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.xml"/><Relationship Id="rId3" Type="http://schemas.openxmlformats.org/officeDocument/2006/relationships/slide" Target="slide3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8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35.xml"/><Relationship Id="rId11" Type="http://schemas.openxmlformats.org/officeDocument/2006/relationships/slide" Target="slide38.xml"/><Relationship Id="rId12" Type="http://schemas.openxmlformats.org/officeDocument/2006/relationships/slide" Target="slide41.xml"/><Relationship Id="rId13" Type="http://schemas.openxmlformats.org/officeDocument/2006/relationships/slide" Target="slide46.xml"/><Relationship Id="rId14" Type="http://schemas.openxmlformats.org/officeDocument/2006/relationships/slide" Target="slide50.xml"/><Relationship Id="rId15" Type="http://schemas.openxmlformats.org/officeDocument/2006/relationships/slide" Target="slide53.xml"/><Relationship Id="rId16" Type="http://schemas.openxmlformats.org/officeDocument/2006/relationships/slide" Target="slide61.xml"/><Relationship Id="rId17" Type="http://schemas.openxmlformats.org/officeDocument/2006/relationships/slide" Target="slide67.xml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" Target="slide4.xml"/><Relationship Id="rId5" Type="http://schemas.openxmlformats.org/officeDocument/2006/relationships/slide" Target="slide5.xml"/><Relationship Id="rId7" Type="http://schemas.openxmlformats.org/officeDocument/2006/relationships/slide" Target="slide51.xml"/><Relationship Id="rId9" Type="http://schemas.openxmlformats.org/officeDocument/2006/relationships/slide" Target="slide5.xml"/><Relationship Id="rId11" Type="http://schemas.openxmlformats.org/officeDocument/2006/relationships/slide" Target="slide5.xml"/><Relationship Id="rId13" Type="http://schemas.openxmlformats.org/officeDocument/2006/relationships/slide" Target="slide62.xml"/><Relationship Id="rId15" Type="http://schemas.openxmlformats.org/officeDocument/2006/relationships/slide" Target="slide47.xml"/><Relationship Id="rId17" Type="http://schemas.openxmlformats.org/officeDocument/2006/relationships/slide" Target="slide37.xml"/><Relationship Id="rId19" Type="http://schemas.openxmlformats.org/officeDocument/2006/relationships/slide" Target="slide5.xml"/><Relationship Id="rId4" Type="http://schemas.openxmlformats.org/officeDocument/2006/relationships/image" Target="../media/image-3-1.png"/><Relationship Id="rId6" Type="http://schemas.openxmlformats.org/officeDocument/2006/relationships/image" Target="../media/image-3-2.png"/><Relationship Id="rId8" Type="http://schemas.openxmlformats.org/officeDocument/2006/relationships/image" Target="../media/image-3-3.png"/><Relationship Id="rId10" Type="http://schemas.openxmlformats.org/officeDocument/2006/relationships/image" Target="../media/image-3-4.png"/><Relationship Id="rId12" Type="http://schemas.openxmlformats.org/officeDocument/2006/relationships/image" Target="../media/image-3-5.png"/><Relationship Id="rId14" Type="http://schemas.openxmlformats.org/officeDocument/2006/relationships/image" Target="../media/image-3-6.png"/><Relationship Id="rId16" Type="http://schemas.openxmlformats.org/officeDocument/2006/relationships/image" Target="../media/image-3-7.png"/><Relationship Id="rId18" Type="http://schemas.openxmlformats.org/officeDocument/2006/relationships/image" Target="../media/image-3-8.png"/><Relationship Id="rId20" Type="http://schemas.openxmlformats.org/officeDocument/2006/relationships/slideLayout" Target="../slideLayouts/slideLayout3.xml"/><Relationship Id="rId2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.xml"/><Relationship Id="rId3" Type="http://schemas.openxmlformats.org/officeDocument/2006/relationships/slide" Target="slide5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7.xml"/><Relationship Id="rId8" Type="http://schemas.openxmlformats.org/officeDocument/2006/relationships/slide" Target="slide8.xml"/><Relationship Id="rId9" Type="http://schemas.openxmlformats.org/officeDocument/2006/relationships/slide" Target="slide9.xml"/><Relationship Id="rId10" Type="http://schemas.openxmlformats.org/officeDocument/2006/relationships/slide" Target="slide10.xml"/><Relationship Id="rId4" Type="http://schemas.openxmlformats.org/officeDocument/2006/relationships/image" Target="../media/image-4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.xml"/><Relationship Id="rId3" Type="http://schemas.openxmlformats.org/officeDocument/2006/relationships/slide" Target="slide6.xml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8.xml"/><Relationship Id="rId7" Type="http://schemas.openxmlformats.org/officeDocument/2006/relationships/slide" Target="slide9.xml"/><Relationship Id="rId8" Type="http://schemas.openxmlformats.org/officeDocument/2006/relationships/slide" Target="slide10.xml"/><Relationship Id="rId10" Type="http://schemas.openxmlformats.org/officeDocument/2006/relationships/chart" Target="/ppt/charts/chart1.xml"/><Relationship Id="rId9" Type="http://schemas.openxmlformats.org/officeDocument/2006/relationships/image" Target="../media/image-5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.xml"/><Relationship Id="rId3" Type="http://schemas.openxmlformats.org/officeDocument/2006/relationships/slide" Target="slide7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8.xml"/><Relationship Id="rId7" Type="http://schemas.openxmlformats.org/officeDocument/2006/relationships/slide" Target="slide9.xml"/><Relationship Id="rId8" Type="http://schemas.openxmlformats.org/officeDocument/2006/relationships/slide" Target="slide10.xml"/><Relationship Id="rId10" Type="http://schemas.openxmlformats.org/officeDocument/2006/relationships/chart" Target="/ppt/charts/chart2.xml"/><Relationship Id="rId9" Type="http://schemas.openxmlformats.org/officeDocument/2006/relationships/image" Target="../media/image-6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6.xml"/><Relationship Id="rId3" Type="http://schemas.openxmlformats.org/officeDocument/2006/relationships/slide" Target="slide8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8.xml"/><Relationship Id="rId7" Type="http://schemas.openxmlformats.org/officeDocument/2006/relationships/slide" Target="slide9.xml"/><Relationship Id="rId8" Type="http://schemas.openxmlformats.org/officeDocument/2006/relationships/slide" Target="slide10.xml"/><Relationship Id="rId10" Type="http://schemas.openxmlformats.org/officeDocument/2006/relationships/chart" Target="/ppt/charts/chart3.xml"/><Relationship Id="rId9" Type="http://schemas.openxmlformats.org/officeDocument/2006/relationships/image" Target="../media/image-7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7.xml"/><Relationship Id="rId3" Type="http://schemas.openxmlformats.org/officeDocument/2006/relationships/slide" Target="slide9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Relationship Id="rId7" Type="http://schemas.openxmlformats.org/officeDocument/2006/relationships/slide" Target="slide9.xml"/><Relationship Id="rId8" Type="http://schemas.openxmlformats.org/officeDocument/2006/relationships/slide" Target="slide10.xml"/><Relationship Id="rId10" Type="http://schemas.openxmlformats.org/officeDocument/2006/relationships/chart" Target="/ppt/charts/chart4.xml"/><Relationship Id="rId9" Type="http://schemas.openxmlformats.org/officeDocument/2006/relationships/image" Target="../media/image-8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8.xml"/><Relationship Id="rId3" Type="http://schemas.openxmlformats.org/officeDocument/2006/relationships/slide" Target="slide10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Relationship Id="rId7" Type="http://schemas.openxmlformats.org/officeDocument/2006/relationships/slide" Target="slide8.xml"/><Relationship Id="rId8" Type="http://schemas.openxmlformats.org/officeDocument/2006/relationships/slide" Target="slide10.xml"/><Relationship Id="rId10" Type="http://schemas.openxmlformats.org/officeDocument/2006/relationships/chart" Target="/ppt/charts/chart5.xml"/><Relationship Id="rId9" Type="http://schemas.openxmlformats.org/officeDocument/2006/relationships/image" Target="../media/image-9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9.xml"/><Relationship Id="rId3" Type="http://schemas.openxmlformats.org/officeDocument/2006/relationships/slide" Target="slide11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Relationship Id="rId7" Type="http://schemas.openxmlformats.org/officeDocument/2006/relationships/slide" Target="slide8.xml"/><Relationship Id="rId8" Type="http://schemas.openxmlformats.org/officeDocument/2006/relationships/slide" Target="slide9.xml"/><Relationship Id="rId10" Type="http://schemas.openxmlformats.org/officeDocument/2006/relationships/chart" Target="/ppt/charts/chart6.xml"/><Relationship Id="rId9" Type="http://schemas.openxmlformats.org/officeDocument/2006/relationships/image" Target="../media/image-10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0.xml"/><Relationship Id="rId3" Type="http://schemas.openxmlformats.org/officeDocument/2006/relationships/slide" Target="slide12.xml"/><Relationship Id="rId5" Type="http://schemas.openxmlformats.org/officeDocument/2006/relationships/slide" Target="slide12.xml"/><Relationship Id="rId6" Type="http://schemas.openxmlformats.org/officeDocument/2006/relationships/slide" Target="slide13.xml"/><Relationship Id="rId7" Type="http://schemas.openxmlformats.org/officeDocument/2006/relationships/slide" Target="slide14.xml"/><Relationship Id="rId8" Type="http://schemas.openxmlformats.org/officeDocument/2006/relationships/slide" Target="slide15.xml"/><Relationship Id="rId9" Type="http://schemas.openxmlformats.org/officeDocument/2006/relationships/slide" Target="slide16.xml"/><Relationship Id="rId10" Type="http://schemas.openxmlformats.org/officeDocument/2006/relationships/slide" Target="slide17.xml"/><Relationship Id="rId4" Type="http://schemas.openxmlformats.org/officeDocument/2006/relationships/image" Target="../media/image-11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1.xml"/><Relationship Id="rId3" Type="http://schemas.openxmlformats.org/officeDocument/2006/relationships/slide" Target="slide13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" Target="slide15.xml"/><Relationship Id="rId7" Type="http://schemas.openxmlformats.org/officeDocument/2006/relationships/slide" Target="slide16.xml"/><Relationship Id="rId8" Type="http://schemas.openxmlformats.org/officeDocument/2006/relationships/slide" Target="slide17.xml"/><Relationship Id="rId10" Type="http://schemas.openxmlformats.org/officeDocument/2006/relationships/chart" Target="/ppt/charts/chart7.xml"/><Relationship Id="rId9" Type="http://schemas.openxmlformats.org/officeDocument/2006/relationships/image" Target="../media/image-12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2.xml"/><Relationship Id="rId3" Type="http://schemas.openxmlformats.org/officeDocument/2006/relationships/slide" Target="slide14.xml"/><Relationship Id="rId4" Type="http://schemas.openxmlformats.org/officeDocument/2006/relationships/slide" Target="slide12.xml"/><Relationship Id="rId5" Type="http://schemas.openxmlformats.org/officeDocument/2006/relationships/slide" Target="slide14.xml"/><Relationship Id="rId6" Type="http://schemas.openxmlformats.org/officeDocument/2006/relationships/slide" Target="slide15.xml"/><Relationship Id="rId7" Type="http://schemas.openxmlformats.org/officeDocument/2006/relationships/slide" Target="slide16.xml"/><Relationship Id="rId8" Type="http://schemas.openxmlformats.org/officeDocument/2006/relationships/slide" Target="slide17.xml"/><Relationship Id="rId10" Type="http://schemas.openxmlformats.org/officeDocument/2006/relationships/chart" Target="/ppt/charts/chart8.xml"/><Relationship Id="rId9" Type="http://schemas.openxmlformats.org/officeDocument/2006/relationships/image" Target="../media/image-13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3.xml"/><Relationship Id="rId3" Type="http://schemas.openxmlformats.org/officeDocument/2006/relationships/slide" Target="slide15.xml"/><Relationship Id="rId4" Type="http://schemas.openxmlformats.org/officeDocument/2006/relationships/slide" Target="slide12.xml"/><Relationship Id="rId5" Type="http://schemas.openxmlformats.org/officeDocument/2006/relationships/slide" Target="slide13.xml"/><Relationship Id="rId6" Type="http://schemas.openxmlformats.org/officeDocument/2006/relationships/slide" Target="slide15.xml"/><Relationship Id="rId7" Type="http://schemas.openxmlformats.org/officeDocument/2006/relationships/slide" Target="slide16.xml"/><Relationship Id="rId8" Type="http://schemas.openxmlformats.org/officeDocument/2006/relationships/slide" Target="slide17.xml"/><Relationship Id="rId10" Type="http://schemas.openxmlformats.org/officeDocument/2006/relationships/chart" Target="/ppt/charts/chart9.xml"/><Relationship Id="rId9" Type="http://schemas.openxmlformats.org/officeDocument/2006/relationships/image" Target="../media/image-14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4.xml"/><Relationship Id="rId3" Type="http://schemas.openxmlformats.org/officeDocument/2006/relationships/slide" Target="slide16.xml"/><Relationship Id="rId4" Type="http://schemas.openxmlformats.org/officeDocument/2006/relationships/slide" Target="slide12.xml"/><Relationship Id="rId5" Type="http://schemas.openxmlformats.org/officeDocument/2006/relationships/slide" Target="slide13.xml"/><Relationship Id="rId6" Type="http://schemas.openxmlformats.org/officeDocument/2006/relationships/slide" Target="slide14.xml"/><Relationship Id="rId7" Type="http://schemas.openxmlformats.org/officeDocument/2006/relationships/slide" Target="slide16.xml"/><Relationship Id="rId8" Type="http://schemas.openxmlformats.org/officeDocument/2006/relationships/slide" Target="slide17.xml"/><Relationship Id="rId10" Type="http://schemas.openxmlformats.org/officeDocument/2006/relationships/chart" Target="/ppt/charts/chart10.xml"/><Relationship Id="rId9" Type="http://schemas.openxmlformats.org/officeDocument/2006/relationships/image" Target="../media/image-15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5.xml"/><Relationship Id="rId3" Type="http://schemas.openxmlformats.org/officeDocument/2006/relationships/slide" Target="slide17.xml"/><Relationship Id="rId4" Type="http://schemas.openxmlformats.org/officeDocument/2006/relationships/slide" Target="slide12.xml"/><Relationship Id="rId5" Type="http://schemas.openxmlformats.org/officeDocument/2006/relationships/slide" Target="slide13.xml"/><Relationship Id="rId6" Type="http://schemas.openxmlformats.org/officeDocument/2006/relationships/slide" Target="slide14.xml"/><Relationship Id="rId7" Type="http://schemas.openxmlformats.org/officeDocument/2006/relationships/slide" Target="slide15.xml"/><Relationship Id="rId8" Type="http://schemas.openxmlformats.org/officeDocument/2006/relationships/slide" Target="slide17.xml"/><Relationship Id="rId10" Type="http://schemas.openxmlformats.org/officeDocument/2006/relationships/chart" Target="/ppt/charts/chart11.xml"/><Relationship Id="rId9" Type="http://schemas.openxmlformats.org/officeDocument/2006/relationships/image" Target="../media/image-16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6.xml"/><Relationship Id="rId3" Type="http://schemas.openxmlformats.org/officeDocument/2006/relationships/slide" Target="slide18.xml"/><Relationship Id="rId4" Type="http://schemas.openxmlformats.org/officeDocument/2006/relationships/slide" Target="slide12.xml"/><Relationship Id="rId5" Type="http://schemas.openxmlformats.org/officeDocument/2006/relationships/slide" Target="slide13.xml"/><Relationship Id="rId6" Type="http://schemas.openxmlformats.org/officeDocument/2006/relationships/slide" Target="slide14.xml"/><Relationship Id="rId7" Type="http://schemas.openxmlformats.org/officeDocument/2006/relationships/slide" Target="slide15.xml"/><Relationship Id="rId8" Type="http://schemas.openxmlformats.org/officeDocument/2006/relationships/slide" Target="slide16.xml"/><Relationship Id="rId10" Type="http://schemas.openxmlformats.org/officeDocument/2006/relationships/chart" Target="/ppt/charts/chart12.xml"/><Relationship Id="rId9" Type="http://schemas.openxmlformats.org/officeDocument/2006/relationships/image" Target="../media/image-17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7.xml"/><Relationship Id="rId3" Type="http://schemas.openxmlformats.org/officeDocument/2006/relationships/slide" Target="slide19.xml"/><Relationship Id="rId5" Type="http://schemas.openxmlformats.org/officeDocument/2006/relationships/slide" Target="slide19.xml"/><Relationship Id="rId6" Type="http://schemas.openxmlformats.org/officeDocument/2006/relationships/slide" Target="slide20.xml"/><Relationship Id="rId7" Type="http://schemas.openxmlformats.org/officeDocument/2006/relationships/slide" Target="slide21.xml"/><Relationship Id="rId8" Type="http://schemas.openxmlformats.org/officeDocument/2006/relationships/slide" Target="slide22.xml"/><Relationship Id="rId9" Type="http://schemas.openxmlformats.org/officeDocument/2006/relationships/slide" Target="slide23.xml"/><Relationship Id="rId10" Type="http://schemas.openxmlformats.org/officeDocument/2006/relationships/slide" Target="slide24.xml"/><Relationship Id="rId4" Type="http://schemas.openxmlformats.org/officeDocument/2006/relationships/image" Target="../media/image-18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8.xml"/><Relationship Id="rId3" Type="http://schemas.openxmlformats.org/officeDocument/2006/relationships/slide" Target="slide20.xml"/><Relationship Id="rId4" Type="http://schemas.openxmlformats.org/officeDocument/2006/relationships/slide" Target="slide20.xml"/><Relationship Id="rId5" Type="http://schemas.openxmlformats.org/officeDocument/2006/relationships/slide" Target="slide21.xml"/><Relationship Id="rId6" Type="http://schemas.openxmlformats.org/officeDocument/2006/relationships/slide" Target="slide22.xml"/><Relationship Id="rId7" Type="http://schemas.openxmlformats.org/officeDocument/2006/relationships/slide" Target="slide23.xml"/><Relationship Id="rId8" Type="http://schemas.openxmlformats.org/officeDocument/2006/relationships/slide" Target="slide24.xml"/><Relationship Id="rId10" Type="http://schemas.openxmlformats.org/officeDocument/2006/relationships/chart" Target="/ppt/charts/chart13.xml"/><Relationship Id="rId9" Type="http://schemas.openxmlformats.org/officeDocument/2006/relationships/image" Target="../media/image-19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19.xml"/><Relationship Id="rId3" Type="http://schemas.openxmlformats.org/officeDocument/2006/relationships/slide" Target="slide21.xml"/><Relationship Id="rId4" Type="http://schemas.openxmlformats.org/officeDocument/2006/relationships/slide" Target="slide19.xml"/><Relationship Id="rId5" Type="http://schemas.openxmlformats.org/officeDocument/2006/relationships/slide" Target="slide21.xml"/><Relationship Id="rId6" Type="http://schemas.openxmlformats.org/officeDocument/2006/relationships/slide" Target="slide22.xml"/><Relationship Id="rId7" Type="http://schemas.openxmlformats.org/officeDocument/2006/relationships/slide" Target="slide23.xml"/><Relationship Id="rId8" Type="http://schemas.openxmlformats.org/officeDocument/2006/relationships/slide" Target="slide24.xml"/><Relationship Id="rId10" Type="http://schemas.openxmlformats.org/officeDocument/2006/relationships/chart" Target="/ppt/charts/chart14.xml"/><Relationship Id="rId9" Type="http://schemas.openxmlformats.org/officeDocument/2006/relationships/image" Target="../media/image-20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0.xml"/><Relationship Id="rId3" Type="http://schemas.openxmlformats.org/officeDocument/2006/relationships/slide" Target="slide22.xml"/><Relationship Id="rId4" Type="http://schemas.openxmlformats.org/officeDocument/2006/relationships/slide" Target="slide19.xml"/><Relationship Id="rId5" Type="http://schemas.openxmlformats.org/officeDocument/2006/relationships/slide" Target="slide20.xml"/><Relationship Id="rId6" Type="http://schemas.openxmlformats.org/officeDocument/2006/relationships/slide" Target="slide22.xml"/><Relationship Id="rId7" Type="http://schemas.openxmlformats.org/officeDocument/2006/relationships/slide" Target="slide23.xml"/><Relationship Id="rId8" Type="http://schemas.openxmlformats.org/officeDocument/2006/relationships/slide" Target="slide24.xml"/><Relationship Id="rId10" Type="http://schemas.openxmlformats.org/officeDocument/2006/relationships/chart" Target="/ppt/charts/chart15.xml"/><Relationship Id="rId9" Type="http://schemas.openxmlformats.org/officeDocument/2006/relationships/image" Target="../media/image-21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1.xml"/><Relationship Id="rId3" Type="http://schemas.openxmlformats.org/officeDocument/2006/relationships/slide" Target="slide23.xml"/><Relationship Id="rId4" Type="http://schemas.openxmlformats.org/officeDocument/2006/relationships/slide" Target="slide19.xml"/><Relationship Id="rId5" Type="http://schemas.openxmlformats.org/officeDocument/2006/relationships/slide" Target="slide20.xml"/><Relationship Id="rId6" Type="http://schemas.openxmlformats.org/officeDocument/2006/relationships/slide" Target="slide21.xml"/><Relationship Id="rId7" Type="http://schemas.openxmlformats.org/officeDocument/2006/relationships/slide" Target="slide23.xml"/><Relationship Id="rId8" Type="http://schemas.openxmlformats.org/officeDocument/2006/relationships/slide" Target="slide24.xml"/><Relationship Id="rId10" Type="http://schemas.openxmlformats.org/officeDocument/2006/relationships/chart" Target="/ppt/charts/chart16.xml"/><Relationship Id="rId9" Type="http://schemas.openxmlformats.org/officeDocument/2006/relationships/image" Target="../media/image-22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2.xml"/><Relationship Id="rId3" Type="http://schemas.openxmlformats.org/officeDocument/2006/relationships/slide" Target="slide24.xml"/><Relationship Id="rId4" Type="http://schemas.openxmlformats.org/officeDocument/2006/relationships/slide" Target="slide19.xml"/><Relationship Id="rId5" Type="http://schemas.openxmlformats.org/officeDocument/2006/relationships/slide" Target="slide20.xml"/><Relationship Id="rId6" Type="http://schemas.openxmlformats.org/officeDocument/2006/relationships/slide" Target="slide21.xml"/><Relationship Id="rId7" Type="http://schemas.openxmlformats.org/officeDocument/2006/relationships/slide" Target="slide22.xml"/><Relationship Id="rId8" Type="http://schemas.openxmlformats.org/officeDocument/2006/relationships/slide" Target="slide24.xml"/><Relationship Id="rId10" Type="http://schemas.openxmlformats.org/officeDocument/2006/relationships/chart" Target="/ppt/charts/chart17.xml"/><Relationship Id="rId9" Type="http://schemas.openxmlformats.org/officeDocument/2006/relationships/image" Target="../media/image-23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3.xml"/><Relationship Id="rId3" Type="http://schemas.openxmlformats.org/officeDocument/2006/relationships/slide" Target="slide25.xml"/><Relationship Id="rId4" Type="http://schemas.openxmlformats.org/officeDocument/2006/relationships/slide" Target="slide19.xml"/><Relationship Id="rId5" Type="http://schemas.openxmlformats.org/officeDocument/2006/relationships/slide" Target="slide20.xml"/><Relationship Id="rId6" Type="http://schemas.openxmlformats.org/officeDocument/2006/relationships/slide" Target="slide21.xml"/><Relationship Id="rId7" Type="http://schemas.openxmlformats.org/officeDocument/2006/relationships/slide" Target="slide22.xml"/><Relationship Id="rId8" Type="http://schemas.openxmlformats.org/officeDocument/2006/relationships/slide" Target="slide23.xml"/><Relationship Id="rId10" Type="http://schemas.openxmlformats.org/officeDocument/2006/relationships/chart" Target="/ppt/charts/chart18.xml"/><Relationship Id="rId9" Type="http://schemas.openxmlformats.org/officeDocument/2006/relationships/image" Target="../media/image-24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4.xml"/><Relationship Id="rId3" Type="http://schemas.openxmlformats.org/officeDocument/2006/relationships/slide" Target="slide26.xml"/><Relationship Id="rId5" Type="http://schemas.openxmlformats.org/officeDocument/2006/relationships/slide" Target="slide26.xml"/><Relationship Id="rId6" Type="http://schemas.openxmlformats.org/officeDocument/2006/relationships/slide" Target="slide27.xml"/><Relationship Id="rId7" Type="http://schemas.openxmlformats.org/officeDocument/2006/relationships/slide" Target="slide28.xml"/><Relationship Id="rId8" Type="http://schemas.openxmlformats.org/officeDocument/2006/relationships/slide" Target="slide29.xml"/><Relationship Id="rId9" Type="http://schemas.openxmlformats.org/officeDocument/2006/relationships/slide" Target="slide30.xml"/><Relationship Id="rId4" Type="http://schemas.openxmlformats.org/officeDocument/2006/relationships/image" Target="../media/image-25-1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5.xml"/><Relationship Id="rId3" Type="http://schemas.openxmlformats.org/officeDocument/2006/relationships/slide" Target="slide27.xml"/><Relationship Id="rId4" Type="http://schemas.openxmlformats.org/officeDocument/2006/relationships/slide" Target="slide27.xml"/><Relationship Id="rId5" Type="http://schemas.openxmlformats.org/officeDocument/2006/relationships/slide" Target="slide28.xml"/><Relationship Id="rId6" Type="http://schemas.openxmlformats.org/officeDocument/2006/relationships/slide" Target="slide29.xml"/><Relationship Id="rId7" Type="http://schemas.openxmlformats.org/officeDocument/2006/relationships/slide" Target="slide30.xml"/><Relationship Id="rId8" Type="http://schemas.openxmlformats.org/officeDocument/2006/relationships/chart" Target="/ppt/charts/chart19.xml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6.xml"/><Relationship Id="rId3" Type="http://schemas.openxmlformats.org/officeDocument/2006/relationships/slide" Target="slide28.xml"/><Relationship Id="rId4" Type="http://schemas.openxmlformats.org/officeDocument/2006/relationships/slide" Target="slide26.xml"/><Relationship Id="rId5" Type="http://schemas.openxmlformats.org/officeDocument/2006/relationships/slide" Target="slide28.xml"/><Relationship Id="rId6" Type="http://schemas.openxmlformats.org/officeDocument/2006/relationships/slide" Target="slide29.xml"/><Relationship Id="rId7" Type="http://schemas.openxmlformats.org/officeDocument/2006/relationships/slide" Target="slide30.xml"/><Relationship Id="rId8" Type="http://schemas.openxmlformats.org/officeDocument/2006/relationships/chart" Target="/ppt/charts/chart20.xml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7.xml"/><Relationship Id="rId3" Type="http://schemas.openxmlformats.org/officeDocument/2006/relationships/slide" Target="slide29.xml"/><Relationship Id="rId4" Type="http://schemas.openxmlformats.org/officeDocument/2006/relationships/slide" Target="slide26.xml"/><Relationship Id="rId5" Type="http://schemas.openxmlformats.org/officeDocument/2006/relationships/slide" Target="slide27.xml"/><Relationship Id="rId6" Type="http://schemas.openxmlformats.org/officeDocument/2006/relationships/slide" Target="slide29.xml"/><Relationship Id="rId7" Type="http://schemas.openxmlformats.org/officeDocument/2006/relationships/slide" Target="slide30.xml"/><Relationship Id="rId8" Type="http://schemas.openxmlformats.org/officeDocument/2006/relationships/chart" Target="/ppt/charts/chart21.xml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8.xml"/><Relationship Id="rId3" Type="http://schemas.openxmlformats.org/officeDocument/2006/relationships/slide" Target="slide30.xml"/><Relationship Id="rId4" Type="http://schemas.openxmlformats.org/officeDocument/2006/relationships/slide" Target="slide26.xml"/><Relationship Id="rId5" Type="http://schemas.openxmlformats.org/officeDocument/2006/relationships/slide" Target="slide27.xml"/><Relationship Id="rId6" Type="http://schemas.openxmlformats.org/officeDocument/2006/relationships/slide" Target="slide28.xml"/><Relationship Id="rId7" Type="http://schemas.openxmlformats.org/officeDocument/2006/relationships/slide" Target="slide30.xml"/><Relationship Id="rId8" Type="http://schemas.openxmlformats.org/officeDocument/2006/relationships/chart" Target="/ppt/charts/chart22.xml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9.xml"/><Relationship Id="rId3" Type="http://schemas.openxmlformats.org/officeDocument/2006/relationships/slide" Target="slide31.xml"/><Relationship Id="rId4" Type="http://schemas.openxmlformats.org/officeDocument/2006/relationships/slide" Target="slide26.xml"/><Relationship Id="rId5" Type="http://schemas.openxmlformats.org/officeDocument/2006/relationships/slide" Target="slide27.xml"/><Relationship Id="rId6" Type="http://schemas.openxmlformats.org/officeDocument/2006/relationships/slide" Target="slide28.xml"/><Relationship Id="rId7" Type="http://schemas.openxmlformats.org/officeDocument/2006/relationships/slide" Target="slide29.xml"/><Relationship Id="rId8" Type="http://schemas.openxmlformats.org/officeDocument/2006/relationships/chart" Target="/ppt/charts/chart23.xml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0.xml"/><Relationship Id="rId3" Type="http://schemas.openxmlformats.org/officeDocument/2006/relationships/slide" Target="slide32.xml"/><Relationship Id="rId5" Type="http://schemas.openxmlformats.org/officeDocument/2006/relationships/slide" Target="slide32.xml"/><Relationship Id="rId6" Type="http://schemas.openxmlformats.org/officeDocument/2006/relationships/slide" Target="slide33.xml"/><Relationship Id="rId7" Type="http://schemas.openxmlformats.org/officeDocument/2006/relationships/slide" Target="slide34.xml"/><Relationship Id="rId4" Type="http://schemas.openxmlformats.org/officeDocument/2006/relationships/image" Target="../media/image-31-1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1.xml"/><Relationship Id="rId3" Type="http://schemas.openxmlformats.org/officeDocument/2006/relationships/slide" Target="slide33.xml"/><Relationship Id="rId4" Type="http://schemas.openxmlformats.org/officeDocument/2006/relationships/slide" Target="slide33.xml"/><Relationship Id="rId5" Type="http://schemas.openxmlformats.org/officeDocument/2006/relationships/slide" Target="slide34.xml"/><Relationship Id="rId7" Type="http://schemas.openxmlformats.org/officeDocument/2006/relationships/chart" Target="/ppt/charts/chart24.xml"/><Relationship Id="rId6" Type="http://schemas.openxmlformats.org/officeDocument/2006/relationships/image" Target="../media/image-32-1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2.xml"/><Relationship Id="rId3" Type="http://schemas.openxmlformats.org/officeDocument/2006/relationships/slide" Target="slide34.xml"/><Relationship Id="rId4" Type="http://schemas.openxmlformats.org/officeDocument/2006/relationships/slide" Target="slide32.xml"/><Relationship Id="rId5" Type="http://schemas.openxmlformats.org/officeDocument/2006/relationships/slide" Target="slide34.xml"/><Relationship Id="rId7" Type="http://schemas.openxmlformats.org/officeDocument/2006/relationships/chart" Target="/ppt/charts/chart25.xml"/><Relationship Id="rId6" Type="http://schemas.openxmlformats.org/officeDocument/2006/relationships/image" Target="../media/image-33-1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3.xml"/><Relationship Id="rId3" Type="http://schemas.openxmlformats.org/officeDocument/2006/relationships/slide" Target="slide35.xml"/><Relationship Id="rId4" Type="http://schemas.openxmlformats.org/officeDocument/2006/relationships/slide" Target="slide32.xml"/><Relationship Id="rId5" Type="http://schemas.openxmlformats.org/officeDocument/2006/relationships/slide" Target="slide33.xml"/><Relationship Id="rId7" Type="http://schemas.openxmlformats.org/officeDocument/2006/relationships/chart" Target="/ppt/charts/chart26.xml"/><Relationship Id="rId6" Type="http://schemas.openxmlformats.org/officeDocument/2006/relationships/image" Target="../media/image-34-1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4.xml"/><Relationship Id="rId3" Type="http://schemas.openxmlformats.org/officeDocument/2006/relationships/slide" Target="slide36.xml"/><Relationship Id="rId5" Type="http://schemas.openxmlformats.org/officeDocument/2006/relationships/slide" Target="slide36.xml"/><Relationship Id="rId6" Type="http://schemas.openxmlformats.org/officeDocument/2006/relationships/slide" Target="slide37.xml"/><Relationship Id="rId4" Type="http://schemas.openxmlformats.org/officeDocument/2006/relationships/image" Target="../media/image-35-1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5.xml"/><Relationship Id="rId3" Type="http://schemas.openxmlformats.org/officeDocument/2006/relationships/slide" Target="slide37.xml"/><Relationship Id="rId4" Type="http://schemas.openxmlformats.org/officeDocument/2006/relationships/slide" Target="slide37.xml"/><Relationship Id="rId6" Type="http://schemas.openxmlformats.org/officeDocument/2006/relationships/chart" Target="/ppt/charts/chart27.xml"/><Relationship Id="rId5" Type="http://schemas.openxmlformats.org/officeDocument/2006/relationships/image" Target="../media/image-36-1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6.xml"/><Relationship Id="rId3" Type="http://schemas.openxmlformats.org/officeDocument/2006/relationships/slide" Target="slide38.xml"/><Relationship Id="rId4" Type="http://schemas.openxmlformats.org/officeDocument/2006/relationships/slide" Target="slide36.xml"/><Relationship Id="rId6" Type="http://schemas.openxmlformats.org/officeDocument/2006/relationships/chart" Target="/ppt/charts/chart28.xml"/><Relationship Id="rId5" Type="http://schemas.openxmlformats.org/officeDocument/2006/relationships/image" Target="../media/image-37-1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7.xml"/><Relationship Id="rId3" Type="http://schemas.openxmlformats.org/officeDocument/2006/relationships/slide" Target="slide39.xml"/><Relationship Id="rId5" Type="http://schemas.openxmlformats.org/officeDocument/2006/relationships/slide" Target="slide39.xml"/><Relationship Id="rId6" Type="http://schemas.openxmlformats.org/officeDocument/2006/relationships/slide" Target="slide40.xml"/><Relationship Id="rId4" Type="http://schemas.openxmlformats.org/officeDocument/2006/relationships/image" Target="../media/image-38-1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8.xml"/><Relationship Id="rId3" Type="http://schemas.openxmlformats.org/officeDocument/2006/relationships/slide" Target="slide40.xml"/><Relationship Id="rId4" Type="http://schemas.openxmlformats.org/officeDocument/2006/relationships/slide" Target="slide40.xml"/><Relationship Id="rId6" Type="http://schemas.openxmlformats.org/officeDocument/2006/relationships/chart" Target="/ppt/charts/chart29.xml"/><Relationship Id="rId5" Type="http://schemas.openxmlformats.org/officeDocument/2006/relationships/image" Target="../media/image-39-1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9.xml"/><Relationship Id="rId3" Type="http://schemas.openxmlformats.org/officeDocument/2006/relationships/slide" Target="slide41.xml"/><Relationship Id="rId4" Type="http://schemas.openxmlformats.org/officeDocument/2006/relationships/slide" Target="slide39.xml"/><Relationship Id="rId6" Type="http://schemas.openxmlformats.org/officeDocument/2006/relationships/chart" Target="/ppt/charts/chart30.xml"/><Relationship Id="rId5" Type="http://schemas.openxmlformats.org/officeDocument/2006/relationships/image" Target="../media/image-40-1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0.xml"/><Relationship Id="rId3" Type="http://schemas.openxmlformats.org/officeDocument/2006/relationships/slide" Target="slide42.xml"/><Relationship Id="rId5" Type="http://schemas.openxmlformats.org/officeDocument/2006/relationships/slide" Target="slide42.xml"/><Relationship Id="rId6" Type="http://schemas.openxmlformats.org/officeDocument/2006/relationships/slide" Target="slide43.xml"/><Relationship Id="rId7" Type="http://schemas.openxmlformats.org/officeDocument/2006/relationships/slide" Target="slide44.xml"/><Relationship Id="rId8" Type="http://schemas.openxmlformats.org/officeDocument/2006/relationships/slide" Target="slide45.xml"/><Relationship Id="rId4" Type="http://schemas.openxmlformats.org/officeDocument/2006/relationships/image" Target="../media/image-41-1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1.xml"/><Relationship Id="rId3" Type="http://schemas.openxmlformats.org/officeDocument/2006/relationships/slide" Target="slide43.xml"/><Relationship Id="rId4" Type="http://schemas.openxmlformats.org/officeDocument/2006/relationships/slide" Target="slide43.xml"/><Relationship Id="rId5" Type="http://schemas.openxmlformats.org/officeDocument/2006/relationships/slide" Target="slide44.xml"/><Relationship Id="rId6" Type="http://schemas.openxmlformats.org/officeDocument/2006/relationships/slide" Target="slide45.xml"/><Relationship Id="rId8" Type="http://schemas.openxmlformats.org/officeDocument/2006/relationships/chart" Target="/ppt/charts/chart31.xml"/><Relationship Id="rId7" Type="http://schemas.openxmlformats.org/officeDocument/2006/relationships/image" Target="../media/image-42-1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2.xml"/><Relationship Id="rId3" Type="http://schemas.openxmlformats.org/officeDocument/2006/relationships/slide" Target="slide44.xml"/><Relationship Id="rId4" Type="http://schemas.openxmlformats.org/officeDocument/2006/relationships/slide" Target="slide42.xml"/><Relationship Id="rId5" Type="http://schemas.openxmlformats.org/officeDocument/2006/relationships/slide" Target="slide44.xml"/><Relationship Id="rId6" Type="http://schemas.openxmlformats.org/officeDocument/2006/relationships/slide" Target="slide45.xml"/><Relationship Id="rId8" Type="http://schemas.openxmlformats.org/officeDocument/2006/relationships/chart" Target="/ppt/charts/chart32.xml"/><Relationship Id="rId7" Type="http://schemas.openxmlformats.org/officeDocument/2006/relationships/image" Target="../media/image-43-1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3.xml"/><Relationship Id="rId3" Type="http://schemas.openxmlformats.org/officeDocument/2006/relationships/slide" Target="slide45.xml"/><Relationship Id="rId4" Type="http://schemas.openxmlformats.org/officeDocument/2006/relationships/slide" Target="slide42.xml"/><Relationship Id="rId5" Type="http://schemas.openxmlformats.org/officeDocument/2006/relationships/slide" Target="slide43.xml"/><Relationship Id="rId6" Type="http://schemas.openxmlformats.org/officeDocument/2006/relationships/slide" Target="slide45.xml"/><Relationship Id="rId8" Type="http://schemas.openxmlformats.org/officeDocument/2006/relationships/chart" Target="/ppt/charts/chart33.xml"/><Relationship Id="rId7" Type="http://schemas.openxmlformats.org/officeDocument/2006/relationships/image" Target="../media/image-44-1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4.xml"/><Relationship Id="rId3" Type="http://schemas.openxmlformats.org/officeDocument/2006/relationships/slide" Target="slide46.xml"/><Relationship Id="rId4" Type="http://schemas.openxmlformats.org/officeDocument/2006/relationships/slide" Target="slide42.xml"/><Relationship Id="rId5" Type="http://schemas.openxmlformats.org/officeDocument/2006/relationships/slide" Target="slide43.xml"/><Relationship Id="rId6" Type="http://schemas.openxmlformats.org/officeDocument/2006/relationships/slide" Target="slide44.xml"/><Relationship Id="rId8" Type="http://schemas.openxmlformats.org/officeDocument/2006/relationships/chart" Target="/ppt/charts/chart34.xml"/><Relationship Id="rId7" Type="http://schemas.openxmlformats.org/officeDocument/2006/relationships/image" Target="../media/image-45-1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5.xml"/><Relationship Id="rId3" Type="http://schemas.openxmlformats.org/officeDocument/2006/relationships/slide" Target="slide47.xml"/><Relationship Id="rId5" Type="http://schemas.openxmlformats.org/officeDocument/2006/relationships/slide" Target="slide47.xml"/><Relationship Id="rId6" Type="http://schemas.openxmlformats.org/officeDocument/2006/relationships/slide" Target="slide48.xml"/><Relationship Id="rId7" Type="http://schemas.openxmlformats.org/officeDocument/2006/relationships/slide" Target="slide49.xml"/><Relationship Id="rId4" Type="http://schemas.openxmlformats.org/officeDocument/2006/relationships/image" Target="../media/image-46-1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6.xml"/><Relationship Id="rId3" Type="http://schemas.openxmlformats.org/officeDocument/2006/relationships/slide" Target="slide48.xml"/><Relationship Id="rId4" Type="http://schemas.openxmlformats.org/officeDocument/2006/relationships/slide" Target="slide48.xml"/><Relationship Id="rId5" Type="http://schemas.openxmlformats.org/officeDocument/2006/relationships/slide" Target="slide49.xml"/><Relationship Id="rId7" Type="http://schemas.openxmlformats.org/officeDocument/2006/relationships/chart" Target="/ppt/charts/chart35.xml"/><Relationship Id="rId6" Type="http://schemas.openxmlformats.org/officeDocument/2006/relationships/image" Target="../media/image-47-1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7.xml"/><Relationship Id="rId3" Type="http://schemas.openxmlformats.org/officeDocument/2006/relationships/slide" Target="slide49.xml"/><Relationship Id="rId4" Type="http://schemas.openxmlformats.org/officeDocument/2006/relationships/slide" Target="slide47.xml"/><Relationship Id="rId5" Type="http://schemas.openxmlformats.org/officeDocument/2006/relationships/slide" Target="slide49.xml"/><Relationship Id="rId7" Type="http://schemas.openxmlformats.org/officeDocument/2006/relationships/chart" Target="/ppt/charts/chart36.xml"/><Relationship Id="rId6" Type="http://schemas.openxmlformats.org/officeDocument/2006/relationships/image" Target="../media/image-48-1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8.xml"/><Relationship Id="rId3" Type="http://schemas.openxmlformats.org/officeDocument/2006/relationships/slide" Target="slide50.xml"/><Relationship Id="rId4" Type="http://schemas.openxmlformats.org/officeDocument/2006/relationships/slide" Target="slide47.xml"/><Relationship Id="rId5" Type="http://schemas.openxmlformats.org/officeDocument/2006/relationships/slide" Target="slide48.xml"/><Relationship Id="rId7" Type="http://schemas.openxmlformats.org/officeDocument/2006/relationships/chart" Target="/ppt/charts/chart37.xml"/><Relationship Id="rId6" Type="http://schemas.openxmlformats.org/officeDocument/2006/relationships/image" Target="../media/image-49-1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49.xml"/><Relationship Id="rId3" Type="http://schemas.openxmlformats.org/officeDocument/2006/relationships/slide" Target="slide51.xml"/><Relationship Id="rId5" Type="http://schemas.openxmlformats.org/officeDocument/2006/relationships/slide" Target="slide51.xml"/><Relationship Id="rId6" Type="http://schemas.openxmlformats.org/officeDocument/2006/relationships/slide" Target="slide52.xml"/><Relationship Id="rId4" Type="http://schemas.openxmlformats.org/officeDocument/2006/relationships/image" Target="../media/image-50-1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0.xml"/><Relationship Id="rId3" Type="http://schemas.openxmlformats.org/officeDocument/2006/relationships/slide" Target="slide52.xml"/><Relationship Id="rId4" Type="http://schemas.openxmlformats.org/officeDocument/2006/relationships/slide" Target="slide52.xml"/><Relationship Id="rId6" Type="http://schemas.openxmlformats.org/officeDocument/2006/relationships/chart" Target="/ppt/charts/chart38.xml"/><Relationship Id="rId5" Type="http://schemas.openxmlformats.org/officeDocument/2006/relationships/image" Target="../media/image-51-1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1.xml"/><Relationship Id="rId3" Type="http://schemas.openxmlformats.org/officeDocument/2006/relationships/slide" Target="slide53.xml"/><Relationship Id="rId4" Type="http://schemas.openxmlformats.org/officeDocument/2006/relationships/slide" Target="slide51.xml"/><Relationship Id="rId6" Type="http://schemas.openxmlformats.org/officeDocument/2006/relationships/chart" Target="/ppt/charts/chart39.xml"/><Relationship Id="rId5" Type="http://schemas.openxmlformats.org/officeDocument/2006/relationships/image" Target="../media/image-52-1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2.xml"/><Relationship Id="rId3" Type="http://schemas.openxmlformats.org/officeDocument/2006/relationships/slide" Target="slide54.xml"/><Relationship Id="rId5" Type="http://schemas.openxmlformats.org/officeDocument/2006/relationships/slide" Target="slide54.xml"/><Relationship Id="rId6" Type="http://schemas.openxmlformats.org/officeDocument/2006/relationships/slide" Target="slide55.xml"/><Relationship Id="rId7" Type="http://schemas.openxmlformats.org/officeDocument/2006/relationships/slide" Target="slide56.xml"/><Relationship Id="rId8" Type="http://schemas.openxmlformats.org/officeDocument/2006/relationships/slide" Target="slide57.xml"/><Relationship Id="rId9" Type="http://schemas.openxmlformats.org/officeDocument/2006/relationships/slide" Target="slide58.xml"/><Relationship Id="rId10" Type="http://schemas.openxmlformats.org/officeDocument/2006/relationships/slide" Target="slide59.xml"/><Relationship Id="rId11" Type="http://schemas.openxmlformats.org/officeDocument/2006/relationships/slide" Target="slide60.xml"/><Relationship Id="rId4" Type="http://schemas.openxmlformats.org/officeDocument/2006/relationships/image" Target="../media/image-53-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3.xml"/><Relationship Id="rId3" Type="http://schemas.openxmlformats.org/officeDocument/2006/relationships/slide" Target="slide55.xml"/><Relationship Id="rId4" Type="http://schemas.openxmlformats.org/officeDocument/2006/relationships/slide" Target="slide55.xml"/><Relationship Id="rId5" Type="http://schemas.openxmlformats.org/officeDocument/2006/relationships/slide" Target="slide56.xml"/><Relationship Id="rId6" Type="http://schemas.openxmlformats.org/officeDocument/2006/relationships/slide" Target="slide57.xml"/><Relationship Id="rId7" Type="http://schemas.openxmlformats.org/officeDocument/2006/relationships/slide" Target="slide58.xml"/><Relationship Id="rId8" Type="http://schemas.openxmlformats.org/officeDocument/2006/relationships/slide" Target="slide59.xml"/><Relationship Id="rId9" Type="http://schemas.openxmlformats.org/officeDocument/2006/relationships/slide" Target="slide60.xml"/><Relationship Id="rId11" Type="http://schemas.openxmlformats.org/officeDocument/2006/relationships/chart" Target="/ppt/charts/chart40.xml"/><Relationship Id="rId10" Type="http://schemas.openxmlformats.org/officeDocument/2006/relationships/image" Target="../media/image-54-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4.xml"/><Relationship Id="rId3" Type="http://schemas.openxmlformats.org/officeDocument/2006/relationships/slide" Target="slide56.xml"/><Relationship Id="rId4" Type="http://schemas.openxmlformats.org/officeDocument/2006/relationships/slide" Target="slide54.xml"/><Relationship Id="rId5" Type="http://schemas.openxmlformats.org/officeDocument/2006/relationships/slide" Target="slide56.xml"/><Relationship Id="rId6" Type="http://schemas.openxmlformats.org/officeDocument/2006/relationships/slide" Target="slide57.xml"/><Relationship Id="rId7" Type="http://schemas.openxmlformats.org/officeDocument/2006/relationships/slide" Target="slide58.xml"/><Relationship Id="rId8" Type="http://schemas.openxmlformats.org/officeDocument/2006/relationships/slide" Target="slide59.xml"/><Relationship Id="rId9" Type="http://schemas.openxmlformats.org/officeDocument/2006/relationships/slide" Target="slide60.xml"/><Relationship Id="rId11" Type="http://schemas.openxmlformats.org/officeDocument/2006/relationships/chart" Target="/ppt/charts/chart41.xml"/><Relationship Id="rId10" Type="http://schemas.openxmlformats.org/officeDocument/2006/relationships/image" Target="../media/image-55-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5.xml"/><Relationship Id="rId3" Type="http://schemas.openxmlformats.org/officeDocument/2006/relationships/slide" Target="slide57.xml"/><Relationship Id="rId4" Type="http://schemas.openxmlformats.org/officeDocument/2006/relationships/slide" Target="slide54.xml"/><Relationship Id="rId5" Type="http://schemas.openxmlformats.org/officeDocument/2006/relationships/slide" Target="slide55.xml"/><Relationship Id="rId6" Type="http://schemas.openxmlformats.org/officeDocument/2006/relationships/slide" Target="slide57.xml"/><Relationship Id="rId7" Type="http://schemas.openxmlformats.org/officeDocument/2006/relationships/slide" Target="slide58.xml"/><Relationship Id="rId8" Type="http://schemas.openxmlformats.org/officeDocument/2006/relationships/slide" Target="slide59.xml"/><Relationship Id="rId9" Type="http://schemas.openxmlformats.org/officeDocument/2006/relationships/slide" Target="slide60.xml"/><Relationship Id="rId11" Type="http://schemas.openxmlformats.org/officeDocument/2006/relationships/chart" Target="/ppt/charts/chart42.xml"/><Relationship Id="rId10" Type="http://schemas.openxmlformats.org/officeDocument/2006/relationships/image" Target="../media/image-56-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6.xml"/><Relationship Id="rId3" Type="http://schemas.openxmlformats.org/officeDocument/2006/relationships/slide" Target="slide58.xml"/><Relationship Id="rId4" Type="http://schemas.openxmlformats.org/officeDocument/2006/relationships/slide" Target="slide54.xml"/><Relationship Id="rId5" Type="http://schemas.openxmlformats.org/officeDocument/2006/relationships/slide" Target="slide55.xml"/><Relationship Id="rId6" Type="http://schemas.openxmlformats.org/officeDocument/2006/relationships/slide" Target="slide56.xml"/><Relationship Id="rId7" Type="http://schemas.openxmlformats.org/officeDocument/2006/relationships/slide" Target="slide58.xml"/><Relationship Id="rId8" Type="http://schemas.openxmlformats.org/officeDocument/2006/relationships/slide" Target="slide59.xml"/><Relationship Id="rId9" Type="http://schemas.openxmlformats.org/officeDocument/2006/relationships/slide" Target="slide60.xml"/><Relationship Id="rId11" Type="http://schemas.openxmlformats.org/officeDocument/2006/relationships/chart" Target="/ppt/charts/chart43.xml"/><Relationship Id="rId10" Type="http://schemas.openxmlformats.org/officeDocument/2006/relationships/image" Target="../media/image-57-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7.xml"/><Relationship Id="rId3" Type="http://schemas.openxmlformats.org/officeDocument/2006/relationships/slide" Target="slide59.xml"/><Relationship Id="rId4" Type="http://schemas.openxmlformats.org/officeDocument/2006/relationships/slide" Target="slide54.xml"/><Relationship Id="rId5" Type="http://schemas.openxmlformats.org/officeDocument/2006/relationships/slide" Target="slide55.xml"/><Relationship Id="rId6" Type="http://schemas.openxmlformats.org/officeDocument/2006/relationships/slide" Target="slide56.xml"/><Relationship Id="rId7" Type="http://schemas.openxmlformats.org/officeDocument/2006/relationships/slide" Target="slide57.xml"/><Relationship Id="rId8" Type="http://schemas.openxmlformats.org/officeDocument/2006/relationships/slide" Target="slide59.xml"/><Relationship Id="rId9" Type="http://schemas.openxmlformats.org/officeDocument/2006/relationships/slide" Target="slide60.xml"/><Relationship Id="rId11" Type="http://schemas.openxmlformats.org/officeDocument/2006/relationships/chart" Target="/ppt/charts/chart44.xml"/><Relationship Id="rId10" Type="http://schemas.openxmlformats.org/officeDocument/2006/relationships/image" Target="../media/image-58-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8.xml"/><Relationship Id="rId3" Type="http://schemas.openxmlformats.org/officeDocument/2006/relationships/slide" Target="slide60.xml"/><Relationship Id="rId4" Type="http://schemas.openxmlformats.org/officeDocument/2006/relationships/slide" Target="slide54.xml"/><Relationship Id="rId5" Type="http://schemas.openxmlformats.org/officeDocument/2006/relationships/slide" Target="slide55.xml"/><Relationship Id="rId6" Type="http://schemas.openxmlformats.org/officeDocument/2006/relationships/slide" Target="slide56.xml"/><Relationship Id="rId7" Type="http://schemas.openxmlformats.org/officeDocument/2006/relationships/slide" Target="slide57.xml"/><Relationship Id="rId8" Type="http://schemas.openxmlformats.org/officeDocument/2006/relationships/slide" Target="slide58.xml"/><Relationship Id="rId9" Type="http://schemas.openxmlformats.org/officeDocument/2006/relationships/slide" Target="slide60.xml"/><Relationship Id="rId11" Type="http://schemas.openxmlformats.org/officeDocument/2006/relationships/chart" Target="/ppt/charts/chart45.xml"/><Relationship Id="rId10" Type="http://schemas.openxmlformats.org/officeDocument/2006/relationships/image" Target="../media/image-59-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59.xml"/><Relationship Id="rId3" Type="http://schemas.openxmlformats.org/officeDocument/2006/relationships/slide" Target="slide61.xml"/><Relationship Id="rId4" Type="http://schemas.openxmlformats.org/officeDocument/2006/relationships/slide" Target="slide54.xml"/><Relationship Id="rId5" Type="http://schemas.openxmlformats.org/officeDocument/2006/relationships/slide" Target="slide55.xml"/><Relationship Id="rId6" Type="http://schemas.openxmlformats.org/officeDocument/2006/relationships/slide" Target="slide56.xml"/><Relationship Id="rId7" Type="http://schemas.openxmlformats.org/officeDocument/2006/relationships/slide" Target="slide57.xml"/><Relationship Id="rId8" Type="http://schemas.openxmlformats.org/officeDocument/2006/relationships/slide" Target="slide58.xml"/><Relationship Id="rId9" Type="http://schemas.openxmlformats.org/officeDocument/2006/relationships/slide" Target="slide59.xml"/><Relationship Id="rId11" Type="http://schemas.openxmlformats.org/officeDocument/2006/relationships/chart" Target="/ppt/charts/chart46.xml"/><Relationship Id="rId10" Type="http://schemas.openxmlformats.org/officeDocument/2006/relationships/image" Target="../media/image-60-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60.xml"/><Relationship Id="rId3" Type="http://schemas.openxmlformats.org/officeDocument/2006/relationships/slide" Target="slide62.xml"/><Relationship Id="rId5" Type="http://schemas.openxmlformats.org/officeDocument/2006/relationships/slide" Target="slide62.xml"/><Relationship Id="rId6" Type="http://schemas.openxmlformats.org/officeDocument/2006/relationships/slide" Target="slide63.xml"/><Relationship Id="rId7" Type="http://schemas.openxmlformats.org/officeDocument/2006/relationships/slide" Target="slide64.xml"/><Relationship Id="rId8" Type="http://schemas.openxmlformats.org/officeDocument/2006/relationships/slide" Target="slide65.xml"/><Relationship Id="rId9" Type="http://schemas.openxmlformats.org/officeDocument/2006/relationships/slide" Target="slide66.xml"/><Relationship Id="rId4" Type="http://schemas.openxmlformats.org/officeDocument/2006/relationships/image" Target="../media/image-61-1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61.xml"/><Relationship Id="rId3" Type="http://schemas.openxmlformats.org/officeDocument/2006/relationships/slide" Target="slide63.xml"/><Relationship Id="rId4" Type="http://schemas.openxmlformats.org/officeDocument/2006/relationships/slide" Target="slide63.xml"/><Relationship Id="rId5" Type="http://schemas.openxmlformats.org/officeDocument/2006/relationships/slide" Target="slide64.xml"/><Relationship Id="rId6" Type="http://schemas.openxmlformats.org/officeDocument/2006/relationships/slide" Target="slide65.xml"/><Relationship Id="rId7" Type="http://schemas.openxmlformats.org/officeDocument/2006/relationships/slide" Target="slide66.xml"/><Relationship Id="rId9" Type="http://schemas.openxmlformats.org/officeDocument/2006/relationships/chart" Target="/ppt/charts/chart47.xml"/><Relationship Id="rId8" Type="http://schemas.openxmlformats.org/officeDocument/2006/relationships/image" Target="../media/image-62-1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62.xml"/><Relationship Id="rId3" Type="http://schemas.openxmlformats.org/officeDocument/2006/relationships/slide" Target="slide64.xml"/><Relationship Id="rId4" Type="http://schemas.openxmlformats.org/officeDocument/2006/relationships/slide" Target="slide62.xml"/><Relationship Id="rId5" Type="http://schemas.openxmlformats.org/officeDocument/2006/relationships/slide" Target="slide64.xml"/><Relationship Id="rId6" Type="http://schemas.openxmlformats.org/officeDocument/2006/relationships/slide" Target="slide65.xml"/><Relationship Id="rId7" Type="http://schemas.openxmlformats.org/officeDocument/2006/relationships/slide" Target="slide66.xml"/><Relationship Id="rId9" Type="http://schemas.openxmlformats.org/officeDocument/2006/relationships/chart" Target="/ppt/charts/chart48.xml"/><Relationship Id="rId8" Type="http://schemas.openxmlformats.org/officeDocument/2006/relationships/image" Target="../media/image-63-1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63.xml"/><Relationship Id="rId3" Type="http://schemas.openxmlformats.org/officeDocument/2006/relationships/slide" Target="slide65.xml"/><Relationship Id="rId4" Type="http://schemas.openxmlformats.org/officeDocument/2006/relationships/slide" Target="slide62.xml"/><Relationship Id="rId5" Type="http://schemas.openxmlformats.org/officeDocument/2006/relationships/slide" Target="slide63.xml"/><Relationship Id="rId6" Type="http://schemas.openxmlformats.org/officeDocument/2006/relationships/slide" Target="slide65.xml"/><Relationship Id="rId7" Type="http://schemas.openxmlformats.org/officeDocument/2006/relationships/slide" Target="slide66.xml"/><Relationship Id="rId9" Type="http://schemas.openxmlformats.org/officeDocument/2006/relationships/chart" Target="/ppt/charts/chart49.xml"/><Relationship Id="rId8" Type="http://schemas.openxmlformats.org/officeDocument/2006/relationships/image" Target="../media/image-64-1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64.xml"/><Relationship Id="rId3" Type="http://schemas.openxmlformats.org/officeDocument/2006/relationships/slide" Target="slide66.xml"/><Relationship Id="rId4" Type="http://schemas.openxmlformats.org/officeDocument/2006/relationships/slide" Target="slide62.xml"/><Relationship Id="rId5" Type="http://schemas.openxmlformats.org/officeDocument/2006/relationships/slide" Target="slide63.xml"/><Relationship Id="rId6" Type="http://schemas.openxmlformats.org/officeDocument/2006/relationships/slide" Target="slide64.xml"/><Relationship Id="rId7" Type="http://schemas.openxmlformats.org/officeDocument/2006/relationships/slide" Target="slide66.xml"/><Relationship Id="rId9" Type="http://schemas.openxmlformats.org/officeDocument/2006/relationships/chart" Target="/ppt/charts/chart50.xml"/><Relationship Id="rId8" Type="http://schemas.openxmlformats.org/officeDocument/2006/relationships/image" Target="../media/image-65-1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65.xml"/><Relationship Id="rId3" Type="http://schemas.openxmlformats.org/officeDocument/2006/relationships/slide" Target="slide67.xml"/><Relationship Id="rId4" Type="http://schemas.openxmlformats.org/officeDocument/2006/relationships/slide" Target="slide62.xml"/><Relationship Id="rId5" Type="http://schemas.openxmlformats.org/officeDocument/2006/relationships/slide" Target="slide63.xml"/><Relationship Id="rId6" Type="http://schemas.openxmlformats.org/officeDocument/2006/relationships/slide" Target="slide64.xml"/><Relationship Id="rId7" Type="http://schemas.openxmlformats.org/officeDocument/2006/relationships/slide" Target="slide65.xml"/><Relationship Id="rId9" Type="http://schemas.openxmlformats.org/officeDocument/2006/relationships/chart" Target="/ppt/charts/chart51.xml"/><Relationship Id="rId8" Type="http://schemas.openxmlformats.org/officeDocument/2006/relationships/image" Target="../media/image-66-1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66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est4/assets/panel-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365760"/>
            <a:ext cx="6062472" cy="6126480"/>
          </a:xfrm>
          <a:prstGeom prst="rect">
            <a:avLst/>
          </a:prstGeom>
        </p:spPr>
      </p:pic>
      <p:pic>
        <p:nvPicPr>
          <p:cNvPr id="3" name="Image 1" descr="/home/user/test4/assets/cover-phot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4974336" cy="612648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035040" y="137160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الإيرادات</a:t>
            </a:r>
            <a:endParaRPr lang="en-US" sz="6000" dirty="0"/>
          </a:p>
        </p:txBody>
      </p:sp>
      <p:sp>
        <p:nvSpPr>
          <p:cNvPr id="5" name="Text 1"/>
          <p:cNvSpPr txBox="1"/>
          <p:nvPr/>
        </p:nvSpPr>
        <p:spPr>
          <a:xfrm>
            <a:off x="6035040" y="242316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حسب السنة والتبويب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6035040" y="32918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E6F4F5"/>
                </a:solidFill>
              </a:rPr>
              <a:t>التقرير السنوي والشهري للإيراد  2026م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6035040" y="384048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E6F4F5"/>
                </a:solidFill>
              </a:rPr>
              <a:t>الفعلي مقابل المقدر والمستهدف  •  المفوتر والمحصل  •  المديونية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035040" y="56692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E6F4F5"/>
                </a:solidFill>
              </a:rPr>
              <a:t>المصدر: وزارة السياحة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الفهرس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الفهرس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9050274" y="2194560"/>
            <a:ext cx="2681478" cy="96012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1164824" y="2441448"/>
            <a:ext cx="457200" cy="4572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160002" y="2286000"/>
            <a:ext cx="18585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المؤشرات الرئيسة</a:t>
            </a:r>
            <a:endParaRPr lang="en-US" sz="1300" dirty="0"/>
          </a:p>
        </p:txBody>
      </p:sp>
      <p:sp>
        <p:nvSpPr>
          <p:cNvPr id="22" name="Shape 20">
            <a:hlinkClick r:id="rId4" tooltip="المؤشرات الرئيسة" action="ppaction://hlinksldjump"/>
          </p:cNvPr>
          <p:cNvSpPr/>
          <p:nvPr/>
        </p:nvSpPr>
        <p:spPr>
          <a:xfrm>
            <a:off x="9050274" y="2194560"/>
            <a:ext cx="2681478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185916" y="2194560"/>
            <a:ext cx="2681478" cy="96012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00466" y="2441448"/>
            <a:ext cx="457200" cy="4572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295644" y="2286000"/>
            <a:ext cx="18585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الإيراد حتى تاريخه</a:t>
            </a:r>
            <a:endParaRPr lang="en-US" sz="1300" dirty="0"/>
          </a:p>
        </p:txBody>
      </p:sp>
      <p:sp>
        <p:nvSpPr>
          <p:cNvPr id="26" name="Shape 24">
            <a:hlinkClick r:id="rId5" tooltip="الإيراد حتى تاريخه" action="ppaction://hlinksldjump"/>
          </p:cNvPr>
          <p:cNvSpPr/>
          <p:nvPr/>
        </p:nvSpPr>
        <p:spPr>
          <a:xfrm>
            <a:off x="6185916" y="2194560"/>
            <a:ext cx="2681478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321558" y="2194560"/>
            <a:ext cx="2681478" cy="96012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36108" y="2441448"/>
            <a:ext cx="457200" cy="4572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3431286" y="2286000"/>
            <a:ext cx="18585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الإيراد لنهاية السنة</a:t>
            </a:r>
            <a:endParaRPr lang="en-US" sz="1300" dirty="0"/>
          </a:p>
        </p:txBody>
      </p:sp>
      <p:sp>
        <p:nvSpPr>
          <p:cNvPr id="30" name="Shape 28">
            <a:hlinkClick r:id="rId6" tooltip="الإيراد لنهاية السنة" action="ppaction://hlinksldjump"/>
          </p:cNvPr>
          <p:cNvSpPr/>
          <p:nvPr/>
        </p:nvSpPr>
        <p:spPr>
          <a:xfrm>
            <a:off x="3321558" y="2194560"/>
            <a:ext cx="2681478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57200" y="2194560"/>
            <a:ext cx="2681478" cy="96012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571750" y="2441448"/>
            <a:ext cx="457200" cy="4572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2286000"/>
            <a:ext cx="18585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الإيراد للشهر الحالي</a:t>
            </a:r>
            <a:endParaRPr lang="en-US" sz="1300" dirty="0"/>
          </a:p>
        </p:txBody>
      </p:sp>
      <p:sp>
        <p:nvSpPr>
          <p:cNvPr id="34" name="Shape 32">
            <a:hlinkClick r:id="rId7" tooltip="الإيراد للشهر الحالي" action="ppaction://hlinksldjump"/>
          </p:cNvPr>
          <p:cNvSpPr/>
          <p:nvPr/>
        </p:nvSpPr>
        <p:spPr>
          <a:xfrm>
            <a:off x="457200" y="2194560"/>
            <a:ext cx="2681478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9050274" y="3319272"/>
            <a:ext cx="2681478" cy="96012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1164824" y="3566160"/>
            <a:ext cx="457200" cy="4572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9160002" y="3410712"/>
            <a:ext cx="18585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الإيراد حسب القطاع</a:t>
            </a:r>
            <a:endParaRPr lang="en-US" sz="1300" dirty="0"/>
          </a:p>
        </p:txBody>
      </p:sp>
      <p:sp>
        <p:nvSpPr>
          <p:cNvPr id="38" name="Shape 36">
            <a:hlinkClick r:id="rId8" tooltip="الإيراد حسب القطاع" action="ppaction://hlinksldjump"/>
          </p:cNvPr>
          <p:cNvSpPr/>
          <p:nvPr/>
        </p:nvSpPr>
        <p:spPr>
          <a:xfrm>
            <a:off x="9050274" y="3319272"/>
            <a:ext cx="2681478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185916" y="3319272"/>
            <a:ext cx="2681478" cy="96012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300466" y="3566160"/>
            <a:ext cx="457200" cy="4572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6</a:t>
            </a:r>
            <a:endParaRPr lang="en-US" sz="1800" dirty="0"/>
          </a:p>
        </p:txBody>
      </p:sp>
      <p:sp>
        <p:nvSpPr>
          <p:cNvPr id="41" name="Text 39"/>
          <p:cNvSpPr txBox="1"/>
          <p:nvPr/>
        </p:nvSpPr>
        <p:spPr>
          <a:xfrm>
            <a:off x="6295644" y="3410712"/>
            <a:ext cx="18585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ملخص التبويبات: الاستثمارية والجزاءات والتبغ</a:t>
            </a:r>
            <a:endParaRPr lang="en-US" sz="1300" dirty="0"/>
          </a:p>
        </p:txBody>
      </p:sp>
      <p:sp>
        <p:nvSpPr>
          <p:cNvPr id="42" name="Shape 40">
            <a:hlinkClick r:id="rId9" tooltip="ملخص التبويبات: الاستثمارية والجزاءات والتبغ" action="ppaction://hlinksldjump"/>
          </p:cNvPr>
          <p:cNvSpPr/>
          <p:nvPr/>
        </p:nvSpPr>
        <p:spPr>
          <a:xfrm>
            <a:off x="6185916" y="3319272"/>
            <a:ext cx="2681478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3321558" y="3319272"/>
            <a:ext cx="2681478" cy="96012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36108" y="3566160"/>
            <a:ext cx="457200" cy="4572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7</a:t>
            </a:r>
            <a:endParaRPr lang="en-US" sz="1800" dirty="0"/>
          </a:p>
        </p:txBody>
      </p:sp>
      <p:sp>
        <p:nvSpPr>
          <p:cNvPr id="45" name="Text 43"/>
          <p:cNvSpPr txBox="1"/>
          <p:nvPr/>
        </p:nvSpPr>
        <p:spPr>
          <a:xfrm>
            <a:off x="3431286" y="3410712"/>
            <a:ext cx="18585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الاستقطاع</a:t>
            </a:r>
            <a:endParaRPr lang="en-US" sz="1300" dirty="0"/>
          </a:p>
        </p:txBody>
      </p:sp>
      <p:sp>
        <p:nvSpPr>
          <p:cNvPr id="46" name="Shape 44">
            <a:hlinkClick r:id="rId10" tooltip="الاستقطاع" action="ppaction://hlinksldjump"/>
          </p:cNvPr>
          <p:cNvSpPr/>
          <p:nvPr/>
        </p:nvSpPr>
        <p:spPr>
          <a:xfrm>
            <a:off x="3321558" y="3319272"/>
            <a:ext cx="2681478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457200" y="3319272"/>
            <a:ext cx="2681478" cy="96012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571750" y="3566160"/>
            <a:ext cx="457200" cy="4572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8</a:t>
            </a:r>
            <a:endParaRPr lang="en-US" sz="1800" dirty="0"/>
          </a:p>
        </p:txBody>
      </p:sp>
      <p:sp>
        <p:nvSpPr>
          <p:cNvPr id="49" name="Text 47"/>
          <p:cNvSpPr txBox="1"/>
          <p:nvPr/>
        </p:nvSpPr>
        <p:spPr>
          <a:xfrm>
            <a:off x="566928" y="3410712"/>
            <a:ext cx="18585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سيناريوهات الإقفال</a:t>
            </a:r>
            <a:endParaRPr lang="en-US" sz="1300" dirty="0"/>
          </a:p>
        </p:txBody>
      </p:sp>
      <p:sp>
        <p:nvSpPr>
          <p:cNvPr id="50" name="Shape 48">
            <a:hlinkClick r:id="rId11" tooltip="سيناريوهات الإقفال" action="ppaction://hlinksldjump"/>
          </p:cNvPr>
          <p:cNvSpPr/>
          <p:nvPr/>
        </p:nvSpPr>
        <p:spPr>
          <a:xfrm>
            <a:off x="457200" y="3319272"/>
            <a:ext cx="2681478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9050274" y="4443984"/>
            <a:ext cx="2681478" cy="96012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1164824" y="4690872"/>
            <a:ext cx="457200" cy="4572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9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9160002" y="4535424"/>
            <a:ext cx="18585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الجزاءات والغرامات الشهرية</a:t>
            </a:r>
            <a:endParaRPr lang="en-US" sz="1300" dirty="0"/>
          </a:p>
        </p:txBody>
      </p:sp>
      <p:sp>
        <p:nvSpPr>
          <p:cNvPr id="54" name="Shape 52">
            <a:hlinkClick r:id="rId12" tooltip="الجزاءات والغرامات الشهرية" action="ppaction://hlinksldjump"/>
          </p:cNvPr>
          <p:cNvSpPr/>
          <p:nvPr/>
        </p:nvSpPr>
        <p:spPr>
          <a:xfrm>
            <a:off x="9050274" y="4443984"/>
            <a:ext cx="2681478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185916" y="4443984"/>
            <a:ext cx="2681478" cy="96012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8300466" y="4690872"/>
            <a:ext cx="457200" cy="4572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10</a:t>
            </a:r>
            <a:endParaRPr lang="en-US" sz="1800" dirty="0"/>
          </a:p>
        </p:txBody>
      </p:sp>
      <p:sp>
        <p:nvSpPr>
          <p:cNvPr id="57" name="Text 55"/>
          <p:cNvSpPr txBox="1"/>
          <p:nvPr/>
        </p:nvSpPr>
        <p:spPr>
          <a:xfrm>
            <a:off x="6295644" y="4535424"/>
            <a:ext cx="18585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التنفيذ والاسترداد</a:t>
            </a:r>
            <a:endParaRPr lang="en-US" sz="1300" dirty="0"/>
          </a:p>
        </p:txBody>
      </p:sp>
      <p:sp>
        <p:nvSpPr>
          <p:cNvPr id="58" name="Shape 56">
            <a:hlinkClick r:id="rId13" tooltip="التنفيذ والاسترداد" action="ppaction://hlinksldjump"/>
          </p:cNvPr>
          <p:cNvSpPr/>
          <p:nvPr/>
        </p:nvSpPr>
        <p:spPr>
          <a:xfrm>
            <a:off x="6185916" y="4443984"/>
            <a:ext cx="2681478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3321558" y="4443984"/>
            <a:ext cx="2681478" cy="96012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5436108" y="4690872"/>
            <a:ext cx="457200" cy="4572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11</a:t>
            </a:r>
            <a:endParaRPr lang="en-US" sz="1800" dirty="0"/>
          </a:p>
        </p:txBody>
      </p:sp>
      <p:sp>
        <p:nvSpPr>
          <p:cNvPr id="61" name="Text 59"/>
          <p:cNvSpPr txBox="1"/>
          <p:nvPr/>
        </p:nvSpPr>
        <p:spPr>
          <a:xfrm>
            <a:off x="3431286" y="4535424"/>
            <a:ext cx="18585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المفوتر والميزانية والمستهدف</a:t>
            </a:r>
            <a:endParaRPr lang="en-US" sz="1300" dirty="0"/>
          </a:p>
        </p:txBody>
      </p:sp>
      <p:sp>
        <p:nvSpPr>
          <p:cNvPr id="62" name="Shape 60">
            <a:hlinkClick r:id="rId14" tooltip="المفوتر والميزانية والمستهدف" action="ppaction://hlinksldjump"/>
          </p:cNvPr>
          <p:cNvSpPr/>
          <p:nvPr/>
        </p:nvSpPr>
        <p:spPr>
          <a:xfrm>
            <a:off x="3321558" y="4443984"/>
            <a:ext cx="2681478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457200" y="4443984"/>
            <a:ext cx="2681478" cy="96012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2571750" y="4690872"/>
            <a:ext cx="457200" cy="4572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12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566928" y="4535424"/>
            <a:ext cx="18585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تبويبات الوزارة: المفوتر والمستهدف</a:t>
            </a:r>
            <a:endParaRPr lang="en-US" sz="1300" dirty="0"/>
          </a:p>
        </p:txBody>
      </p:sp>
      <p:sp>
        <p:nvSpPr>
          <p:cNvPr id="66" name="Shape 64">
            <a:hlinkClick r:id="rId15" tooltip="تبويبات الوزارة: المفوتر والمستهدف" action="ppaction://hlinksldjump"/>
          </p:cNvPr>
          <p:cNvSpPr/>
          <p:nvPr/>
        </p:nvSpPr>
        <p:spPr>
          <a:xfrm>
            <a:off x="457200" y="4443984"/>
            <a:ext cx="2681478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9050274" y="5568696"/>
            <a:ext cx="2681478" cy="96012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11164824" y="5815584"/>
            <a:ext cx="457200" cy="4572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13</a:t>
            </a:r>
            <a:endParaRPr lang="en-US" sz="1800" dirty="0"/>
          </a:p>
        </p:txBody>
      </p:sp>
      <p:sp>
        <p:nvSpPr>
          <p:cNvPr id="69" name="Text 67"/>
          <p:cNvSpPr txBox="1"/>
          <p:nvPr/>
        </p:nvSpPr>
        <p:spPr>
          <a:xfrm>
            <a:off x="9160002" y="5660136"/>
            <a:ext cx="18585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المديونية</a:t>
            </a:r>
            <a:endParaRPr lang="en-US" sz="1300" dirty="0"/>
          </a:p>
        </p:txBody>
      </p:sp>
      <p:sp>
        <p:nvSpPr>
          <p:cNvPr id="70" name="Shape 68">
            <a:hlinkClick r:id="rId16" tooltip="المديونية" action="ppaction://hlinksldjump"/>
          </p:cNvPr>
          <p:cNvSpPr/>
          <p:nvPr/>
        </p:nvSpPr>
        <p:spPr>
          <a:xfrm>
            <a:off x="9050274" y="5568696"/>
            <a:ext cx="2681478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6185916" y="5568696"/>
            <a:ext cx="2681478" cy="96012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8300466" y="5815584"/>
            <a:ext cx="457200" cy="4572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14</a:t>
            </a:r>
            <a:endParaRPr lang="en-US" sz="1800" dirty="0"/>
          </a:p>
        </p:txBody>
      </p:sp>
      <p:sp>
        <p:nvSpPr>
          <p:cNvPr id="73" name="Text 71"/>
          <p:cNvSpPr txBox="1"/>
          <p:nvPr/>
        </p:nvSpPr>
        <p:spPr>
          <a:xfrm>
            <a:off x="6295644" y="5660136"/>
            <a:ext cx="18585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ملاحظات منهجية</a:t>
            </a:r>
            <a:endParaRPr lang="en-US" sz="1300" dirty="0"/>
          </a:p>
        </p:txBody>
      </p:sp>
      <p:sp>
        <p:nvSpPr>
          <p:cNvPr id="74" name="Shape 72">
            <a:hlinkClick r:id="rId17" tooltip="ملاحظات منهجية" action="ppaction://hlinksldjump"/>
          </p:cNvPr>
          <p:cNvSpPr/>
          <p:nvPr/>
        </p:nvSpPr>
        <p:spPr>
          <a:xfrm>
            <a:off x="6185916" y="5568696"/>
            <a:ext cx="2681478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9FB8A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CFE3DA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9FB8A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CFE3DA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9FB8A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CFE3DA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FB8AE"/>
                </a:solidFill>
              </a:rPr>
              <a:t>المؤشرات الرئيسة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أبرز مؤشرات الإيراد للعام 2026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9FB8AE"/>
                </a:solidFill>
              </a:rPr>
              <a:t>إجمالي منطقة الرياض (مدينة الرياض + بلديات المنطقة) حتى تاريخه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050274" y="2468880"/>
            <a:ext cx="2681478" cy="1737360"/>
          </a:xfrm>
          <a:prstGeom prst="roundRect">
            <a:avLst>
              <a:gd name="adj" fmla="val 7368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87434" y="260604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0"/>
            </a:srgbClr>
          </a:solidFill>
          <a:ln w="12700">
            <a:solidFill>
              <a:srgbClr val="3C9170"/>
            </a:solidFill>
            <a:prstDash val="solid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7162" y="2715768"/>
            <a:ext cx="329184" cy="329184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9873234" y="2542032"/>
            <a:ext cx="6697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الفعلي حتى تاريخه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9873234" y="2852928"/>
            <a:ext cx="17213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2,986.3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9187434" y="256032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100" u="sng" dirty="0">
                <a:solidFill>
                  <a:srgbClr val="A4CCBC"/>
                </a:solidFill>
              </a:rPr>
              <a:t>للتفاصيل</a:t>
            </a:r>
            <a:endParaRPr lang="en-US" sz="1100" dirty="0"/>
          </a:p>
        </p:txBody>
      </p:sp>
      <p:sp>
        <p:nvSpPr>
          <p:cNvPr id="26" name="Shape 23">
            <a:hlinkClick r:id="rId5" tooltip="للتفاصيل" action="ppaction://hlinksldjump"/>
          </p:cNvPr>
          <p:cNvSpPr/>
          <p:nvPr/>
        </p:nvSpPr>
        <p:spPr>
          <a:xfrm>
            <a:off x="9187434" y="2560320"/>
            <a:ext cx="1051560" cy="27432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391013" y="3749040"/>
            <a:ext cx="12035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9E8CF"/>
                </a:solidFill>
              </a:rPr>
              <a:t>▲ +29.9%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187434" y="3749040"/>
            <a:ext cx="12035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9E8CF"/>
                </a:solidFill>
              </a:rPr>
              <a:t>▲ +20.9%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عن المستهدف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185916" y="2468880"/>
            <a:ext cx="2681478" cy="1737360"/>
          </a:xfrm>
          <a:prstGeom prst="roundRect">
            <a:avLst>
              <a:gd name="adj" fmla="val 7368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323076" y="260604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0"/>
            </a:srgbClr>
          </a:solidFill>
          <a:ln w="12700">
            <a:solidFill>
              <a:srgbClr val="3C9170"/>
            </a:solidFill>
            <a:prstDash val="solid"/>
          </a:ln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2804" y="2715768"/>
            <a:ext cx="329184" cy="329184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7008876" y="2542032"/>
            <a:ext cx="6697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المفوتر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7008876" y="2852928"/>
            <a:ext cx="17213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3,819.9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34" name="Text 30"/>
          <p:cNvSpPr txBox="1"/>
          <p:nvPr/>
        </p:nvSpPr>
        <p:spPr>
          <a:xfrm>
            <a:off x="6323076" y="256032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100" u="sng" dirty="0">
                <a:solidFill>
                  <a:srgbClr val="A4CCBC"/>
                </a:solidFill>
              </a:rPr>
              <a:t>للتفاصيل</a:t>
            </a:r>
            <a:endParaRPr lang="en-US" sz="1100" dirty="0"/>
          </a:p>
        </p:txBody>
      </p:sp>
      <p:sp>
        <p:nvSpPr>
          <p:cNvPr id="35" name="Shape 31">
            <a:hlinkClick r:id="rId7" tooltip="للتفاصيل" action="ppaction://hlinksldjump"/>
          </p:cNvPr>
          <p:cNvSpPr/>
          <p:nvPr/>
        </p:nvSpPr>
        <p:spPr>
          <a:xfrm>
            <a:off x="6323076" y="2560320"/>
            <a:ext cx="1051560" cy="27432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2"/>
          <p:cNvSpPr txBox="1"/>
          <p:nvPr/>
        </p:nvSpPr>
        <p:spPr>
          <a:xfrm>
            <a:off x="6323076" y="3749040"/>
            <a:ext cx="24071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9E8CF"/>
                </a:solidFill>
              </a:rPr>
              <a:t>▲ +50.2%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الفعلي عن السنة الماضية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3321558" y="2468880"/>
            <a:ext cx="2681478" cy="1737360"/>
          </a:xfrm>
          <a:prstGeom prst="roundRect">
            <a:avLst>
              <a:gd name="adj" fmla="val 7368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3458718" y="260604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0"/>
            </a:srgbClr>
          </a:solidFill>
          <a:ln w="12700">
            <a:solidFill>
              <a:srgbClr val="3C9170"/>
            </a:solidFill>
            <a:prstDash val="solid"/>
          </a:ln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68446" y="2715768"/>
            <a:ext cx="329184" cy="329184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4144518" y="2542032"/>
            <a:ext cx="17213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محصل سنوات سابقة</a:t>
            </a:r>
            <a:endParaRPr lang="en-US" sz="1300" dirty="0"/>
          </a:p>
        </p:txBody>
      </p:sp>
      <p:sp>
        <p:nvSpPr>
          <p:cNvPr id="41" name="Text 36"/>
          <p:cNvSpPr txBox="1"/>
          <p:nvPr/>
        </p:nvSpPr>
        <p:spPr>
          <a:xfrm>
            <a:off x="4144518" y="2852928"/>
            <a:ext cx="17213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430.3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42" name="Text 37"/>
          <p:cNvSpPr txBox="1"/>
          <p:nvPr/>
        </p:nvSpPr>
        <p:spPr>
          <a:xfrm>
            <a:off x="3458718" y="382219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100" u="sng" dirty="0">
                <a:solidFill>
                  <a:srgbClr val="A4CCBC"/>
                </a:solidFill>
              </a:rPr>
              <a:t>للتفاصيل</a:t>
            </a:r>
            <a:endParaRPr lang="en-US" sz="1100" dirty="0"/>
          </a:p>
        </p:txBody>
      </p:sp>
      <p:sp>
        <p:nvSpPr>
          <p:cNvPr id="43" name="Shape 38">
            <a:hlinkClick r:id="rId9" tooltip="للتفاصيل" action="ppaction://hlinksldjump"/>
          </p:cNvPr>
          <p:cNvSpPr/>
          <p:nvPr/>
        </p:nvSpPr>
        <p:spPr>
          <a:xfrm>
            <a:off x="3458718" y="3822192"/>
            <a:ext cx="1051560" cy="27432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Shape 39"/>
          <p:cNvSpPr/>
          <p:nvPr/>
        </p:nvSpPr>
        <p:spPr>
          <a:xfrm>
            <a:off x="457200" y="2468880"/>
            <a:ext cx="2681478" cy="1737360"/>
          </a:xfrm>
          <a:prstGeom prst="roundRect">
            <a:avLst>
              <a:gd name="adj" fmla="val 7368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594360" y="260604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0"/>
            </a:srgbClr>
          </a:solidFill>
          <a:ln w="12700">
            <a:solidFill>
              <a:srgbClr val="3C9170"/>
            </a:solidFill>
            <a:prstDash val="solid"/>
          </a:ln>
        </p:spPr>
      </p:sp>
      <p:pic>
        <p:nvPicPr>
          <p:cNvPr id="46" name="Image 3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4088" y="2715768"/>
            <a:ext cx="329184" cy="329184"/>
          </a:xfrm>
          <a:prstGeom prst="rect">
            <a:avLst/>
          </a:prstGeom>
        </p:spPr>
      </p:pic>
      <p:sp>
        <p:nvSpPr>
          <p:cNvPr id="47" name="Text 41"/>
          <p:cNvSpPr txBox="1"/>
          <p:nvPr/>
        </p:nvSpPr>
        <p:spPr>
          <a:xfrm>
            <a:off x="1280160" y="2542032"/>
            <a:ext cx="17213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48" name="Text 42"/>
          <p:cNvSpPr txBox="1"/>
          <p:nvPr/>
        </p:nvSpPr>
        <p:spPr>
          <a:xfrm>
            <a:off x="1280160" y="2852928"/>
            <a:ext cx="17213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1,987.7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49" name="Text 43"/>
          <p:cNvSpPr txBox="1"/>
          <p:nvPr/>
        </p:nvSpPr>
        <p:spPr>
          <a:xfrm>
            <a:off x="594360" y="382219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100" u="sng" dirty="0">
                <a:solidFill>
                  <a:srgbClr val="A4CCBC"/>
                </a:solidFill>
              </a:rPr>
              <a:t>للتفاصيل</a:t>
            </a:r>
            <a:endParaRPr lang="en-US" sz="1100" dirty="0"/>
          </a:p>
        </p:txBody>
      </p:sp>
      <p:sp>
        <p:nvSpPr>
          <p:cNvPr id="50" name="Shape 44">
            <a:hlinkClick r:id="rId11" tooltip="للتفاصيل" action="ppaction://hlinksldjump"/>
          </p:cNvPr>
          <p:cNvSpPr/>
          <p:nvPr/>
        </p:nvSpPr>
        <p:spPr>
          <a:xfrm>
            <a:off x="594360" y="3822192"/>
            <a:ext cx="1051560" cy="27432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Shape 45"/>
          <p:cNvSpPr/>
          <p:nvPr/>
        </p:nvSpPr>
        <p:spPr>
          <a:xfrm>
            <a:off x="9050274" y="4434840"/>
            <a:ext cx="2681478" cy="1737360"/>
          </a:xfrm>
          <a:prstGeom prst="roundRect">
            <a:avLst>
              <a:gd name="adj" fmla="val 7368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52" name="Shape 46"/>
          <p:cNvSpPr/>
          <p:nvPr/>
        </p:nvSpPr>
        <p:spPr>
          <a:xfrm>
            <a:off x="9187434" y="457200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0"/>
            </a:srgbClr>
          </a:solidFill>
          <a:ln w="12700">
            <a:solidFill>
              <a:srgbClr val="3C9170"/>
            </a:solidFill>
            <a:prstDash val="solid"/>
          </a:ln>
        </p:spPr>
      </p:sp>
      <p:pic>
        <p:nvPicPr>
          <p:cNvPr id="53" name="Image 4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97162" y="4681728"/>
            <a:ext cx="329184" cy="329184"/>
          </a:xfrm>
          <a:prstGeom prst="rect">
            <a:avLst/>
          </a:prstGeom>
        </p:spPr>
      </p:pic>
      <p:sp>
        <p:nvSpPr>
          <p:cNvPr id="54" name="Text 47"/>
          <p:cNvSpPr txBox="1"/>
          <p:nvPr/>
        </p:nvSpPr>
        <p:spPr>
          <a:xfrm>
            <a:off x="9873234" y="4507992"/>
            <a:ext cx="17213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المديونية المتبقية</a:t>
            </a:r>
            <a:endParaRPr lang="en-US" sz="1300" dirty="0"/>
          </a:p>
        </p:txBody>
      </p:sp>
      <p:sp>
        <p:nvSpPr>
          <p:cNvPr id="55" name="Text 48"/>
          <p:cNvSpPr txBox="1"/>
          <p:nvPr/>
        </p:nvSpPr>
        <p:spPr>
          <a:xfrm>
            <a:off x="9873234" y="4818888"/>
            <a:ext cx="17213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2,326.4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56" name="Text 49"/>
          <p:cNvSpPr txBox="1"/>
          <p:nvPr/>
        </p:nvSpPr>
        <p:spPr>
          <a:xfrm>
            <a:off x="9187434" y="57881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100" u="sng" dirty="0">
                <a:solidFill>
                  <a:srgbClr val="A4CCBC"/>
                </a:solidFill>
              </a:rPr>
              <a:t>للتفاصيل</a:t>
            </a:r>
            <a:endParaRPr lang="en-US" sz="1100" dirty="0"/>
          </a:p>
        </p:txBody>
      </p:sp>
      <p:sp>
        <p:nvSpPr>
          <p:cNvPr id="57" name="Shape 50">
            <a:hlinkClick r:id="rId13" tooltip="للتفاصيل" action="ppaction://hlinksldjump"/>
          </p:cNvPr>
          <p:cNvSpPr/>
          <p:nvPr/>
        </p:nvSpPr>
        <p:spPr>
          <a:xfrm>
            <a:off x="9187434" y="5788152"/>
            <a:ext cx="1051560" cy="27432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8" name="Shape 51"/>
          <p:cNvSpPr/>
          <p:nvPr/>
        </p:nvSpPr>
        <p:spPr>
          <a:xfrm>
            <a:off x="6185916" y="4434840"/>
            <a:ext cx="2681478" cy="1737360"/>
          </a:xfrm>
          <a:prstGeom prst="roundRect">
            <a:avLst>
              <a:gd name="adj" fmla="val 7368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59" name="Shape 52"/>
          <p:cNvSpPr/>
          <p:nvPr/>
        </p:nvSpPr>
        <p:spPr>
          <a:xfrm>
            <a:off x="6323076" y="457200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0"/>
            </a:srgbClr>
          </a:solidFill>
          <a:ln w="12700">
            <a:solidFill>
              <a:srgbClr val="3C9170"/>
            </a:solidFill>
            <a:prstDash val="solid"/>
          </a:ln>
        </p:spPr>
      </p:sp>
      <p:pic>
        <p:nvPicPr>
          <p:cNvPr id="60" name="Image 5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32804" y="4681728"/>
            <a:ext cx="329184" cy="329184"/>
          </a:xfrm>
          <a:prstGeom prst="rect">
            <a:avLst/>
          </a:prstGeom>
        </p:spPr>
      </p:pic>
      <p:sp>
        <p:nvSpPr>
          <p:cNvPr id="61" name="Text 53"/>
          <p:cNvSpPr txBox="1"/>
          <p:nvPr/>
        </p:nvSpPr>
        <p:spPr>
          <a:xfrm>
            <a:off x="7008876" y="4507992"/>
            <a:ext cx="17213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استرداد فعلي (التنفيذ)</a:t>
            </a:r>
            <a:endParaRPr lang="en-US" sz="1300" dirty="0"/>
          </a:p>
        </p:txBody>
      </p:sp>
      <p:sp>
        <p:nvSpPr>
          <p:cNvPr id="62" name="Text 54"/>
          <p:cNvSpPr txBox="1"/>
          <p:nvPr/>
        </p:nvSpPr>
        <p:spPr>
          <a:xfrm>
            <a:off x="7008876" y="4818888"/>
            <a:ext cx="17213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59.0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63" name="Text 55"/>
          <p:cNvSpPr txBox="1"/>
          <p:nvPr/>
        </p:nvSpPr>
        <p:spPr>
          <a:xfrm>
            <a:off x="6323076" y="57881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100" u="sng" dirty="0">
                <a:solidFill>
                  <a:srgbClr val="A4CCBC"/>
                </a:solidFill>
              </a:rPr>
              <a:t>للتفاصيل</a:t>
            </a:r>
            <a:endParaRPr lang="en-US" sz="1100" dirty="0"/>
          </a:p>
        </p:txBody>
      </p:sp>
      <p:sp>
        <p:nvSpPr>
          <p:cNvPr id="64" name="Shape 56">
            <a:hlinkClick r:id="rId15" tooltip="للتفاصيل" action="ppaction://hlinksldjump"/>
          </p:cNvPr>
          <p:cNvSpPr/>
          <p:nvPr/>
        </p:nvSpPr>
        <p:spPr>
          <a:xfrm>
            <a:off x="6323076" y="5788152"/>
            <a:ext cx="1051560" cy="27432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5" name="Shape 57"/>
          <p:cNvSpPr/>
          <p:nvPr/>
        </p:nvSpPr>
        <p:spPr>
          <a:xfrm>
            <a:off x="3321558" y="4434840"/>
            <a:ext cx="2681478" cy="1737360"/>
          </a:xfrm>
          <a:prstGeom prst="roundRect">
            <a:avLst>
              <a:gd name="adj" fmla="val 7368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66" name="Shape 58"/>
          <p:cNvSpPr/>
          <p:nvPr/>
        </p:nvSpPr>
        <p:spPr>
          <a:xfrm>
            <a:off x="3458718" y="457200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0"/>
            </a:srgbClr>
          </a:solidFill>
          <a:ln w="12700">
            <a:solidFill>
              <a:srgbClr val="3C9170"/>
            </a:solidFill>
            <a:prstDash val="solid"/>
          </a:ln>
        </p:spPr>
      </p:sp>
      <p:pic>
        <p:nvPicPr>
          <p:cNvPr id="67" name="Image 6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568446" y="4681728"/>
            <a:ext cx="329184" cy="329184"/>
          </a:xfrm>
          <a:prstGeom prst="rect">
            <a:avLst/>
          </a:prstGeom>
        </p:spPr>
      </p:pic>
      <p:sp>
        <p:nvSpPr>
          <p:cNvPr id="68" name="Text 59"/>
          <p:cNvSpPr txBox="1"/>
          <p:nvPr/>
        </p:nvSpPr>
        <p:spPr>
          <a:xfrm>
            <a:off x="4144518" y="4507992"/>
            <a:ext cx="6697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الاستقطاع 2026</a:t>
            </a:r>
            <a:endParaRPr lang="en-US" sz="1300" dirty="0"/>
          </a:p>
        </p:txBody>
      </p:sp>
      <p:sp>
        <p:nvSpPr>
          <p:cNvPr id="69" name="Text 60"/>
          <p:cNvSpPr txBox="1"/>
          <p:nvPr/>
        </p:nvSpPr>
        <p:spPr>
          <a:xfrm>
            <a:off x="4144518" y="4818888"/>
            <a:ext cx="17213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111.0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70" name="Text 61"/>
          <p:cNvSpPr txBox="1"/>
          <p:nvPr/>
        </p:nvSpPr>
        <p:spPr>
          <a:xfrm>
            <a:off x="3458718" y="45262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100" u="sng" dirty="0">
                <a:solidFill>
                  <a:srgbClr val="A4CCBC"/>
                </a:solidFill>
              </a:rPr>
              <a:t>للتفاصيل</a:t>
            </a:r>
            <a:endParaRPr lang="en-US" sz="1100" dirty="0"/>
          </a:p>
        </p:txBody>
      </p:sp>
      <p:sp>
        <p:nvSpPr>
          <p:cNvPr id="71" name="Shape 62">
            <a:hlinkClick r:id="rId17" tooltip="للتفاصيل" action="ppaction://hlinksldjump"/>
          </p:cNvPr>
          <p:cNvSpPr/>
          <p:nvPr/>
        </p:nvSpPr>
        <p:spPr>
          <a:xfrm>
            <a:off x="3458718" y="4526280"/>
            <a:ext cx="1051560" cy="27432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2" name="Text 63"/>
          <p:cNvSpPr txBox="1"/>
          <p:nvPr/>
        </p:nvSpPr>
        <p:spPr>
          <a:xfrm>
            <a:off x="3458718" y="5715000"/>
            <a:ext cx="24071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9E8CF"/>
                </a:solidFill>
              </a:rPr>
              <a:t>▲ +16.9%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من الإيراد</a:t>
            </a:r>
            <a:endParaRPr lang="en-US" sz="1200" dirty="0"/>
          </a:p>
        </p:txBody>
      </p:sp>
      <p:sp>
        <p:nvSpPr>
          <p:cNvPr id="73" name="Shape 64"/>
          <p:cNvSpPr/>
          <p:nvPr/>
        </p:nvSpPr>
        <p:spPr>
          <a:xfrm>
            <a:off x="457200" y="4434840"/>
            <a:ext cx="2681478" cy="1737360"/>
          </a:xfrm>
          <a:prstGeom prst="roundRect">
            <a:avLst>
              <a:gd name="adj" fmla="val 7368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74" name="Shape 65"/>
          <p:cNvSpPr/>
          <p:nvPr/>
        </p:nvSpPr>
        <p:spPr>
          <a:xfrm>
            <a:off x="594360" y="457200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0"/>
            </a:srgbClr>
          </a:solidFill>
          <a:ln w="12700">
            <a:solidFill>
              <a:srgbClr val="3C9170"/>
            </a:solidFill>
            <a:prstDash val="solid"/>
          </a:ln>
        </p:spPr>
      </p:sp>
      <p:pic>
        <p:nvPicPr>
          <p:cNvPr id="75" name="Image 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04088" y="4681728"/>
            <a:ext cx="329184" cy="329184"/>
          </a:xfrm>
          <a:prstGeom prst="rect">
            <a:avLst/>
          </a:prstGeom>
        </p:spPr>
      </p:pic>
      <p:sp>
        <p:nvSpPr>
          <p:cNvPr id="76" name="Text 66"/>
          <p:cNvSpPr txBox="1"/>
          <p:nvPr/>
        </p:nvSpPr>
        <p:spPr>
          <a:xfrm>
            <a:off x="1280160" y="4507992"/>
            <a:ext cx="6697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المستهدف حتى تاريخه</a:t>
            </a:r>
            <a:endParaRPr lang="en-US" sz="1300" dirty="0"/>
          </a:p>
        </p:txBody>
      </p:sp>
      <p:sp>
        <p:nvSpPr>
          <p:cNvPr id="77" name="Text 67"/>
          <p:cNvSpPr txBox="1"/>
          <p:nvPr/>
        </p:nvSpPr>
        <p:spPr>
          <a:xfrm>
            <a:off x="1280160" y="4818888"/>
            <a:ext cx="17213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2,469.5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78" name="Text 68"/>
          <p:cNvSpPr txBox="1"/>
          <p:nvPr/>
        </p:nvSpPr>
        <p:spPr>
          <a:xfrm>
            <a:off x="594360" y="45262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100" u="sng" dirty="0">
                <a:solidFill>
                  <a:srgbClr val="A4CCBC"/>
                </a:solidFill>
              </a:rPr>
              <a:t>للتفاصيل</a:t>
            </a:r>
            <a:endParaRPr lang="en-US" sz="1100" dirty="0"/>
          </a:p>
        </p:txBody>
      </p:sp>
      <p:sp>
        <p:nvSpPr>
          <p:cNvPr id="79" name="Shape 69">
            <a:hlinkClick r:id="rId19" tooltip="للتفاصيل" action="ppaction://hlinksldjump"/>
          </p:cNvPr>
          <p:cNvSpPr/>
          <p:nvPr/>
        </p:nvSpPr>
        <p:spPr>
          <a:xfrm>
            <a:off x="594360" y="4526280"/>
            <a:ext cx="1051560" cy="27432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0" name="Text 70"/>
          <p:cNvSpPr txBox="1"/>
          <p:nvPr/>
        </p:nvSpPr>
        <p:spPr>
          <a:xfrm>
            <a:off x="594360" y="5715000"/>
            <a:ext cx="24071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4A29A"/>
                </a:solidFill>
              </a:rPr>
              <a:t>▼ 6.9%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المقدر عن المستهدف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8A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الإيراد حتى تاريخه</a:t>
            </a:r>
            <a:endParaRPr lang="en-US" sz="1300" dirty="0"/>
          </a:p>
        </p:txBody>
      </p:sp>
      <p:pic>
        <p:nvPicPr>
          <p:cNvPr id="18" name="Image 0" descr="/home/user/test4/assets/panel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11274552" cy="507492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943600" y="914400"/>
            <a:ext cx="6217920" cy="1691640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17920" y="1325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الإيراد حتى تاريخه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11480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b="1" dirty="0">
                <a:solidFill>
                  <a:schemeClr val="accent6"/>
                </a:solidFill>
              </a:rPr>
              <a:t>02</a:t>
            </a:r>
            <a:endParaRPr lang="en-US" sz="11000" dirty="0"/>
          </a:p>
        </p:txBody>
      </p:sp>
      <p:sp>
        <p:nvSpPr>
          <p:cNvPr id="22" name="Shape 19"/>
          <p:cNvSpPr/>
          <p:nvPr/>
        </p:nvSpPr>
        <p:spPr>
          <a:xfrm>
            <a:off x="11201400" y="3108960"/>
            <a:ext cx="0" cy="228600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137392" y="30449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754880" y="28803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نظرة عامة</a:t>
            </a:r>
            <a:endParaRPr lang="en-US" sz="1800" dirty="0"/>
          </a:p>
        </p:txBody>
      </p:sp>
      <p:sp>
        <p:nvSpPr>
          <p:cNvPr id="25" name="Shape 22">
            <a:hlinkClick r:id="rId5" tooltip="نظرة عامة" action="ppaction://hlinksldjump"/>
          </p:cNvPr>
          <p:cNvSpPr/>
          <p:nvPr/>
        </p:nvSpPr>
        <p:spPr>
          <a:xfrm>
            <a:off x="4754880" y="28803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1137392" y="35021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754880" y="33375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إيرادات إستثمارية</a:t>
            </a:r>
            <a:endParaRPr lang="en-US" sz="1800" dirty="0"/>
          </a:p>
        </p:txBody>
      </p:sp>
      <p:sp>
        <p:nvSpPr>
          <p:cNvPr id="28" name="Shape 25">
            <a:hlinkClick r:id="rId6" tooltip="إيرادات إستثمارية" action="ppaction://hlinksldjump"/>
          </p:cNvPr>
          <p:cNvSpPr/>
          <p:nvPr/>
        </p:nvSpPr>
        <p:spPr>
          <a:xfrm>
            <a:off x="4754880" y="33375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11137392" y="39593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754880" y="37947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الرسوم والتراخيص</a:t>
            </a:r>
            <a:endParaRPr lang="en-US" sz="1800" dirty="0"/>
          </a:p>
        </p:txBody>
      </p:sp>
      <p:sp>
        <p:nvSpPr>
          <p:cNvPr id="31" name="Shape 28">
            <a:hlinkClick r:id="rId7" tooltip="الرسوم والتراخيص" action="ppaction://hlinksldjump"/>
          </p:cNvPr>
          <p:cNvSpPr/>
          <p:nvPr/>
        </p:nvSpPr>
        <p:spPr>
          <a:xfrm>
            <a:off x="4754880" y="37947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11137392" y="44165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4754880" y="42519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جزاءات وغرامات</a:t>
            </a:r>
            <a:endParaRPr lang="en-US" sz="1800" dirty="0"/>
          </a:p>
        </p:txBody>
      </p:sp>
      <p:sp>
        <p:nvSpPr>
          <p:cNvPr id="34" name="Shape 31">
            <a:hlinkClick r:id="rId8" tooltip="جزاءات وغرامات" action="ppaction://hlinksldjump"/>
          </p:cNvPr>
          <p:cNvSpPr/>
          <p:nvPr/>
        </p:nvSpPr>
        <p:spPr>
          <a:xfrm>
            <a:off x="4754880" y="42519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11137392" y="48737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754880" y="47091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التبغ والإيواء</a:t>
            </a:r>
            <a:endParaRPr lang="en-US" sz="1800" dirty="0"/>
          </a:p>
        </p:txBody>
      </p:sp>
      <p:sp>
        <p:nvSpPr>
          <p:cNvPr id="37" name="Shape 34">
            <a:hlinkClick r:id="rId9" tooltip="التبغ والإيواء" action="ppaction://hlinksldjump"/>
          </p:cNvPr>
          <p:cNvSpPr/>
          <p:nvPr/>
        </p:nvSpPr>
        <p:spPr>
          <a:xfrm>
            <a:off x="4754880" y="47091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11137392" y="53309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4754880" y="51663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أخرى</a:t>
            </a:r>
            <a:endParaRPr lang="en-US" sz="1800" dirty="0"/>
          </a:p>
        </p:txBody>
      </p:sp>
      <p:sp>
        <p:nvSpPr>
          <p:cNvPr id="40" name="Shape 37">
            <a:hlinkClick r:id="rId10" tooltip="أخرى" action="ppaction://hlinksldjump"/>
          </p:cNvPr>
          <p:cNvSpPr/>
          <p:nvPr/>
        </p:nvSpPr>
        <p:spPr>
          <a:xfrm>
            <a:off x="4754880" y="51663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الإيراد حتى تاريخه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1" name="Shape 19">
            <a:hlinkClick r:id="rId4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3" name="Shape 21">
            <a:hlinkClick r:id="rId5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5" name="Shape 23">
            <a:hlinkClick r:id="rId6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7" name="Shape 25">
            <a:hlinkClick r:id="rId7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أخرى</a:t>
            </a:r>
            <a:endParaRPr lang="en-US" sz="1200" dirty="0"/>
          </a:p>
        </p:txBody>
      </p:sp>
      <p:sp>
        <p:nvSpPr>
          <p:cNvPr id="29" name="Shape 27">
            <a:hlinkClick r:id="rId8" tooltip="أخرى" action="ppaction://hlinksldjump"/>
          </p:cNvPr>
          <p:cNvSpPr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الإيراد حتى تاريخه — نظرة عامة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الفترة: يناير – أغسطس 2026 — منطقة الرياض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23146" y="2423160"/>
            <a:ext cx="2108606" cy="132588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9760306" y="2496312"/>
            <a:ext cx="18342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مفوتر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760306" y="2807208"/>
            <a:ext cx="18342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3,819.9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600" dirty="0"/>
          </a:p>
        </p:txBody>
      </p:sp>
      <p:sp>
        <p:nvSpPr>
          <p:cNvPr id="35" name="Shape 32"/>
          <p:cNvSpPr/>
          <p:nvPr/>
        </p:nvSpPr>
        <p:spPr>
          <a:xfrm>
            <a:off x="7331659" y="2423160"/>
            <a:ext cx="2108606" cy="1325880"/>
          </a:xfrm>
          <a:prstGeom prst="roundRect">
            <a:avLst>
              <a:gd name="adj" fmla="val 9655"/>
            </a:avLst>
          </a:prstGeom>
          <a:solidFill>
            <a:srgbClr val="74A4D4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468819" y="2496312"/>
            <a:ext cx="18342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فعلي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7468819" y="2807208"/>
            <a:ext cx="18342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2,986.3</a:t>
            </a:r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م.ر</a:t>
            </a:r>
            <a:endParaRPr lang="en-US" sz="2600" dirty="0"/>
          </a:p>
        </p:txBody>
      </p:sp>
      <p:sp>
        <p:nvSpPr>
          <p:cNvPr id="38" name="Text 35"/>
          <p:cNvSpPr txBox="1"/>
          <p:nvPr/>
        </p:nvSpPr>
        <p:spPr>
          <a:xfrm>
            <a:off x="8385962" y="3291840"/>
            <a:ext cx="91714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▲ +29.9%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7468819" y="3291840"/>
            <a:ext cx="91714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▲ +20.9%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عن المستهدف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040173" y="2423160"/>
            <a:ext cx="2108606" cy="1325880"/>
          </a:xfrm>
          <a:prstGeom prst="roundRect">
            <a:avLst>
              <a:gd name="adj" fmla="val 9655"/>
            </a:avLst>
          </a:prstGeom>
          <a:solidFill>
            <a:srgbClr val="EAF3E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5177333" y="2496312"/>
            <a:ext cx="18342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5177333" y="2807208"/>
            <a:ext cx="18342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2,298.9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600" dirty="0"/>
          </a:p>
        </p:txBody>
      </p:sp>
      <p:sp>
        <p:nvSpPr>
          <p:cNvPr id="43" name="Shape 40"/>
          <p:cNvSpPr/>
          <p:nvPr/>
        </p:nvSpPr>
        <p:spPr>
          <a:xfrm>
            <a:off x="2748686" y="2423160"/>
            <a:ext cx="2108606" cy="1325880"/>
          </a:xfrm>
          <a:prstGeom prst="roundRect">
            <a:avLst>
              <a:gd name="adj" fmla="val 9655"/>
            </a:avLst>
          </a:prstGeom>
          <a:solidFill>
            <a:srgbClr val="EAF3EF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2885846" y="2496312"/>
            <a:ext cx="18342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2885846" y="2807208"/>
            <a:ext cx="18342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2,469.5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600" dirty="0"/>
          </a:p>
        </p:txBody>
      </p:sp>
      <p:sp>
        <p:nvSpPr>
          <p:cNvPr id="46" name="Shape 43"/>
          <p:cNvSpPr/>
          <p:nvPr/>
        </p:nvSpPr>
        <p:spPr>
          <a:xfrm>
            <a:off x="457200" y="2423160"/>
            <a:ext cx="2108606" cy="1325880"/>
          </a:xfrm>
          <a:prstGeom prst="roundRect">
            <a:avLst>
              <a:gd name="adj" fmla="val 9655"/>
            </a:avLst>
          </a:prstGeom>
          <a:solidFill>
            <a:srgbClr val="EAF3EF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594360" y="2496312"/>
            <a:ext cx="18342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594360" y="2807208"/>
            <a:ext cx="18342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1,987.7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6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376732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الإيراد حسب التبويب — منطقة الرياض (مليون ريال)</a:t>
            </a:r>
            <a:endParaRPr lang="en-US" sz="1500" dirty="0"/>
          </a:p>
        </p:txBody>
      </p:sp>
      <p:graphicFrame>
        <p:nvGraphicFramePr>
          <p:cNvPr id="50" name="Chart 0" descr=""/>
          <p:cNvGraphicFramePr/>
          <p:nvPr/>
        </p:nvGraphicFramePr>
        <p:xfrm>
          <a:off x="457200" y="4114800"/>
          <a:ext cx="11274552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الإيراد حتى تاريخه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3" name="Shape 21">
            <a:hlinkClick r:id="rId5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5" name="Shape 23">
            <a:hlinkClick r:id="rId6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7" name="Shape 25">
            <a:hlinkClick r:id="rId7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أخرى</a:t>
            </a:r>
            <a:endParaRPr lang="en-US" sz="1200" dirty="0"/>
          </a:p>
        </p:txBody>
      </p:sp>
      <p:sp>
        <p:nvSpPr>
          <p:cNvPr id="29" name="Shape 27">
            <a:hlinkClick r:id="rId8" tooltip="أخرى" action="ppaction://hlinksldjump"/>
          </p:cNvPr>
          <p:cNvSpPr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إيرادات إستثمارية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الإيراد حتى تاريخه — الفترة: يناير – أغسطس 2026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منطقة الرياض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942832" y="28072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1,052.1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1026871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9E8CF"/>
                </a:solidFill>
              </a:rPr>
              <a:t>▲ +13.4%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9E8CF"/>
                </a:solidFill>
              </a:rPr>
              <a:t>▲ +9.4%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74A4D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مدينة الرياض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8942832" y="41330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909.0</a:t>
            </a:r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1026871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▲ +13.8%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94283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▲ +14.5%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EAF3E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بلديات المنطقة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8942832" y="54589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143.1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1026871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+11.4%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94283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14.7%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500" dirty="0"/>
          </a:p>
        </p:txBody>
      </p:sp>
      <p:graphicFrame>
        <p:nvGraphicFramePr>
          <p:cNvPr id="4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الإيراد حتى تاريخه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5" name="Shape 23">
            <a:hlinkClick r:id="rId6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7" name="Shape 25">
            <a:hlinkClick r:id="rId7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أخرى</a:t>
            </a:r>
            <a:endParaRPr lang="en-US" sz="1200" dirty="0"/>
          </a:p>
        </p:txBody>
      </p:sp>
      <p:sp>
        <p:nvSpPr>
          <p:cNvPr id="29" name="Shape 27">
            <a:hlinkClick r:id="rId8" tooltip="أخرى" action="ppaction://hlinksldjump"/>
          </p:cNvPr>
          <p:cNvSpPr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الرسوم والتراخيص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الإيراد حتى تاريخه — الفترة: يناير – أغسطس 2026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منطقة الرياض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942832" y="28072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892.8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1026871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9E8CF"/>
                </a:solidFill>
              </a:rPr>
              <a:t>▲ +12.1%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9E8CF"/>
                </a:solidFill>
              </a:rPr>
              <a:t>▲ +5.2%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74A4D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مدينة الرياض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8942832" y="41330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777.3</a:t>
            </a:r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1026871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▲ +10.4%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94283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▲ +3.2%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EAF3E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بلديات المنطقة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8942832" y="54589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115.5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1026871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+25.4%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94283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+20.5%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500" dirty="0"/>
          </a:p>
        </p:txBody>
      </p:sp>
      <p:graphicFrame>
        <p:nvGraphicFramePr>
          <p:cNvPr id="4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الإيراد حتى تاريخه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4" name="Shape 22">
            <a:hlinkClick r:id="rId6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7" name="Shape 25">
            <a:hlinkClick r:id="rId7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أخرى</a:t>
            </a:r>
            <a:endParaRPr lang="en-US" sz="1200" dirty="0"/>
          </a:p>
        </p:txBody>
      </p:sp>
      <p:sp>
        <p:nvSpPr>
          <p:cNvPr id="29" name="Shape 27">
            <a:hlinkClick r:id="rId8" tooltip="أخرى" action="ppaction://hlinksldjump"/>
          </p:cNvPr>
          <p:cNvSpPr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جزاءات وغرامات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الإيراد حتى تاريخه — الفترة: يناير – أغسطس 2026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منطقة الرياض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942832" y="28072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638.9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1026871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9E8CF"/>
                </a:solidFill>
              </a:rPr>
              <a:t>▲ +108.2%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9E8CF"/>
                </a:solidFill>
              </a:rPr>
              <a:t>▲ +69.9%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74A4D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مدينة الرياض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8942832" y="41330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605.7</a:t>
            </a:r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1026871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▲ +106.1%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94283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▲ +68.1%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EAF3E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بلديات المنطقة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8942832" y="54589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33.2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1026871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+155.0%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94283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+111.9%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500" dirty="0"/>
          </a:p>
        </p:txBody>
      </p:sp>
      <p:graphicFrame>
        <p:nvGraphicFramePr>
          <p:cNvPr id="4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الإيراد حتى تاريخه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4" name="Shape 22">
            <a:hlinkClick r:id="rId6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6" name="Shape 24">
            <a:hlinkClick r:id="rId7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أخرى</a:t>
            </a:r>
            <a:endParaRPr lang="en-US" sz="1200" dirty="0"/>
          </a:p>
        </p:txBody>
      </p:sp>
      <p:sp>
        <p:nvSpPr>
          <p:cNvPr id="29" name="Shape 27">
            <a:hlinkClick r:id="rId8" tooltip="أخرى" action="ppaction://hlinksldjump"/>
          </p:cNvPr>
          <p:cNvSpPr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التبغ والإيواء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الإيراد حتى تاريخه — الفترة: يناير – أغسطس 2026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منطقة الرياض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942832" y="28072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209.1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1026871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4A29A"/>
                </a:solidFill>
              </a:rPr>
              <a:t>▼ 18.1%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4A29A"/>
                </a:solidFill>
              </a:rPr>
              <a:t>▼ 24.1%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74A4D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مدينة الرياض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8942832" y="41330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200.0</a:t>
            </a:r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1026871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▼ 20.1%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94283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▼ 26.0%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EAF3E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بلديات المنطقة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8942832" y="54589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9.1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1026871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+91.6%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94283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+74.8%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500" dirty="0"/>
          </a:p>
        </p:txBody>
      </p:sp>
      <p:graphicFrame>
        <p:nvGraphicFramePr>
          <p:cNvPr id="4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الإيراد حتى تاريخه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4" name="Shape 22">
            <a:hlinkClick r:id="rId6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6" name="Shape 24">
            <a:hlinkClick r:id="rId7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8" name="Shape 26">
            <a:hlinkClick r:id="rId8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أخرى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أخرى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الإيراد حتى تاريخه — الفترة: يناير – أغسطس 2026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منطقة الرياض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942832" y="28072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193.3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1026871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9E8CF"/>
                </a:solidFill>
              </a:rPr>
              <a:t>▲ +1407.3%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9E8CF"/>
                </a:solidFill>
              </a:rPr>
              <a:t>▲ +2362.2%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74A4D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مدينة الرياض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8942832" y="41330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110.0</a:t>
            </a:r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1026871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▲ +4025.1%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94283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▲ +2495.6%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EAF3E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بلديات المنطقة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8942832" y="54589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83.3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1026871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+720.2%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94283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+2205.7%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500" dirty="0"/>
          </a:p>
        </p:txBody>
      </p:sp>
      <p:graphicFrame>
        <p:nvGraphicFramePr>
          <p:cNvPr id="4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الإيراد لنهاية السنة</a:t>
            </a:r>
            <a:endParaRPr lang="en-US" sz="1300" dirty="0"/>
          </a:p>
        </p:txBody>
      </p:sp>
      <p:pic>
        <p:nvPicPr>
          <p:cNvPr id="18" name="Image 0" descr="/home/user/test4/assets/panel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11274552" cy="507492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943600" y="914400"/>
            <a:ext cx="6217920" cy="1691640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17920" y="1325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الإيراد لنهاية السنة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11480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b="1" dirty="0">
                <a:solidFill>
                  <a:schemeClr val="accent6"/>
                </a:solidFill>
              </a:rPr>
              <a:t>03</a:t>
            </a:r>
            <a:endParaRPr lang="en-US" sz="11000" dirty="0"/>
          </a:p>
        </p:txBody>
      </p:sp>
      <p:sp>
        <p:nvSpPr>
          <p:cNvPr id="22" name="Shape 19"/>
          <p:cNvSpPr/>
          <p:nvPr/>
        </p:nvSpPr>
        <p:spPr>
          <a:xfrm>
            <a:off x="11201400" y="3108960"/>
            <a:ext cx="0" cy="228600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137392" y="30449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754880" y="28803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نظرة عامة</a:t>
            </a:r>
            <a:endParaRPr lang="en-US" sz="1800" dirty="0"/>
          </a:p>
        </p:txBody>
      </p:sp>
      <p:sp>
        <p:nvSpPr>
          <p:cNvPr id="25" name="Shape 22">
            <a:hlinkClick r:id="rId5" tooltip="نظرة عامة" action="ppaction://hlinksldjump"/>
          </p:cNvPr>
          <p:cNvSpPr/>
          <p:nvPr/>
        </p:nvSpPr>
        <p:spPr>
          <a:xfrm>
            <a:off x="4754880" y="28803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1137392" y="35021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754880" y="33375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إيرادات إستثمارية</a:t>
            </a:r>
            <a:endParaRPr lang="en-US" sz="1800" dirty="0"/>
          </a:p>
        </p:txBody>
      </p:sp>
      <p:sp>
        <p:nvSpPr>
          <p:cNvPr id="28" name="Shape 25">
            <a:hlinkClick r:id="rId6" tooltip="إيرادات إستثمارية" action="ppaction://hlinksldjump"/>
          </p:cNvPr>
          <p:cNvSpPr/>
          <p:nvPr/>
        </p:nvSpPr>
        <p:spPr>
          <a:xfrm>
            <a:off x="4754880" y="33375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11137392" y="39593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754880" y="37947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الرسوم والتراخيص</a:t>
            </a:r>
            <a:endParaRPr lang="en-US" sz="1800" dirty="0"/>
          </a:p>
        </p:txBody>
      </p:sp>
      <p:sp>
        <p:nvSpPr>
          <p:cNvPr id="31" name="Shape 28">
            <a:hlinkClick r:id="rId7" tooltip="الرسوم والتراخيص" action="ppaction://hlinksldjump"/>
          </p:cNvPr>
          <p:cNvSpPr/>
          <p:nvPr/>
        </p:nvSpPr>
        <p:spPr>
          <a:xfrm>
            <a:off x="4754880" y="37947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11137392" y="44165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4754880" y="42519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جزاءات وغرامات</a:t>
            </a:r>
            <a:endParaRPr lang="en-US" sz="1800" dirty="0"/>
          </a:p>
        </p:txBody>
      </p:sp>
      <p:sp>
        <p:nvSpPr>
          <p:cNvPr id="34" name="Shape 31">
            <a:hlinkClick r:id="rId8" tooltip="جزاءات وغرامات" action="ppaction://hlinksldjump"/>
          </p:cNvPr>
          <p:cNvSpPr/>
          <p:nvPr/>
        </p:nvSpPr>
        <p:spPr>
          <a:xfrm>
            <a:off x="4754880" y="42519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11137392" y="48737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754880" y="47091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التبغ والإيواء</a:t>
            </a:r>
            <a:endParaRPr lang="en-US" sz="1800" dirty="0"/>
          </a:p>
        </p:txBody>
      </p:sp>
      <p:sp>
        <p:nvSpPr>
          <p:cNvPr id="37" name="Shape 34">
            <a:hlinkClick r:id="rId9" tooltip="التبغ والإيواء" action="ppaction://hlinksldjump"/>
          </p:cNvPr>
          <p:cNvSpPr/>
          <p:nvPr/>
        </p:nvSpPr>
        <p:spPr>
          <a:xfrm>
            <a:off x="4754880" y="47091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11137392" y="53309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4754880" y="51663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أخرى</a:t>
            </a:r>
            <a:endParaRPr lang="en-US" sz="1800" dirty="0"/>
          </a:p>
        </p:txBody>
      </p:sp>
      <p:sp>
        <p:nvSpPr>
          <p:cNvPr id="40" name="Shape 37">
            <a:hlinkClick r:id="rId10" tooltip="أخرى" action="ppaction://hlinksldjump"/>
          </p:cNvPr>
          <p:cNvSpPr/>
          <p:nvPr/>
        </p:nvSpPr>
        <p:spPr>
          <a:xfrm>
            <a:off x="4754880" y="51663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الإيراد لنهاية السنة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1" name="Shape 19">
            <a:hlinkClick r:id="rId4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3" name="Shape 21">
            <a:hlinkClick r:id="rId5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5" name="Shape 23">
            <a:hlinkClick r:id="rId6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7" name="Shape 25">
            <a:hlinkClick r:id="rId7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أخرى</a:t>
            </a:r>
            <a:endParaRPr lang="en-US" sz="1200" dirty="0"/>
          </a:p>
        </p:txBody>
      </p:sp>
      <p:sp>
        <p:nvSpPr>
          <p:cNvPr id="29" name="Shape 27">
            <a:hlinkClick r:id="rId8" tooltip="أخرى" action="ppaction://hlinksldjump"/>
          </p:cNvPr>
          <p:cNvSpPr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الإيراد لنهاية السنة — نظرة عامة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تقدير نهاية السنة 2026 — منطقة الرياض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50274" y="2423160"/>
            <a:ext cx="2681478" cy="132588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فعلي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187434" y="2807208"/>
            <a:ext cx="24071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2,454.9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600" dirty="0"/>
          </a:p>
        </p:txBody>
      </p:sp>
      <p:sp>
        <p:nvSpPr>
          <p:cNvPr id="35" name="Text 32"/>
          <p:cNvSpPr txBox="1"/>
          <p:nvPr/>
        </p:nvSpPr>
        <p:spPr>
          <a:xfrm>
            <a:off x="10391013" y="3291840"/>
            <a:ext cx="12035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9E8CF"/>
                </a:solidFill>
              </a:rPr>
              <a:t>▲ +27.3%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9187434" y="3291840"/>
            <a:ext cx="12035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9E8CF"/>
                </a:solidFill>
              </a:rPr>
              <a:t>▲ +13.6%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عن المستهدف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6185916" y="2423160"/>
            <a:ext cx="2681478" cy="1325880"/>
          </a:xfrm>
          <a:prstGeom prst="roundRect">
            <a:avLst>
              <a:gd name="adj" fmla="val 9655"/>
            </a:avLst>
          </a:prstGeom>
          <a:solidFill>
            <a:srgbClr val="74A4D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مقدر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6323076" y="280720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1,928.7</a:t>
            </a:r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م.ر</a:t>
            </a:r>
            <a:endParaRPr lang="en-US" sz="2600" dirty="0"/>
          </a:p>
        </p:txBody>
      </p:sp>
      <p:sp>
        <p:nvSpPr>
          <p:cNvPr id="40" name="Shape 37"/>
          <p:cNvSpPr/>
          <p:nvPr/>
        </p:nvSpPr>
        <p:spPr>
          <a:xfrm>
            <a:off x="3321558" y="2423160"/>
            <a:ext cx="2681478" cy="1325880"/>
          </a:xfrm>
          <a:prstGeom prst="roundRect">
            <a:avLst>
              <a:gd name="adj" fmla="val 9655"/>
            </a:avLst>
          </a:prstGeom>
          <a:solidFill>
            <a:srgbClr val="EAF3E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3458718" y="280720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2,161.0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600" dirty="0"/>
          </a:p>
        </p:txBody>
      </p:sp>
      <p:sp>
        <p:nvSpPr>
          <p:cNvPr id="43" name="Shape 40"/>
          <p:cNvSpPr/>
          <p:nvPr/>
        </p:nvSpPr>
        <p:spPr>
          <a:xfrm>
            <a:off x="457200" y="2423160"/>
            <a:ext cx="2681478" cy="1325880"/>
          </a:xfrm>
          <a:prstGeom prst="roundRect">
            <a:avLst>
              <a:gd name="adj" fmla="val 9655"/>
            </a:avLst>
          </a:prstGeom>
          <a:solidFill>
            <a:srgbClr val="EAF3EF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594360" y="280720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1,759.7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600" dirty="0"/>
          </a:p>
        </p:txBody>
      </p:sp>
      <p:sp>
        <p:nvSpPr>
          <p:cNvPr id="46" name="Text 43"/>
          <p:cNvSpPr txBox="1"/>
          <p:nvPr/>
        </p:nvSpPr>
        <p:spPr>
          <a:xfrm>
            <a:off x="457200" y="376732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الإيراد حسب التبويب — منطقة الرياض (مليون ريال)</a:t>
            </a:r>
            <a:endParaRPr lang="en-US" sz="150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457200" y="4114800"/>
          <a:ext cx="11274552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الإيراد لنهاية السنة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3" name="Shape 21">
            <a:hlinkClick r:id="rId5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5" name="Shape 23">
            <a:hlinkClick r:id="rId6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7" name="Shape 25">
            <a:hlinkClick r:id="rId7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أخرى</a:t>
            </a:r>
            <a:endParaRPr lang="en-US" sz="1200" dirty="0"/>
          </a:p>
        </p:txBody>
      </p:sp>
      <p:sp>
        <p:nvSpPr>
          <p:cNvPr id="29" name="Shape 27">
            <a:hlinkClick r:id="rId8" tooltip="أخرى" action="ppaction://hlinksldjump"/>
          </p:cNvPr>
          <p:cNvSpPr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إيرادات إستثمارية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الإيراد لنهاية السنة — تقدير نهاية السنة 2026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منطقة الرياض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942832" y="28072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875.5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1026871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9E8CF"/>
                </a:solidFill>
              </a:rPr>
              <a:t>▲ +15.1%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9E8CF"/>
                </a:solidFill>
              </a:rPr>
              <a:t>▲ +1.6%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74A4D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مدينة الرياض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8942832" y="41330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783.1</a:t>
            </a:r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1026871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▲ +20.4%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94283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▲ +9.2%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EAF3E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بلديات المنطقة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8942832" y="54589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92.5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1026871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16.0%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94283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36.2%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500" dirty="0"/>
          </a:p>
        </p:txBody>
      </p:sp>
      <p:graphicFrame>
        <p:nvGraphicFramePr>
          <p:cNvPr id="4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الإيراد لنهاية السنة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5" name="Shape 23">
            <a:hlinkClick r:id="rId6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7" name="Shape 25">
            <a:hlinkClick r:id="rId7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أخرى</a:t>
            </a:r>
            <a:endParaRPr lang="en-US" sz="1200" dirty="0"/>
          </a:p>
        </p:txBody>
      </p:sp>
      <p:sp>
        <p:nvSpPr>
          <p:cNvPr id="29" name="Shape 27">
            <a:hlinkClick r:id="rId8" tooltip="أخرى" action="ppaction://hlinksldjump"/>
          </p:cNvPr>
          <p:cNvSpPr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الرسوم والتراخيص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الإيراد لنهاية السنة — تقدير نهاية السنة 2026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منطقة الرياض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942832" y="28072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793.1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1026871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9E8CF"/>
                </a:solidFill>
              </a:rPr>
              <a:t>▲ +17.6%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9E8CF"/>
                </a:solidFill>
              </a:rPr>
              <a:t>▲ +8.6%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74A4D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مدينة الرياض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8942832" y="41330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697.9</a:t>
            </a:r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1026871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▲ +17.4%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94283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▲ +7.5%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EAF3E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بلديات المنطقة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8942832" y="54589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95.3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1026871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+19.7%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94283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+17.6%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500" dirty="0"/>
          </a:p>
        </p:txBody>
      </p:sp>
      <p:graphicFrame>
        <p:nvGraphicFramePr>
          <p:cNvPr id="4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الإيراد لنهاية السنة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4" name="Shape 22">
            <a:hlinkClick r:id="rId6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7" name="Shape 25">
            <a:hlinkClick r:id="rId7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أخرى</a:t>
            </a:r>
            <a:endParaRPr lang="en-US" sz="1200" dirty="0"/>
          </a:p>
        </p:txBody>
      </p:sp>
      <p:sp>
        <p:nvSpPr>
          <p:cNvPr id="29" name="Shape 27">
            <a:hlinkClick r:id="rId8" tooltip="أخرى" action="ppaction://hlinksldjump"/>
          </p:cNvPr>
          <p:cNvSpPr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جزاءات وغرامات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الإيراد لنهاية السنة — تقدير نهاية السنة 2026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منطقة الرياض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942832" y="28072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552.3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1026871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9E8CF"/>
                </a:solidFill>
              </a:rPr>
              <a:t>▲ +115.7%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9E8CF"/>
                </a:solidFill>
              </a:rPr>
              <a:t>▲ +73.7%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74A4D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مدينة الرياض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8942832" y="41330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530.9</a:t>
            </a:r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1026871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▲ +116.8%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94283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▲ +74.4%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EAF3E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بلديات المنطقة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8942832" y="54589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21.3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1026871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+90.4%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94283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+59.4%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500" dirty="0"/>
          </a:p>
        </p:txBody>
      </p:sp>
      <p:graphicFrame>
        <p:nvGraphicFramePr>
          <p:cNvPr id="4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الإيراد لنهاية السنة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4" name="Shape 22">
            <a:hlinkClick r:id="rId6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6" name="Shape 24">
            <a:hlinkClick r:id="rId7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أخرى</a:t>
            </a:r>
            <a:endParaRPr lang="en-US" sz="1200" dirty="0"/>
          </a:p>
        </p:txBody>
      </p:sp>
      <p:sp>
        <p:nvSpPr>
          <p:cNvPr id="29" name="Shape 27">
            <a:hlinkClick r:id="rId8" tooltip="أخرى" action="ppaction://hlinksldjump"/>
          </p:cNvPr>
          <p:cNvSpPr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التبغ والإيواء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الإيراد لنهاية السنة — تقدير نهاية السنة 2026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منطقة الرياض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942832" y="28072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171.8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1026871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4A29A"/>
                </a:solidFill>
              </a:rPr>
              <a:t>▼ 24.2%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4A29A"/>
                </a:solidFill>
              </a:rPr>
              <a:t>▼ 29.7%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74A4D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مدينة الرياض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8942832" y="41330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164.0</a:t>
            </a:r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1026871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▼ 26.3%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94283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▼ 31.6%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EAF3E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بلديات المنطقة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8942832" y="54589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7.8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1026871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+87.8%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94283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+74.1%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500" dirty="0"/>
          </a:p>
        </p:txBody>
      </p:sp>
      <p:graphicFrame>
        <p:nvGraphicFramePr>
          <p:cNvPr id="4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الإيراد لنهاية السنة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4" name="Shape 22">
            <a:hlinkClick r:id="rId6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6" name="Shape 24">
            <a:hlinkClick r:id="rId7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8" name="Shape 26">
            <a:hlinkClick r:id="rId8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أخرى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أخرى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الإيراد لنهاية السنة — تقدير نهاية السنة 2026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منطقة الرياض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942832" y="28072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62.1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1026871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9E8CF"/>
                </a:solidFill>
              </a:rPr>
              <a:t>▲ +454.6%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9E8CF"/>
                </a:solidFill>
              </a:rPr>
              <a:t>▲ +805.6%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74A4D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مدينة الرياض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8942832" y="41330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62.1</a:t>
            </a:r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1026871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▲ +2561.6%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94283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▲ +1580.1%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EAF3E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بلديات المنطقة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8942832" y="54589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0.0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1026871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99.9%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94283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99.7%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500" dirty="0"/>
          </a:p>
        </p:txBody>
      </p:sp>
      <p:graphicFrame>
        <p:nvGraphicFramePr>
          <p:cNvPr id="4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الإيراد للشهر الحالي</a:t>
            </a:r>
            <a:endParaRPr lang="en-US" sz="1300" dirty="0"/>
          </a:p>
        </p:txBody>
      </p:sp>
      <p:pic>
        <p:nvPicPr>
          <p:cNvPr id="18" name="Image 0" descr="/home/user/test4/assets/panel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11274552" cy="507492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943600" y="914400"/>
            <a:ext cx="6217920" cy="1691640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17920" y="1325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الإيراد للشهر الحالي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11480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b="1" dirty="0">
                <a:solidFill>
                  <a:schemeClr val="accent6"/>
                </a:solidFill>
              </a:rPr>
              <a:t>04</a:t>
            </a:r>
            <a:endParaRPr lang="en-US" sz="11000" dirty="0"/>
          </a:p>
        </p:txBody>
      </p:sp>
      <p:sp>
        <p:nvSpPr>
          <p:cNvPr id="22" name="Shape 19"/>
          <p:cNvSpPr/>
          <p:nvPr/>
        </p:nvSpPr>
        <p:spPr>
          <a:xfrm>
            <a:off x="11201400" y="3108960"/>
            <a:ext cx="0" cy="228600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137392" y="30449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754880" y="28803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نظرة عامة</a:t>
            </a:r>
            <a:endParaRPr lang="en-US" sz="1800" dirty="0"/>
          </a:p>
        </p:txBody>
      </p:sp>
      <p:sp>
        <p:nvSpPr>
          <p:cNvPr id="25" name="Shape 22">
            <a:hlinkClick r:id="rId5" tooltip="نظرة عامة" action="ppaction://hlinksldjump"/>
          </p:cNvPr>
          <p:cNvSpPr/>
          <p:nvPr/>
        </p:nvSpPr>
        <p:spPr>
          <a:xfrm>
            <a:off x="4754880" y="28803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1137392" y="35021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754880" y="33375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إيرادات إستثمارية</a:t>
            </a:r>
            <a:endParaRPr lang="en-US" sz="1800" dirty="0"/>
          </a:p>
        </p:txBody>
      </p:sp>
      <p:sp>
        <p:nvSpPr>
          <p:cNvPr id="28" name="Shape 25">
            <a:hlinkClick r:id="rId6" tooltip="إيرادات إستثمارية" action="ppaction://hlinksldjump"/>
          </p:cNvPr>
          <p:cNvSpPr/>
          <p:nvPr/>
        </p:nvSpPr>
        <p:spPr>
          <a:xfrm>
            <a:off x="4754880" y="33375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11137392" y="39593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754880" y="37947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الرسوم والتراخيص</a:t>
            </a:r>
            <a:endParaRPr lang="en-US" sz="1800" dirty="0"/>
          </a:p>
        </p:txBody>
      </p:sp>
      <p:sp>
        <p:nvSpPr>
          <p:cNvPr id="31" name="Shape 28">
            <a:hlinkClick r:id="rId7" tooltip="الرسوم والتراخيص" action="ppaction://hlinksldjump"/>
          </p:cNvPr>
          <p:cNvSpPr/>
          <p:nvPr/>
        </p:nvSpPr>
        <p:spPr>
          <a:xfrm>
            <a:off x="4754880" y="37947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11137392" y="44165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4754880" y="42519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جزاءات وغرامات</a:t>
            </a:r>
            <a:endParaRPr lang="en-US" sz="1800" dirty="0"/>
          </a:p>
        </p:txBody>
      </p:sp>
      <p:sp>
        <p:nvSpPr>
          <p:cNvPr id="34" name="Shape 31">
            <a:hlinkClick r:id="rId8" tooltip="جزاءات وغرامات" action="ppaction://hlinksldjump"/>
          </p:cNvPr>
          <p:cNvSpPr/>
          <p:nvPr/>
        </p:nvSpPr>
        <p:spPr>
          <a:xfrm>
            <a:off x="4754880" y="42519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11137392" y="48737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754880" y="47091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التبغ والإيواء</a:t>
            </a:r>
            <a:endParaRPr lang="en-US" sz="1800" dirty="0"/>
          </a:p>
        </p:txBody>
      </p:sp>
      <p:sp>
        <p:nvSpPr>
          <p:cNvPr id="37" name="Shape 34">
            <a:hlinkClick r:id="rId9" tooltip="التبغ والإيواء" action="ppaction://hlinksldjump"/>
          </p:cNvPr>
          <p:cNvSpPr/>
          <p:nvPr/>
        </p:nvSpPr>
        <p:spPr>
          <a:xfrm>
            <a:off x="4754880" y="47091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11137392" y="53309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4754880" y="51663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أخرى</a:t>
            </a:r>
            <a:endParaRPr lang="en-US" sz="1800" dirty="0"/>
          </a:p>
        </p:txBody>
      </p:sp>
      <p:sp>
        <p:nvSpPr>
          <p:cNvPr id="40" name="Shape 37">
            <a:hlinkClick r:id="rId10" tooltip="أخرى" action="ppaction://hlinksldjump"/>
          </p:cNvPr>
          <p:cNvSpPr/>
          <p:nvPr/>
        </p:nvSpPr>
        <p:spPr>
          <a:xfrm>
            <a:off x="4754880" y="51663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الإيراد للشهر الحالي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1" name="Shape 19">
            <a:hlinkClick r:id="rId4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3" name="Shape 21">
            <a:hlinkClick r:id="rId5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5" name="Shape 23">
            <a:hlinkClick r:id="rId6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7" name="Shape 25">
            <a:hlinkClick r:id="rId7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أخرى</a:t>
            </a:r>
            <a:endParaRPr lang="en-US" sz="1200" dirty="0"/>
          </a:p>
        </p:txBody>
      </p:sp>
      <p:sp>
        <p:nvSpPr>
          <p:cNvPr id="29" name="Shape 27">
            <a:hlinkClick r:id="rId8" tooltip="أخرى" action="ppaction://hlinksldjump"/>
          </p:cNvPr>
          <p:cNvSpPr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الإيراد للشهر الحالي — نظرة عامة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شهر أغسطس 2026 — منطقة الرياض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50274" y="2423160"/>
            <a:ext cx="2681478" cy="132588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فعلي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187434" y="2807208"/>
            <a:ext cx="24071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175.8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600" dirty="0"/>
          </a:p>
        </p:txBody>
      </p:sp>
      <p:sp>
        <p:nvSpPr>
          <p:cNvPr id="35" name="Text 32"/>
          <p:cNvSpPr txBox="1"/>
          <p:nvPr/>
        </p:nvSpPr>
        <p:spPr>
          <a:xfrm>
            <a:off x="10391013" y="3291840"/>
            <a:ext cx="12035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4A29A"/>
                </a:solidFill>
              </a:rPr>
              <a:t>▼ 25.0%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9187434" y="3291840"/>
            <a:ext cx="12035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4A29A"/>
                </a:solidFill>
              </a:rPr>
              <a:t>▼ 34.1%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عن المستهدف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6185916" y="2423160"/>
            <a:ext cx="2681478" cy="1325880"/>
          </a:xfrm>
          <a:prstGeom prst="roundRect">
            <a:avLst>
              <a:gd name="adj" fmla="val 9655"/>
            </a:avLst>
          </a:prstGeom>
          <a:solidFill>
            <a:srgbClr val="74A4D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مقدر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6323076" y="280720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234.4</a:t>
            </a:r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م.ر</a:t>
            </a:r>
            <a:endParaRPr lang="en-US" sz="2600" dirty="0"/>
          </a:p>
        </p:txBody>
      </p:sp>
      <p:sp>
        <p:nvSpPr>
          <p:cNvPr id="40" name="Shape 37"/>
          <p:cNvSpPr/>
          <p:nvPr/>
        </p:nvSpPr>
        <p:spPr>
          <a:xfrm>
            <a:off x="3321558" y="2423160"/>
            <a:ext cx="2681478" cy="1325880"/>
          </a:xfrm>
          <a:prstGeom prst="roundRect">
            <a:avLst>
              <a:gd name="adj" fmla="val 9655"/>
            </a:avLst>
          </a:prstGeom>
          <a:solidFill>
            <a:srgbClr val="EAF3E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3458718" y="280720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266.8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600" dirty="0"/>
          </a:p>
        </p:txBody>
      </p:sp>
      <p:sp>
        <p:nvSpPr>
          <p:cNvPr id="43" name="Shape 40"/>
          <p:cNvSpPr/>
          <p:nvPr/>
        </p:nvSpPr>
        <p:spPr>
          <a:xfrm>
            <a:off x="457200" y="2423160"/>
            <a:ext cx="2681478" cy="1325880"/>
          </a:xfrm>
          <a:prstGeom prst="roundRect">
            <a:avLst>
              <a:gd name="adj" fmla="val 9655"/>
            </a:avLst>
          </a:prstGeom>
          <a:solidFill>
            <a:srgbClr val="EAF3EF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594360" y="280720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21.2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600" dirty="0"/>
          </a:p>
        </p:txBody>
      </p:sp>
      <p:sp>
        <p:nvSpPr>
          <p:cNvPr id="46" name="Text 43"/>
          <p:cNvSpPr txBox="1"/>
          <p:nvPr/>
        </p:nvSpPr>
        <p:spPr>
          <a:xfrm>
            <a:off x="457200" y="376732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الإيراد حسب التبويب — منطقة الرياض (مليون ريال)</a:t>
            </a:r>
            <a:endParaRPr lang="en-US" sz="150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457200" y="4114800"/>
          <a:ext cx="11274552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الإيراد للشهر الحالي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3" name="Shape 21">
            <a:hlinkClick r:id="rId5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5" name="Shape 23">
            <a:hlinkClick r:id="rId6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7" name="Shape 25">
            <a:hlinkClick r:id="rId7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أخرى</a:t>
            </a:r>
            <a:endParaRPr lang="en-US" sz="1200" dirty="0"/>
          </a:p>
        </p:txBody>
      </p:sp>
      <p:sp>
        <p:nvSpPr>
          <p:cNvPr id="29" name="Shape 27">
            <a:hlinkClick r:id="rId8" tooltip="أخرى" action="ppaction://hlinksldjump"/>
          </p:cNvPr>
          <p:cNvSpPr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إيرادات إستثمارية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الإيراد للشهر الحالي — شهر أغسطس 2026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منطقة الرياض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942832" y="28072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23.0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1026871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4A29A"/>
                </a:solidFill>
              </a:rPr>
              <a:t>▼ 58.1%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4A29A"/>
                </a:solidFill>
              </a:rPr>
              <a:t>▼ 67.2%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74A4D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مدينة الرياض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8942832" y="41330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17.7</a:t>
            </a:r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1026871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▼ 95.8%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94283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▼ 95.9%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EAF3E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بلديات المنطقة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8942832" y="54589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5.3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1026871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101.4%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94283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101.5%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500" dirty="0"/>
          </a:p>
        </p:txBody>
      </p:sp>
      <p:graphicFrame>
        <p:nvGraphicFramePr>
          <p:cNvPr id="4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الإيراد للشهر الحالي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5" name="Shape 23">
            <a:hlinkClick r:id="rId6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7" name="Shape 25">
            <a:hlinkClick r:id="rId7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أخرى</a:t>
            </a:r>
            <a:endParaRPr lang="en-US" sz="1200" dirty="0"/>
          </a:p>
        </p:txBody>
      </p:sp>
      <p:sp>
        <p:nvSpPr>
          <p:cNvPr id="29" name="Shape 27">
            <a:hlinkClick r:id="rId8" tooltip="أخرى" action="ppaction://hlinksldjump"/>
          </p:cNvPr>
          <p:cNvSpPr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الرسوم والتراخيص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الإيراد للشهر الحالي — شهر أغسطس 2026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منطقة الرياض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942832" y="28072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122.6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1026871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9E8CF"/>
                </a:solidFill>
              </a:rPr>
              <a:t>▲ +25.5%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9E8CF"/>
                </a:solidFill>
              </a:rPr>
              <a:t>▲ +22.9%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74A4D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مدينة الرياض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8942832" y="41330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78.8</a:t>
            </a:r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1026871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▲ +29.9%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94283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▲ +8.7%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EAF3E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بلديات المنطقة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8942832" y="54589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43.8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1026871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+18.2%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94283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▲ +60.8%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500" dirty="0"/>
          </a:p>
        </p:txBody>
      </p:sp>
      <p:graphicFrame>
        <p:nvGraphicFramePr>
          <p:cNvPr id="4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الإيراد للشهر الحالي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4" name="Shape 22">
            <a:hlinkClick r:id="rId6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7" name="Shape 25">
            <a:hlinkClick r:id="rId7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أخرى</a:t>
            </a:r>
            <a:endParaRPr lang="en-US" sz="1200" dirty="0"/>
          </a:p>
        </p:txBody>
      </p:sp>
      <p:sp>
        <p:nvSpPr>
          <p:cNvPr id="29" name="Shape 27">
            <a:hlinkClick r:id="rId8" tooltip="أخرى" action="ppaction://hlinksldjump"/>
          </p:cNvPr>
          <p:cNvSpPr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جزاءات وغرامات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الإيراد للشهر الحالي — شهر أغسطس 2026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منطقة الرياض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942832" y="28072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12.7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1026871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4A29A"/>
                </a:solidFill>
              </a:rPr>
              <a:t>▼ 75.4%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4A29A"/>
                </a:solidFill>
              </a:rPr>
              <a:t>▼ 80.6%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74A4D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مدينة الرياض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8942832" y="41330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12.3</a:t>
            </a:r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1026871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▼ 59.6%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94283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▼ 66.1%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EAF3E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بلديات المنطقة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8942832" y="54589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0.5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1026871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97.9%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94283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98.4%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500" dirty="0"/>
          </a:p>
        </p:txBody>
      </p:sp>
      <p:graphicFrame>
        <p:nvGraphicFramePr>
          <p:cNvPr id="4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الإيراد للشهر الحالي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4" name="Shape 22">
            <a:hlinkClick r:id="rId6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6" name="Shape 24">
            <a:hlinkClick r:id="rId7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أخرى</a:t>
            </a:r>
            <a:endParaRPr lang="en-US" sz="1200" dirty="0"/>
          </a:p>
        </p:txBody>
      </p:sp>
      <p:sp>
        <p:nvSpPr>
          <p:cNvPr id="29" name="Shape 27">
            <a:hlinkClick r:id="rId8" tooltip="أخرى" action="ppaction://hlinksldjump"/>
          </p:cNvPr>
          <p:cNvSpPr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التبغ والإيواء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الإيراد للشهر الحالي — شهر أغسطس 2026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منطقة الرياض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942832" y="28072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17.2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1026871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4A29A"/>
                </a:solidFill>
              </a:rPr>
              <a:t>▼ 39.6%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4A29A"/>
                </a:solidFill>
              </a:rPr>
              <a:t>▼ 43.8%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74A4D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مدينة الرياض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8942832" y="41330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17.2</a:t>
            </a:r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1026871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▼ 33.7%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94283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▼ 38.5%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EAF3E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بلديات المنطقة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8942832" y="54589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0.0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1026871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99.4%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94283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99.4%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500" dirty="0"/>
          </a:p>
        </p:txBody>
      </p:sp>
      <p:graphicFrame>
        <p:nvGraphicFramePr>
          <p:cNvPr id="4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الإيراد للشهر الحالي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4" name="Shape 22">
            <a:hlinkClick r:id="rId6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6" name="Shape 24">
            <a:hlinkClick r:id="rId7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8" name="Shape 26">
            <a:hlinkClick r:id="rId8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31136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أخرى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أخرى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الإيراد للشهر الحالي — شهر أغسطس 2026</a:t>
            </a:r>
            <a:endParaRPr lang="en-US" sz="1400" dirty="0"/>
          </a:p>
        </p:txBody>
      </p:sp>
      <p:pic>
        <p:nvPicPr>
          <p:cNvPr id="32" name="Image 0" descr="/home/user/test4/assets/card-gree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منطقة الرياض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942832" y="28072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0.3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1026871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4A29A"/>
                </a:solidFill>
              </a:rPr>
              <a:t>▼ 83.5%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4A29A"/>
                </a:solidFill>
              </a:rPr>
              <a:t>▼ 72.9%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74A4D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مدينة الرياض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8942832" y="41330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0.2</a:t>
            </a:r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1026871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▼ 41.1%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942832" y="44805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▼ 63.8%</a:t>
            </a:r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EAF3E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بلديات المنطقة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8942832" y="54589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0.1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1026871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94.4%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942832" y="580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▼ 83.9%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الفعلي مقابل المقدر والمستهدف حسب التنظيم الإداري (مليون ريال)</a:t>
            </a:r>
            <a:endParaRPr lang="en-US" sz="1500" dirty="0"/>
          </a:p>
        </p:txBody>
      </p:sp>
      <p:graphicFrame>
        <p:nvGraphicFramePr>
          <p:cNvPr id="4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الإيراد حسب القطاع</a:t>
            </a:r>
            <a:endParaRPr lang="en-US" sz="1300" dirty="0"/>
          </a:p>
        </p:txBody>
      </p:sp>
      <p:pic>
        <p:nvPicPr>
          <p:cNvPr id="18" name="Image 0" descr="/home/user/test4/assets/panel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11274552" cy="507492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943600" y="914400"/>
            <a:ext cx="6217920" cy="1691640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17920" y="1325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الإيراد حسب القطاع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11480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b="1" dirty="0">
                <a:solidFill>
                  <a:schemeClr val="accent6"/>
                </a:solidFill>
              </a:rPr>
              <a:t>05</a:t>
            </a:r>
            <a:endParaRPr lang="en-US" sz="11000" dirty="0"/>
          </a:p>
        </p:txBody>
      </p:sp>
      <p:sp>
        <p:nvSpPr>
          <p:cNvPr id="22" name="Shape 19"/>
          <p:cNvSpPr/>
          <p:nvPr/>
        </p:nvSpPr>
        <p:spPr>
          <a:xfrm>
            <a:off x="11201400" y="3108960"/>
            <a:ext cx="0" cy="182880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137392" y="30449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754880" y="28803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نظرة عامة</a:t>
            </a:r>
            <a:endParaRPr lang="en-US" sz="1800" dirty="0"/>
          </a:p>
        </p:txBody>
      </p:sp>
      <p:sp>
        <p:nvSpPr>
          <p:cNvPr id="25" name="Shape 22">
            <a:hlinkClick r:id="rId5" tooltip="نظرة عامة" action="ppaction://hlinksldjump"/>
          </p:cNvPr>
          <p:cNvSpPr/>
          <p:nvPr/>
        </p:nvSpPr>
        <p:spPr>
          <a:xfrm>
            <a:off x="4754880" y="28803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1137392" y="35021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754880" y="33375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إيرادات إستثمارية</a:t>
            </a:r>
            <a:endParaRPr lang="en-US" sz="1800" dirty="0"/>
          </a:p>
        </p:txBody>
      </p:sp>
      <p:sp>
        <p:nvSpPr>
          <p:cNvPr id="28" name="Shape 25">
            <a:hlinkClick r:id="rId6" tooltip="إيرادات إستثمارية" action="ppaction://hlinksldjump"/>
          </p:cNvPr>
          <p:cNvSpPr/>
          <p:nvPr/>
        </p:nvSpPr>
        <p:spPr>
          <a:xfrm>
            <a:off x="4754880" y="33375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11137392" y="39593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754880" y="37947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الرسوم والتراخيص</a:t>
            </a:r>
            <a:endParaRPr lang="en-US" sz="1800" dirty="0"/>
          </a:p>
        </p:txBody>
      </p:sp>
      <p:sp>
        <p:nvSpPr>
          <p:cNvPr id="31" name="Shape 28">
            <a:hlinkClick r:id="rId7" tooltip="الرسوم والتراخيص" action="ppaction://hlinksldjump"/>
          </p:cNvPr>
          <p:cNvSpPr/>
          <p:nvPr/>
        </p:nvSpPr>
        <p:spPr>
          <a:xfrm>
            <a:off x="4754880" y="37947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11137392" y="44165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4754880" y="42519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جزاءات وغرامات</a:t>
            </a:r>
            <a:endParaRPr lang="en-US" sz="1800" dirty="0"/>
          </a:p>
        </p:txBody>
      </p:sp>
      <p:sp>
        <p:nvSpPr>
          <p:cNvPr id="34" name="Shape 31">
            <a:hlinkClick r:id="rId8" tooltip="جزاءات وغرامات" action="ppaction://hlinksldjump"/>
          </p:cNvPr>
          <p:cNvSpPr/>
          <p:nvPr/>
        </p:nvSpPr>
        <p:spPr>
          <a:xfrm>
            <a:off x="4754880" y="42519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11137392" y="48737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754880" y="47091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التبغ والإيواء</a:t>
            </a:r>
            <a:endParaRPr lang="en-US" sz="1800" dirty="0"/>
          </a:p>
        </p:txBody>
      </p:sp>
      <p:sp>
        <p:nvSpPr>
          <p:cNvPr id="37" name="Shape 34">
            <a:hlinkClick r:id="rId9" tooltip="التبغ والإيواء" action="ppaction://hlinksldjump"/>
          </p:cNvPr>
          <p:cNvSpPr/>
          <p:nvPr/>
        </p:nvSpPr>
        <p:spPr>
          <a:xfrm>
            <a:off x="4754880" y="47091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الإيراد حسب القطاع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1" name="Shape 19">
            <a:hlinkClick r:id="rId4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3" name="Shape 21">
            <a:hlinkClick r:id="rId5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5" name="Shape 23">
            <a:hlinkClick r:id="rId6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7" name="Shape 25">
            <a:hlinkClick r:id="rId7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الإيراد حسب القطاع — نظرة عامة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إجمالي المحصل لكل قطاع موزعاً على التبويبات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239572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إجمالي المحصل حسب القطاع والتبويب (مليون ريال)</a:t>
            </a:r>
            <a:endParaRPr lang="en-US" sz="1500" dirty="0"/>
          </a:p>
        </p:txBody>
      </p:sp>
      <p:graphicFrame>
        <p:nvGraphicFramePr>
          <p:cNvPr id="31" name="Chart 0" descr=""/>
          <p:cNvGraphicFramePr/>
          <p:nvPr/>
        </p:nvGraphicFramePr>
        <p:xfrm>
          <a:off x="457200" y="2743200"/>
          <a:ext cx="11274552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الإيراد حسب القطاع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3" name="Shape 21">
            <a:hlinkClick r:id="rId5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5" name="Shape 23">
            <a:hlinkClick r:id="rId6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7" name="Shape 25">
            <a:hlinkClick r:id="rId7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إيرادات إستثمارية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الفواتير والفعلي والمحصل حسب القطاع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239572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إجمالي الفواتير والفعلي والمحصل (مليون ريال)</a:t>
            </a:r>
            <a:endParaRPr lang="en-US" sz="1500" dirty="0"/>
          </a:p>
        </p:txBody>
      </p:sp>
      <p:graphicFrame>
        <p:nvGraphicFramePr>
          <p:cNvPr id="31" name="Chart 0" descr=""/>
          <p:cNvGraphicFramePr/>
          <p:nvPr/>
        </p:nvGraphicFramePr>
        <p:xfrm>
          <a:off x="457200" y="2743200"/>
          <a:ext cx="11274552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الإيراد حسب القطاع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5" name="Shape 23">
            <a:hlinkClick r:id="rId6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7" name="Shape 25">
            <a:hlinkClick r:id="rId7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الرسوم والتراخيص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الفواتير والفعلي والمحصل حسب القطاع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239572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إجمالي الفواتير والفعلي والمحصل (مليون ريال)</a:t>
            </a:r>
            <a:endParaRPr lang="en-US" sz="1500" dirty="0"/>
          </a:p>
        </p:txBody>
      </p:sp>
      <p:graphicFrame>
        <p:nvGraphicFramePr>
          <p:cNvPr id="31" name="Chart 0" descr=""/>
          <p:cNvGraphicFramePr/>
          <p:nvPr/>
        </p:nvGraphicFramePr>
        <p:xfrm>
          <a:off x="457200" y="2743200"/>
          <a:ext cx="11274552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الإيراد حسب القطاع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4" name="Shape 22">
            <a:hlinkClick r:id="rId6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7" name="Shape 25">
            <a:hlinkClick r:id="rId7" tooltip="التبغ والإيواء" action="ppaction://hlinksldjump"/>
          </p:cNvPr>
          <p:cNvSpPr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جزاءات وغرامات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الفواتير والفعلي والمحصل حسب القطاع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239572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إجمالي الفواتير والفعلي والمحصل (مليون ريال)</a:t>
            </a:r>
            <a:endParaRPr lang="en-US" sz="1500" dirty="0"/>
          </a:p>
        </p:txBody>
      </p:sp>
      <p:graphicFrame>
        <p:nvGraphicFramePr>
          <p:cNvPr id="31" name="Chart 0" descr=""/>
          <p:cNvGraphicFramePr/>
          <p:nvPr/>
        </p:nvGraphicFramePr>
        <p:xfrm>
          <a:off x="457200" y="2743200"/>
          <a:ext cx="11274552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الإيراد حسب القطاع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إ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24" name="Shape 22">
            <a:hlinkClick r:id="rId6" tooltip="الرسوم والتراخيص" action="ppaction://hlinksldjump"/>
          </p:cNvPr>
          <p:cNvSpPr/>
          <p:nvPr/>
        </p:nvSpPr>
        <p:spPr>
          <a:xfrm>
            <a:off x="6644030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6" name="Shape 24">
            <a:hlinkClick r:id="rId7" tooltip="جزاءات وغرامات" action="ppaction://hlinksldjump"/>
          </p:cNvPr>
          <p:cNvSpPr/>
          <p:nvPr/>
        </p:nvSpPr>
        <p:spPr>
          <a:xfrm>
            <a:off x="49176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1912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التبغ والإيواء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الفواتير والفعلي والمحصل حسب القطاع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239572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إجمالي الفواتير والفعلي والمحصل (مليون ريال)</a:t>
            </a:r>
            <a:endParaRPr lang="en-US" sz="1500" dirty="0"/>
          </a:p>
        </p:txBody>
      </p:sp>
      <p:graphicFrame>
        <p:nvGraphicFramePr>
          <p:cNvPr id="31" name="Chart 0" descr=""/>
          <p:cNvGraphicFramePr/>
          <p:nvPr/>
        </p:nvGraphicFramePr>
        <p:xfrm>
          <a:off x="457200" y="2743200"/>
          <a:ext cx="11274552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ملخص التبويبات</a:t>
            </a:r>
            <a:endParaRPr lang="en-US" sz="1300" dirty="0"/>
          </a:p>
        </p:txBody>
      </p:sp>
      <p:pic>
        <p:nvPicPr>
          <p:cNvPr id="18" name="Image 0" descr="/home/user/test4/assets/panel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11274552" cy="507492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943600" y="914400"/>
            <a:ext cx="6217920" cy="1691640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17920" y="1325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ملخص التبويبات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11480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b="1" dirty="0">
                <a:solidFill>
                  <a:schemeClr val="accent6"/>
                </a:solidFill>
              </a:rPr>
              <a:t>06</a:t>
            </a:r>
            <a:endParaRPr lang="en-US" sz="11000" dirty="0"/>
          </a:p>
        </p:txBody>
      </p:sp>
      <p:sp>
        <p:nvSpPr>
          <p:cNvPr id="22" name="Shape 19"/>
          <p:cNvSpPr/>
          <p:nvPr/>
        </p:nvSpPr>
        <p:spPr>
          <a:xfrm>
            <a:off x="11201400" y="3108960"/>
            <a:ext cx="0" cy="91440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137392" y="30449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754880" y="28803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إيرادات استثمارية</a:t>
            </a:r>
            <a:endParaRPr lang="en-US" sz="1800" dirty="0"/>
          </a:p>
        </p:txBody>
      </p:sp>
      <p:sp>
        <p:nvSpPr>
          <p:cNvPr id="25" name="Shape 22">
            <a:hlinkClick r:id="rId5" tooltip="إيرادات استثمارية" action="ppaction://hlinksldjump"/>
          </p:cNvPr>
          <p:cNvSpPr/>
          <p:nvPr/>
        </p:nvSpPr>
        <p:spPr>
          <a:xfrm>
            <a:off x="4754880" y="28803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1137392" y="35021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754880" y="33375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جزاءات وغرامات</a:t>
            </a:r>
            <a:endParaRPr lang="en-US" sz="1800" dirty="0"/>
          </a:p>
        </p:txBody>
      </p:sp>
      <p:sp>
        <p:nvSpPr>
          <p:cNvPr id="28" name="Shape 25">
            <a:hlinkClick r:id="rId6" tooltip="جزاءات وغرامات" action="ppaction://hlinksldjump"/>
          </p:cNvPr>
          <p:cNvSpPr/>
          <p:nvPr/>
        </p:nvSpPr>
        <p:spPr>
          <a:xfrm>
            <a:off x="4754880" y="33375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11137392" y="39593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754880" y="37947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التبغ والإيواء</a:t>
            </a:r>
            <a:endParaRPr lang="en-US" sz="1800" dirty="0"/>
          </a:p>
        </p:txBody>
      </p:sp>
      <p:sp>
        <p:nvSpPr>
          <p:cNvPr id="31" name="Shape 28">
            <a:hlinkClick r:id="rId7" tooltip="التبغ والإيواء" action="ppaction://hlinksldjump"/>
          </p:cNvPr>
          <p:cNvSpPr/>
          <p:nvPr/>
        </p:nvSpPr>
        <p:spPr>
          <a:xfrm>
            <a:off x="4754880" y="37947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ملخص التبويبات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844430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إيرادات استثمارية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1180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1" name="Shape 19">
            <a:hlinkClick r:id="rId4" tooltip="جزاءات وغرامات" action="ppaction://hlinksldjump"/>
          </p:cNvPr>
          <p:cNvSpPr/>
          <p:nvPr/>
        </p:nvSpPr>
        <p:spPr>
          <a:xfrm>
            <a:off x="81180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916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3" name="Shape 21">
            <a:hlinkClick r:id="rId5" tooltip="التبغ والإيواء" action="ppaction://hlinksldjump"/>
          </p:cNvPr>
          <p:cNvSpPr/>
          <p:nvPr/>
        </p:nvSpPr>
        <p:spPr>
          <a:xfrm>
            <a:off x="63916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إيرادات استثمارية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ملخص التبويب حتى تاريخه — 2026</a:t>
            </a:r>
            <a:endParaRPr lang="en-US" sz="1400" dirty="0"/>
          </a:p>
        </p:txBody>
      </p:sp>
      <p:pic>
        <p:nvPicPr>
          <p:cNvPr id="26" name="Image 0" descr="/home/user/test4/assets/card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05672" y="2423160"/>
            <a:ext cx="2926080" cy="132588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الفعلي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942832" y="280720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1,052.1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800" dirty="0"/>
          </a:p>
        </p:txBody>
      </p:sp>
      <p:sp>
        <p:nvSpPr>
          <p:cNvPr id="29" name="Text 26"/>
          <p:cNvSpPr txBox="1"/>
          <p:nvPr/>
        </p:nvSpPr>
        <p:spPr>
          <a:xfrm>
            <a:off x="10268712" y="32918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9E8CF"/>
                </a:solidFill>
              </a:rPr>
              <a:t>▲ +13.4%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8942832" y="32918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9E8CF"/>
                </a:solidFill>
              </a:rPr>
              <a:t>▲ +9.4%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8805672" y="3931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EAF3E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942832" y="4005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محصل السنة الحالية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8942832" y="431596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880.1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34" name="Shape 31"/>
          <p:cNvSpPr/>
          <p:nvPr/>
        </p:nvSpPr>
        <p:spPr>
          <a:xfrm>
            <a:off x="8805672" y="5257800"/>
            <a:ext cx="2926080" cy="1051560"/>
          </a:xfrm>
          <a:prstGeom prst="roundRect">
            <a:avLst>
              <a:gd name="adj" fmla="val 12174"/>
            </a:avLst>
          </a:prstGeom>
          <a:solidFill>
            <a:srgbClr val="EAF3E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942832" y="533095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الفعلي عن السنة الماضية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564184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▲ +48.1%</a:t>
            </a:r>
            <a:pPr algn="r" indent="0" marL="0">
              <a:buNone/>
            </a:pPr>
            <a:endParaRPr lang="en-US" sz="2200" dirty="0"/>
          </a:p>
        </p:txBody>
      </p:sp>
      <p:sp>
        <p:nvSpPr>
          <p:cNvPr id="37" name="Text 3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مؤشرات التبويب (مليون ريال)</a:t>
            </a:r>
            <a:endParaRPr lang="en-US" sz="1500" dirty="0"/>
          </a:p>
        </p:txBody>
      </p:sp>
      <p:graphicFrame>
        <p:nvGraphicFramePr>
          <p:cNvPr id="3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ملخص التبويبات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844430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إيرادات استثمارية</a:t>
            </a:r>
            <a:endParaRPr lang="en-US" sz="1200" dirty="0"/>
          </a:p>
        </p:txBody>
      </p:sp>
      <p:sp>
        <p:nvSpPr>
          <p:cNvPr id="20" name="Shape 18">
            <a:hlinkClick r:id="rId4" tooltip="إيرادات استثمارية" action="ppaction://hlinksldjump"/>
          </p:cNvPr>
          <p:cNvSpPr/>
          <p:nvPr/>
        </p:nvSpPr>
        <p:spPr>
          <a:xfrm>
            <a:off x="9844430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1180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391656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3" name="Shape 21">
            <a:hlinkClick r:id="rId5" tooltip="التبغ والإيواء" action="ppaction://hlinksldjump"/>
          </p:cNvPr>
          <p:cNvSpPr/>
          <p:nvPr/>
        </p:nvSpPr>
        <p:spPr>
          <a:xfrm>
            <a:off x="63916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جزاءات وغرامات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ملخص التبويب حتى تاريخه — 2026</a:t>
            </a:r>
            <a:endParaRPr lang="en-US" sz="1400" dirty="0"/>
          </a:p>
        </p:txBody>
      </p:sp>
      <p:pic>
        <p:nvPicPr>
          <p:cNvPr id="26" name="Image 0" descr="/home/user/test4/assets/card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05672" y="2423160"/>
            <a:ext cx="2926080" cy="132588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الفعلي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942832" y="280720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635.4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800" dirty="0"/>
          </a:p>
        </p:txBody>
      </p:sp>
      <p:sp>
        <p:nvSpPr>
          <p:cNvPr id="29" name="Text 26"/>
          <p:cNvSpPr txBox="1"/>
          <p:nvPr/>
        </p:nvSpPr>
        <p:spPr>
          <a:xfrm>
            <a:off x="10268712" y="32918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9E8CF"/>
                </a:solidFill>
              </a:rPr>
              <a:t>▲ +82.0%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8942832" y="32918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9E8CF"/>
                </a:solidFill>
              </a:rPr>
              <a:t>▲ +48.9%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8805672" y="3931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EAF3E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942832" y="4005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المفوتر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8942832" y="431596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1,178.0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34" name="Shape 31"/>
          <p:cNvSpPr/>
          <p:nvPr/>
        </p:nvSpPr>
        <p:spPr>
          <a:xfrm>
            <a:off x="8805672" y="5257800"/>
            <a:ext cx="2926080" cy="1051560"/>
          </a:xfrm>
          <a:prstGeom prst="roundRect">
            <a:avLst>
              <a:gd name="adj" fmla="val 12174"/>
            </a:avLst>
          </a:prstGeom>
          <a:solidFill>
            <a:srgbClr val="EAF3E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942832" y="533095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الفعلي عن السنة الماضية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564184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▲ +133.2%</a:t>
            </a:r>
            <a:pPr algn="r" indent="0" marL="0">
              <a:buNone/>
            </a:pPr>
            <a:endParaRPr lang="en-US" sz="2200" dirty="0"/>
          </a:p>
        </p:txBody>
      </p:sp>
      <p:sp>
        <p:nvSpPr>
          <p:cNvPr id="37" name="Text 3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مؤشرات التبويب (مليون ريال)</a:t>
            </a:r>
            <a:endParaRPr lang="en-US" sz="1500" dirty="0"/>
          </a:p>
        </p:txBody>
      </p:sp>
      <p:graphicFrame>
        <p:nvGraphicFramePr>
          <p:cNvPr id="3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ملخص التبويبات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844430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إيرادات استثمارية</a:t>
            </a:r>
            <a:endParaRPr lang="en-US" sz="1200" dirty="0"/>
          </a:p>
        </p:txBody>
      </p:sp>
      <p:sp>
        <p:nvSpPr>
          <p:cNvPr id="20" name="Shape 18">
            <a:hlinkClick r:id="rId4" tooltip="إيرادات استثمارية" action="ppaction://hlinksldjump"/>
          </p:cNvPr>
          <p:cNvSpPr/>
          <p:nvPr/>
        </p:nvSpPr>
        <p:spPr>
          <a:xfrm>
            <a:off x="9844430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11804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2" name="Shape 20">
            <a:hlinkClick r:id="rId5" tooltip="جزاءات وغرامات" action="ppaction://hlinksldjump"/>
          </p:cNvPr>
          <p:cNvSpPr/>
          <p:nvPr/>
        </p:nvSpPr>
        <p:spPr>
          <a:xfrm>
            <a:off x="811804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91656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التبغ والإيواء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ملخص التبويب حتى تاريخه — 2026</a:t>
            </a:r>
            <a:endParaRPr lang="en-US" sz="1400" dirty="0"/>
          </a:p>
        </p:txBody>
      </p:sp>
      <p:pic>
        <p:nvPicPr>
          <p:cNvPr id="26" name="Image 0" descr="/home/user/test4/assets/card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05672" y="2423160"/>
            <a:ext cx="2926080" cy="132588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الفعلي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942832" y="280720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209.1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800" dirty="0"/>
          </a:p>
        </p:txBody>
      </p:sp>
      <p:sp>
        <p:nvSpPr>
          <p:cNvPr id="29" name="Text 26"/>
          <p:cNvSpPr txBox="1"/>
          <p:nvPr/>
        </p:nvSpPr>
        <p:spPr>
          <a:xfrm>
            <a:off x="10268712" y="32918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4A29A"/>
                </a:solidFill>
              </a:rPr>
              <a:t>▼ 26.9%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المقدر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8942832" y="32918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4A29A"/>
                </a:solidFill>
              </a:rPr>
              <a:t>▼ 32.2%</a:t>
            </a:r>
            <a:pPr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  المستهدف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8805672" y="3931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EAF3E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942832" y="4005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المفوتر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8942832" y="431596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234.1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34" name="Shape 31"/>
          <p:cNvSpPr/>
          <p:nvPr/>
        </p:nvSpPr>
        <p:spPr>
          <a:xfrm>
            <a:off x="8805672" y="5257800"/>
            <a:ext cx="2926080" cy="1051560"/>
          </a:xfrm>
          <a:prstGeom prst="roundRect">
            <a:avLst>
              <a:gd name="adj" fmla="val 12174"/>
            </a:avLst>
          </a:prstGeom>
          <a:solidFill>
            <a:srgbClr val="EAF3E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942832" y="533095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الفعلي عن السنة الماضية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8942832" y="564184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▼ 13.1%</a:t>
            </a:r>
            <a:pPr algn="r" indent="0" marL="0">
              <a:buNone/>
            </a:pPr>
            <a:endParaRPr lang="en-US" sz="2200" dirty="0"/>
          </a:p>
        </p:txBody>
      </p:sp>
      <p:sp>
        <p:nvSpPr>
          <p:cNvPr id="37" name="Text 34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مؤشرات التبويب (مليون ريال)</a:t>
            </a:r>
            <a:endParaRPr lang="en-US" sz="1500" dirty="0"/>
          </a:p>
        </p:txBody>
      </p:sp>
      <p:graphicFrame>
        <p:nvGraphicFramePr>
          <p:cNvPr id="38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الاستقطاع</a:t>
            </a:r>
            <a:endParaRPr lang="en-US" sz="1300" dirty="0"/>
          </a:p>
        </p:txBody>
      </p:sp>
      <p:pic>
        <p:nvPicPr>
          <p:cNvPr id="18" name="Image 0" descr="/home/user/test4/assets/panel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11274552" cy="507492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943600" y="914400"/>
            <a:ext cx="6217920" cy="1691640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17920" y="1325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الاستقطاع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11480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b="1" dirty="0">
                <a:solidFill>
                  <a:schemeClr val="accent6"/>
                </a:solidFill>
              </a:rPr>
              <a:t>07</a:t>
            </a:r>
            <a:endParaRPr lang="en-US" sz="11000" dirty="0"/>
          </a:p>
        </p:txBody>
      </p:sp>
      <p:sp>
        <p:nvSpPr>
          <p:cNvPr id="22" name="Shape 19"/>
          <p:cNvSpPr/>
          <p:nvPr/>
        </p:nvSpPr>
        <p:spPr>
          <a:xfrm>
            <a:off x="11201400" y="3108960"/>
            <a:ext cx="0" cy="45720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137392" y="30449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754880" y="28803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سنة 2025</a:t>
            </a:r>
            <a:endParaRPr lang="en-US" sz="1800" dirty="0"/>
          </a:p>
        </p:txBody>
      </p:sp>
      <p:sp>
        <p:nvSpPr>
          <p:cNvPr id="25" name="Shape 22">
            <a:hlinkClick r:id="rId5" tooltip="سنة 2025" action="ppaction://hlinksldjump"/>
          </p:cNvPr>
          <p:cNvSpPr/>
          <p:nvPr/>
        </p:nvSpPr>
        <p:spPr>
          <a:xfrm>
            <a:off x="4754880" y="28803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1137392" y="35021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754880" y="33375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سنة 2026</a:t>
            </a:r>
            <a:endParaRPr lang="en-US" sz="1800" dirty="0"/>
          </a:p>
        </p:txBody>
      </p:sp>
      <p:sp>
        <p:nvSpPr>
          <p:cNvPr id="28" name="Shape 25">
            <a:hlinkClick r:id="rId6" tooltip="سنة 2026" action="ppaction://hlinksldjump"/>
          </p:cNvPr>
          <p:cNvSpPr/>
          <p:nvPr/>
        </p:nvSpPr>
        <p:spPr>
          <a:xfrm>
            <a:off x="4754880" y="33375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الاستقطاع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899002" y="384048"/>
            <a:ext cx="793699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2026</a:t>
            </a:r>
            <a:endParaRPr lang="en-US" sz="1200" dirty="0"/>
          </a:p>
        </p:txBody>
      </p:sp>
      <p:sp>
        <p:nvSpPr>
          <p:cNvPr id="20" name="Shape 18">
            <a:hlinkClick r:id="rId4" tooltip="2026" action="ppaction://hlinksldjump"/>
          </p:cNvPr>
          <p:cNvSpPr/>
          <p:nvPr/>
        </p:nvSpPr>
        <p:spPr>
          <a:xfrm>
            <a:off x="3899002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الاستقطاع من الإيراد — 2025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حسب التنظيم الإداري والتبويب</a:t>
            </a:r>
            <a:endParaRPr lang="en-US" sz="1400" dirty="0"/>
          </a:p>
        </p:txBody>
      </p:sp>
      <p:pic>
        <p:nvPicPr>
          <p:cNvPr id="23" name="Image 0" descr="/home/user/test4/assets/card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5672" y="2423160"/>
            <a:ext cx="2926080" cy="91440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إيرادات كافة الأمانات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942832" y="280720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3,966.5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8805672" y="3474720"/>
            <a:ext cx="2926080" cy="914400"/>
          </a:xfrm>
          <a:prstGeom prst="roundRect">
            <a:avLst>
              <a:gd name="adj" fmla="val 14000"/>
            </a:avLst>
          </a:prstGeom>
          <a:solidFill>
            <a:srgbClr val="EAF3E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942832" y="35478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الإيرادات الفعلية للأمانة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942832" y="385876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1,016.8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8805672" y="4526280"/>
            <a:ext cx="2926080" cy="914400"/>
          </a:xfrm>
          <a:prstGeom prst="roundRect">
            <a:avLst>
              <a:gd name="adj" fmla="val 14000"/>
            </a:avLst>
          </a:prstGeom>
          <a:solidFill>
            <a:srgbClr val="EAF3E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8942832" y="459943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الاستقطاع لكافة الأمانات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8942832" y="49103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595.0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200" dirty="0"/>
          </a:p>
        </p:txBody>
      </p:sp>
      <p:sp>
        <p:nvSpPr>
          <p:cNvPr id="32" name="Shape 29"/>
          <p:cNvSpPr/>
          <p:nvPr/>
        </p:nvSpPr>
        <p:spPr>
          <a:xfrm>
            <a:off x="8805672" y="5577840"/>
            <a:ext cx="2926080" cy="777240"/>
          </a:xfrm>
          <a:prstGeom prst="roundRect">
            <a:avLst>
              <a:gd name="adj" fmla="val 16471"/>
            </a:avLst>
          </a:prstGeom>
          <a:solidFill>
            <a:srgbClr val="EAF3E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942832" y="56509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استقطاع الأمانة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942832" y="59618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152.5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000" dirty="0"/>
          </a:p>
        </p:txBody>
      </p:sp>
      <p:sp>
        <p:nvSpPr>
          <p:cNvPr id="35" name="Text 32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الإيراد والمستقطع (مليون ريال)</a:t>
            </a:r>
            <a:endParaRPr lang="en-US" sz="1500" dirty="0"/>
          </a:p>
        </p:txBody>
      </p:sp>
      <p:graphicFrame>
        <p:nvGraphicFramePr>
          <p:cNvPr id="36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الاستقطاع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2025</a:t>
            </a:r>
            <a:endParaRPr lang="en-US" sz="1200" dirty="0"/>
          </a:p>
        </p:txBody>
      </p:sp>
      <p:sp>
        <p:nvSpPr>
          <p:cNvPr id="19" name="Shape 17">
            <a:hlinkClick r:id="rId4" tooltip="2025" action="ppaction://hlinksldjump"/>
          </p:cNvPr>
          <p:cNvSpPr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899002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الاستقطاع من الإيراد — 2026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حسب التنظيم الإداري والتبويب</a:t>
            </a:r>
            <a:endParaRPr lang="en-US" sz="1400" dirty="0"/>
          </a:p>
        </p:txBody>
      </p:sp>
      <p:pic>
        <p:nvPicPr>
          <p:cNvPr id="23" name="Image 0" descr="/home/user/test4/assets/card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5672" y="2423160"/>
            <a:ext cx="2926080" cy="91440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إيرادات كافة الأمانات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942832" y="280720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2,972.4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8805672" y="3474720"/>
            <a:ext cx="2926080" cy="914400"/>
          </a:xfrm>
          <a:prstGeom prst="roundRect">
            <a:avLst>
              <a:gd name="adj" fmla="val 14000"/>
            </a:avLst>
          </a:prstGeom>
          <a:solidFill>
            <a:srgbClr val="EAF3E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942832" y="35478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الإيرادات الفعلية للأمانة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942832" y="385876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657.1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8805672" y="4526280"/>
            <a:ext cx="2926080" cy="914400"/>
          </a:xfrm>
          <a:prstGeom prst="roundRect">
            <a:avLst>
              <a:gd name="adj" fmla="val 14000"/>
            </a:avLst>
          </a:prstGeom>
          <a:solidFill>
            <a:srgbClr val="EAF3E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8942832" y="459943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الاستقطاع لكافة الأمانات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8942832" y="49103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468.2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200" dirty="0"/>
          </a:p>
        </p:txBody>
      </p:sp>
      <p:sp>
        <p:nvSpPr>
          <p:cNvPr id="32" name="Shape 29"/>
          <p:cNvSpPr/>
          <p:nvPr/>
        </p:nvSpPr>
        <p:spPr>
          <a:xfrm>
            <a:off x="8805672" y="5577840"/>
            <a:ext cx="2926080" cy="777240"/>
          </a:xfrm>
          <a:prstGeom prst="roundRect">
            <a:avLst>
              <a:gd name="adj" fmla="val 16471"/>
            </a:avLst>
          </a:prstGeom>
          <a:solidFill>
            <a:srgbClr val="EAF3E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942832" y="56509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استقطاع الأمانة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942832" y="59618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111.0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000" dirty="0"/>
          </a:p>
        </p:txBody>
      </p:sp>
      <p:sp>
        <p:nvSpPr>
          <p:cNvPr id="35" name="Text 32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الإيراد والمستقطع (مليون ريال)</a:t>
            </a:r>
            <a:endParaRPr lang="en-US" sz="1500" dirty="0"/>
          </a:p>
        </p:txBody>
      </p:sp>
      <p:graphicFrame>
        <p:nvGraphicFramePr>
          <p:cNvPr id="36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سيناريوهات الإقفال</a:t>
            </a:r>
            <a:endParaRPr lang="en-US" sz="1300" dirty="0"/>
          </a:p>
        </p:txBody>
      </p:sp>
      <p:pic>
        <p:nvPicPr>
          <p:cNvPr id="18" name="Image 0" descr="/home/user/test4/assets/panel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11274552" cy="507492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943600" y="914400"/>
            <a:ext cx="6217920" cy="1691640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17920" y="1325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سيناريوهات الإقفال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11480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b="1" dirty="0">
                <a:solidFill>
                  <a:schemeClr val="accent6"/>
                </a:solidFill>
              </a:rPr>
              <a:t>08</a:t>
            </a:r>
            <a:endParaRPr lang="en-US" sz="11000" dirty="0"/>
          </a:p>
        </p:txBody>
      </p:sp>
      <p:sp>
        <p:nvSpPr>
          <p:cNvPr id="22" name="Shape 19"/>
          <p:cNvSpPr/>
          <p:nvPr/>
        </p:nvSpPr>
        <p:spPr>
          <a:xfrm>
            <a:off x="11201400" y="3108960"/>
            <a:ext cx="0" cy="45720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137392" y="30449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754880" y="28803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السيناريو الأول</a:t>
            </a:r>
            <a:endParaRPr lang="en-US" sz="1800" dirty="0"/>
          </a:p>
        </p:txBody>
      </p:sp>
      <p:sp>
        <p:nvSpPr>
          <p:cNvPr id="25" name="Shape 22">
            <a:hlinkClick r:id="rId5" tooltip="السيناريو الأول" action="ppaction://hlinksldjump"/>
          </p:cNvPr>
          <p:cNvSpPr/>
          <p:nvPr/>
        </p:nvSpPr>
        <p:spPr>
          <a:xfrm>
            <a:off x="4754880" y="28803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1137392" y="35021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754880" y="33375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السيناريو الثاني</a:t>
            </a:r>
            <a:endParaRPr lang="en-US" sz="1800" dirty="0"/>
          </a:p>
        </p:txBody>
      </p:sp>
      <p:sp>
        <p:nvSpPr>
          <p:cNvPr id="28" name="Shape 25">
            <a:hlinkClick r:id="rId6" tooltip="السيناريو الثاني" action="ppaction://hlinksldjump"/>
          </p:cNvPr>
          <p:cNvSpPr/>
          <p:nvPr/>
        </p:nvSpPr>
        <p:spPr>
          <a:xfrm>
            <a:off x="4754880" y="33375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سيناريوهات الإقفال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012680" y="960120"/>
            <a:ext cx="1719072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السيناريو الأول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118043" y="960120"/>
            <a:ext cx="180319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السيناريو الثاني</a:t>
            </a:r>
            <a:endParaRPr lang="en-US" sz="1200" dirty="0"/>
          </a:p>
        </p:txBody>
      </p:sp>
      <p:sp>
        <p:nvSpPr>
          <p:cNvPr id="21" name="Shape 19">
            <a:hlinkClick r:id="rId4" tooltip="السيناريو الثاني" action="ppaction://hlinksldjump"/>
          </p:cNvPr>
          <p:cNvSpPr/>
          <p:nvPr/>
        </p:nvSpPr>
        <p:spPr>
          <a:xfrm>
            <a:off x="8118043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السيناريو الأول للإقفال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المحصل المتوقع مقابل المستهدف للأشهر المتبقية من 2025</a:t>
            </a:r>
            <a:endParaRPr lang="en-US" sz="1400" dirty="0"/>
          </a:p>
        </p:txBody>
      </p:sp>
      <p:pic>
        <p:nvPicPr>
          <p:cNvPr id="24" name="Image 0" descr="/home/user/test4/assets/card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5672" y="2423160"/>
            <a:ext cx="2926080" cy="96012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المحصل المتوقع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942832" y="280720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2,462.7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8805672" y="3520440"/>
            <a:ext cx="2926080" cy="960120"/>
          </a:xfrm>
          <a:prstGeom prst="roundRect">
            <a:avLst>
              <a:gd name="adj" fmla="val 13333"/>
            </a:avLst>
          </a:prstGeom>
          <a:solidFill>
            <a:srgbClr val="EAF3E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8942832" y="35935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المستهدف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8942832" y="3904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3,076.9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8805672" y="4617720"/>
            <a:ext cx="2926080" cy="914400"/>
          </a:xfrm>
          <a:prstGeom prst="roundRect">
            <a:avLst>
              <a:gd name="adj" fmla="val 14000"/>
            </a:avLst>
          </a:prstGeom>
          <a:solidFill>
            <a:srgbClr val="EAF3EF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942832" y="46908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المحصل مقابل المستهدف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8942832" y="500176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▼ 20.0%</a:t>
            </a:r>
            <a:pPr algn="r" indent="0" marL="0">
              <a:buNone/>
            </a:pPr>
            <a:endParaRPr lang="en-US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المحصل والمستهدف الشهري (مليون ريال)</a:t>
            </a:r>
            <a:endParaRPr lang="en-US" sz="1500" dirty="0"/>
          </a:p>
        </p:txBody>
      </p:sp>
      <p:graphicFrame>
        <p:nvGraphicFramePr>
          <p:cNvPr id="34" name="Chart 0" descr=""/>
          <p:cNvGraphicFramePr/>
          <p:nvPr/>
        </p:nvGraphicFramePr>
        <p:xfrm>
          <a:off x="457200" y="2743200"/>
          <a:ext cx="804672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754880"/>
          <a:ext cx="8046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828800"/>
                <a:gridCol w="2377440"/>
              </a:tblGrid>
              <a:tr h="224028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المحصل عن المستهدف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مستهدف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محصل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التبويب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▼ 18.0%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562.3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461.3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إيرادات إستثمارية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▼ 25.0%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590.8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443.1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الرسوم والتراخيص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▼ 21.7%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536.5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420.3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جزاءات وغرامات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▼ 18.0%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451.3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370.2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التبغ والإيواء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▼ 20.3%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499.1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397.5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أخرى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▼ 15.2%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436.8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370.2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نقل الملكية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سيناريوهات الإقفال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012680" y="960120"/>
            <a:ext cx="171907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السيناريو الأول</a:t>
            </a:r>
            <a:endParaRPr lang="en-US" sz="1200" dirty="0"/>
          </a:p>
        </p:txBody>
      </p:sp>
      <p:sp>
        <p:nvSpPr>
          <p:cNvPr id="20" name="Shape 18">
            <a:hlinkClick r:id="rId4" tooltip="السيناريو الأول" action="ppaction://hlinksldjump"/>
          </p:cNvPr>
          <p:cNvSpPr/>
          <p:nvPr/>
        </p:nvSpPr>
        <p:spPr>
          <a:xfrm>
            <a:off x="10012680" y="960120"/>
            <a:ext cx="171907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118043" y="960120"/>
            <a:ext cx="1803197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السيناريو الثاني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السيناريو الثاني للإقفال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المحصل المتوقع مقابل المستهدف للأشهر المتبقية من 2025</a:t>
            </a:r>
            <a:endParaRPr lang="en-US" sz="1400" dirty="0"/>
          </a:p>
        </p:txBody>
      </p:sp>
      <p:pic>
        <p:nvPicPr>
          <p:cNvPr id="24" name="Image 0" descr="/home/user/test4/assets/card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5672" y="2423160"/>
            <a:ext cx="2926080" cy="96012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المحصل المتوقع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942832" y="280720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2,462.7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8805672" y="3520440"/>
            <a:ext cx="2926080" cy="960120"/>
          </a:xfrm>
          <a:prstGeom prst="roundRect">
            <a:avLst>
              <a:gd name="adj" fmla="val 13333"/>
            </a:avLst>
          </a:prstGeom>
          <a:solidFill>
            <a:srgbClr val="EAF3E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8942832" y="35935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المستهدف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8942832" y="3904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3,076.9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8805672" y="4617720"/>
            <a:ext cx="2926080" cy="914400"/>
          </a:xfrm>
          <a:prstGeom prst="roundRect">
            <a:avLst>
              <a:gd name="adj" fmla="val 14000"/>
            </a:avLst>
          </a:prstGeom>
          <a:solidFill>
            <a:srgbClr val="EAF3EF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942832" y="46908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المحصل مقابل المستهدف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8942832" y="500176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▼ 20.0%</a:t>
            </a:r>
            <a:pPr algn="r" indent="0" marL="0">
              <a:buNone/>
            </a:pPr>
            <a:endParaRPr lang="en-US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المحصل والمستهدف الشهري (مليون ريال)</a:t>
            </a:r>
            <a:endParaRPr lang="en-US" sz="1500" dirty="0"/>
          </a:p>
        </p:txBody>
      </p:sp>
      <p:graphicFrame>
        <p:nvGraphicFramePr>
          <p:cNvPr id="34" name="Chart 0" descr=""/>
          <p:cNvGraphicFramePr/>
          <p:nvPr/>
        </p:nvGraphicFramePr>
        <p:xfrm>
          <a:off x="457200" y="2743200"/>
          <a:ext cx="804672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754880"/>
          <a:ext cx="8046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828800"/>
                <a:gridCol w="2377440"/>
              </a:tblGrid>
              <a:tr h="224028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المحصل عن المستهدف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مستهدف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محصل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التبويب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▼ 18.0%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562.3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461.3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إيرادات إستثمارية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▼ 25.0%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590.8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443.1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الرسوم والتراخيص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▼ 21.7%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536.5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420.3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جزاءات وغرامات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▼ 18.0%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451.3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370.2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التبغ والإيواء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▼ 20.3%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499.1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397.5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أخرى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▼ 15.2%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436.8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370.2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نقل الملكية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الجزاءات والغرامات الشهرية</a:t>
            </a:r>
            <a:endParaRPr lang="en-US" sz="1300" dirty="0"/>
          </a:p>
        </p:txBody>
      </p:sp>
      <p:pic>
        <p:nvPicPr>
          <p:cNvPr id="18" name="Image 0" descr="/home/user/test4/assets/panel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11274552" cy="507492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943600" y="914400"/>
            <a:ext cx="6217920" cy="1691640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17920" y="1325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الجزاءات والغرامات الشهرية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11480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b="1" dirty="0">
                <a:solidFill>
                  <a:schemeClr val="accent6"/>
                </a:solidFill>
              </a:rPr>
              <a:t>09</a:t>
            </a:r>
            <a:endParaRPr lang="en-US" sz="11000" dirty="0"/>
          </a:p>
        </p:txBody>
      </p:sp>
      <p:sp>
        <p:nvSpPr>
          <p:cNvPr id="22" name="Shape 19"/>
          <p:cNvSpPr/>
          <p:nvPr/>
        </p:nvSpPr>
        <p:spPr>
          <a:xfrm>
            <a:off x="11201400" y="3108960"/>
            <a:ext cx="0" cy="137160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137392" y="30449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754880" y="28803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سنة 2023</a:t>
            </a:r>
            <a:endParaRPr lang="en-US" sz="1800" dirty="0"/>
          </a:p>
        </p:txBody>
      </p:sp>
      <p:sp>
        <p:nvSpPr>
          <p:cNvPr id="25" name="Shape 22">
            <a:hlinkClick r:id="rId5" tooltip="سنة 2023" action="ppaction://hlinksldjump"/>
          </p:cNvPr>
          <p:cNvSpPr/>
          <p:nvPr/>
        </p:nvSpPr>
        <p:spPr>
          <a:xfrm>
            <a:off x="4754880" y="28803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1137392" y="35021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754880" y="33375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سنة 2024</a:t>
            </a:r>
            <a:endParaRPr lang="en-US" sz="1800" dirty="0"/>
          </a:p>
        </p:txBody>
      </p:sp>
      <p:sp>
        <p:nvSpPr>
          <p:cNvPr id="28" name="Shape 25">
            <a:hlinkClick r:id="rId6" tooltip="سنة 2024" action="ppaction://hlinksldjump"/>
          </p:cNvPr>
          <p:cNvSpPr/>
          <p:nvPr/>
        </p:nvSpPr>
        <p:spPr>
          <a:xfrm>
            <a:off x="4754880" y="33375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11137392" y="39593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754880" y="37947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سنة 2025</a:t>
            </a:r>
            <a:endParaRPr lang="en-US" sz="1800" dirty="0"/>
          </a:p>
        </p:txBody>
      </p:sp>
      <p:sp>
        <p:nvSpPr>
          <p:cNvPr id="31" name="Shape 28">
            <a:hlinkClick r:id="rId7" tooltip="سنة 2025" action="ppaction://hlinksldjump"/>
          </p:cNvPr>
          <p:cNvSpPr/>
          <p:nvPr/>
        </p:nvSpPr>
        <p:spPr>
          <a:xfrm>
            <a:off x="4754880" y="37947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11137392" y="44165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4754880" y="42519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سنة 2026</a:t>
            </a:r>
            <a:endParaRPr lang="en-US" sz="1800" dirty="0"/>
          </a:p>
        </p:txBody>
      </p:sp>
      <p:sp>
        <p:nvSpPr>
          <p:cNvPr id="34" name="Shape 31">
            <a:hlinkClick r:id="rId8" tooltip="سنة 2026" action="ppaction://hlinksldjump"/>
          </p:cNvPr>
          <p:cNvSpPr/>
          <p:nvPr/>
        </p:nvSpPr>
        <p:spPr>
          <a:xfrm>
            <a:off x="4754880" y="42519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الجزاءات والغرامات الشهرية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20333" y="384048"/>
            <a:ext cx="757507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971386" y="384048"/>
            <a:ext cx="75750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2024</a:t>
            </a:r>
            <a:endParaRPr lang="en-US" sz="1100" dirty="0"/>
          </a:p>
        </p:txBody>
      </p:sp>
      <p:sp>
        <p:nvSpPr>
          <p:cNvPr id="20" name="Shape 18">
            <a:hlinkClick r:id="rId4" tooltip="2024" action="ppaction://hlinksldjump"/>
          </p:cNvPr>
          <p:cNvSpPr/>
          <p:nvPr/>
        </p:nvSpPr>
        <p:spPr>
          <a:xfrm>
            <a:off x="3971386" y="384048"/>
            <a:ext cx="75750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122438" y="384048"/>
            <a:ext cx="75750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2025</a:t>
            </a:r>
            <a:endParaRPr lang="en-US" sz="1100" dirty="0"/>
          </a:p>
        </p:txBody>
      </p:sp>
      <p:sp>
        <p:nvSpPr>
          <p:cNvPr id="22" name="Shape 20">
            <a:hlinkClick r:id="rId5" tooltip="2025" action="ppaction://hlinksldjump"/>
          </p:cNvPr>
          <p:cNvSpPr/>
          <p:nvPr/>
        </p:nvSpPr>
        <p:spPr>
          <a:xfrm>
            <a:off x="3122438" y="384048"/>
            <a:ext cx="75750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273491" y="384048"/>
            <a:ext cx="75750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2026</a:t>
            </a:r>
            <a:endParaRPr lang="en-US" sz="1100" dirty="0"/>
          </a:p>
        </p:txBody>
      </p:sp>
      <p:sp>
        <p:nvSpPr>
          <p:cNvPr id="24" name="Shape 22">
            <a:hlinkClick r:id="rId6" tooltip="2026" action="ppaction://hlinksldjump"/>
          </p:cNvPr>
          <p:cNvSpPr/>
          <p:nvPr/>
        </p:nvSpPr>
        <p:spPr>
          <a:xfrm>
            <a:off x="2273491" y="384048"/>
            <a:ext cx="75750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الجزاءات والغرامات — 2023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المفوتر والمحصل شهرياً</a:t>
            </a:r>
            <a:endParaRPr lang="en-US" sz="1400" dirty="0"/>
          </a:p>
        </p:txBody>
      </p:sp>
      <p:pic>
        <p:nvPicPr>
          <p:cNvPr id="27" name="Image 0" descr="/home/user/test4/assets/card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إجمالي مفوتر السنة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8942832" y="280720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837.0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EAF3EF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محصل عن الفترة الماضية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8942832" y="413308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0.0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EAF3E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محصل عن ذات الشهر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8942832" y="545896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128.4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36" name="Text 33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الجزاءات والغرامات الشهرية (مليون ريال)</a:t>
            </a:r>
            <a:endParaRPr lang="en-US" sz="1500" dirty="0"/>
          </a:p>
        </p:txBody>
      </p:sp>
      <p:graphicFrame>
        <p:nvGraphicFramePr>
          <p:cNvPr id="37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الجزاءات والغرامات الشهرية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20333" y="384048"/>
            <a:ext cx="75750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2023</a:t>
            </a:r>
            <a:endParaRPr lang="en-US" sz="1100" dirty="0"/>
          </a:p>
        </p:txBody>
      </p:sp>
      <p:sp>
        <p:nvSpPr>
          <p:cNvPr id="19" name="Shape 17">
            <a:hlinkClick r:id="rId4" tooltip="2023" action="ppaction://hlinksldjump"/>
          </p:cNvPr>
          <p:cNvSpPr/>
          <p:nvPr/>
        </p:nvSpPr>
        <p:spPr>
          <a:xfrm>
            <a:off x="4820333" y="384048"/>
            <a:ext cx="75750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971386" y="384048"/>
            <a:ext cx="757507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2024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122438" y="384048"/>
            <a:ext cx="75750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2025</a:t>
            </a:r>
            <a:endParaRPr lang="en-US" sz="1100" dirty="0"/>
          </a:p>
        </p:txBody>
      </p:sp>
      <p:sp>
        <p:nvSpPr>
          <p:cNvPr id="22" name="Shape 20">
            <a:hlinkClick r:id="rId5" tooltip="2025" action="ppaction://hlinksldjump"/>
          </p:cNvPr>
          <p:cNvSpPr/>
          <p:nvPr/>
        </p:nvSpPr>
        <p:spPr>
          <a:xfrm>
            <a:off x="3122438" y="384048"/>
            <a:ext cx="75750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273491" y="384048"/>
            <a:ext cx="75750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2026</a:t>
            </a:r>
            <a:endParaRPr lang="en-US" sz="1100" dirty="0"/>
          </a:p>
        </p:txBody>
      </p:sp>
      <p:sp>
        <p:nvSpPr>
          <p:cNvPr id="24" name="Shape 22">
            <a:hlinkClick r:id="rId6" tooltip="2026" action="ppaction://hlinksldjump"/>
          </p:cNvPr>
          <p:cNvSpPr/>
          <p:nvPr/>
        </p:nvSpPr>
        <p:spPr>
          <a:xfrm>
            <a:off x="2273491" y="384048"/>
            <a:ext cx="75750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الجزاءات والغرامات — 2024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المفوتر والمحصل شهرياً</a:t>
            </a:r>
            <a:endParaRPr lang="en-US" sz="1400" dirty="0"/>
          </a:p>
        </p:txBody>
      </p:sp>
      <p:pic>
        <p:nvPicPr>
          <p:cNvPr id="27" name="Image 0" descr="/home/user/test4/assets/card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إجمالي مفوتر السنة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8942832" y="280720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837.0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EAF3EF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محصل عن الفترة الماضية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8942832" y="413308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0.0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EAF3E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محصل عن ذات الشهر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8942832" y="545896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128.4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36" name="Text 33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الجزاءات والغرامات الشهرية (مليون ريال)</a:t>
            </a:r>
            <a:endParaRPr lang="en-US" sz="1500" dirty="0"/>
          </a:p>
        </p:txBody>
      </p:sp>
      <p:graphicFrame>
        <p:nvGraphicFramePr>
          <p:cNvPr id="37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الجزاءات والغرامات الشهرية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20333" y="384048"/>
            <a:ext cx="75750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2023</a:t>
            </a:r>
            <a:endParaRPr lang="en-US" sz="1100" dirty="0"/>
          </a:p>
        </p:txBody>
      </p:sp>
      <p:sp>
        <p:nvSpPr>
          <p:cNvPr id="19" name="Shape 17">
            <a:hlinkClick r:id="rId4" tooltip="2023" action="ppaction://hlinksldjump"/>
          </p:cNvPr>
          <p:cNvSpPr/>
          <p:nvPr/>
        </p:nvSpPr>
        <p:spPr>
          <a:xfrm>
            <a:off x="4820333" y="384048"/>
            <a:ext cx="75750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971386" y="384048"/>
            <a:ext cx="75750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2024</a:t>
            </a:r>
            <a:endParaRPr lang="en-US" sz="1100" dirty="0"/>
          </a:p>
        </p:txBody>
      </p:sp>
      <p:sp>
        <p:nvSpPr>
          <p:cNvPr id="21" name="Shape 19">
            <a:hlinkClick r:id="rId5" tooltip="2024" action="ppaction://hlinksldjump"/>
          </p:cNvPr>
          <p:cNvSpPr/>
          <p:nvPr/>
        </p:nvSpPr>
        <p:spPr>
          <a:xfrm>
            <a:off x="3971386" y="384048"/>
            <a:ext cx="75750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122438" y="384048"/>
            <a:ext cx="757507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273491" y="384048"/>
            <a:ext cx="75750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2026</a:t>
            </a:r>
            <a:endParaRPr lang="en-US" sz="1100" dirty="0"/>
          </a:p>
        </p:txBody>
      </p:sp>
      <p:sp>
        <p:nvSpPr>
          <p:cNvPr id="24" name="Shape 22">
            <a:hlinkClick r:id="rId6" tooltip="2026" action="ppaction://hlinksldjump"/>
          </p:cNvPr>
          <p:cNvSpPr/>
          <p:nvPr/>
        </p:nvSpPr>
        <p:spPr>
          <a:xfrm>
            <a:off x="2273491" y="384048"/>
            <a:ext cx="75750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الجزاءات والغرامات — 2025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المفوتر والمحصل شهرياً</a:t>
            </a:r>
            <a:endParaRPr lang="en-US" sz="1400" dirty="0"/>
          </a:p>
        </p:txBody>
      </p:sp>
      <p:pic>
        <p:nvPicPr>
          <p:cNvPr id="27" name="Image 0" descr="/home/user/test4/assets/card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إجمالي مفوتر السنة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8942832" y="280720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837.0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EAF3EF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محصل عن الفترة الماضية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8942832" y="413308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0.0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EAF3E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محصل عن ذات الشهر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8942832" y="545896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128.4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36" name="Text 33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الجزاءات والغرامات الشهرية (مليون ريال)</a:t>
            </a:r>
            <a:endParaRPr lang="en-US" sz="1500" dirty="0"/>
          </a:p>
        </p:txBody>
      </p:sp>
      <p:graphicFrame>
        <p:nvGraphicFramePr>
          <p:cNvPr id="37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الجزاءات والغرامات الشهرية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20333" y="384048"/>
            <a:ext cx="75750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2023</a:t>
            </a:r>
            <a:endParaRPr lang="en-US" sz="1100" dirty="0"/>
          </a:p>
        </p:txBody>
      </p:sp>
      <p:sp>
        <p:nvSpPr>
          <p:cNvPr id="19" name="Shape 17">
            <a:hlinkClick r:id="rId4" tooltip="2023" action="ppaction://hlinksldjump"/>
          </p:cNvPr>
          <p:cNvSpPr/>
          <p:nvPr/>
        </p:nvSpPr>
        <p:spPr>
          <a:xfrm>
            <a:off x="4820333" y="384048"/>
            <a:ext cx="75750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971386" y="384048"/>
            <a:ext cx="75750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2024</a:t>
            </a:r>
            <a:endParaRPr lang="en-US" sz="1100" dirty="0"/>
          </a:p>
        </p:txBody>
      </p:sp>
      <p:sp>
        <p:nvSpPr>
          <p:cNvPr id="21" name="Shape 19">
            <a:hlinkClick r:id="rId5" tooltip="2024" action="ppaction://hlinksldjump"/>
          </p:cNvPr>
          <p:cNvSpPr/>
          <p:nvPr/>
        </p:nvSpPr>
        <p:spPr>
          <a:xfrm>
            <a:off x="3971386" y="384048"/>
            <a:ext cx="75750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122438" y="384048"/>
            <a:ext cx="75750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2025</a:t>
            </a:r>
            <a:endParaRPr lang="en-US" sz="1100" dirty="0"/>
          </a:p>
        </p:txBody>
      </p:sp>
      <p:sp>
        <p:nvSpPr>
          <p:cNvPr id="23" name="Shape 21">
            <a:hlinkClick r:id="rId6" tooltip="2025" action="ppaction://hlinksldjump"/>
          </p:cNvPr>
          <p:cNvSpPr/>
          <p:nvPr/>
        </p:nvSpPr>
        <p:spPr>
          <a:xfrm>
            <a:off x="3122438" y="384048"/>
            <a:ext cx="75750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273491" y="384048"/>
            <a:ext cx="757507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الجزاءات والغرامات — 2026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المفوتر والمحصل شهرياً</a:t>
            </a:r>
            <a:endParaRPr lang="en-US" sz="1400" dirty="0"/>
          </a:p>
        </p:txBody>
      </p:sp>
      <p:pic>
        <p:nvPicPr>
          <p:cNvPr id="27" name="Image 0" descr="/home/user/test4/assets/card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05672" y="2423160"/>
            <a:ext cx="2926080" cy="118872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8942832" y="2496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إجمالي مفوتر السنة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8942832" y="280720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837.0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8805672" y="374904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EAF3EF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942832" y="38221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محصل عن الفترة الماضية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8942832" y="413308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0.0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8805672" y="5074920"/>
            <a:ext cx="2926080" cy="1188720"/>
          </a:xfrm>
          <a:prstGeom prst="roundRect">
            <a:avLst>
              <a:gd name="adj" fmla="val 10769"/>
            </a:avLst>
          </a:prstGeom>
          <a:solidFill>
            <a:srgbClr val="EAF3E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942832" y="51480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محصل عن ذات الشهر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8942832" y="545896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128.4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36" name="Text 33"/>
          <p:cNvSpPr txBox="1"/>
          <p:nvPr/>
        </p:nvSpPr>
        <p:spPr>
          <a:xfrm>
            <a:off x="457200" y="239572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الجزاءات والغرامات الشهرية (مليون ريال)</a:t>
            </a:r>
            <a:endParaRPr lang="en-US" sz="1500" dirty="0"/>
          </a:p>
        </p:txBody>
      </p:sp>
      <p:graphicFrame>
        <p:nvGraphicFramePr>
          <p:cNvPr id="37" name="Chart 0" descr=""/>
          <p:cNvGraphicFramePr/>
          <p:nvPr/>
        </p:nvGraphicFramePr>
        <p:xfrm>
          <a:off x="457200" y="2743200"/>
          <a:ext cx="8046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التنفيذ والاسترداد</a:t>
            </a:r>
            <a:endParaRPr lang="en-US" sz="1300" dirty="0"/>
          </a:p>
        </p:txBody>
      </p:sp>
      <p:pic>
        <p:nvPicPr>
          <p:cNvPr id="18" name="Image 0" descr="/home/user/test4/assets/panel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11274552" cy="507492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943600" y="914400"/>
            <a:ext cx="6217920" cy="1691640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17920" y="1325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التنفيذ والاسترداد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11480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b="1" dirty="0">
                <a:solidFill>
                  <a:schemeClr val="accent6"/>
                </a:solidFill>
              </a:rPr>
              <a:t>10</a:t>
            </a:r>
            <a:endParaRPr lang="en-US" sz="11000" dirty="0"/>
          </a:p>
        </p:txBody>
      </p:sp>
      <p:sp>
        <p:nvSpPr>
          <p:cNvPr id="22" name="Shape 19"/>
          <p:cNvSpPr/>
          <p:nvPr/>
        </p:nvSpPr>
        <p:spPr>
          <a:xfrm>
            <a:off x="11201400" y="3108960"/>
            <a:ext cx="0" cy="91440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137392" y="30449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754880" y="28803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الإجمالي</a:t>
            </a:r>
            <a:endParaRPr lang="en-US" sz="1800" dirty="0"/>
          </a:p>
        </p:txBody>
      </p:sp>
      <p:sp>
        <p:nvSpPr>
          <p:cNvPr id="25" name="Shape 22">
            <a:hlinkClick r:id="rId5" tooltip="الإجمالي" action="ppaction://hlinksldjump"/>
          </p:cNvPr>
          <p:cNvSpPr/>
          <p:nvPr/>
        </p:nvSpPr>
        <p:spPr>
          <a:xfrm>
            <a:off x="4754880" y="28803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1137392" y="35021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754880" y="33375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مدينة الرياض</a:t>
            </a:r>
            <a:endParaRPr lang="en-US" sz="1800" dirty="0"/>
          </a:p>
        </p:txBody>
      </p:sp>
      <p:sp>
        <p:nvSpPr>
          <p:cNvPr id="28" name="Shape 25">
            <a:hlinkClick r:id="rId6" tooltip="مدينة الرياض" action="ppaction://hlinksldjump"/>
          </p:cNvPr>
          <p:cNvSpPr/>
          <p:nvPr/>
        </p:nvSpPr>
        <p:spPr>
          <a:xfrm>
            <a:off x="4754880" y="33375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11137392" y="39593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754880" y="37947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بلديات المنطقة</a:t>
            </a:r>
            <a:endParaRPr lang="en-US" sz="1800" dirty="0"/>
          </a:p>
        </p:txBody>
      </p:sp>
      <p:sp>
        <p:nvSpPr>
          <p:cNvPr id="31" name="Shape 28">
            <a:hlinkClick r:id="rId7" tooltip="بلديات المنطقة" action="ppaction://hlinksldjump"/>
          </p:cNvPr>
          <p:cNvSpPr/>
          <p:nvPr/>
        </p:nvSpPr>
        <p:spPr>
          <a:xfrm>
            <a:off x="4754880" y="37947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التنفيذ والاسترداد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601554" y="960120"/>
            <a:ext cx="1130198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الإجمالي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043416" y="960120"/>
            <a:ext cx="1466698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21" name="Shape 19">
            <a:hlinkClick r:id="rId4" tooltip="مدينة الرياض" action="ppaction://hlinksldjump"/>
          </p:cNvPr>
          <p:cNvSpPr/>
          <p:nvPr/>
        </p:nvSpPr>
        <p:spPr>
          <a:xfrm>
            <a:off x="9043416" y="960120"/>
            <a:ext cx="1466698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7029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23" name="Shape 21">
            <a:hlinkClick r:id="rId5" tooltip="بلديات المنطقة" action="ppaction://hlinksldjump"/>
          </p:cNvPr>
          <p:cNvSpPr/>
          <p:nvPr/>
        </p:nvSpPr>
        <p:spPr>
          <a:xfrm>
            <a:off x="7317029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التنفيذ والاسترداد — الإجمالي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حسب التبويب — 2026</a:t>
            </a:r>
            <a:endParaRPr lang="en-US" sz="1400" dirty="0"/>
          </a:p>
        </p:txBody>
      </p:sp>
      <p:pic>
        <p:nvPicPr>
          <p:cNvPr id="26" name="Image 0" descr="/home/user/test4/assets/card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0274" y="2423160"/>
            <a:ext cx="2681478" cy="109728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قيمة الفواتير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9187434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1,309.5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6185916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74A4D4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المنفذ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6323076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409.3</a:t>
            </a:r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32" name="Shape 29"/>
          <p:cNvSpPr/>
          <p:nvPr/>
        </p:nvSpPr>
        <p:spPr>
          <a:xfrm>
            <a:off x="3321558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EAF3E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إجمالي الاسترداد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3458718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77.0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Shape 32"/>
          <p:cNvSpPr/>
          <p:nvPr/>
        </p:nvSpPr>
        <p:spPr>
          <a:xfrm>
            <a:off x="457200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EAF3E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استرداد فعلي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94360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59.0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38" name="Text 35"/>
          <p:cNvSpPr txBox="1"/>
          <p:nvPr/>
        </p:nvSpPr>
        <p:spPr>
          <a:xfrm>
            <a:off x="457200" y="367588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قيمة الفواتير والمنفذ والاسترداد حسب التبويب (مليون ريال)</a:t>
            </a:r>
            <a:endParaRPr lang="en-US" sz="1500" dirty="0"/>
          </a:p>
        </p:txBody>
      </p:sp>
      <p:graphicFrame>
        <p:nvGraphicFramePr>
          <p:cNvPr id="39" name="Chart 0" descr=""/>
          <p:cNvGraphicFramePr/>
          <p:nvPr/>
        </p:nvGraphicFramePr>
        <p:xfrm>
          <a:off x="457200" y="4023360"/>
          <a:ext cx="1127455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التنفيذ والاسترداد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601554" y="960120"/>
            <a:ext cx="1130198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الإجمالي</a:t>
            </a:r>
            <a:endParaRPr lang="en-US" sz="1200" dirty="0"/>
          </a:p>
        </p:txBody>
      </p:sp>
      <p:sp>
        <p:nvSpPr>
          <p:cNvPr id="20" name="Shape 18">
            <a:hlinkClick r:id="rId4" tooltip="الإجمالي" action="ppaction://hlinksldjump"/>
          </p:cNvPr>
          <p:cNvSpPr/>
          <p:nvPr/>
        </p:nvSpPr>
        <p:spPr>
          <a:xfrm>
            <a:off x="10601554" y="960120"/>
            <a:ext cx="1130198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043416" y="960120"/>
            <a:ext cx="1466698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17029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23" name="Shape 21">
            <a:hlinkClick r:id="rId5" tooltip="بلديات المنطقة" action="ppaction://hlinksldjump"/>
          </p:cNvPr>
          <p:cNvSpPr/>
          <p:nvPr/>
        </p:nvSpPr>
        <p:spPr>
          <a:xfrm>
            <a:off x="7317029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التنفيذ والاسترداد — مدينة الرياض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حسب التبويب — 2026</a:t>
            </a:r>
            <a:endParaRPr lang="en-US" sz="1400" dirty="0"/>
          </a:p>
        </p:txBody>
      </p:sp>
      <p:pic>
        <p:nvPicPr>
          <p:cNvPr id="26" name="Image 0" descr="/home/user/test4/assets/card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0274" y="2423160"/>
            <a:ext cx="2681478" cy="109728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قيمة الفواتير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9187434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1,186.9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6185916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74A4D4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المنفذ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6323076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335.2</a:t>
            </a:r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32" name="Shape 29"/>
          <p:cNvSpPr/>
          <p:nvPr/>
        </p:nvSpPr>
        <p:spPr>
          <a:xfrm>
            <a:off x="3321558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EAF3E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إجمالي الاسترداد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3458718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67.3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Shape 32"/>
          <p:cNvSpPr/>
          <p:nvPr/>
        </p:nvSpPr>
        <p:spPr>
          <a:xfrm>
            <a:off x="457200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EAF3E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استرداد فعلي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94360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52.8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38" name="Text 35"/>
          <p:cNvSpPr txBox="1"/>
          <p:nvPr/>
        </p:nvSpPr>
        <p:spPr>
          <a:xfrm>
            <a:off x="457200" y="367588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قيمة الفواتير والمنفذ والاسترداد حسب التبويب (مليون ريال)</a:t>
            </a:r>
            <a:endParaRPr lang="en-US" sz="1500" dirty="0"/>
          </a:p>
        </p:txBody>
      </p:sp>
      <p:graphicFrame>
        <p:nvGraphicFramePr>
          <p:cNvPr id="39" name="Chart 0" descr=""/>
          <p:cNvGraphicFramePr/>
          <p:nvPr/>
        </p:nvGraphicFramePr>
        <p:xfrm>
          <a:off x="457200" y="4023360"/>
          <a:ext cx="1127455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التنفيذ والاسترداد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601554" y="960120"/>
            <a:ext cx="1130198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الإجمالي</a:t>
            </a:r>
            <a:endParaRPr lang="en-US" sz="1200" dirty="0"/>
          </a:p>
        </p:txBody>
      </p:sp>
      <p:sp>
        <p:nvSpPr>
          <p:cNvPr id="20" name="Shape 18">
            <a:hlinkClick r:id="rId4" tooltip="الإجمالي" action="ppaction://hlinksldjump"/>
          </p:cNvPr>
          <p:cNvSpPr/>
          <p:nvPr/>
        </p:nvSpPr>
        <p:spPr>
          <a:xfrm>
            <a:off x="10601554" y="960120"/>
            <a:ext cx="1130198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043416" y="960120"/>
            <a:ext cx="1466698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22" name="Shape 20">
            <a:hlinkClick r:id="rId5" tooltip="مدينة الرياض" action="ppaction://hlinksldjump"/>
          </p:cNvPr>
          <p:cNvSpPr/>
          <p:nvPr/>
        </p:nvSpPr>
        <p:spPr>
          <a:xfrm>
            <a:off x="9043416" y="960120"/>
            <a:ext cx="1466698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7029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التنفيذ والاسترداد — بلديات المنطقة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حسب التبويب — 2026</a:t>
            </a:r>
            <a:endParaRPr lang="en-US" sz="1400" dirty="0"/>
          </a:p>
        </p:txBody>
      </p:sp>
      <p:pic>
        <p:nvPicPr>
          <p:cNvPr id="26" name="Image 0" descr="/home/user/test4/assets/card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0274" y="2423160"/>
            <a:ext cx="2681478" cy="109728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قيمة الفواتير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9187434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122.5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6185916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74A4D4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المنفذ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6323076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74.1</a:t>
            </a:r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32" name="Shape 29"/>
          <p:cNvSpPr/>
          <p:nvPr/>
        </p:nvSpPr>
        <p:spPr>
          <a:xfrm>
            <a:off x="3321558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EAF3E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إجمالي الاسترداد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3458718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9.7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35" name="Shape 32"/>
          <p:cNvSpPr/>
          <p:nvPr/>
        </p:nvSpPr>
        <p:spPr>
          <a:xfrm>
            <a:off x="457200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EAF3E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استرداد فعلي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94360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6.2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38" name="Text 35"/>
          <p:cNvSpPr txBox="1"/>
          <p:nvPr/>
        </p:nvSpPr>
        <p:spPr>
          <a:xfrm>
            <a:off x="457200" y="367588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قيمة الفواتير والمنفذ والاسترداد حسب التبويب (مليون ريال)</a:t>
            </a:r>
            <a:endParaRPr lang="en-US" sz="1500" dirty="0"/>
          </a:p>
        </p:txBody>
      </p:sp>
      <p:graphicFrame>
        <p:nvGraphicFramePr>
          <p:cNvPr id="39" name="Chart 0" descr=""/>
          <p:cNvGraphicFramePr/>
          <p:nvPr/>
        </p:nvGraphicFramePr>
        <p:xfrm>
          <a:off x="457200" y="4023360"/>
          <a:ext cx="1127455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المفوتر والميزانية والمستهدف</a:t>
            </a:r>
            <a:endParaRPr lang="en-US" sz="1300" dirty="0"/>
          </a:p>
        </p:txBody>
      </p:sp>
      <p:pic>
        <p:nvPicPr>
          <p:cNvPr id="18" name="Image 0" descr="/home/user/test4/assets/panel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11274552" cy="507492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943600" y="914400"/>
            <a:ext cx="6217920" cy="1691640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17920" y="1325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المفوتر والميزانية والمستهدف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11480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b="1" dirty="0">
                <a:solidFill>
                  <a:schemeClr val="accent6"/>
                </a:solidFill>
              </a:rPr>
              <a:t>11</a:t>
            </a:r>
            <a:endParaRPr lang="en-US" sz="11000" dirty="0"/>
          </a:p>
        </p:txBody>
      </p:sp>
      <p:sp>
        <p:nvSpPr>
          <p:cNvPr id="22" name="Shape 19"/>
          <p:cNvSpPr/>
          <p:nvPr/>
        </p:nvSpPr>
        <p:spPr>
          <a:xfrm>
            <a:off x="11201400" y="3108960"/>
            <a:ext cx="0" cy="45720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137392" y="30449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754880" y="28803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المفوتر والمحصل</a:t>
            </a:r>
            <a:endParaRPr lang="en-US" sz="1800" dirty="0"/>
          </a:p>
        </p:txBody>
      </p:sp>
      <p:sp>
        <p:nvSpPr>
          <p:cNvPr id="25" name="Shape 22">
            <a:hlinkClick r:id="rId5" tooltip="المفوتر والمحصل" action="ppaction://hlinksldjump"/>
          </p:cNvPr>
          <p:cNvSpPr/>
          <p:nvPr/>
        </p:nvSpPr>
        <p:spPr>
          <a:xfrm>
            <a:off x="4754880" y="28803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1137392" y="35021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754880" y="33375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الميزانية والمستهدف</a:t>
            </a:r>
            <a:endParaRPr lang="en-US" sz="1800" dirty="0"/>
          </a:p>
        </p:txBody>
      </p:sp>
      <p:sp>
        <p:nvSpPr>
          <p:cNvPr id="28" name="Shape 25">
            <a:hlinkClick r:id="rId6" tooltip="الميزانية والمستهدف" action="ppaction://hlinksldjump"/>
          </p:cNvPr>
          <p:cNvSpPr/>
          <p:nvPr/>
        </p:nvSpPr>
        <p:spPr>
          <a:xfrm>
            <a:off x="4754880" y="33375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المفوتر والميزانية والمستهدف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012680" y="960120"/>
            <a:ext cx="1719072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المفوتر والمحصل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865669" y="960120"/>
            <a:ext cx="2055571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الميزانية والمستهدف</a:t>
            </a:r>
            <a:endParaRPr lang="en-US" sz="1200" dirty="0"/>
          </a:p>
        </p:txBody>
      </p:sp>
      <p:sp>
        <p:nvSpPr>
          <p:cNvPr id="21" name="Shape 19">
            <a:hlinkClick r:id="rId4" tooltip="الميزانية والمستهدف" action="ppaction://hlinksldjump"/>
          </p:cNvPr>
          <p:cNvSpPr/>
          <p:nvPr/>
        </p:nvSpPr>
        <p:spPr>
          <a:xfrm>
            <a:off x="7865669" y="960120"/>
            <a:ext cx="2055571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المفوتر والمحصل الشهري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الفترة: يناير – سبتمبر 2026</a:t>
            </a:r>
            <a:endParaRPr lang="en-US" sz="1400" dirty="0"/>
          </a:p>
        </p:txBody>
      </p:sp>
      <p:pic>
        <p:nvPicPr>
          <p:cNvPr id="24" name="Image 0" descr="/home/user/test4/assets/card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0274" y="2423160"/>
            <a:ext cx="2681478" cy="109728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إجمالي المفوتر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9187434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3,898.7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6185916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74A4D4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صافي المفوتر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6323076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3,464.9</a:t>
            </a:r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3321558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EAF3EF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محصل السنة الحالية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3458718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2,327.2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457200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EAF3E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محصل السنوات السابقة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594360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453.2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36" name="Text 33"/>
          <p:cNvSpPr txBox="1"/>
          <p:nvPr/>
        </p:nvSpPr>
        <p:spPr>
          <a:xfrm>
            <a:off x="457200" y="367588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المفوتر والمحصل مقابل مستهدف المفوتر (مليون ريال)</a:t>
            </a:r>
            <a:endParaRPr lang="en-US" sz="1500" dirty="0"/>
          </a:p>
        </p:txBody>
      </p:sp>
      <p:graphicFrame>
        <p:nvGraphicFramePr>
          <p:cNvPr id="37" name="Chart 0" descr=""/>
          <p:cNvGraphicFramePr/>
          <p:nvPr/>
        </p:nvGraphicFramePr>
        <p:xfrm>
          <a:off x="457200" y="4023360"/>
          <a:ext cx="1127455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المفوتر والميزانية والمستهدف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012680" y="960120"/>
            <a:ext cx="171907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المفوتر والمحصل</a:t>
            </a:r>
            <a:endParaRPr lang="en-US" sz="1200" dirty="0"/>
          </a:p>
        </p:txBody>
      </p:sp>
      <p:sp>
        <p:nvSpPr>
          <p:cNvPr id="20" name="Shape 18">
            <a:hlinkClick r:id="rId4" tooltip="المفوتر والمحصل" action="ppaction://hlinksldjump"/>
          </p:cNvPr>
          <p:cNvSpPr/>
          <p:nvPr/>
        </p:nvSpPr>
        <p:spPr>
          <a:xfrm>
            <a:off x="10012680" y="960120"/>
            <a:ext cx="171907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865669" y="960120"/>
            <a:ext cx="2055571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الميزانية والمستهدف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الميزانية ومستهدف المفوتر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الاعتماد الأصلي وبعد الاعتماد 2026</a:t>
            </a:r>
            <a:endParaRPr lang="en-US" sz="1400" dirty="0"/>
          </a:p>
        </p:txBody>
      </p:sp>
      <p:pic>
        <p:nvPicPr>
          <p:cNvPr id="24" name="Image 0" descr="/home/user/test4/assets/card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5488" y="2423160"/>
            <a:ext cx="3636264" cy="109728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8232648" y="2496312"/>
            <a:ext cx="3361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الاعتماد الأصلي (سنوي)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232648" y="2807208"/>
            <a:ext cx="3361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6,284.6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4276344" y="2423160"/>
            <a:ext cx="3636264" cy="1097280"/>
          </a:xfrm>
          <a:prstGeom prst="roundRect">
            <a:avLst>
              <a:gd name="adj" fmla="val 11667"/>
            </a:avLst>
          </a:prstGeom>
          <a:solidFill>
            <a:srgbClr val="74A4D4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4413504" y="2496312"/>
            <a:ext cx="3361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بعد الاعتماد (سنوي)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4413504" y="2807208"/>
            <a:ext cx="3361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6,285.0</a:t>
            </a:r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457200" y="2423160"/>
            <a:ext cx="3636264" cy="1097280"/>
          </a:xfrm>
          <a:prstGeom prst="roundRect">
            <a:avLst>
              <a:gd name="adj" fmla="val 11667"/>
            </a:avLst>
          </a:prstGeom>
          <a:solidFill>
            <a:srgbClr val="EAF3EF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94360" y="2496312"/>
            <a:ext cx="3361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مستهدف المفوتر (سنوي)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594360" y="2807208"/>
            <a:ext cx="3361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5,044.6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33" name="Text 30"/>
          <p:cNvSpPr txBox="1"/>
          <p:nvPr/>
        </p:nvSpPr>
        <p:spPr>
          <a:xfrm>
            <a:off x="457200" y="367588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الميزانية الشهرية ومستهدف المفوتر (مليون ريال)</a:t>
            </a:r>
            <a:endParaRPr lang="en-US" sz="1500" dirty="0"/>
          </a:p>
        </p:txBody>
      </p:sp>
      <p:graphicFrame>
        <p:nvGraphicFramePr>
          <p:cNvPr id="34" name="Chart 0" descr=""/>
          <p:cNvGraphicFramePr/>
          <p:nvPr/>
        </p:nvGraphicFramePr>
        <p:xfrm>
          <a:off x="457200" y="4023360"/>
          <a:ext cx="1127455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تبويبات الوزارة</a:t>
            </a:r>
            <a:endParaRPr lang="en-US" sz="1300" dirty="0"/>
          </a:p>
        </p:txBody>
      </p:sp>
      <p:pic>
        <p:nvPicPr>
          <p:cNvPr id="18" name="Image 0" descr="/home/user/test4/assets/panel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11274552" cy="507492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943600" y="914400"/>
            <a:ext cx="6217920" cy="1691640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17920" y="1325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تبويبات الوزارة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11480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b="1" dirty="0">
                <a:solidFill>
                  <a:schemeClr val="accent6"/>
                </a:solidFill>
              </a:rPr>
              <a:t>12</a:t>
            </a:r>
            <a:endParaRPr lang="en-US" sz="11000" dirty="0"/>
          </a:p>
        </p:txBody>
      </p:sp>
      <p:sp>
        <p:nvSpPr>
          <p:cNvPr id="22" name="Shape 19"/>
          <p:cNvSpPr/>
          <p:nvPr/>
        </p:nvSpPr>
        <p:spPr>
          <a:xfrm>
            <a:off x="11201400" y="3108960"/>
            <a:ext cx="0" cy="274320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137392" y="30449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754880" y="28803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نظرة عامة</a:t>
            </a:r>
            <a:endParaRPr lang="en-US" sz="1800" dirty="0"/>
          </a:p>
        </p:txBody>
      </p:sp>
      <p:sp>
        <p:nvSpPr>
          <p:cNvPr id="25" name="Shape 22">
            <a:hlinkClick r:id="rId5" tooltip="نظرة عامة" action="ppaction://hlinksldjump"/>
          </p:cNvPr>
          <p:cNvSpPr/>
          <p:nvPr/>
        </p:nvSpPr>
        <p:spPr>
          <a:xfrm>
            <a:off x="4754880" y="28803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1137392" y="35021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754880" y="33375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استثمار العقارات</a:t>
            </a:r>
            <a:endParaRPr lang="en-US" sz="1800" dirty="0"/>
          </a:p>
        </p:txBody>
      </p:sp>
      <p:sp>
        <p:nvSpPr>
          <p:cNvPr id="28" name="Shape 25">
            <a:hlinkClick r:id="rId6" tooltip="استثمار العقارات" action="ppaction://hlinksldjump"/>
          </p:cNvPr>
          <p:cNvSpPr/>
          <p:nvPr/>
        </p:nvSpPr>
        <p:spPr>
          <a:xfrm>
            <a:off x="4754880" y="33375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11137392" y="39593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754880" y="37947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الرسوم والمقابلات</a:t>
            </a:r>
            <a:endParaRPr lang="en-US" sz="1800" dirty="0"/>
          </a:p>
        </p:txBody>
      </p:sp>
      <p:sp>
        <p:nvSpPr>
          <p:cNvPr id="31" name="Shape 28">
            <a:hlinkClick r:id="rId7" tooltip="الرسوم والمقابلات" action="ppaction://hlinksldjump"/>
          </p:cNvPr>
          <p:cNvSpPr/>
          <p:nvPr/>
        </p:nvSpPr>
        <p:spPr>
          <a:xfrm>
            <a:off x="4754880" y="37947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11137392" y="44165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4754880" y="42519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الجزاءات والغرامات</a:t>
            </a:r>
            <a:endParaRPr lang="en-US" sz="1800" dirty="0"/>
          </a:p>
        </p:txBody>
      </p:sp>
      <p:sp>
        <p:nvSpPr>
          <p:cNvPr id="34" name="Shape 31">
            <a:hlinkClick r:id="rId8" tooltip="الجزاءات والغرامات" action="ppaction://hlinksldjump"/>
          </p:cNvPr>
          <p:cNvSpPr/>
          <p:nvPr/>
        </p:nvSpPr>
        <p:spPr>
          <a:xfrm>
            <a:off x="4754880" y="42519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11137392" y="48737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754880" y="47091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إشغال الإيواء</a:t>
            </a:r>
            <a:endParaRPr lang="en-US" sz="1800" dirty="0"/>
          </a:p>
        </p:txBody>
      </p:sp>
      <p:sp>
        <p:nvSpPr>
          <p:cNvPr id="37" name="Shape 34">
            <a:hlinkClick r:id="rId9" tooltip="إشغال الإيواء" action="ppaction://hlinksldjump"/>
          </p:cNvPr>
          <p:cNvSpPr/>
          <p:nvPr/>
        </p:nvSpPr>
        <p:spPr>
          <a:xfrm>
            <a:off x="4754880" y="47091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11137392" y="53309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4754880" y="51663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منتجات التبغ</a:t>
            </a:r>
            <a:endParaRPr lang="en-US" sz="1800" dirty="0"/>
          </a:p>
        </p:txBody>
      </p:sp>
      <p:sp>
        <p:nvSpPr>
          <p:cNvPr id="40" name="Shape 37">
            <a:hlinkClick r:id="rId10" tooltip="منتجات التبغ" action="ppaction://hlinksldjump"/>
          </p:cNvPr>
          <p:cNvSpPr/>
          <p:nvPr/>
        </p:nvSpPr>
        <p:spPr>
          <a:xfrm>
            <a:off x="4754880" y="51663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11137392" y="57881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4754880" y="56235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إيرادات مختلفة</a:t>
            </a:r>
            <a:endParaRPr lang="en-US" sz="1800" dirty="0"/>
          </a:p>
        </p:txBody>
      </p:sp>
      <p:sp>
        <p:nvSpPr>
          <p:cNvPr id="43" name="Shape 40">
            <a:hlinkClick r:id="rId11" tooltip="إيرادات مختلفة" action="ppaction://hlinksldjump"/>
          </p:cNvPr>
          <p:cNvSpPr/>
          <p:nvPr/>
        </p:nvSpPr>
        <p:spPr>
          <a:xfrm>
            <a:off x="4754880" y="56235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تبويبات الوزارة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98151" y="960120"/>
            <a:ext cx="1133601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823381" y="960120"/>
            <a:ext cx="168333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21" name="Shape 19">
            <a:hlinkClick r:id="rId4" tooltip="استثمار العقارات" action="ppaction://hlinksldjump"/>
          </p:cNvPr>
          <p:cNvSpPr/>
          <p:nvPr/>
        </p:nvSpPr>
        <p:spPr>
          <a:xfrm>
            <a:off x="8823381" y="960120"/>
            <a:ext cx="168333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70079" y="960120"/>
            <a:ext cx="176186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23" name="Shape 21">
            <a:hlinkClick r:id="rId5" tooltip="الرسوم والمقابلات" action="ppaction://hlinksldjump"/>
          </p:cNvPr>
          <p:cNvSpPr/>
          <p:nvPr/>
        </p:nvSpPr>
        <p:spPr>
          <a:xfrm>
            <a:off x="6970079" y="960120"/>
            <a:ext cx="176186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038244" y="960120"/>
            <a:ext cx="1840395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25" name="Shape 23">
            <a:hlinkClick r:id="rId6" tooltip="الجزاءات والغرامات" action="ppaction://hlinksldjump"/>
          </p:cNvPr>
          <p:cNvSpPr/>
          <p:nvPr/>
        </p:nvSpPr>
        <p:spPr>
          <a:xfrm>
            <a:off x="5038244" y="960120"/>
            <a:ext cx="1840395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499073" y="960120"/>
            <a:ext cx="144773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27" name="Shape 25">
            <a:hlinkClick r:id="rId7" tooltip="إشغال الإيواء" action="ppaction://hlinksldjump"/>
          </p:cNvPr>
          <p:cNvSpPr/>
          <p:nvPr/>
        </p:nvSpPr>
        <p:spPr>
          <a:xfrm>
            <a:off x="3499073" y="960120"/>
            <a:ext cx="144773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038434" y="960120"/>
            <a:ext cx="1369199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29" name="Shape 27">
            <a:hlinkClick r:id="rId8" tooltip="منتجات التبغ" action="ppaction://hlinksldjump"/>
          </p:cNvPr>
          <p:cNvSpPr/>
          <p:nvPr/>
        </p:nvSpPr>
        <p:spPr>
          <a:xfrm>
            <a:off x="2038434" y="960120"/>
            <a:ext cx="1369199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20729" y="960120"/>
            <a:ext cx="1526264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31" name="Shape 29">
            <a:hlinkClick r:id="rId9" tooltip="إيرادات مختلفة" action="ppaction://hlinksldjump"/>
          </p:cNvPr>
          <p:cNvSpPr/>
          <p:nvPr/>
        </p:nvSpPr>
        <p:spPr>
          <a:xfrm>
            <a:off x="420729" y="960120"/>
            <a:ext cx="1526264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تبويبات الوزارة — نظرة عامة</a:t>
            </a:r>
            <a:endParaRPr lang="en-US" sz="30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المفوتر حتى سبتمبر مقابل المستهدف</a:t>
            </a:r>
            <a:endParaRPr lang="en-US" sz="1400" dirty="0"/>
          </a:p>
        </p:txBody>
      </p:sp>
      <p:pic>
        <p:nvPicPr>
          <p:cNvPr id="34" name="Image 0" descr="/home/user/test4/assets/card-gree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50274" y="2423160"/>
            <a:ext cx="2681478" cy="1097280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إجمالي المفوتر (يناير–سبتمبر)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9187434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3,898.7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6185916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74A4D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المستهدف (يناير–سبتمبر)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6323076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3,385.4</a:t>
            </a:r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Shape 37"/>
          <p:cNvSpPr/>
          <p:nvPr/>
        </p:nvSpPr>
        <p:spPr>
          <a:xfrm>
            <a:off x="3321558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EAF3E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المفوتر عن المستهدف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3458718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▲ +15.2%</a:t>
            </a:r>
            <a:pPr algn="r" indent="0" marL="0">
              <a:buNone/>
            </a:pPr>
            <a:endParaRPr lang="en-US" sz="2400" dirty="0"/>
          </a:p>
        </p:txBody>
      </p:sp>
      <p:sp>
        <p:nvSpPr>
          <p:cNvPr id="43" name="Shape 40"/>
          <p:cNvSpPr/>
          <p:nvPr/>
        </p:nvSpPr>
        <p:spPr>
          <a:xfrm>
            <a:off x="457200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EAF3EF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المستهدف السنوي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594360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5,044.6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46" name="Text 43"/>
          <p:cNvSpPr txBox="1"/>
          <p:nvPr/>
        </p:nvSpPr>
        <p:spPr>
          <a:xfrm>
            <a:off x="457200" y="367588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المفوتر والمستهدف حسب التبويب (مليون ريال)</a:t>
            </a:r>
            <a:endParaRPr lang="en-US" sz="150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457200" y="4023360"/>
          <a:ext cx="1127455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تبويبات الوزارة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98151" y="960120"/>
            <a:ext cx="1133601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98151" y="960120"/>
            <a:ext cx="1133601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823381" y="960120"/>
            <a:ext cx="1683330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970079" y="960120"/>
            <a:ext cx="176186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23" name="Shape 21">
            <a:hlinkClick r:id="rId5" tooltip="الرسوم والمقابلات" action="ppaction://hlinksldjump"/>
          </p:cNvPr>
          <p:cNvSpPr/>
          <p:nvPr/>
        </p:nvSpPr>
        <p:spPr>
          <a:xfrm>
            <a:off x="6970079" y="960120"/>
            <a:ext cx="176186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038244" y="960120"/>
            <a:ext cx="1840395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25" name="Shape 23">
            <a:hlinkClick r:id="rId6" tooltip="الجزاءات والغرامات" action="ppaction://hlinksldjump"/>
          </p:cNvPr>
          <p:cNvSpPr/>
          <p:nvPr/>
        </p:nvSpPr>
        <p:spPr>
          <a:xfrm>
            <a:off x="5038244" y="960120"/>
            <a:ext cx="1840395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499073" y="960120"/>
            <a:ext cx="144773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27" name="Shape 25">
            <a:hlinkClick r:id="rId7" tooltip="إشغال الإيواء" action="ppaction://hlinksldjump"/>
          </p:cNvPr>
          <p:cNvSpPr/>
          <p:nvPr/>
        </p:nvSpPr>
        <p:spPr>
          <a:xfrm>
            <a:off x="3499073" y="960120"/>
            <a:ext cx="144773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038434" y="960120"/>
            <a:ext cx="1369199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29" name="Shape 27">
            <a:hlinkClick r:id="rId8" tooltip="منتجات التبغ" action="ppaction://hlinksldjump"/>
          </p:cNvPr>
          <p:cNvSpPr/>
          <p:nvPr/>
        </p:nvSpPr>
        <p:spPr>
          <a:xfrm>
            <a:off x="2038434" y="960120"/>
            <a:ext cx="1369199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20729" y="960120"/>
            <a:ext cx="1526264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31" name="Shape 29">
            <a:hlinkClick r:id="rId9" tooltip="إيرادات مختلفة" action="ppaction://hlinksldjump"/>
          </p:cNvPr>
          <p:cNvSpPr/>
          <p:nvPr/>
        </p:nvSpPr>
        <p:spPr>
          <a:xfrm>
            <a:off x="420729" y="960120"/>
            <a:ext cx="1526264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إيرادات استثمار العقارات البلدية</a:t>
            </a:r>
            <a:endParaRPr lang="en-US" sz="30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المفوتر والمستهدف الشهري</a:t>
            </a:r>
            <a:endParaRPr lang="en-US" sz="1400" dirty="0"/>
          </a:p>
        </p:txBody>
      </p:sp>
      <p:pic>
        <p:nvPicPr>
          <p:cNvPr id="34" name="Image 0" descr="/home/user/test4/assets/card-gree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50274" y="2423160"/>
            <a:ext cx="2681478" cy="1097280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المفوتر (يناير–سبتمبر)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9187434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1,239.5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6185916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74A4D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المستهدف (يناير–سبتمبر)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6323076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1,139.0</a:t>
            </a:r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Shape 37"/>
          <p:cNvSpPr/>
          <p:nvPr/>
        </p:nvSpPr>
        <p:spPr>
          <a:xfrm>
            <a:off x="3321558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EAF3E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المفوتر عن المستهدف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3458718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▲ +8.8%</a:t>
            </a:r>
            <a:pPr algn="r" indent="0" marL="0">
              <a:buNone/>
            </a:pPr>
            <a:endParaRPr lang="en-US" sz="2400" dirty="0"/>
          </a:p>
        </p:txBody>
      </p:sp>
      <p:sp>
        <p:nvSpPr>
          <p:cNvPr id="43" name="Shape 40"/>
          <p:cNvSpPr/>
          <p:nvPr/>
        </p:nvSpPr>
        <p:spPr>
          <a:xfrm>
            <a:off x="457200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EAF3EF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المستهدف السنوي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594360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1,920.7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46" name="Text 43"/>
          <p:cNvSpPr txBox="1"/>
          <p:nvPr/>
        </p:nvSpPr>
        <p:spPr>
          <a:xfrm>
            <a:off x="457200" y="367588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المفوتر والمستهدف الشهري (مليون ريال)</a:t>
            </a:r>
            <a:endParaRPr lang="en-US" sz="150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457200" y="4023360"/>
          <a:ext cx="1127455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تبويبات الوزارة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98151" y="960120"/>
            <a:ext cx="1133601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98151" y="960120"/>
            <a:ext cx="1133601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823381" y="960120"/>
            <a:ext cx="168333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22" name="Shape 20">
            <a:hlinkClick r:id="rId5" tooltip="استثمار العقارات" action="ppaction://hlinksldjump"/>
          </p:cNvPr>
          <p:cNvSpPr/>
          <p:nvPr/>
        </p:nvSpPr>
        <p:spPr>
          <a:xfrm>
            <a:off x="8823381" y="960120"/>
            <a:ext cx="168333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970079" y="960120"/>
            <a:ext cx="1761862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038244" y="960120"/>
            <a:ext cx="1840395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25" name="Shape 23">
            <a:hlinkClick r:id="rId6" tooltip="الجزاءات والغرامات" action="ppaction://hlinksldjump"/>
          </p:cNvPr>
          <p:cNvSpPr/>
          <p:nvPr/>
        </p:nvSpPr>
        <p:spPr>
          <a:xfrm>
            <a:off x="5038244" y="960120"/>
            <a:ext cx="1840395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499073" y="960120"/>
            <a:ext cx="144773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27" name="Shape 25">
            <a:hlinkClick r:id="rId7" tooltip="إشغال الإيواء" action="ppaction://hlinksldjump"/>
          </p:cNvPr>
          <p:cNvSpPr/>
          <p:nvPr/>
        </p:nvSpPr>
        <p:spPr>
          <a:xfrm>
            <a:off x="3499073" y="960120"/>
            <a:ext cx="144773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038434" y="960120"/>
            <a:ext cx="1369199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29" name="Shape 27">
            <a:hlinkClick r:id="rId8" tooltip="منتجات التبغ" action="ppaction://hlinksldjump"/>
          </p:cNvPr>
          <p:cNvSpPr/>
          <p:nvPr/>
        </p:nvSpPr>
        <p:spPr>
          <a:xfrm>
            <a:off x="2038434" y="960120"/>
            <a:ext cx="1369199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20729" y="960120"/>
            <a:ext cx="1526264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31" name="Shape 29">
            <a:hlinkClick r:id="rId9" tooltip="إيرادات مختلفة" action="ppaction://hlinksldjump"/>
          </p:cNvPr>
          <p:cNvSpPr/>
          <p:nvPr/>
        </p:nvSpPr>
        <p:spPr>
          <a:xfrm>
            <a:off x="420729" y="960120"/>
            <a:ext cx="1526264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إيرادات الرسوم والمقابلات المالية</a:t>
            </a:r>
            <a:endParaRPr lang="en-US" sz="30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المفوتر والمستهدف الشهري</a:t>
            </a:r>
            <a:endParaRPr lang="en-US" sz="1400" dirty="0"/>
          </a:p>
        </p:txBody>
      </p:sp>
      <p:pic>
        <p:nvPicPr>
          <p:cNvPr id="34" name="Image 0" descr="/home/user/test4/assets/card-gree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50274" y="2423160"/>
            <a:ext cx="2681478" cy="1097280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المفوتر (يناير–سبتمبر)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9187434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918.3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6185916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74A4D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المستهدف (يناير–سبتمبر)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6323076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988.7</a:t>
            </a:r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Shape 37"/>
          <p:cNvSpPr/>
          <p:nvPr/>
        </p:nvSpPr>
        <p:spPr>
          <a:xfrm>
            <a:off x="3321558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EAF3E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المفوتر عن المستهدف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3458718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▼ 7.1%</a:t>
            </a:r>
            <a:pPr algn="r" indent="0" marL="0">
              <a:buNone/>
            </a:pPr>
            <a:endParaRPr lang="en-US" sz="2400" dirty="0"/>
          </a:p>
        </p:txBody>
      </p:sp>
      <p:sp>
        <p:nvSpPr>
          <p:cNvPr id="43" name="Shape 40"/>
          <p:cNvSpPr/>
          <p:nvPr/>
        </p:nvSpPr>
        <p:spPr>
          <a:xfrm>
            <a:off x="457200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EAF3EF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المستهدف السنوي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594360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1,410.5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46" name="Text 43"/>
          <p:cNvSpPr txBox="1"/>
          <p:nvPr/>
        </p:nvSpPr>
        <p:spPr>
          <a:xfrm>
            <a:off x="457200" y="367588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المفوتر والمستهدف الشهري (مليون ريال)</a:t>
            </a:r>
            <a:endParaRPr lang="en-US" sz="150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457200" y="4023360"/>
          <a:ext cx="1127455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تبويبات الوزارة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98151" y="960120"/>
            <a:ext cx="1133601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98151" y="960120"/>
            <a:ext cx="1133601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823381" y="960120"/>
            <a:ext cx="168333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22" name="Shape 20">
            <a:hlinkClick r:id="rId5" tooltip="استثمار العقارات" action="ppaction://hlinksldjump"/>
          </p:cNvPr>
          <p:cNvSpPr/>
          <p:nvPr/>
        </p:nvSpPr>
        <p:spPr>
          <a:xfrm>
            <a:off x="8823381" y="960120"/>
            <a:ext cx="168333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970079" y="960120"/>
            <a:ext cx="176186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24" name="Shape 22">
            <a:hlinkClick r:id="rId6" tooltip="الرسوم والمقابلات" action="ppaction://hlinksldjump"/>
          </p:cNvPr>
          <p:cNvSpPr/>
          <p:nvPr/>
        </p:nvSpPr>
        <p:spPr>
          <a:xfrm>
            <a:off x="6970079" y="960120"/>
            <a:ext cx="176186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038244" y="960120"/>
            <a:ext cx="1840395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499073" y="960120"/>
            <a:ext cx="144773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27" name="Shape 25">
            <a:hlinkClick r:id="rId7" tooltip="إشغال الإيواء" action="ppaction://hlinksldjump"/>
          </p:cNvPr>
          <p:cNvSpPr/>
          <p:nvPr/>
        </p:nvSpPr>
        <p:spPr>
          <a:xfrm>
            <a:off x="3499073" y="960120"/>
            <a:ext cx="144773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038434" y="960120"/>
            <a:ext cx="1369199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29" name="Shape 27">
            <a:hlinkClick r:id="rId8" tooltip="منتجات التبغ" action="ppaction://hlinksldjump"/>
          </p:cNvPr>
          <p:cNvSpPr/>
          <p:nvPr/>
        </p:nvSpPr>
        <p:spPr>
          <a:xfrm>
            <a:off x="2038434" y="960120"/>
            <a:ext cx="1369199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20729" y="960120"/>
            <a:ext cx="1526264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31" name="Shape 29">
            <a:hlinkClick r:id="rId9" tooltip="إيرادات مختلفة" action="ppaction://hlinksldjump"/>
          </p:cNvPr>
          <p:cNvSpPr/>
          <p:nvPr/>
        </p:nvSpPr>
        <p:spPr>
          <a:xfrm>
            <a:off x="420729" y="960120"/>
            <a:ext cx="1526264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إيرادات الجزاءات والغرامات</a:t>
            </a:r>
            <a:endParaRPr lang="en-US" sz="30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المفوتر والمستهدف الشهري</a:t>
            </a:r>
            <a:endParaRPr lang="en-US" sz="1400" dirty="0"/>
          </a:p>
        </p:txBody>
      </p:sp>
      <p:pic>
        <p:nvPicPr>
          <p:cNvPr id="34" name="Image 0" descr="/home/user/test4/assets/card-gree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50274" y="2423160"/>
            <a:ext cx="2681478" cy="1097280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المفوتر (يناير–سبتمبر)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9187434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1,047.3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6185916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74A4D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المستهدف (يناير–سبتمبر)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6323076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814.9</a:t>
            </a:r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Shape 37"/>
          <p:cNvSpPr/>
          <p:nvPr/>
        </p:nvSpPr>
        <p:spPr>
          <a:xfrm>
            <a:off x="3321558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EAF3E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المفوتر عن المستهدف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3458718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▲ +28.5%</a:t>
            </a:r>
            <a:pPr algn="r" indent="0" marL="0">
              <a:buNone/>
            </a:pPr>
            <a:endParaRPr lang="en-US" sz="2400" dirty="0"/>
          </a:p>
        </p:txBody>
      </p:sp>
      <p:sp>
        <p:nvSpPr>
          <p:cNvPr id="43" name="Shape 40"/>
          <p:cNvSpPr/>
          <p:nvPr/>
        </p:nvSpPr>
        <p:spPr>
          <a:xfrm>
            <a:off x="457200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EAF3EF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المستهدف السنوي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594360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1,097.2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46" name="Text 43"/>
          <p:cNvSpPr txBox="1"/>
          <p:nvPr/>
        </p:nvSpPr>
        <p:spPr>
          <a:xfrm>
            <a:off x="457200" y="367588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المفوتر والمستهدف الشهري (مليون ريال)</a:t>
            </a:r>
            <a:endParaRPr lang="en-US" sz="150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457200" y="4023360"/>
          <a:ext cx="1127455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تبويبات الوزارة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98151" y="960120"/>
            <a:ext cx="1133601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98151" y="960120"/>
            <a:ext cx="1133601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823381" y="960120"/>
            <a:ext cx="168333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22" name="Shape 20">
            <a:hlinkClick r:id="rId5" tooltip="استثمار العقارات" action="ppaction://hlinksldjump"/>
          </p:cNvPr>
          <p:cNvSpPr/>
          <p:nvPr/>
        </p:nvSpPr>
        <p:spPr>
          <a:xfrm>
            <a:off x="8823381" y="960120"/>
            <a:ext cx="168333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970079" y="960120"/>
            <a:ext cx="176186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24" name="Shape 22">
            <a:hlinkClick r:id="rId6" tooltip="الرسوم والمقابلات" action="ppaction://hlinksldjump"/>
          </p:cNvPr>
          <p:cNvSpPr/>
          <p:nvPr/>
        </p:nvSpPr>
        <p:spPr>
          <a:xfrm>
            <a:off x="6970079" y="960120"/>
            <a:ext cx="176186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038244" y="960120"/>
            <a:ext cx="1840395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26" name="Shape 24">
            <a:hlinkClick r:id="rId7" tooltip="الجزاءات والغرامات" action="ppaction://hlinksldjump"/>
          </p:cNvPr>
          <p:cNvSpPr/>
          <p:nvPr/>
        </p:nvSpPr>
        <p:spPr>
          <a:xfrm>
            <a:off x="5038244" y="960120"/>
            <a:ext cx="1840395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499073" y="960120"/>
            <a:ext cx="1447732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2038434" y="960120"/>
            <a:ext cx="1369199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29" name="Shape 27">
            <a:hlinkClick r:id="rId8" tooltip="منتجات التبغ" action="ppaction://hlinksldjump"/>
          </p:cNvPr>
          <p:cNvSpPr/>
          <p:nvPr/>
        </p:nvSpPr>
        <p:spPr>
          <a:xfrm>
            <a:off x="2038434" y="960120"/>
            <a:ext cx="1369199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20729" y="960120"/>
            <a:ext cx="1526264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31" name="Shape 29">
            <a:hlinkClick r:id="rId9" tooltip="إيرادات مختلفة" action="ppaction://hlinksldjump"/>
          </p:cNvPr>
          <p:cNvSpPr/>
          <p:nvPr/>
        </p:nvSpPr>
        <p:spPr>
          <a:xfrm>
            <a:off x="420729" y="960120"/>
            <a:ext cx="1526264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إيرادات رسم إشغال مرافق الإيواء</a:t>
            </a:r>
            <a:endParaRPr lang="en-US" sz="30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المفوتر والمستهدف الشهري</a:t>
            </a:r>
            <a:endParaRPr lang="en-US" sz="1400" dirty="0"/>
          </a:p>
        </p:txBody>
      </p:sp>
      <p:pic>
        <p:nvPicPr>
          <p:cNvPr id="34" name="Image 0" descr="/home/user/test4/assets/card-gree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50274" y="2423160"/>
            <a:ext cx="2681478" cy="1097280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المفوتر (يناير–سبتمبر)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9187434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141.0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6185916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74A4D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المستهدف (يناير–سبتمبر)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6323076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197.5</a:t>
            </a:r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Shape 37"/>
          <p:cNvSpPr/>
          <p:nvPr/>
        </p:nvSpPr>
        <p:spPr>
          <a:xfrm>
            <a:off x="3321558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EAF3E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المفوتر عن المستهدف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3458718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▼ 28.6%</a:t>
            </a:r>
            <a:pPr algn="r" indent="0" marL="0">
              <a:buNone/>
            </a:pPr>
            <a:endParaRPr lang="en-US" sz="2400" dirty="0"/>
          </a:p>
        </p:txBody>
      </p:sp>
      <p:sp>
        <p:nvSpPr>
          <p:cNvPr id="43" name="Shape 40"/>
          <p:cNvSpPr/>
          <p:nvPr/>
        </p:nvSpPr>
        <p:spPr>
          <a:xfrm>
            <a:off x="457200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EAF3EF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المستهدف السنوي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594360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287.5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46" name="Text 43"/>
          <p:cNvSpPr txBox="1"/>
          <p:nvPr/>
        </p:nvSpPr>
        <p:spPr>
          <a:xfrm>
            <a:off x="457200" y="367588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المفوتر والمستهدف الشهري (مليون ريال)</a:t>
            </a:r>
            <a:endParaRPr lang="en-US" sz="150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457200" y="4023360"/>
          <a:ext cx="1127455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تبويبات الوزارة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98151" y="960120"/>
            <a:ext cx="1133601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98151" y="960120"/>
            <a:ext cx="1133601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823381" y="960120"/>
            <a:ext cx="168333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22" name="Shape 20">
            <a:hlinkClick r:id="rId5" tooltip="استثمار العقارات" action="ppaction://hlinksldjump"/>
          </p:cNvPr>
          <p:cNvSpPr/>
          <p:nvPr/>
        </p:nvSpPr>
        <p:spPr>
          <a:xfrm>
            <a:off x="8823381" y="960120"/>
            <a:ext cx="168333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970079" y="960120"/>
            <a:ext cx="176186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24" name="Shape 22">
            <a:hlinkClick r:id="rId6" tooltip="الرسوم والمقابلات" action="ppaction://hlinksldjump"/>
          </p:cNvPr>
          <p:cNvSpPr/>
          <p:nvPr/>
        </p:nvSpPr>
        <p:spPr>
          <a:xfrm>
            <a:off x="6970079" y="960120"/>
            <a:ext cx="176186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038244" y="960120"/>
            <a:ext cx="1840395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26" name="Shape 24">
            <a:hlinkClick r:id="rId7" tooltip="الجزاءات والغرامات" action="ppaction://hlinksldjump"/>
          </p:cNvPr>
          <p:cNvSpPr/>
          <p:nvPr/>
        </p:nvSpPr>
        <p:spPr>
          <a:xfrm>
            <a:off x="5038244" y="960120"/>
            <a:ext cx="1840395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499073" y="960120"/>
            <a:ext cx="144773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28" name="Shape 26">
            <a:hlinkClick r:id="rId8" tooltip="إشغال الإيواء" action="ppaction://hlinksldjump"/>
          </p:cNvPr>
          <p:cNvSpPr/>
          <p:nvPr/>
        </p:nvSpPr>
        <p:spPr>
          <a:xfrm>
            <a:off x="3499073" y="960120"/>
            <a:ext cx="144773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038434" y="960120"/>
            <a:ext cx="13691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420729" y="960120"/>
            <a:ext cx="1526264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31" name="Shape 29">
            <a:hlinkClick r:id="rId9" tooltip="إيرادات مختلفة" action="ppaction://hlinksldjump"/>
          </p:cNvPr>
          <p:cNvSpPr/>
          <p:nvPr/>
        </p:nvSpPr>
        <p:spPr>
          <a:xfrm>
            <a:off x="420729" y="960120"/>
            <a:ext cx="1526264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إيرادات رسم تقديم منتجات التبغ</a:t>
            </a:r>
            <a:endParaRPr lang="en-US" sz="30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المفوتر والمستهدف الشهري</a:t>
            </a:r>
            <a:endParaRPr lang="en-US" sz="1400" dirty="0"/>
          </a:p>
        </p:txBody>
      </p:sp>
      <p:pic>
        <p:nvPicPr>
          <p:cNvPr id="34" name="Image 0" descr="/home/user/test4/assets/card-gree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50274" y="2423160"/>
            <a:ext cx="2681478" cy="1097280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المفوتر (يناير–سبتمبر)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9187434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87.0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6185916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74A4D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المستهدف (يناير–سبتمبر)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6323076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164.6</a:t>
            </a:r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Shape 37"/>
          <p:cNvSpPr/>
          <p:nvPr/>
        </p:nvSpPr>
        <p:spPr>
          <a:xfrm>
            <a:off x="3321558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EAF3E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المفوتر عن المستهدف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3458718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▼ 47.2%</a:t>
            </a:r>
            <a:pPr algn="r" indent="0" marL="0">
              <a:buNone/>
            </a:pPr>
            <a:endParaRPr lang="en-US" sz="2400" dirty="0"/>
          </a:p>
        </p:txBody>
      </p:sp>
      <p:sp>
        <p:nvSpPr>
          <p:cNvPr id="43" name="Shape 40"/>
          <p:cNvSpPr/>
          <p:nvPr/>
        </p:nvSpPr>
        <p:spPr>
          <a:xfrm>
            <a:off x="457200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EAF3EF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المستهدف السنوي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594360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222.6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46" name="Text 43"/>
          <p:cNvSpPr txBox="1"/>
          <p:nvPr/>
        </p:nvSpPr>
        <p:spPr>
          <a:xfrm>
            <a:off x="457200" y="367588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المفوتر والمستهدف الشهري (مليون ريال)</a:t>
            </a:r>
            <a:endParaRPr lang="en-US" sz="150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457200" y="4023360"/>
          <a:ext cx="1127455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تبويبات الوزارة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98151" y="960120"/>
            <a:ext cx="1133601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98151" y="960120"/>
            <a:ext cx="1133601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823381" y="960120"/>
            <a:ext cx="168333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22" name="Shape 20">
            <a:hlinkClick r:id="rId5" tooltip="استثمار العقارات" action="ppaction://hlinksldjump"/>
          </p:cNvPr>
          <p:cNvSpPr/>
          <p:nvPr/>
        </p:nvSpPr>
        <p:spPr>
          <a:xfrm>
            <a:off x="8823381" y="960120"/>
            <a:ext cx="168333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970079" y="960120"/>
            <a:ext cx="176186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24" name="Shape 22">
            <a:hlinkClick r:id="rId6" tooltip="الرسوم والمقابلات" action="ppaction://hlinksldjump"/>
          </p:cNvPr>
          <p:cNvSpPr/>
          <p:nvPr/>
        </p:nvSpPr>
        <p:spPr>
          <a:xfrm>
            <a:off x="6970079" y="960120"/>
            <a:ext cx="176186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038244" y="960120"/>
            <a:ext cx="1840395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26" name="Shape 24">
            <a:hlinkClick r:id="rId7" tooltip="الجزاءات والغرامات" action="ppaction://hlinksldjump"/>
          </p:cNvPr>
          <p:cNvSpPr/>
          <p:nvPr/>
        </p:nvSpPr>
        <p:spPr>
          <a:xfrm>
            <a:off x="5038244" y="960120"/>
            <a:ext cx="1840395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499073" y="960120"/>
            <a:ext cx="144773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28" name="Shape 26">
            <a:hlinkClick r:id="rId8" tooltip="إشغال الإيواء" action="ppaction://hlinksldjump"/>
          </p:cNvPr>
          <p:cNvSpPr/>
          <p:nvPr/>
        </p:nvSpPr>
        <p:spPr>
          <a:xfrm>
            <a:off x="3499073" y="960120"/>
            <a:ext cx="144773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038434" y="960120"/>
            <a:ext cx="1369199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30" name="Shape 28">
            <a:hlinkClick r:id="rId9" tooltip="منتجات التبغ" action="ppaction://hlinksldjump"/>
          </p:cNvPr>
          <p:cNvSpPr/>
          <p:nvPr/>
        </p:nvSpPr>
        <p:spPr>
          <a:xfrm>
            <a:off x="2038434" y="960120"/>
            <a:ext cx="1369199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20729" y="960120"/>
            <a:ext cx="1526264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الإيرادات المختلفة</a:t>
            </a:r>
            <a:endParaRPr lang="en-US" sz="30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المفوتر والمستهدف الشهري</a:t>
            </a:r>
            <a:endParaRPr lang="en-US" sz="1400" dirty="0"/>
          </a:p>
        </p:txBody>
      </p:sp>
      <p:pic>
        <p:nvPicPr>
          <p:cNvPr id="34" name="Image 0" descr="/home/user/test4/assets/card-gree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50274" y="2423160"/>
            <a:ext cx="2681478" cy="1097280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المفوتر (يناير–سبتمبر)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9187434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465.6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6185916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74A4D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المستهدف (يناير–سبتمبر)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6323076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80.6</a:t>
            </a:r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40" name="Shape 37"/>
          <p:cNvSpPr/>
          <p:nvPr/>
        </p:nvSpPr>
        <p:spPr>
          <a:xfrm>
            <a:off x="3321558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EAF3E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المفوتر عن المستهدف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3458718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▲ +478.0%</a:t>
            </a:r>
            <a:pPr algn="r" indent="0" marL="0">
              <a:buNone/>
            </a:pPr>
            <a:endParaRPr lang="en-US" sz="2400" dirty="0"/>
          </a:p>
        </p:txBody>
      </p:sp>
      <p:sp>
        <p:nvSpPr>
          <p:cNvPr id="43" name="Shape 40"/>
          <p:cNvSpPr/>
          <p:nvPr/>
        </p:nvSpPr>
        <p:spPr>
          <a:xfrm>
            <a:off x="457200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EAF3EF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المستهدف السنوي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594360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106.0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46" name="Text 43"/>
          <p:cNvSpPr txBox="1"/>
          <p:nvPr/>
        </p:nvSpPr>
        <p:spPr>
          <a:xfrm>
            <a:off x="457200" y="367588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المفوتر والمستهدف الشهري (مليون ريال)</a:t>
            </a:r>
            <a:endParaRPr lang="en-US" sz="150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457200" y="4023360"/>
          <a:ext cx="1127455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المديونية</a:t>
            </a:r>
            <a:endParaRPr lang="en-US" sz="1300" dirty="0"/>
          </a:p>
        </p:txBody>
      </p:sp>
      <p:pic>
        <p:nvPicPr>
          <p:cNvPr id="18" name="Image 0" descr="/home/user/test4/assets/panel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11274552" cy="507492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5943600" y="914400"/>
            <a:ext cx="6217920" cy="1691640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17920" y="1325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المديونية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11480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b="1" dirty="0">
                <a:solidFill>
                  <a:schemeClr val="accent6"/>
                </a:solidFill>
              </a:rPr>
              <a:t>13</a:t>
            </a:r>
            <a:endParaRPr lang="en-US" sz="11000" dirty="0"/>
          </a:p>
        </p:txBody>
      </p:sp>
      <p:sp>
        <p:nvSpPr>
          <p:cNvPr id="22" name="Shape 19"/>
          <p:cNvSpPr/>
          <p:nvPr/>
        </p:nvSpPr>
        <p:spPr>
          <a:xfrm>
            <a:off x="11201400" y="3108960"/>
            <a:ext cx="0" cy="182880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137392" y="30449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754880" y="28803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نظرة عامة</a:t>
            </a:r>
            <a:endParaRPr lang="en-US" sz="1800" dirty="0"/>
          </a:p>
        </p:txBody>
      </p:sp>
      <p:sp>
        <p:nvSpPr>
          <p:cNvPr id="25" name="Shape 22">
            <a:hlinkClick r:id="rId5" tooltip="نظرة عامة" action="ppaction://hlinksldjump"/>
          </p:cNvPr>
          <p:cNvSpPr/>
          <p:nvPr/>
        </p:nvSpPr>
        <p:spPr>
          <a:xfrm>
            <a:off x="4754880" y="28803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1137392" y="35021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754880" y="33375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إيرادات استثمارية</a:t>
            </a:r>
            <a:endParaRPr lang="en-US" sz="1800" dirty="0"/>
          </a:p>
        </p:txBody>
      </p:sp>
      <p:sp>
        <p:nvSpPr>
          <p:cNvPr id="28" name="Shape 25">
            <a:hlinkClick r:id="rId6" tooltip="إيرادات استثمارية" action="ppaction://hlinksldjump"/>
          </p:cNvPr>
          <p:cNvSpPr/>
          <p:nvPr/>
        </p:nvSpPr>
        <p:spPr>
          <a:xfrm>
            <a:off x="4754880" y="33375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11137392" y="39593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754880" y="37947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جزاءات وغرامات</a:t>
            </a:r>
            <a:endParaRPr lang="en-US" sz="1800" dirty="0"/>
          </a:p>
        </p:txBody>
      </p:sp>
      <p:sp>
        <p:nvSpPr>
          <p:cNvPr id="31" name="Shape 28">
            <a:hlinkClick r:id="rId7" tooltip="جزاءات وغرامات" action="ppaction://hlinksldjump"/>
          </p:cNvPr>
          <p:cNvSpPr/>
          <p:nvPr/>
        </p:nvSpPr>
        <p:spPr>
          <a:xfrm>
            <a:off x="4754880" y="37947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11137392" y="44165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4754880" y="42519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التبغ والإيواء</a:t>
            </a:r>
            <a:endParaRPr lang="en-US" sz="1800" dirty="0"/>
          </a:p>
        </p:txBody>
      </p:sp>
      <p:sp>
        <p:nvSpPr>
          <p:cNvPr id="34" name="Shape 31">
            <a:hlinkClick r:id="rId8" tooltip="التبغ والإيواء" action="ppaction://hlinksldjump"/>
          </p:cNvPr>
          <p:cNvSpPr/>
          <p:nvPr/>
        </p:nvSpPr>
        <p:spPr>
          <a:xfrm>
            <a:off x="4754880" y="42519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11137392" y="487375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754880" y="47091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أخرى</a:t>
            </a:r>
            <a:endParaRPr lang="en-US" sz="1800" dirty="0"/>
          </a:p>
        </p:txBody>
      </p:sp>
      <p:sp>
        <p:nvSpPr>
          <p:cNvPr id="37" name="Shape 34">
            <a:hlinkClick r:id="rId9" tooltip="أخرى" action="ppaction://hlinksldjump"/>
          </p:cNvPr>
          <p:cNvSpPr/>
          <p:nvPr/>
        </p:nvSpPr>
        <p:spPr>
          <a:xfrm>
            <a:off x="4754880" y="4709160"/>
            <a:ext cx="65836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المديونية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إيرادات استثمارية</a:t>
            </a:r>
            <a:endParaRPr lang="en-US" sz="1200" dirty="0"/>
          </a:p>
        </p:txBody>
      </p:sp>
      <p:sp>
        <p:nvSpPr>
          <p:cNvPr id="21" name="Shape 19">
            <a:hlinkClick r:id="rId4" tooltip="إيرادات ا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12280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3" name="Shape 21">
            <a:hlinkClick r:id="rId5" tooltip="جزاءات وغرامات" action="ppaction://hlinksldjump"/>
          </p:cNvPr>
          <p:cNvSpPr/>
          <p:nvPr/>
        </p:nvSpPr>
        <p:spPr>
          <a:xfrm>
            <a:off x="6812280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08589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5" name="Shape 23">
            <a:hlinkClick r:id="rId6" tooltip="التبغ والإيواء" action="ppaction://hlinksldjump"/>
          </p:cNvPr>
          <p:cNvSpPr/>
          <p:nvPr/>
        </p:nvSpPr>
        <p:spPr>
          <a:xfrm>
            <a:off x="508589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125773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أخرى</a:t>
            </a:r>
            <a:endParaRPr lang="en-US" sz="1200" dirty="0"/>
          </a:p>
        </p:txBody>
      </p:sp>
      <p:sp>
        <p:nvSpPr>
          <p:cNvPr id="27" name="Shape 25">
            <a:hlinkClick r:id="rId7" tooltip="أخرى" action="ppaction://hlinksldjump"/>
          </p:cNvPr>
          <p:cNvSpPr/>
          <p:nvPr/>
        </p:nvSpPr>
        <p:spPr>
          <a:xfrm>
            <a:off x="4125773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المديونية — نظرة عامة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رصيد المديونية حسب التبويب</a:t>
            </a:r>
            <a:endParaRPr lang="en-US" sz="1400" dirty="0"/>
          </a:p>
        </p:txBody>
      </p:sp>
      <p:pic>
        <p:nvPicPr>
          <p:cNvPr id="30" name="Image 0" descr="/home/user/test4/assets/card-gree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50274" y="2423160"/>
            <a:ext cx="2681478" cy="1097280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رصيد المديونية الإجمالي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9187434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2,720.2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6185916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74A4D4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المتبقي حتى تاريخه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6323076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2,326.4</a:t>
            </a:r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36" name="Shape 33"/>
          <p:cNvSpPr/>
          <p:nvPr/>
        </p:nvSpPr>
        <p:spPr>
          <a:xfrm>
            <a:off x="3321558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EAF3E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ما تم سداده السنة الحالية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3458718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368.3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39" name="Shape 36"/>
          <p:cNvSpPr/>
          <p:nvPr/>
        </p:nvSpPr>
        <p:spPr>
          <a:xfrm>
            <a:off x="457200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EAF3EF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الملغي من المديونية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49.4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42" name="Text 39"/>
          <p:cNvSpPr txBox="1"/>
          <p:nvPr/>
        </p:nvSpPr>
        <p:spPr>
          <a:xfrm>
            <a:off x="457200" y="367588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المديونية حسب التبويب (مليون ريال)</a:t>
            </a:r>
            <a:endParaRPr lang="en-US" sz="1500" dirty="0"/>
          </a:p>
        </p:txBody>
      </p:sp>
      <p:graphicFrame>
        <p:nvGraphicFramePr>
          <p:cNvPr id="43" name="Chart 0" descr=""/>
          <p:cNvGraphicFramePr/>
          <p:nvPr/>
        </p:nvGraphicFramePr>
        <p:xfrm>
          <a:off x="457200" y="4023360"/>
          <a:ext cx="1127455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المديونية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إيرادات استثمارية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812280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3" name="Shape 21">
            <a:hlinkClick r:id="rId5" tooltip="جزاءات وغرامات" action="ppaction://hlinksldjump"/>
          </p:cNvPr>
          <p:cNvSpPr/>
          <p:nvPr/>
        </p:nvSpPr>
        <p:spPr>
          <a:xfrm>
            <a:off x="6812280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08589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5" name="Shape 23">
            <a:hlinkClick r:id="rId6" tooltip="التبغ والإيواء" action="ppaction://hlinksldjump"/>
          </p:cNvPr>
          <p:cNvSpPr/>
          <p:nvPr/>
        </p:nvSpPr>
        <p:spPr>
          <a:xfrm>
            <a:off x="508589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125773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أخرى</a:t>
            </a:r>
            <a:endParaRPr lang="en-US" sz="1200" dirty="0"/>
          </a:p>
        </p:txBody>
      </p:sp>
      <p:sp>
        <p:nvSpPr>
          <p:cNvPr id="27" name="Shape 25">
            <a:hlinkClick r:id="rId7" tooltip="أخرى" action="ppaction://hlinksldjump"/>
          </p:cNvPr>
          <p:cNvSpPr/>
          <p:nvPr/>
        </p:nvSpPr>
        <p:spPr>
          <a:xfrm>
            <a:off x="4125773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إيرادات استثمارية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المديونية حسب سنة النشوء</a:t>
            </a:r>
            <a:endParaRPr lang="en-US" sz="1400" dirty="0"/>
          </a:p>
        </p:txBody>
      </p:sp>
      <p:pic>
        <p:nvPicPr>
          <p:cNvPr id="30" name="Image 0" descr="/home/user/test4/assets/card-gree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50274" y="2423160"/>
            <a:ext cx="2681478" cy="1097280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رصيد المديونية الإجمالي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9187434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560.8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6185916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74A4D4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المتبقي حتى تاريخه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6323076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373.1</a:t>
            </a:r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36" name="Shape 33"/>
          <p:cNvSpPr/>
          <p:nvPr/>
        </p:nvSpPr>
        <p:spPr>
          <a:xfrm>
            <a:off x="3321558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EAF3E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ما تم سداده السنة الحالية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3458718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172.1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39" name="Shape 36"/>
          <p:cNvSpPr/>
          <p:nvPr/>
        </p:nvSpPr>
        <p:spPr>
          <a:xfrm>
            <a:off x="457200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EAF3EF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الملغي من المديونية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15.6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42" name="Text 39"/>
          <p:cNvSpPr txBox="1"/>
          <p:nvPr/>
        </p:nvSpPr>
        <p:spPr>
          <a:xfrm>
            <a:off x="457200" y="367588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المديونية حسب سنة النشوء (مليون ريال)</a:t>
            </a:r>
            <a:endParaRPr lang="en-US" sz="1500" dirty="0"/>
          </a:p>
        </p:txBody>
      </p:sp>
      <p:graphicFrame>
        <p:nvGraphicFramePr>
          <p:cNvPr id="43" name="Chart 0" descr=""/>
          <p:cNvGraphicFramePr/>
          <p:nvPr/>
        </p:nvGraphicFramePr>
        <p:xfrm>
          <a:off x="457200" y="4023360"/>
          <a:ext cx="1127455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المديونية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إيرادات استثمارية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ا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12280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08589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5" name="Shape 23">
            <a:hlinkClick r:id="rId6" tooltip="التبغ والإيواء" action="ppaction://hlinksldjump"/>
          </p:cNvPr>
          <p:cNvSpPr/>
          <p:nvPr/>
        </p:nvSpPr>
        <p:spPr>
          <a:xfrm>
            <a:off x="508589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125773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أخرى</a:t>
            </a:r>
            <a:endParaRPr lang="en-US" sz="1200" dirty="0"/>
          </a:p>
        </p:txBody>
      </p:sp>
      <p:sp>
        <p:nvSpPr>
          <p:cNvPr id="27" name="Shape 25">
            <a:hlinkClick r:id="rId7" tooltip="أخرى" action="ppaction://hlinksldjump"/>
          </p:cNvPr>
          <p:cNvSpPr/>
          <p:nvPr/>
        </p:nvSpPr>
        <p:spPr>
          <a:xfrm>
            <a:off x="4125773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جزاءات وغرامات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المديونية حسب سنة النشوء</a:t>
            </a:r>
            <a:endParaRPr lang="en-US" sz="1400" dirty="0"/>
          </a:p>
        </p:txBody>
      </p:sp>
      <p:pic>
        <p:nvPicPr>
          <p:cNvPr id="30" name="Image 0" descr="/home/user/test4/assets/card-gree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50274" y="2423160"/>
            <a:ext cx="2681478" cy="1097280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رصيد المديونية الإجمالي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9187434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1,851.7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6185916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74A4D4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المتبقي حتى تاريخه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6323076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1,672.0</a:t>
            </a:r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36" name="Shape 33"/>
          <p:cNvSpPr/>
          <p:nvPr/>
        </p:nvSpPr>
        <p:spPr>
          <a:xfrm>
            <a:off x="3321558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EAF3E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ما تم سداده السنة الحالية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3458718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166.1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39" name="Shape 36"/>
          <p:cNvSpPr/>
          <p:nvPr/>
        </p:nvSpPr>
        <p:spPr>
          <a:xfrm>
            <a:off x="457200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EAF3EF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الملغي من المديونية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28.6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42" name="Text 39"/>
          <p:cNvSpPr txBox="1"/>
          <p:nvPr/>
        </p:nvSpPr>
        <p:spPr>
          <a:xfrm>
            <a:off x="457200" y="367588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المديونية حسب سنة النشوء (مليون ريال)</a:t>
            </a:r>
            <a:endParaRPr lang="en-US" sz="1500" dirty="0"/>
          </a:p>
        </p:txBody>
      </p:sp>
      <p:graphicFrame>
        <p:nvGraphicFramePr>
          <p:cNvPr id="43" name="Chart 0" descr=""/>
          <p:cNvGraphicFramePr/>
          <p:nvPr/>
        </p:nvGraphicFramePr>
        <p:xfrm>
          <a:off x="457200" y="4023360"/>
          <a:ext cx="1127455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المديونية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إيرادات استثمارية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ا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12280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4" name="Shape 22">
            <a:hlinkClick r:id="rId6" tooltip="جزاءات وغرامات" action="ppaction://hlinksldjump"/>
          </p:cNvPr>
          <p:cNvSpPr/>
          <p:nvPr/>
        </p:nvSpPr>
        <p:spPr>
          <a:xfrm>
            <a:off x="6812280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08589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125773" y="960120"/>
            <a:ext cx="868680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أخرى</a:t>
            </a:r>
            <a:endParaRPr lang="en-US" sz="1200" dirty="0"/>
          </a:p>
        </p:txBody>
      </p:sp>
      <p:sp>
        <p:nvSpPr>
          <p:cNvPr id="27" name="Shape 25">
            <a:hlinkClick r:id="rId7" tooltip="أخرى" action="ppaction://hlinksldjump"/>
          </p:cNvPr>
          <p:cNvSpPr/>
          <p:nvPr/>
        </p:nvSpPr>
        <p:spPr>
          <a:xfrm>
            <a:off x="4125773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التبغ والإيواء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المديونية حسب سنة النشوء</a:t>
            </a:r>
            <a:endParaRPr lang="en-US" sz="1400" dirty="0"/>
          </a:p>
        </p:txBody>
      </p:sp>
      <p:pic>
        <p:nvPicPr>
          <p:cNvPr id="30" name="Image 0" descr="/home/user/test4/assets/card-gree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50274" y="2423160"/>
            <a:ext cx="2681478" cy="1097280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رصيد المديونية الإجمالي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9187434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202.6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6185916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74A4D4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المتبقي حتى تاريخه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6323076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195.7</a:t>
            </a:r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36" name="Shape 33"/>
          <p:cNvSpPr/>
          <p:nvPr/>
        </p:nvSpPr>
        <p:spPr>
          <a:xfrm>
            <a:off x="3321558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EAF3E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ما تم سداده السنة الحالية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3458718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10.8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39" name="Shape 36"/>
          <p:cNvSpPr/>
          <p:nvPr/>
        </p:nvSpPr>
        <p:spPr>
          <a:xfrm>
            <a:off x="457200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EAF3EF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الملغي من المديونية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5.2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42" name="Text 39"/>
          <p:cNvSpPr txBox="1"/>
          <p:nvPr/>
        </p:nvSpPr>
        <p:spPr>
          <a:xfrm>
            <a:off x="457200" y="367588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المديونية حسب سنة النشوء (مليون ريال)</a:t>
            </a:r>
            <a:endParaRPr lang="en-US" sz="1500" dirty="0"/>
          </a:p>
        </p:txBody>
      </p:sp>
      <p:graphicFrame>
        <p:nvGraphicFramePr>
          <p:cNvPr id="43" name="Chart 0" descr=""/>
          <p:cNvGraphicFramePr/>
          <p:nvPr/>
        </p:nvGraphicFramePr>
        <p:xfrm>
          <a:off x="457200" y="4023360"/>
          <a:ext cx="1127455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Shape 14">
            <a:hlinkClick r:id="rId3" tooltip="التالي" action="ppaction://hlinksldjump"/>
          </p:cNvPr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المديونية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84141" y="384048"/>
            <a:ext cx="793699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20" name="Shape 18">
            <a:hlinkClick r:id="rId4" tooltip="نظرة عامة" action="ppaction://hlinksldjump"/>
          </p:cNvPr>
          <p:cNvSpPr/>
          <p:nvPr/>
        </p:nvSpPr>
        <p:spPr>
          <a:xfrm>
            <a:off x="10517429" y="960120"/>
            <a:ext cx="1214323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إيرادات استثمارية</a:t>
            </a:r>
            <a:endParaRPr lang="en-US" sz="1200" dirty="0"/>
          </a:p>
        </p:txBody>
      </p:sp>
      <p:sp>
        <p:nvSpPr>
          <p:cNvPr id="22" name="Shape 20">
            <a:hlinkClick r:id="rId5" tooltip="إيرادات استثمارية" action="ppaction://hlinksldjump"/>
          </p:cNvPr>
          <p:cNvSpPr/>
          <p:nvPr/>
        </p:nvSpPr>
        <p:spPr>
          <a:xfrm>
            <a:off x="8538667" y="960120"/>
            <a:ext cx="1887322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12280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24" name="Shape 22">
            <a:hlinkClick r:id="rId6" tooltip="جزاءات وغرامات" action="ppaction://hlinksldjump"/>
          </p:cNvPr>
          <p:cNvSpPr/>
          <p:nvPr/>
        </p:nvSpPr>
        <p:spPr>
          <a:xfrm>
            <a:off x="6812280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085893" y="960120"/>
            <a:ext cx="1634947" cy="365760"/>
          </a:xfrm>
          <a:prstGeom prst="roundRect">
            <a:avLst>
              <a:gd name="adj" fmla="val 3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26" name="Shape 24">
            <a:hlinkClick r:id="rId7" tooltip="التبغ والإيواء" action="ppaction://hlinksldjump"/>
          </p:cNvPr>
          <p:cNvSpPr/>
          <p:nvPr/>
        </p:nvSpPr>
        <p:spPr>
          <a:xfrm>
            <a:off x="5085893" y="960120"/>
            <a:ext cx="1634947" cy="365760"/>
          </a:xfrm>
          <a:prstGeom prst="roundRect">
            <a:avLst>
              <a:gd name="adj" fmla="val 3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125773" y="96012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أخرى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أخرى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201168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المديونية حسب سنة النشوء</a:t>
            </a:r>
            <a:endParaRPr lang="en-US" sz="1400" dirty="0"/>
          </a:p>
        </p:txBody>
      </p:sp>
      <p:pic>
        <p:nvPicPr>
          <p:cNvPr id="30" name="Image 0" descr="/home/user/test4/assets/card-gree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50274" y="2423160"/>
            <a:ext cx="2681478" cy="1097280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9187434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5E8DF"/>
                </a:solidFill>
              </a:rPr>
              <a:t>رصيد المديونية الإجمالي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9187434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105.1</a:t>
            </a:r>
            <a:pPr algn="r" indent="0" marL="0">
              <a:buNone/>
            </a:pPr>
            <a:r>
              <a:rPr lang="en-US" sz="1200" dirty="0">
                <a:solidFill>
                  <a:srgbClr val="D5E8DF"/>
                </a:solidFill>
              </a:rPr>
              <a:t>  م.ر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6185916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74A4D4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323076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المتبقي حتى تاريخه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6323076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85.7</a:t>
            </a:r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 م.ر</a:t>
            </a:r>
            <a:endParaRPr lang="en-US" sz="2400" dirty="0"/>
          </a:p>
        </p:txBody>
      </p:sp>
      <p:sp>
        <p:nvSpPr>
          <p:cNvPr id="36" name="Shape 33"/>
          <p:cNvSpPr/>
          <p:nvPr/>
        </p:nvSpPr>
        <p:spPr>
          <a:xfrm>
            <a:off x="3321558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EAF3E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458718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ما تم سداده السنة الحالية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3458718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19.3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39" name="Shape 36"/>
          <p:cNvSpPr/>
          <p:nvPr/>
        </p:nvSpPr>
        <p:spPr>
          <a:xfrm>
            <a:off x="457200" y="2423160"/>
            <a:ext cx="2681478" cy="1097280"/>
          </a:xfrm>
          <a:prstGeom prst="roundRect">
            <a:avLst>
              <a:gd name="adj" fmla="val 11667"/>
            </a:avLst>
          </a:prstGeom>
          <a:solidFill>
            <a:srgbClr val="EAF3EF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94360" y="2496312"/>
            <a:ext cx="24071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الملغي من المديونية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2807208"/>
            <a:ext cx="24071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0.0</a:t>
            </a:r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 م.ر</a:t>
            </a:r>
            <a:endParaRPr lang="en-US" sz="2400" dirty="0"/>
          </a:p>
        </p:txBody>
      </p:sp>
      <p:sp>
        <p:nvSpPr>
          <p:cNvPr id="42" name="Text 39"/>
          <p:cNvSpPr txBox="1"/>
          <p:nvPr/>
        </p:nvSpPr>
        <p:spPr>
          <a:xfrm>
            <a:off x="457200" y="367588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المديونية حسب سنة النشوء (مليون ريال)</a:t>
            </a:r>
            <a:endParaRPr lang="en-US" sz="1500" dirty="0"/>
          </a:p>
        </p:txBody>
      </p:sp>
      <p:graphicFrame>
        <p:nvGraphicFramePr>
          <p:cNvPr id="43" name="Chart 0" descr=""/>
          <p:cNvGraphicFramePr/>
          <p:nvPr/>
        </p:nvGraphicFramePr>
        <p:xfrm>
          <a:off x="457200" y="4023360"/>
          <a:ext cx="1127455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56848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74A4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12296" y="265176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56848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006A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2296" y="420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8CBCA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3112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الفهرس</a:t>
            </a:r>
            <a:endParaRPr lang="en-US" sz="900" dirty="0"/>
          </a:p>
        </p:txBody>
      </p:sp>
      <p:sp>
        <p:nvSpPr>
          <p:cNvPr id="8" name="Shape 6">
            <a:hlinkClick r:id="rId1" tooltip="الفهرس" action="ppaction://hlinksldjump"/>
          </p:cNvPr>
          <p:cNvSpPr/>
          <p:nvPr/>
        </p:nvSpPr>
        <p:spPr>
          <a:xfrm>
            <a:off x="11274552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السابق</a:t>
            </a:r>
            <a:endParaRPr lang="en-US" sz="900" dirty="0"/>
          </a:p>
        </p:txBody>
      </p:sp>
      <p:sp>
        <p:nvSpPr>
          <p:cNvPr id="12" name="Shape 10">
            <a:hlinkClick r:id="rId2" tooltip="السابق" action="ppaction://hlinksldjump"/>
          </p:cNvPr>
          <p:cNvSpPr/>
          <p:nvPr/>
        </p:nvSpPr>
        <p:spPr>
          <a:xfrm>
            <a:off x="10561320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48088" y="1828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48088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756648" y="6583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التالي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852160" y="274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ملاحظات منهجية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141732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ملاحظات منهجية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6245352" y="2286000"/>
            <a:ext cx="5486400" cy="1143000"/>
          </a:xfrm>
          <a:prstGeom prst="roundRect">
            <a:avLst>
              <a:gd name="adj" fmla="val 11200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1091672" y="2606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382512" y="23774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التنظيم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382512" y="267919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جميع البيانات مسجّلة حسب السنة والتبويب؛ البنود التفصيلية (الحسابات) مجمّعة على مستوى التبويب.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2286000"/>
            <a:ext cx="5486400" cy="1143000"/>
          </a:xfrm>
          <a:prstGeom prst="roundRect">
            <a:avLst>
              <a:gd name="adj" fmla="val 11200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303520" y="2606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23774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السنة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267919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الشيتات التي لا تحتوي عمود سنة نُسبت إلى 2026 (الإيراد للشهر الحالي، القطاع، التنفيذ والاسترداد، الاستثمارية).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45352" y="3611880"/>
            <a:ext cx="5486400" cy="1143000"/>
          </a:xfrm>
          <a:prstGeom prst="roundRect">
            <a:avLst>
              <a:gd name="adj" fmla="val 11200"/>
            </a:avLst>
          </a:prstGeom>
          <a:solidFill>
            <a:schemeClr val="bg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1091672" y="39319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6382512" y="37033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النسب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382512" y="400507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نسب الفعلي عن المقدر والمستهدف والسنة الماضية محسوبة من الأرقام الخام (الفعلي ÷ القاعدة − 1).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3611880"/>
            <a:ext cx="5486400" cy="1143000"/>
          </a:xfrm>
          <a:prstGeom prst="roundRect">
            <a:avLst>
              <a:gd name="adj" fmla="val 11200"/>
            </a:avLst>
          </a:prstGeom>
          <a:solidFill>
            <a:schemeClr val="bg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303520" y="39319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37033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المجاميع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4360" y="400507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إجمالي منطقة الرياض = مدينة الرياض + بلديات المنطقة، ولا تُجمع الثلاثة معاً تفادياً للتكرار.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245352" y="4937760"/>
            <a:ext cx="5486400" cy="1143000"/>
          </a:xfrm>
          <a:prstGeom prst="roundRect">
            <a:avLst>
              <a:gd name="adj" fmla="val 11200"/>
            </a:avLst>
          </a:prstGeom>
          <a:solidFill>
            <a:schemeClr val="bg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1091672" y="5257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6382512" y="50292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السيناريوهات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6382512" y="533095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بيانات سيناريو الإقفال الأول والثاني متطابقة في الملف المصدر.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57200" y="4937760"/>
            <a:ext cx="5486400" cy="1143000"/>
          </a:xfrm>
          <a:prstGeom prst="roundRect">
            <a:avLst>
              <a:gd name="adj" fmla="val 11200"/>
            </a:avLst>
          </a:prstGeom>
          <a:solidFill>
            <a:schemeClr val="bg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303520" y="5257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594360" y="50292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الوحدة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594360" y="533095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المبالغ بالمليون ريال سعودي، والأرقام مقرّبة لأقرب خانة عشرية وقد لا تتطابق المجاميع.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istry of Tourism Revenue">
  <a:themeElements>
    <a:clrScheme name="Ministry of Tourism Revenue">
      <a:dk1>
        <a:srgbClr val="242424"/>
      </a:dk1>
      <a:lt1>
        <a:srgbClr val="FFFFFF"/>
      </a:lt1>
      <a:dk2>
        <a:srgbClr val="006A46"/>
      </a:dk2>
      <a:lt2>
        <a:srgbClr val="EAF3EF"/>
      </a:lt2>
      <a:accent1>
        <a:srgbClr val="006A46"/>
      </a:accent1>
      <a:accent2>
        <a:srgbClr val="147454"/>
      </a:accent2>
      <a:accent3>
        <a:srgbClr val="74A4D4"/>
      </a:accent3>
      <a:accent4>
        <a:srgbClr val="E4A42C"/>
      </a:accent4>
      <a:accent5>
        <a:srgbClr val="F28B82"/>
      </a:accent5>
      <a:accent6>
        <a:srgbClr val="8CBCAC"/>
      </a:accent6>
      <a:hlink>
        <a:srgbClr val="006A46"/>
      </a:hlink>
      <a:folHlink>
        <a:srgbClr val="5B6B7B"/>
      </a:folHlink>
    </a:clrScheme>
    <a:fontScheme name="Ministry of Tourism Revenue">
      <a:majorFont>
        <a:latin typeface="Vazirmat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Vazirmat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67</Slides>
  <Notes>67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تقرير الإيرادات 2026</dc:title>
  <dc:subject>PptxGenJS Presentation</dc:subject>
  <dc:creator>وزارة السياحة</dc:creator>
  <cp:lastModifiedBy>وزارة السياحة</cp:lastModifiedBy>
  <cp:revision>1</cp:revision>
  <dcterms:created xsi:type="dcterms:W3CDTF">2026-10-14T03:42:36Z</dcterms:created>
  <dcterms:modified xsi:type="dcterms:W3CDTF">2026-10-14T03:42:36Z</dcterms:modified>
</cp:coreProperties>
</file>