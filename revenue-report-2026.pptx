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0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3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5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26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8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3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3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32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35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3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37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38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39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4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41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42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43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44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45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46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47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charts/chart48.xml" ContentType="application/vnd.openxmlformats-officedocument.drawingml.chart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49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50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51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6858000" cy="13606272"/>
  <p:notesSz cx="13606272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غلاف" id="{78bd7f00-19db-b195-750c-42e9637acabf}">
          <p14:sldIdLst/>
        </p14:section>
        <p14:section name="الفهرس" id="{715da177-8736-4350-0fc7-0e16b98778bf}">
          <p14:sldIdLst>
            <p14:sldId id="257"/>
          </p14:sldIdLst>
        </p14:section>
        <p14:section name="المؤشرات الرئيسة" id="{5036d42b-fe8a-d31c-76e4-8a711f2b8d3a}">
          <p14:sldIdLst>
            <p14:sldId id="258"/>
          </p14:sldIdLst>
        </p14:section>
        <p14:section name="الإيراد حتى تاريخه" id="{dd4eeb7e-7529-95ae-f962-3b9acd0286c6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الإيراد لنهاية السنة" id="{8bd1855b-b85a-4760-b123-f3e84504c785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الإيراد للشهر الحالي" id="{6ca58407-734b-267f-99c1-0ae6732307a5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إيراد حسب القطاع" id="{beddfe19-b0cf-8db7-25d7-c603eb67fbd8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ملخص التبويبات" id="{0867de45-0332-3492-3c1c-46fd4cee76a9}">
          <p14:sldIdLst>
            <p14:sldId id="286"/>
            <p14:sldId id="287"/>
            <p14:sldId id="288"/>
            <p14:sldId id="289"/>
          </p14:sldIdLst>
        </p14:section>
        <p14:section name="الاستقطاع" id="{0ebf8075-5db4-16c5-6aa8-234f758f7ad7}">
          <p14:sldIdLst>
            <p14:sldId id="290"/>
            <p14:sldId id="291"/>
            <p14:sldId id="292"/>
          </p14:sldIdLst>
        </p14:section>
        <p14:section name="سيناريوهات الإقفال" id="{207b0e49-e922-bbe0-60de-563945af05c3}">
          <p14:sldIdLst>
            <p14:sldId id="293"/>
            <p14:sldId id="294"/>
            <p14:sldId id="295"/>
          </p14:sldIdLst>
        </p14:section>
        <p14:section name="الجزاءات والغرامات الشهرية" id="{d48ed7a1-0ee4-8368-5770-988869f9611f}">
          <p14:sldIdLst>
            <p14:sldId id="296"/>
            <p14:sldId id="297"/>
            <p14:sldId id="298"/>
            <p14:sldId id="299"/>
            <p14:sldId id="300"/>
          </p14:sldIdLst>
        </p14:section>
        <p14:section name="التنفيذ والاسترداد" id="{682f203f-5d4e-586d-338f-788ac5992841}">
          <p14:sldIdLst>
            <p14:sldId id="301"/>
            <p14:sldId id="302"/>
            <p14:sldId id="303"/>
            <p14:sldId id="304"/>
          </p14:sldIdLst>
        </p14:section>
        <p14:section name="المفوتر والميزانية والمستهدف" id="{0fccf702-6aef-21c7-2b13-c38fab41a479}">
          <p14:sldIdLst>
            <p14:sldId id="305"/>
            <p14:sldId id="306"/>
            <p14:sldId id="307"/>
          </p14:sldIdLst>
        </p14:section>
        <p14:section name="تبويبات الوزارة" id="{0eb04ecf-0025-d5e2-20e8-db4f6f98f880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المديونية" id="{6267f90d-34c3-9a14-6801-bf20fa022d63}">
          <p14:sldIdLst>
            <p14:sldId id="316"/>
            <p14:sldId id="317"/>
            <p14:sldId id="318"/>
            <p14:sldId id="319"/>
            <p14:sldId id="320"/>
            <p14:sldId id="321"/>
          </p14:sldIdLst>
        </p14:section>
        <p14:section name="ملاحظات منهجية" id="{b65bbdaa-1184-82e6-f4dd-dd86f4a88340}">
          <p14:sldIdLst>
            <p14:sldId id="32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1052.1</c:v>
                </c:pt>
                <c:pt idx="1">
                  <c:v>892.8</c:v>
                </c:pt>
                <c:pt idx="2">
                  <c:v>638.9</c:v>
                </c:pt>
                <c:pt idx="3">
                  <c:v>209.1</c:v>
                </c:pt>
                <c:pt idx="4">
                  <c:v>193.3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927.6</c:v>
                </c:pt>
                <c:pt idx="1">
                  <c:v>796.4</c:v>
                </c:pt>
                <c:pt idx="2">
                  <c:v>306.8</c:v>
                </c:pt>
                <c:pt idx="3">
                  <c:v>255.2</c:v>
                </c:pt>
                <c:pt idx="4">
                  <c:v>12.8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961.4</c:v>
                </c:pt>
                <c:pt idx="1">
                  <c:v>848.9</c:v>
                </c:pt>
                <c:pt idx="2">
                  <c:v>376</c:v>
                </c:pt>
                <c:pt idx="3">
                  <c:v>275.3</c:v>
                </c:pt>
                <c:pt idx="4">
                  <c:v>7.9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710.4</c:v>
                </c:pt>
                <c:pt idx="1">
                  <c:v>815.2</c:v>
                </c:pt>
                <c:pt idx="2">
                  <c:v>240.8</c:v>
                </c:pt>
                <c:pt idx="3">
                  <c:v>216.3</c:v>
                </c:pt>
                <c:pt idx="4">
                  <c:v>4.9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1076.4</c:v>
                </c:pt>
                <c:pt idx="1">
                  <c:v>887.7</c:v>
                </c:pt>
                <c:pt idx="2">
                  <c:v>188.7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1052.1</c:v>
                </c:pt>
                <c:pt idx="1">
                  <c:v>909</c:v>
                </c:pt>
                <c:pt idx="2">
                  <c:v>143.1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927.6</c:v>
                </c:pt>
                <c:pt idx="1">
                  <c:v>799.1</c:v>
                </c:pt>
                <c:pt idx="2">
                  <c:v>128.5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961.4</c:v>
                </c:pt>
                <c:pt idx="1">
                  <c:v>793.6</c:v>
                </c:pt>
                <c:pt idx="2">
                  <c:v>167.9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710.4</c:v>
                </c:pt>
                <c:pt idx="1">
                  <c:v>569.5</c:v>
                </c:pt>
                <c:pt idx="2">
                  <c:v>140.9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886.3</c:v>
                </c:pt>
                <c:pt idx="1">
                  <c:v>856</c:v>
                </c:pt>
                <c:pt idx="2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892.8</c:v>
                </c:pt>
                <c:pt idx="1">
                  <c:v>777.3</c:v>
                </c:pt>
                <c:pt idx="2">
                  <c:v>115.5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796.4</c:v>
                </c:pt>
                <c:pt idx="1">
                  <c:v>704.3</c:v>
                </c:pt>
                <c:pt idx="2">
                  <c:v>92.1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848.9</c:v>
                </c:pt>
                <c:pt idx="1">
                  <c:v>753.1</c:v>
                </c:pt>
                <c:pt idx="2">
                  <c:v>95.8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815.2</c:v>
                </c:pt>
                <c:pt idx="1">
                  <c:v>734.1</c:v>
                </c:pt>
                <c:pt idx="2">
                  <c:v>81.1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1178.3</c:v>
                </c:pt>
                <c:pt idx="1">
                  <c:v>1013.3</c:v>
                </c:pt>
                <c:pt idx="2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638.9</c:v>
                </c:pt>
                <c:pt idx="1">
                  <c:v>605.7</c:v>
                </c:pt>
                <c:pt idx="2">
                  <c:v>33.2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306.8</c:v>
                </c:pt>
                <c:pt idx="1">
                  <c:v>293.8</c:v>
                </c:pt>
                <c:pt idx="2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376</c:v>
                </c:pt>
                <c:pt idx="1">
                  <c:v>360.3</c:v>
                </c:pt>
                <c:pt idx="2">
                  <c:v>15.7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240.8</c:v>
                </c:pt>
                <c:pt idx="1">
                  <c:v>233.3</c:v>
                </c:pt>
                <c:pt idx="2">
                  <c:v>7.4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234.6</c:v>
                </c:pt>
                <c:pt idx="1">
                  <c:v>226.1</c:v>
                </c:pt>
                <c:pt idx="2">
                  <c:v>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209.1</c:v>
                </c:pt>
                <c:pt idx="1">
                  <c:v>200</c:v>
                </c:pt>
                <c:pt idx="2">
                  <c:v>9.1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255.2</c:v>
                </c:pt>
                <c:pt idx="1">
                  <c:v>250.4</c:v>
                </c:pt>
                <c:pt idx="2">
                  <c:v>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275.3</c:v>
                </c:pt>
                <c:pt idx="1">
                  <c:v>270.1</c:v>
                </c:pt>
                <c:pt idx="2">
                  <c:v>5.2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216.3</c:v>
                </c:pt>
                <c:pt idx="1">
                  <c:v>206.2</c:v>
                </c:pt>
                <c:pt idx="2">
                  <c:v>10.1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444.3</c:v>
                </c:pt>
                <c:pt idx="1">
                  <c:v>359.9</c:v>
                </c:pt>
                <c:pt idx="2">
                  <c:v>84.4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193.3</c:v>
                </c:pt>
                <c:pt idx="1">
                  <c:v>110</c:v>
                </c:pt>
                <c:pt idx="2">
                  <c:v>83.3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12.8</c:v>
                </c:pt>
                <c:pt idx="1">
                  <c:v>2.7</c:v>
                </c:pt>
                <c:pt idx="2">
                  <c:v>10.2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7.9</c:v>
                </c:pt>
                <c:pt idx="1">
                  <c:v>4.2</c:v>
                </c:pt>
                <c:pt idx="2">
                  <c:v>3.6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4.9</c:v>
                </c:pt>
                <c:pt idx="1">
                  <c:v>4.7</c:v>
                </c:pt>
                <c:pt idx="2">
                  <c:v>0.2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875.5</c:v>
                </c:pt>
                <c:pt idx="1">
                  <c:v>793.1</c:v>
                </c:pt>
                <c:pt idx="2">
                  <c:v>552.3</c:v>
                </c:pt>
                <c:pt idx="3">
                  <c:v>171.8</c:v>
                </c:pt>
                <c:pt idx="4">
                  <c:v>62.1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760.6</c:v>
                </c:pt>
                <c:pt idx="1">
                  <c:v>674.2</c:v>
                </c:pt>
                <c:pt idx="2">
                  <c:v>256.1</c:v>
                </c:pt>
                <c:pt idx="3">
                  <c:v>226.6</c:v>
                </c:pt>
                <c:pt idx="4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861.8</c:v>
                </c:pt>
                <c:pt idx="1">
                  <c:v>730.1</c:v>
                </c:pt>
                <c:pt idx="2">
                  <c:v>317.9</c:v>
                </c:pt>
                <c:pt idx="3">
                  <c:v>244.4</c:v>
                </c:pt>
                <c:pt idx="4">
                  <c:v>6.9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644.3</c:v>
                </c:pt>
                <c:pt idx="1">
                  <c:v>713.4</c:v>
                </c:pt>
                <c:pt idx="2">
                  <c:v>205.3</c:v>
                </c:pt>
                <c:pt idx="3">
                  <c:v>193.5</c:v>
                </c:pt>
                <c:pt idx="4">
                  <c:v>3.2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875.5</c:v>
                </c:pt>
                <c:pt idx="1">
                  <c:v>783.1</c:v>
                </c:pt>
                <c:pt idx="2">
                  <c:v>92.5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760.6</c:v>
                </c:pt>
                <c:pt idx="1">
                  <c:v>650.6</c:v>
                </c:pt>
                <c:pt idx="2">
                  <c:v>110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861.8</c:v>
                </c:pt>
                <c:pt idx="1">
                  <c:v>717</c:v>
                </c:pt>
                <c:pt idx="2">
                  <c:v>144.9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644.3</c:v>
                </c:pt>
                <c:pt idx="1">
                  <c:v>470.2</c:v>
                </c:pt>
                <c:pt idx="2">
                  <c:v>174.1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793.1</c:v>
                </c:pt>
                <c:pt idx="1">
                  <c:v>697.9</c:v>
                </c:pt>
                <c:pt idx="2">
                  <c:v>95.3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674.2</c:v>
                </c:pt>
                <c:pt idx="1">
                  <c:v>594.6</c:v>
                </c:pt>
                <c:pt idx="2">
                  <c:v>79.6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730.1</c:v>
                </c:pt>
                <c:pt idx="1">
                  <c:v>649</c:v>
                </c:pt>
                <c:pt idx="2">
                  <c:v>81.1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713.4</c:v>
                </c:pt>
                <c:pt idx="1">
                  <c:v>535.4</c:v>
                </c:pt>
                <c:pt idx="2">
                  <c:v>178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552.3</c:v>
                </c:pt>
                <c:pt idx="1">
                  <c:v>530.9</c:v>
                </c:pt>
                <c:pt idx="2">
                  <c:v>21.3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256.1</c:v>
                </c:pt>
                <c:pt idx="1">
                  <c:v>244.9</c:v>
                </c:pt>
                <c:pt idx="2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317.9</c:v>
                </c:pt>
                <c:pt idx="1">
                  <c:v>304.5</c:v>
                </c:pt>
                <c:pt idx="2">
                  <c:v>13.4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205.3</c:v>
                </c:pt>
                <c:pt idx="1">
                  <c:v>196.9</c:v>
                </c:pt>
                <c:pt idx="2">
                  <c:v>8.5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171.8</c:v>
                </c:pt>
                <c:pt idx="1">
                  <c:v>164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226.6</c:v>
                </c:pt>
                <c:pt idx="1">
                  <c:v>222.4</c:v>
                </c:pt>
                <c:pt idx="2">
                  <c:v>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244.4</c:v>
                </c:pt>
                <c:pt idx="1">
                  <c:v>239.9</c:v>
                </c:pt>
                <c:pt idx="2">
                  <c:v>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193.5</c:v>
                </c:pt>
                <c:pt idx="1">
                  <c:v>187.1</c:v>
                </c:pt>
                <c:pt idx="2">
                  <c:v>6.4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62.1</c:v>
                </c:pt>
                <c:pt idx="1">
                  <c:v>62.1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11.2</c:v>
                </c:pt>
                <c:pt idx="1">
                  <c:v>2.3</c:v>
                </c:pt>
                <c:pt idx="2">
                  <c:v>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6.9</c:v>
                </c:pt>
                <c:pt idx="1">
                  <c:v>3.7</c:v>
                </c:pt>
                <c:pt idx="2">
                  <c:v>3.2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3.2</c:v>
                </c:pt>
                <c:pt idx="1">
                  <c:v>3.2</c:v>
                </c:pt>
                <c:pt idx="2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122.6</c:v>
                </c:pt>
                <c:pt idx="2">
                  <c:v>12.7</c:v>
                </c:pt>
                <c:pt idx="3">
                  <c:v>17.2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54.8</c:v>
                </c:pt>
                <c:pt idx="1">
                  <c:v>97.7</c:v>
                </c:pt>
                <c:pt idx="2">
                  <c:v>51.8</c:v>
                </c:pt>
                <c:pt idx="3">
                  <c:v>28.4</c:v>
                </c:pt>
                <c:pt idx="4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70</c:v>
                </c:pt>
                <c:pt idx="1">
                  <c:v>99.8</c:v>
                </c:pt>
                <c:pt idx="2">
                  <c:v>65.6</c:v>
                </c:pt>
                <c:pt idx="3">
                  <c:v>30.5</c:v>
                </c:pt>
                <c:pt idx="4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13.8</c:v>
                </c:pt>
                <c:pt idx="1">
                  <c:v>0.6</c:v>
                </c:pt>
                <c:pt idx="2">
                  <c:v>6.4</c:v>
                </c:pt>
                <c:pt idx="3">
                  <c:v>0.4</c:v>
                </c:pt>
                <c:pt idx="4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17.7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54.8</c:v>
                </c:pt>
                <c:pt idx="1">
                  <c:v>424</c:v>
                </c:pt>
                <c:pt idx="2">
                  <c:v>-369.2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70</c:v>
                </c:pt>
                <c:pt idx="1">
                  <c:v>426.2</c:v>
                </c:pt>
                <c:pt idx="2">
                  <c:v>-356.2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13.8</c:v>
                </c:pt>
                <c:pt idx="1">
                  <c:v>5.3</c:v>
                </c:pt>
                <c:pt idx="2">
                  <c:v>8.5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122.6</c:v>
                </c:pt>
                <c:pt idx="1">
                  <c:v>78.8</c:v>
                </c:pt>
                <c:pt idx="2">
                  <c:v>43.8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97.7</c:v>
                </c:pt>
                <c:pt idx="1">
                  <c:v>60.7</c:v>
                </c:pt>
                <c:pt idx="2">
                  <c:v>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99.8</c:v>
                </c:pt>
                <c:pt idx="1">
                  <c:v>72.5</c:v>
                </c:pt>
                <c:pt idx="2">
                  <c:v>27.2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0.6</c:v>
                </c:pt>
                <c:pt idx="1">
                  <c:v>0.5</c:v>
                </c:pt>
                <c:pt idx="2">
                  <c:v>0.1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12.7</c:v>
                </c:pt>
                <c:pt idx="1">
                  <c:v>12.3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51.8</c:v>
                </c:pt>
                <c:pt idx="1">
                  <c:v>30.4</c:v>
                </c:pt>
                <c:pt idx="2">
                  <c:v>21.4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65.6</c:v>
                </c:pt>
                <c:pt idx="1">
                  <c:v>36.3</c:v>
                </c:pt>
                <c:pt idx="2">
                  <c:v>29.3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6.4</c:v>
                </c:pt>
                <c:pt idx="1">
                  <c:v>6.1</c:v>
                </c:pt>
                <c:pt idx="2">
                  <c:v>0.3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17.2</c:v>
                </c:pt>
                <c:pt idx="1">
                  <c:v>17.2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28.4</c:v>
                </c:pt>
                <c:pt idx="1">
                  <c:v>25.9</c:v>
                </c:pt>
                <c:pt idx="2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30.5</c:v>
                </c:pt>
                <c:pt idx="1">
                  <c:v>27.9</c:v>
                </c:pt>
                <c:pt idx="2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</c:v>
                </c:pt>
                <c:pt idx="1">
                  <c:v>0.4</c:v>
                </c:pt>
                <c:pt idx="2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0.2</c:v>
                </c:pt>
                <c:pt idx="2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1.6</c:v>
                </c:pt>
                <c:pt idx="1">
                  <c:v>0.3</c:v>
                </c:pt>
                <c:pt idx="2">
                  <c:v>1.3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إستثمارية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الرسوم والتراخيص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152.7</c:v>
                </c:pt>
                <c:pt idx="1">
                  <c:v>65.8</c:v>
                </c:pt>
                <c:pt idx="2">
                  <c:v>48.7</c:v>
                </c:pt>
                <c:pt idx="3">
                  <c:v>33.4</c:v>
                </c:pt>
                <c:pt idx="4">
                  <c:v>58.7</c:v>
                </c:pt>
                <c:pt idx="5">
                  <c:v>20</c:v>
                </c:pt>
                <c:pt idx="6">
                  <c:v>66.3</c:v>
                </c:pt>
                <c:pt idx="7">
                  <c:v>56.1</c:v>
                </c:pt>
                <c:pt idx="8">
                  <c:v>40.1</c:v>
                </c:pt>
                <c:pt idx="9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101.7</c:v>
                </c:pt>
                <c:pt idx="1">
                  <c:v>45.9</c:v>
                </c:pt>
                <c:pt idx="2">
                  <c:v>38.8</c:v>
                </c:pt>
                <c:pt idx="3">
                  <c:v>25.1</c:v>
                </c:pt>
                <c:pt idx="4">
                  <c:v>47.9</c:v>
                </c:pt>
                <c:pt idx="5">
                  <c:v>17</c:v>
                </c:pt>
                <c:pt idx="6">
                  <c:v>40.3</c:v>
                </c:pt>
                <c:pt idx="7">
                  <c:v>37.1</c:v>
                </c:pt>
                <c:pt idx="8">
                  <c:v>25.5</c:v>
                </c:pt>
                <c:pt idx="9">
                  <c:v>2.3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23.3</c:v>
                </c:pt>
                <c:pt idx="1">
                  <c:v>10.4</c:v>
                </c:pt>
                <c:pt idx="2">
                  <c:v>11.7</c:v>
                </c:pt>
                <c:pt idx="3">
                  <c:v>4.4</c:v>
                </c:pt>
                <c:pt idx="4">
                  <c:v>18.2</c:v>
                </c:pt>
                <c:pt idx="5">
                  <c:v>5.4</c:v>
                </c:pt>
                <c:pt idx="6">
                  <c:v>22.5</c:v>
                </c:pt>
                <c:pt idx="7">
                  <c:v>24.3</c:v>
                </c:pt>
                <c:pt idx="8">
                  <c:v>11.1</c:v>
                </c:pt>
                <c:pt idx="9">
                  <c:v>5.6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174.1</c:v>
                </c:pt>
                <c:pt idx="1">
                  <c:v>132.9</c:v>
                </c:pt>
                <c:pt idx="2">
                  <c:v>105</c:v>
                </c:pt>
                <c:pt idx="3">
                  <c:v>90.1</c:v>
                </c:pt>
                <c:pt idx="4">
                  <c:v>189.2</c:v>
                </c:pt>
                <c:pt idx="5">
                  <c:v>21.5</c:v>
                </c:pt>
                <c:pt idx="6">
                  <c:v>33.9</c:v>
                </c:pt>
                <c:pt idx="7">
                  <c:v>20.2</c:v>
                </c:pt>
                <c:pt idx="8">
                  <c:v>9.1</c:v>
                </c:pt>
                <c:pt idx="9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162.6</c:v>
                </c:pt>
                <c:pt idx="1">
                  <c:v>126.7</c:v>
                </c:pt>
                <c:pt idx="2">
                  <c:v>101.2</c:v>
                </c:pt>
                <c:pt idx="3">
                  <c:v>86.7</c:v>
                </c:pt>
                <c:pt idx="4">
                  <c:v>182</c:v>
                </c:pt>
                <c:pt idx="5">
                  <c:v>20.4</c:v>
                </c:pt>
                <c:pt idx="6">
                  <c:v>31.8</c:v>
                </c:pt>
                <c:pt idx="7">
                  <c:v>19.1</c:v>
                </c:pt>
                <c:pt idx="8">
                  <c:v>8.7</c:v>
                </c:pt>
                <c:pt idx="9">
                  <c:v>2.2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2.4</c:v>
                </c:pt>
                <c:pt idx="1">
                  <c:v>2.2</c:v>
                </c:pt>
                <c:pt idx="2">
                  <c:v>1.7</c:v>
                </c:pt>
                <c:pt idx="3">
                  <c:v>1.2</c:v>
                </c:pt>
                <c:pt idx="4">
                  <c:v>3.4</c:v>
                </c:pt>
                <c:pt idx="5">
                  <c:v>0.4</c:v>
                </c:pt>
                <c:pt idx="6">
                  <c:v>1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102</c:v>
                </c:pt>
                <c:pt idx="1">
                  <c:v>187.8</c:v>
                </c:pt>
                <c:pt idx="2">
                  <c:v>115.8</c:v>
                </c:pt>
                <c:pt idx="3">
                  <c:v>95.5</c:v>
                </c:pt>
                <c:pt idx="4">
                  <c:v>103.8</c:v>
                </c:pt>
                <c:pt idx="5">
                  <c:v>10.7</c:v>
                </c:pt>
                <c:pt idx="6">
                  <c:v>7.4</c:v>
                </c:pt>
                <c:pt idx="7">
                  <c:v>5.4</c:v>
                </c:pt>
                <c:pt idx="8">
                  <c:v>2.5</c:v>
                </c:pt>
                <c:pt idx="9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20.5</c:v>
                </c:pt>
                <c:pt idx="1">
                  <c:v>39</c:v>
                </c:pt>
                <c:pt idx="2">
                  <c:v>21.8</c:v>
                </c:pt>
                <c:pt idx="3">
                  <c:v>19.1</c:v>
                </c:pt>
                <c:pt idx="4">
                  <c:v>24.4</c:v>
                </c:pt>
                <c:pt idx="5">
                  <c:v>2.8</c:v>
                </c:pt>
                <c:pt idx="6">
                  <c:v>2.7</c:v>
                </c:pt>
                <c:pt idx="7">
                  <c:v>1.6</c:v>
                </c:pt>
                <c:pt idx="8">
                  <c:v>1</c:v>
                </c:pt>
                <c:pt idx="9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32.3</c:v>
                </c:pt>
                <c:pt idx="1">
                  <c:v>20.4</c:v>
                </c:pt>
                <c:pt idx="2">
                  <c:v>18.1</c:v>
                </c:pt>
                <c:pt idx="3">
                  <c:v>20.2</c:v>
                </c:pt>
                <c:pt idx="4">
                  <c:v>31.8</c:v>
                </c:pt>
                <c:pt idx="5">
                  <c:v>1.1</c:v>
                </c:pt>
                <c:pt idx="6">
                  <c:v>2.3</c:v>
                </c:pt>
                <c:pt idx="7">
                  <c:v>2</c:v>
                </c:pt>
                <c:pt idx="8">
                  <c:v>0.7</c:v>
                </c:pt>
                <c:pt idx="9">
                  <c:v>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1.2</c:v>
                </c:pt>
                <c:pt idx="4">
                  <c:v>5.9</c:v>
                </c:pt>
                <c:pt idx="5">
                  <c:v>1</c:v>
                </c:pt>
                <c:pt idx="6">
                  <c:v>1.8</c:v>
                </c:pt>
                <c:pt idx="7">
                  <c:v>0.5</c:v>
                </c:pt>
                <c:pt idx="8">
                  <c:v>0.4</c:v>
                </c:pt>
                <c:pt idx="9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1.1</c:v>
                </c:pt>
                <c:pt idx="4">
                  <c:v>5.9</c:v>
                </c:pt>
                <c:pt idx="5">
                  <c:v>0.8</c:v>
                </c:pt>
                <c:pt idx="6">
                  <c:v>1.6</c:v>
                </c:pt>
                <c:pt idx="7">
                  <c:v>0.4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0.1</c:v>
                </c:pt>
                <c:pt idx="2">
                  <c:v>0.1</c:v>
                </c:pt>
                <c:pt idx="3">
                  <c:v>0</c:v>
                </c:pt>
                <c:pt idx="4">
                  <c:v>0.2</c:v>
                </c:pt>
                <c:pt idx="5">
                  <c:v>0.1</c:v>
                </c:pt>
                <c:pt idx="6">
                  <c:v>0.3</c:v>
                </c:pt>
                <c:pt idx="7">
                  <c:v>0.1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استثمارية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محصل السنة الحالية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880.1</c:v>
                </c:pt>
                <c:pt idx="1">
                  <c:v>1052.1</c:v>
                </c:pt>
                <c:pt idx="2">
                  <c:v>172.1</c:v>
                </c:pt>
                <c:pt idx="3">
                  <c:v>927.6</c:v>
                </c:pt>
                <c:pt idx="4">
                  <c:v>961.4</c:v>
                </c:pt>
                <c:pt idx="5">
                  <c:v>710.4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1178</c:v>
                </c:pt>
                <c:pt idx="1">
                  <c:v>635.4</c:v>
                </c:pt>
                <c:pt idx="2">
                  <c:v>166.1</c:v>
                </c:pt>
                <c:pt idx="3">
                  <c:v>349.1</c:v>
                </c:pt>
                <c:pt idx="4">
                  <c:v>426.7</c:v>
                </c:pt>
                <c:pt idx="5">
                  <c:v>272.5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234.1</c:v>
                </c:pt>
                <c:pt idx="1">
                  <c:v>209.1</c:v>
                </c:pt>
                <c:pt idx="2">
                  <c:v>9.5</c:v>
                </c:pt>
                <c:pt idx="3">
                  <c:v>285.9</c:v>
                </c:pt>
                <c:pt idx="4">
                  <c:v>308.4</c:v>
                </c:pt>
                <c:pt idx="5">
                  <c:v>240.5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608</c:v>
                </c:pt>
                <c:pt idx="1">
                  <c:v>318.9</c:v>
                </c:pt>
                <c:pt idx="2">
                  <c:v>84.3</c:v>
                </c:pt>
                <c:pt idx="3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91.2</c:v>
                </c:pt>
                <c:pt idx="1">
                  <c:v>47.8</c:v>
                </c:pt>
                <c:pt idx="2">
                  <c:v>12.6</c:v>
                </c:pt>
                <c:pt idx="3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420.1</c:v>
                </c:pt>
                <c:pt idx="1">
                  <c:v>176</c:v>
                </c:pt>
                <c:pt idx="2">
                  <c:v>57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71.4</c:v>
                </c:pt>
                <c:pt idx="1">
                  <c:v>29.3</c:v>
                </c:pt>
                <c:pt idx="2">
                  <c:v>9.6</c:v>
                </c:pt>
                <c:pt idx="3">
                  <c:v>0.6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795.4</c:v>
                </c:pt>
                <c:pt idx="1">
                  <c:v>60.4</c:v>
                </c:pt>
                <c:pt idx="2">
                  <c:v>405.9</c:v>
                </c:pt>
                <c:pt idx="3">
                  <c:v>0</c:v>
                </c:pt>
                <c:pt idx="4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253.2</c:v>
                </c:pt>
                <c:pt idx="1">
                  <c:v>25.9</c:v>
                </c:pt>
                <c:pt idx="2">
                  <c:v>109.5</c:v>
                </c:pt>
                <c:pt idx="3">
                  <c:v>0</c:v>
                </c:pt>
                <c:pt idx="4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42.8</c:v>
                </c:pt>
                <c:pt idx="1">
                  <c:v>14.1</c:v>
                </c:pt>
                <c:pt idx="2">
                  <c:v>19.1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26.4</c:v>
                </c:pt>
                <c:pt idx="1">
                  <c:v>13.2</c:v>
                </c:pt>
                <c:pt idx="2">
                  <c:v>18.4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708.7</c:v>
                </c:pt>
                <c:pt idx="1">
                  <c:v>39.6</c:v>
                </c:pt>
                <c:pt idx="2">
                  <c:v>391</c:v>
                </c:pt>
                <c:pt idx="3">
                  <c:v>0</c:v>
                </c:pt>
                <c:pt idx="4">
                  <c:v>47.6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183.3</c:v>
                </c:pt>
                <c:pt idx="1">
                  <c:v>25.9</c:v>
                </c:pt>
                <c:pt idx="2">
                  <c:v>105.3</c:v>
                </c:pt>
                <c:pt idx="3">
                  <c:v>0</c:v>
                </c:pt>
                <c:pt idx="4">
                  <c:v>20.7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33.5</c:v>
                </c:pt>
                <c:pt idx="1">
                  <c:v>14</c:v>
                </c:pt>
                <c:pt idx="2">
                  <c:v>18.8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20.7</c:v>
                </c:pt>
                <c:pt idx="1">
                  <c:v>13.1</c:v>
                </c:pt>
                <c:pt idx="2">
                  <c:v>18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86.7</c:v>
                </c:pt>
                <c:pt idx="1">
                  <c:v>20.9</c:v>
                </c:pt>
                <c:pt idx="2">
                  <c:v>14.9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69.9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9.3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5.7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592.7</c:v>
                </c:pt>
                <c:pt idx="1">
                  <c:v>336.1</c:v>
                </c:pt>
                <c:pt idx="2">
                  <c:v>263.2</c:v>
                </c:pt>
                <c:pt idx="3">
                  <c:v>887.6</c:v>
                </c:pt>
                <c:pt idx="4">
                  <c:v>289.6</c:v>
                </c:pt>
                <c:pt idx="5">
                  <c:v>414.4</c:v>
                </c:pt>
                <c:pt idx="6">
                  <c:v>413.9</c:v>
                </c:pt>
                <c:pt idx="7">
                  <c:v>325.9</c:v>
                </c:pt>
                <c:pt idx="8">
                  <c:v>375.3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صافي المفوتر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590.5</c:v>
                </c:pt>
                <c:pt idx="1">
                  <c:v>334.6</c:v>
                </c:pt>
                <c:pt idx="2">
                  <c:v>246.2</c:v>
                </c:pt>
                <c:pt idx="3">
                  <c:v>880.8</c:v>
                </c:pt>
                <c:pt idx="4">
                  <c:v>287.3</c:v>
                </c:pt>
                <c:pt idx="5">
                  <c:v>393</c:v>
                </c:pt>
                <c:pt idx="6">
                  <c:v>368</c:v>
                </c:pt>
                <c:pt idx="7">
                  <c:v>216</c:v>
                </c:pt>
                <c:pt idx="8">
                  <c:v>148.4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السنة الحالية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146.3</c:v>
                </c:pt>
                <c:pt idx="1">
                  <c:v>221.2</c:v>
                </c:pt>
                <c:pt idx="2">
                  <c:v>144.5</c:v>
                </c:pt>
                <c:pt idx="3">
                  <c:v>209.8</c:v>
                </c:pt>
                <c:pt idx="4">
                  <c:v>202.9</c:v>
                </c:pt>
                <c:pt idx="5">
                  <c:v>635.2</c:v>
                </c:pt>
                <c:pt idx="6">
                  <c:v>253.7</c:v>
                </c:pt>
                <c:pt idx="7">
                  <c:v>263.4</c:v>
                </c:pt>
                <c:pt idx="8">
                  <c:v>250.2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السنوات السابقة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92.6</c:v>
                </c:pt>
                <c:pt idx="1">
                  <c:v>71.4</c:v>
                </c:pt>
                <c:pt idx="2">
                  <c:v>26.9</c:v>
                </c:pt>
                <c:pt idx="3">
                  <c:v>61.8</c:v>
                </c:pt>
                <c:pt idx="4">
                  <c:v>58.2</c:v>
                </c:pt>
                <c:pt idx="5">
                  <c:v>92.3</c:v>
                </c:pt>
                <c:pt idx="6">
                  <c:v>28.9</c:v>
                </c:pt>
                <c:pt idx="7">
                  <c:v>8.5</c:v>
                </c:pt>
                <c:pt idx="8">
                  <c:v>12.5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  <c:pt idx="9">
                  <c:v>378</c:v>
                </c:pt>
                <c:pt idx="10">
                  <c:v>858.8</c:v>
                </c:pt>
                <c:pt idx="11">
                  <c:v>422.4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الاعتماد الأصلي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523.7</c:v>
                </c:pt>
                <c:pt idx="1">
                  <c:v>523.7</c:v>
                </c:pt>
                <c:pt idx="2">
                  <c:v>523.7</c:v>
                </c:pt>
                <c:pt idx="3">
                  <c:v>523.7</c:v>
                </c:pt>
                <c:pt idx="4">
                  <c:v>523.7</c:v>
                </c:pt>
                <c:pt idx="5">
                  <c:v>523.7</c:v>
                </c:pt>
                <c:pt idx="6">
                  <c:v>523.7</c:v>
                </c:pt>
                <c:pt idx="7">
                  <c:v>523.7</c:v>
                </c:pt>
                <c:pt idx="8">
                  <c:v>523.7</c:v>
                </c:pt>
                <c:pt idx="9">
                  <c:v>523.7</c:v>
                </c:pt>
                <c:pt idx="10">
                  <c:v>523.7</c:v>
                </c:pt>
                <c:pt idx="11">
                  <c:v>523.7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بعد الاعتماد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523.8</c:v>
                </c:pt>
                <c:pt idx="1">
                  <c:v>523.8</c:v>
                </c:pt>
                <c:pt idx="2">
                  <c:v>523.8</c:v>
                </c:pt>
                <c:pt idx="3">
                  <c:v>523.8</c:v>
                </c:pt>
                <c:pt idx="4">
                  <c:v>523.8</c:v>
                </c:pt>
                <c:pt idx="5">
                  <c:v>523.8</c:v>
                </c:pt>
                <c:pt idx="6">
                  <c:v>523.8</c:v>
                </c:pt>
                <c:pt idx="7">
                  <c:v>523.8</c:v>
                </c:pt>
                <c:pt idx="8">
                  <c:v>523.8</c:v>
                </c:pt>
                <c:pt idx="9">
                  <c:v>523.8</c:v>
                </c:pt>
                <c:pt idx="10">
                  <c:v>523.8</c:v>
                </c:pt>
                <c:pt idx="11">
                  <c:v>523.8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1239.5</c:v>
                </c:pt>
                <c:pt idx="1">
                  <c:v>918.3</c:v>
                </c:pt>
                <c:pt idx="2">
                  <c:v>1047.3</c:v>
                </c:pt>
                <c:pt idx="3">
                  <c:v>141</c:v>
                </c:pt>
                <c:pt idx="4">
                  <c:v>87</c:v>
                </c:pt>
                <c:pt idx="5">
                  <c:v>465.6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 الفترة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1139</c:v>
                </c:pt>
                <c:pt idx="1">
                  <c:v>988.7</c:v>
                </c:pt>
                <c:pt idx="2">
                  <c:v>814.9</c:v>
                </c:pt>
                <c:pt idx="3">
                  <c:v>197.5</c:v>
                </c:pt>
                <c:pt idx="4">
                  <c:v>164.6</c:v>
                </c:pt>
                <c:pt idx="5">
                  <c:v>80.6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السنة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1920.7</c:v>
                </c:pt>
                <c:pt idx="1">
                  <c:v>1410.5</c:v>
                </c:pt>
                <c:pt idx="2">
                  <c:v>1097.2</c:v>
                </c:pt>
                <c:pt idx="3">
                  <c:v>287.5</c:v>
                </c:pt>
                <c:pt idx="4">
                  <c:v>222.6</c:v>
                </c:pt>
                <c:pt idx="5">
                  <c:v>106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123.6</c:v>
                </c:pt>
                <c:pt idx="1">
                  <c:v>96.8</c:v>
                </c:pt>
                <c:pt idx="2">
                  <c:v>53.6</c:v>
                </c:pt>
                <c:pt idx="3">
                  <c:v>552.4</c:v>
                </c:pt>
                <c:pt idx="4">
                  <c:v>91</c:v>
                </c:pt>
                <c:pt idx="5">
                  <c:v>97</c:v>
                </c:pt>
                <c:pt idx="6">
                  <c:v>75.1</c:v>
                </c:pt>
                <c:pt idx="7">
                  <c:v>82</c:v>
                </c:pt>
                <c:pt idx="8">
                  <c:v>68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42.5</c:v>
                </c:pt>
                <c:pt idx="1">
                  <c:v>44.2</c:v>
                </c:pt>
                <c:pt idx="2">
                  <c:v>48.7</c:v>
                </c:pt>
                <c:pt idx="3">
                  <c:v>501.2</c:v>
                </c:pt>
                <c:pt idx="4">
                  <c:v>95.1</c:v>
                </c:pt>
                <c:pt idx="5">
                  <c:v>108.2</c:v>
                </c:pt>
                <c:pt idx="6">
                  <c:v>94.1</c:v>
                </c:pt>
                <c:pt idx="7">
                  <c:v>108</c:v>
                </c:pt>
                <c:pt idx="8">
                  <c:v>97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114</c:v>
                </c:pt>
                <c:pt idx="1">
                  <c:v>91.5</c:v>
                </c:pt>
                <c:pt idx="2">
                  <c:v>66.9</c:v>
                </c:pt>
                <c:pt idx="3">
                  <c:v>152</c:v>
                </c:pt>
                <c:pt idx="4">
                  <c:v>73.3</c:v>
                </c:pt>
                <c:pt idx="5">
                  <c:v>109.8</c:v>
                </c:pt>
                <c:pt idx="6">
                  <c:v>104.2</c:v>
                </c:pt>
                <c:pt idx="7">
                  <c:v>103.5</c:v>
                </c:pt>
                <c:pt idx="8">
                  <c:v>103.3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122.8</c:v>
                </c:pt>
                <c:pt idx="1">
                  <c:v>105.2</c:v>
                </c:pt>
                <c:pt idx="2">
                  <c:v>96.5</c:v>
                </c:pt>
                <c:pt idx="3">
                  <c:v>68.8</c:v>
                </c:pt>
                <c:pt idx="4">
                  <c:v>136.7</c:v>
                </c:pt>
                <c:pt idx="5">
                  <c:v>112.9</c:v>
                </c:pt>
                <c:pt idx="6">
                  <c:v>124.7</c:v>
                </c:pt>
                <c:pt idx="7">
                  <c:v>114.6</c:v>
                </c:pt>
                <c:pt idx="8">
                  <c:v>106.6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93.7</c:v>
                </c:pt>
                <c:pt idx="1">
                  <c:v>111.6</c:v>
                </c:pt>
                <c:pt idx="2">
                  <c:v>95.2</c:v>
                </c:pt>
                <c:pt idx="3">
                  <c:v>124</c:v>
                </c:pt>
                <c:pt idx="4">
                  <c:v>102.1</c:v>
                </c:pt>
                <c:pt idx="5">
                  <c:v>126.3</c:v>
                </c:pt>
                <c:pt idx="6">
                  <c:v>146.1</c:v>
                </c:pt>
                <c:pt idx="7">
                  <c:v>116.3</c:v>
                </c:pt>
                <c:pt idx="8">
                  <c:v>131.9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86.1</c:v>
                </c:pt>
                <c:pt idx="1">
                  <c:v>90.7</c:v>
                </c:pt>
                <c:pt idx="2">
                  <c:v>88.1</c:v>
                </c:pt>
                <c:pt idx="3">
                  <c:v>77</c:v>
                </c:pt>
                <c:pt idx="4">
                  <c:v>90.2</c:v>
                </c:pt>
                <c:pt idx="5">
                  <c:v>86.7</c:v>
                </c:pt>
                <c:pt idx="6">
                  <c:v>104.1</c:v>
                </c:pt>
                <c:pt idx="7">
                  <c:v>99.4</c:v>
                </c:pt>
                <c:pt idx="8">
                  <c:v>92.7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22.3</c:v>
                </c:pt>
                <c:pt idx="1">
                  <c:v>24.3</c:v>
                </c:pt>
                <c:pt idx="2">
                  <c:v>21.8</c:v>
                </c:pt>
                <c:pt idx="3">
                  <c:v>10.9</c:v>
                </c:pt>
                <c:pt idx="4">
                  <c:v>11</c:v>
                </c:pt>
                <c:pt idx="5">
                  <c:v>13</c:v>
                </c:pt>
                <c:pt idx="6">
                  <c:v>11.8</c:v>
                </c:pt>
                <c:pt idx="7">
                  <c:v>12.5</c:v>
                </c:pt>
                <c:pt idx="8">
                  <c:v>13.4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26.1</c:v>
                </c:pt>
                <c:pt idx="1">
                  <c:v>28.2</c:v>
                </c:pt>
                <c:pt idx="2">
                  <c:v>28.3</c:v>
                </c:pt>
                <c:pt idx="3">
                  <c:v>18.4</c:v>
                </c:pt>
                <c:pt idx="4">
                  <c:v>16.7</c:v>
                </c:pt>
                <c:pt idx="5">
                  <c:v>22.5</c:v>
                </c:pt>
                <c:pt idx="6">
                  <c:v>13.1</c:v>
                </c:pt>
                <c:pt idx="7">
                  <c:v>19.4</c:v>
                </c:pt>
                <c:pt idx="8">
                  <c:v>24.9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10.1</c:v>
                </c:pt>
                <c:pt idx="1">
                  <c:v>9.6</c:v>
                </c:pt>
                <c:pt idx="2">
                  <c:v>8.5</c:v>
                </c:pt>
                <c:pt idx="3">
                  <c:v>10</c:v>
                </c:pt>
                <c:pt idx="4">
                  <c:v>9.6</c:v>
                </c:pt>
                <c:pt idx="5">
                  <c:v>10.9</c:v>
                </c:pt>
                <c:pt idx="6">
                  <c:v>9.4</c:v>
                </c:pt>
                <c:pt idx="7">
                  <c:v>9</c:v>
                </c:pt>
                <c:pt idx="8">
                  <c:v>9.9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16.1</c:v>
                </c:pt>
                <c:pt idx="1">
                  <c:v>10.5</c:v>
                </c:pt>
                <c:pt idx="2">
                  <c:v>10.2</c:v>
                </c:pt>
                <c:pt idx="3">
                  <c:v>10.1</c:v>
                </c:pt>
                <c:pt idx="4">
                  <c:v>19</c:v>
                </c:pt>
                <c:pt idx="5">
                  <c:v>20.9</c:v>
                </c:pt>
                <c:pt idx="6">
                  <c:v>20.7</c:v>
                </c:pt>
                <c:pt idx="7">
                  <c:v>20</c:v>
                </c:pt>
                <c:pt idx="8">
                  <c:v>37.1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228.9</c:v>
                </c:pt>
                <c:pt idx="1">
                  <c:v>2.2</c:v>
                </c:pt>
                <c:pt idx="2">
                  <c:v>17.2</c:v>
                </c:pt>
                <c:pt idx="3">
                  <c:v>38.5</c:v>
                </c:pt>
                <c:pt idx="4">
                  <c:v>2.6</c:v>
                </c:pt>
                <c:pt idx="5">
                  <c:v>57.4</c:v>
                </c:pt>
                <c:pt idx="6">
                  <c:v>67.4</c:v>
                </c:pt>
                <c:pt idx="7">
                  <c:v>2.5</c:v>
                </c:pt>
                <c:pt idx="8">
                  <c:v>48.9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24</c:v>
                </c:pt>
                <c:pt idx="1">
                  <c:v>5</c:v>
                </c:pt>
                <c:pt idx="2">
                  <c:v>3.8</c:v>
                </c:pt>
                <c:pt idx="3">
                  <c:v>9.6</c:v>
                </c:pt>
                <c:pt idx="4">
                  <c:v>5.1</c:v>
                </c:pt>
                <c:pt idx="5">
                  <c:v>10.5</c:v>
                </c:pt>
                <c:pt idx="6">
                  <c:v>8.1</c:v>
                </c:pt>
                <c:pt idx="7">
                  <c:v>9</c:v>
                </c:pt>
                <c:pt idx="8">
                  <c:v>5.4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373.1</c:v>
                </c:pt>
                <c:pt idx="1">
                  <c:v>1672</c:v>
                </c:pt>
                <c:pt idx="2">
                  <c:v>195.7</c:v>
                </c:pt>
                <c:pt idx="3">
                  <c:v>85.7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172.1</c:v>
                </c:pt>
                <c:pt idx="1">
                  <c:v>166.1</c:v>
                </c:pt>
                <c:pt idx="2">
                  <c:v>10.8</c:v>
                </c:pt>
                <c:pt idx="3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15.6</c:v>
                </c:pt>
                <c:pt idx="1">
                  <c:v>28.6</c:v>
                </c:pt>
                <c:pt idx="2">
                  <c:v>5.2</c:v>
                </c:pt>
                <c:pt idx="3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0.1</c:v>
                </c:pt>
                <c:pt idx="1">
                  <c:v>0.2</c:v>
                </c:pt>
                <c:pt idx="2">
                  <c:v>5</c:v>
                </c:pt>
                <c:pt idx="3">
                  <c:v>0.3</c:v>
                </c:pt>
                <c:pt idx="4">
                  <c:v>1.2</c:v>
                </c:pt>
                <c:pt idx="5">
                  <c:v>3.8</c:v>
                </c:pt>
                <c:pt idx="6">
                  <c:v>6.9</c:v>
                </c:pt>
                <c:pt idx="7">
                  <c:v>5.5</c:v>
                </c:pt>
                <c:pt idx="8">
                  <c:v>26.6</c:v>
                </c:pt>
                <c:pt idx="9">
                  <c:v>10.7</c:v>
                </c:pt>
                <c:pt idx="10">
                  <c:v>20.9</c:v>
                </c:pt>
                <c:pt idx="11">
                  <c:v>14.3</c:v>
                </c:pt>
                <c:pt idx="12">
                  <c:v>66.5</c:v>
                </c:pt>
                <c:pt idx="13">
                  <c:v>36.9</c:v>
                </c:pt>
                <c:pt idx="14">
                  <c:v>31.3</c:v>
                </c:pt>
                <c:pt idx="15">
                  <c:v>57</c:v>
                </c:pt>
                <c:pt idx="16">
                  <c:v>85.9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0</c:v>
                </c:pt>
                <c:pt idx="4">
                  <c:v>0</c:v>
                </c:pt>
                <c:pt idx="5">
                  <c:v>0.2</c:v>
                </c:pt>
                <c:pt idx="6">
                  <c:v>0.7</c:v>
                </c:pt>
                <c:pt idx="7">
                  <c:v>0.6</c:v>
                </c:pt>
                <c:pt idx="8">
                  <c:v>1.2</c:v>
                </c:pt>
                <c:pt idx="9">
                  <c:v>2.8</c:v>
                </c:pt>
                <c:pt idx="10">
                  <c:v>1.7</c:v>
                </c:pt>
                <c:pt idx="11">
                  <c:v>1.7</c:v>
                </c:pt>
                <c:pt idx="12">
                  <c:v>1.9</c:v>
                </c:pt>
                <c:pt idx="13">
                  <c:v>14.6</c:v>
                </c:pt>
                <c:pt idx="14">
                  <c:v>5.4</c:v>
                </c:pt>
                <c:pt idx="15">
                  <c:v>21.3</c:v>
                </c:pt>
                <c:pt idx="16">
                  <c:v>115.8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0.1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0.2</c:v>
                </c:pt>
                <c:pt idx="8">
                  <c:v>0.2</c:v>
                </c:pt>
                <c:pt idx="9">
                  <c:v>0.2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0.5</c:v>
                </c:pt>
                <c:pt idx="14">
                  <c:v>1.4</c:v>
                </c:pt>
                <c:pt idx="15">
                  <c:v>2.3</c:v>
                </c:pt>
                <c:pt idx="16">
                  <c:v>10.3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0.1</c:v>
                </c:pt>
                <c:pt idx="1">
                  <c:v>1.1</c:v>
                </c:pt>
                <c:pt idx="2">
                  <c:v>1.2</c:v>
                </c:pt>
                <c:pt idx="3">
                  <c:v>1.3</c:v>
                </c:pt>
                <c:pt idx="4">
                  <c:v>1.1</c:v>
                </c:pt>
                <c:pt idx="5">
                  <c:v>1.3</c:v>
                </c:pt>
                <c:pt idx="6">
                  <c:v>1.8</c:v>
                </c:pt>
                <c:pt idx="7">
                  <c:v>2.5</c:v>
                </c:pt>
                <c:pt idx="8">
                  <c:v>2.5</c:v>
                </c:pt>
                <c:pt idx="9">
                  <c:v>6.4</c:v>
                </c:pt>
                <c:pt idx="10">
                  <c:v>7.9</c:v>
                </c:pt>
                <c:pt idx="11">
                  <c:v>24.4</c:v>
                </c:pt>
                <c:pt idx="12">
                  <c:v>40</c:v>
                </c:pt>
                <c:pt idx="13">
                  <c:v>47.5</c:v>
                </c:pt>
                <c:pt idx="14">
                  <c:v>88.2</c:v>
                </c:pt>
                <c:pt idx="15">
                  <c:v>164.6</c:v>
                </c:pt>
                <c:pt idx="16">
                  <c:v>254.2</c:v>
                </c:pt>
                <c:pt idx="17">
                  <c:v>443.2</c:v>
                </c:pt>
                <c:pt idx="18">
                  <c:v>582.9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0.4</c:v>
                </c:pt>
                <c:pt idx="14">
                  <c:v>2</c:v>
                </c:pt>
                <c:pt idx="15">
                  <c:v>4.1</c:v>
                </c:pt>
                <c:pt idx="16">
                  <c:v>4.1</c:v>
                </c:pt>
                <c:pt idx="17">
                  <c:v>41</c:v>
                </c:pt>
                <c:pt idx="18">
                  <c:v>114.4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0.7</c:v>
                </c:pt>
                <c:pt idx="16">
                  <c:v>0.8</c:v>
                </c:pt>
                <c:pt idx="17">
                  <c:v>2.7</c:v>
                </c:pt>
                <c:pt idx="18">
                  <c:v>24.3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0.5</c:v>
                </c:pt>
                <c:pt idx="2">
                  <c:v>4.7</c:v>
                </c:pt>
                <c:pt idx="3">
                  <c:v>8.8</c:v>
                </c:pt>
                <c:pt idx="4">
                  <c:v>5.4</c:v>
                </c:pt>
                <c:pt idx="5">
                  <c:v>16.7</c:v>
                </c:pt>
                <c:pt idx="6">
                  <c:v>13.6</c:v>
                </c:pt>
                <c:pt idx="7">
                  <c:v>83.3</c:v>
                </c:pt>
                <c:pt idx="8">
                  <c:v>62.7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</c:v>
                </c:pt>
                <c:pt idx="4">
                  <c:v>0.2</c:v>
                </c:pt>
                <c:pt idx="5">
                  <c:v>0.1</c:v>
                </c:pt>
                <c:pt idx="6">
                  <c:v>0.1</c:v>
                </c:pt>
                <c:pt idx="7">
                  <c:v>2.1</c:v>
                </c:pt>
                <c:pt idx="8">
                  <c:v>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0.8</c:v>
                </c:pt>
                <c:pt idx="8">
                  <c:v>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1.6</c:v>
                </c:pt>
                <c:pt idx="7">
                  <c:v>0</c:v>
                </c:pt>
                <c:pt idx="8">
                  <c:v>0.5</c:v>
                </c:pt>
                <c:pt idx="9">
                  <c:v>0.2</c:v>
                </c:pt>
                <c:pt idx="10">
                  <c:v>0.1</c:v>
                </c:pt>
                <c:pt idx="11">
                  <c:v>0</c:v>
                </c:pt>
                <c:pt idx="12">
                  <c:v>0.2</c:v>
                </c:pt>
                <c:pt idx="13">
                  <c:v>0.4</c:v>
                </c:pt>
                <c:pt idx="14">
                  <c:v>0.4</c:v>
                </c:pt>
                <c:pt idx="15">
                  <c:v>4</c:v>
                </c:pt>
                <c:pt idx="16">
                  <c:v>78.2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LIGH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ARK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BLAN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600200" cy="6126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12600432"/>
            <a:ext cx="502920" cy="0"/>
          </a:xfrm>
          <a:prstGeom prst="line">
            <a:avLst/>
          </a:prstGeom>
          <a:noFill/>
          <a:ln w="9525">
            <a:solidFill>
              <a:srgbClr val="5B6B7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280160" y="127101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التقرير الإحصائي للإيرادات 2026م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المصدر: ملف الإيرادات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1600200" cy="612648"/>
          </a:xfrm>
          <a:prstGeom prst="rect">
            <a:avLst>
              <a:gd name="adj" fmla="val 1791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600200" cy="6126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89320" y="12600432"/>
            <a:ext cx="502920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80160" y="127101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CFE3DA"/>
                </a:solidFill>
              </a:rPr>
              <a:t>التقرير الإحصائي للإيرادات 2026م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CFE3DA"/>
                </a:solidFill>
              </a:rPr>
              <a:t>المصدر: ملف الإيرادات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CFE3DA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1.xml"/><Relationship Id="rId17" Type="http://schemas.openxmlformats.org/officeDocument/2006/relationships/slide" Target="slide67.xml"/><Relationship Id="rId18" Type="http://schemas.openxmlformats.org/officeDocument/2006/relationships/slide" Target="slide3.xml"/><Relationship Id="rId19" Type="http://schemas.openxmlformats.org/officeDocument/2006/relationships/slide" Target="slide4.xml"/><Relationship Id="rId20" Type="http://schemas.openxmlformats.org/officeDocument/2006/relationships/slide" Target="slide11.xml"/><Relationship Id="rId21" Type="http://schemas.openxmlformats.org/officeDocument/2006/relationships/slide" Target="slide18.xml"/><Relationship Id="rId22" Type="http://schemas.openxmlformats.org/officeDocument/2006/relationships/slide" Target="slide25.xml"/><Relationship Id="rId23" Type="http://schemas.openxmlformats.org/officeDocument/2006/relationships/slide" Target="slide31.xml"/><Relationship Id="rId24" Type="http://schemas.openxmlformats.org/officeDocument/2006/relationships/slide" Target="slide35.xml"/><Relationship Id="rId25" Type="http://schemas.openxmlformats.org/officeDocument/2006/relationships/slide" Target="slide38.xml"/><Relationship Id="rId26" Type="http://schemas.openxmlformats.org/officeDocument/2006/relationships/slide" Target="slide41.xml"/><Relationship Id="rId27" Type="http://schemas.openxmlformats.org/officeDocument/2006/relationships/slide" Target="slide46.xml"/><Relationship Id="rId28" Type="http://schemas.openxmlformats.org/officeDocument/2006/relationships/slide" Target="slide50.xml"/><Relationship Id="rId29" Type="http://schemas.openxmlformats.org/officeDocument/2006/relationships/slide" Target="slide53.xml"/><Relationship Id="rId30" Type="http://schemas.openxmlformats.org/officeDocument/2006/relationships/slide" Target="slide61.xml"/><Relationship Id="rId31" Type="http://schemas.openxmlformats.org/officeDocument/2006/relationships/slide" Target="slide67.xml"/><Relationship Id="rId32" Type="http://schemas.openxmlformats.org/officeDocument/2006/relationships/slideLayout" Target="../slideLayouts/slideLayout2.xml"/><Relationship Id="rId3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.xml"/><Relationship Id="rId20" Type="http://schemas.openxmlformats.org/officeDocument/2006/relationships/slide" Target="slide51.xml"/><Relationship Id="rId22" Type="http://schemas.openxmlformats.org/officeDocument/2006/relationships/slide" Target="slide5.xml"/><Relationship Id="rId24" Type="http://schemas.openxmlformats.org/officeDocument/2006/relationships/slide" Target="slide5.xml"/><Relationship Id="rId26" Type="http://schemas.openxmlformats.org/officeDocument/2006/relationships/slide" Target="slide62.xml"/><Relationship Id="rId28" Type="http://schemas.openxmlformats.org/officeDocument/2006/relationships/slide" Target="slide47.xml"/><Relationship Id="rId30" Type="http://schemas.openxmlformats.org/officeDocument/2006/relationships/slide" Target="slide37.xml"/><Relationship Id="rId32" Type="http://schemas.openxmlformats.org/officeDocument/2006/relationships/slide" Target="slide5.xml"/><Relationship Id="rId17" Type="http://schemas.openxmlformats.org/officeDocument/2006/relationships/image" Target="../media/image-3-1.png"/><Relationship Id="rId19" Type="http://schemas.openxmlformats.org/officeDocument/2006/relationships/image" Target="../media/image-3-2.png"/><Relationship Id="rId21" Type="http://schemas.openxmlformats.org/officeDocument/2006/relationships/image" Target="../media/image-3-3.png"/><Relationship Id="rId23" Type="http://schemas.openxmlformats.org/officeDocument/2006/relationships/image" Target="../media/image-3-4.png"/><Relationship Id="rId25" Type="http://schemas.openxmlformats.org/officeDocument/2006/relationships/image" Target="../media/image-3-5.png"/><Relationship Id="rId27" Type="http://schemas.openxmlformats.org/officeDocument/2006/relationships/image" Target="../media/image-3-6.png"/><Relationship Id="rId29" Type="http://schemas.openxmlformats.org/officeDocument/2006/relationships/image" Target="../media/image-3-7.png"/><Relationship Id="rId31" Type="http://schemas.openxmlformats.org/officeDocument/2006/relationships/image" Target="../media/image-3-8.png"/><Relationship Id="rId33" Type="http://schemas.openxmlformats.org/officeDocument/2006/relationships/slideLayout" Target="../slideLayouts/slideLayout3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5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.xml"/><Relationship Id="rId19" Type="http://schemas.openxmlformats.org/officeDocument/2006/relationships/slide" Target="slide6.xml"/><Relationship Id="rId20" Type="http://schemas.openxmlformats.org/officeDocument/2006/relationships/slide" Target="slide7.xml"/><Relationship Id="rId21" Type="http://schemas.openxmlformats.org/officeDocument/2006/relationships/slide" Target="slide8.xml"/><Relationship Id="rId22" Type="http://schemas.openxmlformats.org/officeDocument/2006/relationships/slide" Target="slide9.xml"/><Relationship Id="rId23" Type="http://schemas.openxmlformats.org/officeDocument/2006/relationships/slide" Target="slide10.xml"/><Relationship Id="rId17" Type="http://schemas.openxmlformats.org/officeDocument/2006/relationships/image" Target="../media/image-4-1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.xml"/><Relationship Id="rId3" Type="http://schemas.openxmlformats.org/officeDocument/2006/relationships/slide" Target="slide6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6.xml"/><Relationship Id="rId18" Type="http://schemas.openxmlformats.org/officeDocument/2006/relationships/slide" Target="slide7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1.xml"/><Relationship Id="rId22" Type="http://schemas.openxmlformats.org/officeDocument/2006/relationships/image" Target="../media/image-5-1.png"/><Relationship Id="rId23" Type="http://schemas.openxmlformats.org/officeDocument/2006/relationships/image" Target="../media/image-5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7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2.xml"/><Relationship Id="rId22" Type="http://schemas.openxmlformats.org/officeDocument/2006/relationships/image" Target="../media/image-6-1.png"/><Relationship Id="rId23" Type="http://schemas.openxmlformats.org/officeDocument/2006/relationships/image" Target="../media/image-6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.xml"/><Relationship Id="rId3" Type="http://schemas.openxmlformats.org/officeDocument/2006/relationships/slide" Target="slide8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3.xml"/><Relationship Id="rId22" Type="http://schemas.openxmlformats.org/officeDocument/2006/relationships/image" Target="../media/image-7-1.png"/><Relationship Id="rId23" Type="http://schemas.openxmlformats.org/officeDocument/2006/relationships/image" Target="../media/image-7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7.xml"/><Relationship Id="rId3" Type="http://schemas.openxmlformats.org/officeDocument/2006/relationships/slide" Target="slide9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7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4.xml"/><Relationship Id="rId22" Type="http://schemas.openxmlformats.org/officeDocument/2006/relationships/image" Target="../media/image-8-1.png"/><Relationship Id="rId23" Type="http://schemas.openxmlformats.org/officeDocument/2006/relationships/image" Target="../media/image-8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8.xml"/><Relationship Id="rId3" Type="http://schemas.openxmlformats.org/officeDocument/2006/relationships/slide" Target="slide10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7.xml"/><Relationship Id="rId20" Type="http://schemas.openxmlformats.org/officeDocument/2006/relationships/slide" Target="slide8.xml"/><Relationship Id="rId21" Type="http://schemas.openxmlformats.org/officeDocument/2006/relationships/slide" Target="slide10.xml"/><Relationship Id="rId24" Type="http://schemas.openxmlformats.org/officeDocument/2006/relationships/chart" Target="/ppt/charts/chart5.xml"/><Relationship Id="rId22" Type="http://schemas.openxmlformats.org/officeDocument/2006/relationships/image" Target="../media/image-9-1.png"/><Relationship Id="rId23" Type="http://schemas.openxmlformats.org/officeDocument/2006/relationships/image" Target="../media/image-9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9.xml"/><Relationship Id="rId3" Type="http://schemas.openxmlformats.org/officeDocument/2006/relationships/slide" Target="slide11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7.xml"/><Relationship Id="rId20" Type="http://schemas.openxmlformats.org/officeDocument/2006/relationships/slide" Target="slide8.xml"/><Relationship Id="rId21" Type="http://schemas.openxmlformats.org/officeDocument/2006/relationships/slide" Target="slide9.xml"/><Relationship Id="rId24" Type="http://schemas.openxmlformats.org/officeDocument/2006/relationships/chart" Target="/ppt/charts/chart6.xml"/><Relationship Id="rId22" Type="http://schemas.openxmlformats.org/officeDocument/2006/relationships/image" Target="../media/image-10-1.png"/><Relationship Id="rId23" Type="http://schemas.openxmlformats.org/officeDocument/2006/relationships/image" Target="../media/image-10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0.xml"/><Relationship Id="rId3" Type="http://schemas.openxmlformats.org/officeDocument/2006/relationships/slide" Target="slide1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4.xml"/><Relationship Id="rId21" Type="http://schemas.openxmlformats.org/officeDocument/2006/relationships/slide" Target="slide15.xml"/><Relationship Id="rId22" Type="http://schemas.openxmlformats.org/officeDocument/2006/relationships/slide" Target="slide16.xml"/><Relationship Id="rId23" Type="http://schemas.openxmlformats.org/officeDocument/2006/relationships/slide" Target="slide17.xml"/><Relationship Id="rId17" Type="http://schemas.openxmlformats.org/officeDocument/2006/relationships/image" Target="../media/image-11-1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1.xml"/><Relationship Id="rId3" Type="http://schemas.openxmlformats.org/officeDocument/2006/relationships/slide" Target="slide1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7.xml"/><Relationship Id="rId22" Type="http://schemas.openxmlformats.org/officeDocument/2006/relationships/image" Target="../media/image-12-1.png"/><Relationship Id="rId23" Type="http://schemas.openxmlformats.org/officeDocument/2006/relationships/image" Target="../media/image-12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2.xml"/><Relationship Id="rId3" Type="http://schemas.openxmlformats.org/officeDocument/2006/relationships/slide" Target="slide1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8.xml"/><Relationship Id="rId22" Type="http://schemas.openxmlformats.org/officeDocument/2006/relationships/image" Target="../media/image-13-1.png"/><Relationship Id="rId23" Type="http://schemas.openxmlformats.org/officeDocument/2006/relationships/image" Target="../media/image-13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3.xml"/><Relationship Id="rId3" Type="http://schemas.openxmlformats.org/officeDocument/2006/relationships/slide" Target="slide1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9.xml"/><Relationship Id="rId22" Type="http://schemas.openxmlformats.org/officeDocument/2006/relationships/image" Target="../media/image-14-1.png"/><Relationship Id="rId23" Type="http://schemas.openxmlformats.org/officeDocument/2006/relationships/image" Target="../media/image-14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4.xml"/><Relationship Id="rId3" Type="http://schemas.openxmlformats.org/officeDocument/2006/relationships/slide" Target="slide1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10.xml"/><Relationship Id="rId22" Type="http://schemas.openxmlformats.org/officeDocument/2006/relationships/image" Target="../media/image-15-1.png"/><Relationship Id="rId23" Type="http://schemas.openxmlformats.org/officeDocument/2006/relationships/image" Target="../media/image-15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5.xml"/><Relationship Id="rId3" Type="http://schemas.openxmlformats.org/officeDocument/2006/relationships/slide" Target="slide1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0" Type="http://schemas.openxmlformats.org/officeDocument/2006/relationships/slide" Target="slide15.xml"/><Relationship Id="rId21" Type="http://schemas.openxmlformats.org/officeDocument/2006/relationships/slide" Target="slide17.xml"/><Relationship Id="rId24" Type="http://schemas.openxmlformats.org/officeDocument/2006/relationships/chart" Target="/ppt/charts/chart11.xml"/><Relationship Id="rId22" Type="http://schemas.openxmlformats.org/officeDocument/2006/relationships/image" Target="../media/image-16-1.png"/><Relationship Id="rId23" Type="http://schemas.openxmlformats.org/officeDocument/2006/relationships/image" Target="../media/image-16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6.xml"/><Relationship Id="rId3" Type="http://schemas.openxmlformats.org/officeDocument/2006/relationships/slide" Target="slide1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0" Type="http://schemas.openxmlformats.org/officeDocument/2006/relationships/slide" Target="slide15.xml"/><Relationship Id="rId21" Type="http://schemas.openxmlformats.org/officeDocument/2006/relationships/slide" Target="slide16.xml"/><Relationship Id="rId24" Type="http://schemas.openxmlformats.org/officeDocument/2006/relationships/chart" Target="/ppt/charts/chart12.xml"/><Relationship Id="rId22" Type="http://schemas.openxmlformats.org/officeDocument/2006/relationships/image" Target="../media/image-17-1.png"/><Relationship Id="rId23" Type="http://schemas.openxmlformats.org/officeDocument/2006/relationships/image" Target="../media/image-17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7.xml"/><Relationship Id="rId3" Type="http://schemas.openxmlformats.org/officeDocument/2006/relationships/slide" Target="slide1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19.xml"/><Relationship Id="rId19" Type="http://schemas.openxmlformats.org/officeDocument/2006/relationships/slide" Target="slide20.xml"/><Relationship Id="rId20" Type="http://schemas.openxmlformats.org/officeDocument/2006/relationships/slide" Target="slide21.xml"/><Relationship Id="rId21" Type="http://schemas.openxmlformats.org/officeDocument/2006/relationships/slide" Target="slide22.xml"/><Relationship Id="rId22" Type="http://schemas.openxmlformats.org/officeDocument/2006/relationships/slide" Target="slide23.xml"/><Relationship Id="rId23" Type="http://schemas.openxmlformats.org/officeDocument/2006/relationships/slide" Target="slide24.xml"/><Relationship Id="rId17" Type="http://schemas.openxmlformats.org/officeDocument/2006/relationships/image" Target="../media/image-18-1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8.xml"/><Relationship Id="rId3" Type="http://schemas.openxmlformats.org/officeDocument/2006/relationships/slide" Target="slide2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0.xml"/><Relationship Id="rId18" Type="http://schemas.openxmlformats.org/officeDocument/2006/relationships/slide" Target="slide21.xml"/><Relationship Id="rId19" Type="http://schemas.openxmlformats.org/officeDocument/2006/relationships/slide" Target="slide22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3.xml"/><Relationship Id="rId22" Type="http://schemas.openxmlformats.org/officeDocument/2006/relationships/image" Target="../media/image-19-1.png"/><Relationship Id="rId23" Type="http://schemas.openxmlformats.org/officeDocument/2006/relationships/image" Target="../media/image-19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9.xml"/><Relationship Id="rId3" Type="http://schemas.openxmlformats.org/officeDocument/2006/relationships/slide" Target="slide2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1.xml"/><Relationship Id="rId19" Type="http://schemas.openxmlformats.org/officeDocument/2006/relationships/slide" Target="slide22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4.xml"/><Relationship Id="rId22" Type="http://schemas.openxmlformats.org/officeDocument/2006/relationships/image" Target="../media/image-20-1.png"/><Relationship Id="rId23" Type="http://schemas.openxmlformats.org/officeDocument/2006/relationships/image" Target="../media/image-20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0.xml"/><Relationship Id="rId3" Type="http://schemas.openxmlformats.org/officeDocument/2006/relationships/slide" Target="slide2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2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5.xml"/><Relationship Id="rId22" Type="http://schemas.openxmlformats.org/officeDocument/2006/relationships/image" Target="../media/image-21-1.png"/><Relationship Id="rId23" Type="http://schemas.openxmlformats.org/officeDocument/2006/relationships/image" Target="../media/image-21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1.xml"/><Relationship Id="rId3" Type="http://schemas.openxmlformats.org/officeDocument/2006/relationships/slide" Target="slide2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1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6.xml"/><Relationship Id="rId22" Type="http://schemas.openxmlformats.org/officeDocument/2006/relationships/image" Target="../media/image-22-1.png"/><Relationship Id="rId23" Type="http://schemas.openxmlformats.org/officeDocument/2006/relationships/image" Target="../media/image-22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2.xml"/><Relationship Id="rId3" Type="http://schemas.openxmlformats.org/officeDocument/2006/relationships/slide" Target="slide2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1.xml"/><Relationship Id="rId20" Type="http://schemas.openxmlformats.org/officeDocument/2006/relationships/slide" Target="slide22.xml"/><Relationship Id="rId21" Type="http://schemas.openxmlformats.org/officeDocument/2006/relationships/slide" Target="slide24.xml"/><Relationship Id="rId24" Type="http://schemas.openxmlformats.org/officeDocument/2006/relationships/chart" Target="/ppt/charts/chart17.xml"/><Relationship Id="rId22" Type="http://schemas.openxmlformats.org/officeDocument/2006/relationships/image" Target="../media/image-23-1.png"/><Relationship Id="rId23" Type="http://schemas.openxmlformats.org/officeDocument/2006/relationships/image" Target="../media/image-23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3.xml"/><Relationship Id="rId3" Type="http://schemas.openxmlformats.org/officeDocument/2006/relationships/slide" Target="slide2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1.xml"/><Relationship Id="rId20" Type="http://schemas.openxmlformats.org/officeDocument/2006/relationships/slide" Target="slide22.xml"/><Relationship Id="rId21" Type="http://schemas.openxmlformats.org/officeDocument/2006/relationships/slide" Target="slide23.xml"/><Relationship Id="rId24" Type="http://schemas.openxmlformats.org/officeDocument/2006/relationships/chart" Target="/ppt/charts/chart18.xml"/><Relationship Id="rId22" Type="http://schemas.openxmlformats.org/officeDocument/2006/relationships/image" Target="../media/image-24-1.png"/><Relationship Id="rId23" Type="http://schemas.openxmlformats.org/officeDocument/2006/relationships/image" Target="../media/image-24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4.xml"/><Relationship Id="rId3" Type="http://schemas.openxmlformats.org/officeDocument/2006/relationships/slide" Target="slide2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26.xml"/><Relationship Id="rId19" Type="http://schemas.openxmlformats.org/officeDocument/2006/relationships/slide" Target="slide27.xml"/><Relationship Id="rId20" Type="http://schemas.openxmlformats.org/officeDocument/2006/relationships/slide" Target="slide28.xml"/><Relationship Id="rId21" Type="http://schemas.openxmlformats.org/officeDocument/2006/relationships/slide" Target="slide29.xml"/><Relationship Id="rId22" Type="http://schemas.openxmlformats.org/officeDocument/2006/relationships/slide" Target="slide30.xml"/><Relationship Id="rId17" Type="http://schemas.openxmlformats.org/officeDocument/2006/relationships/image" Target="../media/image-25-1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5.xml"/><Relationship Id="rId3" Type="http://schemas.openxmlformats.org/officeDocument/2006/relationships/slide" Target="slide2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7.xml"/><Relationship Id="rId18" Type="http://schemas.openxmlformats.org/officeDocument/2006/relationships/slide" Target="slide28.xml"/><Relationship Id="rId19" Type="http://schemas.openxmlformats.org/officeDocument/2006/relationships/slide" Target="slide29.xml"/><Relationship Id="rId20" Type="http://schemas.openxmlformats.org/officeDocument/2006/relationships/slide" Target="slide30.xml"/><Relationship Id="rId23" Type="http://schemas.openxmlformats.org/officeDocument/2006/relationships/chart" Target="/ppt/charts/chart19.xml"/><Relationship Id="rId21" Type="http://schemas.openxmlformats.org/officeDocument/2006/relationships/image" Target="../media/image-26-1.png"/><Relationship Id="rId22" Type="http://schemas.openxmlformats.org/officeDocument/2006/relationships/image" Target="../media/image-26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6.xml"/><Relationship Id="rId3" Type="http://schemas.openxmlformats.org/officeDocument/2006/relationships/slide" Target="slide2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8.xml"/><Relationship Id="rId19" Type="http://schemas.openxmlformats.org/officeDocument/2006/relationships/slide" Target="slide29.xml"/><Relationship Id="rId20" Type="http://schemas.openxmlformats.org/officeDocument/2006/relationships/slide" Target="slide30.xml"/><Relationship Id="rId23" Type="http://schemas.openxmlformats.org/officeDocument/2006/relationships/chart" Target="/ppt/charts/chart20.xml"/><Relationship Id="rId21" Type="http://schemas.openxmlformats.org/officeDocument/2006/relationships/image" Target="../media/image-27-1.png"/><Relationship Id="rId22" Type="http://schemas.openxmlformats.org/officeDocument/2006/relationships/image" Target="../media/image-27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7.xml"/><Relationship Id="rId3" Type="http://schemas.openxmlformats.org/officeDocument/2006/relationships/slide" Target="slide2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7.xml"/><Relationship Id="rId19" Type="http://schemas.openxmlformats.org/officeDocument/2006/relationships/slide" Target="slide29.xml"/><Relationship Id="rId20" Type="http://schemas.openxmlformats.org/officeDocument/2006/relationships/slide" Target="slide30.xml"/><Relationship Id="rId23" Type="http://schemas.openxmlformats.org/officeDocument/2006/relationships/chart" Target="/ppt/charts/chart21.xml"/><Relationship Id="rId21" Type="http://schemas.openxmlformats.org/officeDocument/2006/relationships/image" Target="../media/image-28-1.png"/><Relationship Id="rId22" Type="http://schemas.openxmlformats.org/officeDocument/2006/relationships/image" Target="../media/image-28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8.xml"/><Relationship Id="rId3" Type="http://schemas.openxmlformats.org/officeDocument/2006/relationships/slide" Target="slide3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7.xml"/><Relationship Id="rId19" Type="http://schemas.openxmlformats.org/officeDocument/2006/relationships/slide" Target="slide28.xml"/><Relationship Id="rId20" Type="http://schemas.openxmlformats.org/officeDocument/2006/relationships/slide" Target="slide30.xml"/><Relationship Id="rId23" Type="http://schemas.openxmlformats.org/officeDocument/2006/relationships/chart" Target="/ppt/charts/chart22.xml"/><Relationship Id="rId21" Type="http://schemas.openxmlformats.org/officeDocument/2006/relationships/image" Target="../media/image-29-1.png"/><Relationship Id="rId22" Type="http://schemas.openxmlformats.org/officeDocument/2006/relationships/image" Target="../media/image-29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9.xml"/><Relationship Id="rId3" Type="http://schemas.openxmlformats.org/officeDocument/2006/relationships/slide" Target="slide3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7.xml"/><Relationship Id="rId19" Type="http://schemas.openxmlformats.org/officeDocument/2006/relationships/slide" Target="slide28.xml"/><Relationship Id="rId20" Type="http://schemas.openxmlformats.org/officeDocument/2006/relationships/slide" Target="slide29.xml"/><Relationship Id="rId23" Type="http://schemas.openxmlformats.org/officeDocument/2006/relationships/chart" Target="/ppt/charts/chart23.xml"/><Relationship Id="rId21" Type="http://schemas.openxmlformats.org/officeDocument/2006/relationships/image" Target="../media/image-30-1.png"/><Relationship Id="rId22" Type="http://schemas.openxmlformats.org/officeDocument/2006/relationships/image" Target="../media/image-30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0.xml"/><Relationship Id="rId3" Type="http://schemas.openxmlformats.org/officeDocument/2006/relationships/slide" Target="slide3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32.xml"/><Relationship Id="rId19" Type="http://schemas.openxmlformats.org/officeDocument/2006/relationships/slide" Target="slide33.xml"/><Relationship Id="rId20" Type="http://schemas.openxmlformats.org/officeDocument/2006/relationships/slide" Target="slide34.xml"/><Relationship Id="rId17" Type="http://schemas.openxmlformats.org/officeDocument/2006/relationships/image" Target="../media/image-31-1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1.xml"/><Relationship Id="rId3" Type="http://schemas.openxmlformats.org/officeDocument/2006/relationships/slide" Target="slide3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3.xml"/><Relationship Id="rId18" Type="http://schemas.openxmlformats.org/officeDocument/2006/relationships/slide" Target="slide34.xml"/><Relationship Id="rId21" Type="http://schemas.openxmlformats.org/officeDocument/2006/relationships/chart" Target="/ppt/charts/chart24.xml"/><Relationship Id="rId19" Type="http://schemas.openxmlformats.org/officeDocument/2006/relationships/image" Target="../media/image-32-1.png"/><Relationship Id="rId20" Type="http://schemas.openxmlformats.org/officeDocument/2006/relationships/image" Target="../media/image-32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2.xml"/><Relationship Id="rId3" Type="http://schemas.openxmlformats.org/officeDocument/2006/relationships/slide" Target="slide3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2.xml"/><Relationship Id="rId18" Type="http://schemas.openxmlformats.org/officeDocument/2006/relationships/slide" Target="slide34.xml"/><Relationship Id="rId21" Type="http://schemas.openxmlformats.org/officeDocument/2006/relationships/chart" Target="/ppt/charts/chart25.xml"/><Relationship Id="rId19" Type="http://schemas.openxmlformats.org/officeDocument/2006/relationships/image" Target="../media/image-33-1.png"/><Relationship Id="rId20" Type="http://schemas.openxmlformats.org/officeDocument/2006/relationships/image" Target="../media/image-33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3.xml"/><Relationship Id="rId3" Type="http://schemas.openxmlformats.org/officeDocument/2006/relationships/slide" Target="slide3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2.xml"/><Relationship Id="rId18" Type="http://schemas.openxmlformats.org/officeDocument/2006/relationships/slide" Target="slide33.xml"/><Relationship Id="rId21" Type="http://schemas.openxmlformats.org/officeDocument/2006/relationships/chart" Target="/ppt/charts/chart26.xml"/><Relationship Id="rId19" Type="http://schemas.openxmlformats.org/officeDocument/2006/relationships/image" Target="../media/image-34-1.png"/><Relationship Id="rId20" Type="http://schemas.openxmlformats.org/officeDocument/2006/relationships/image" Target="../media/image-34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4.xml"/><Relationship Id="rId3" Type="http://schemas.openxmlformats.org/officeDocument/2006/relationships/slide" Target="slide3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36.xml"/><Relationship Id="rId19" Type="http://schemas.openxmlformats.org/officeDocument/2006/relationships/slide" Target="slide37.xml"/><Relationship Id="rId17" Type="http://schemas.openxmlformats.org/officeDocument/2006/relationships/image" Target="../media/image-35-1.png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5.xml"/><Relationship Id="rId3" Type="http://schemas.openxmlformats.org/officeDocument/2006/relationships/slide" Target="slide3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7.xml"/><Relationship Id="rId20" Type="http://schemas.openxmlformats.org/officeDocument/2006/relationships/chart" Target="/ppt/charts/chart27.xml"/><Relationship Id="rId18" Type="http://schemas.openxmlformats.org/officeDocument/2006/relationships/image" Target="../media/image-36-1.png"/><Relationship Id="rId19" Type="http://schemas.openxmlformats.org/officeDocument/2006/relationships/image" Target="../media/image-36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6.xml"/><Relationship Id="rId3" Type="http://schemas.openxmlformats.org/officeDocument/2006/relationships/slide" Target="slide3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6.xml"/><Relationship Id="rId20" Type="http://schemas.openxmlformats.org/officeDocument/2006/relationships/chart" Target="/ppt/charts/chart28.xml"/><Relationship Id="rId18" Type="http://schemas.openxmlformats.org/officeDocument/2006/relationships/image" Target="../media/image-37-1.png"/><Relationship Id="rId19" Type="http://schemas.openxmlformats.org/officeDocument/2006/relationships/image" Target="../media/image-37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7.xml"/><Relationship Id="rId3" Type="http://schemas.openxmlformats.org/officeDocument/2006/relationships/slide" Target="slide3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39.xml"/><Relationship Id="rId19" Type="http://schemas.openxmlformats.org/officeDocument/2006/relationships/slide" Target="slide40.xml"/><Relationship Id="rId17" Type="http://schemas.openxmlformats.org/officeDocument/2006/relationships/image" Target="../media/image-38-1.png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8.xml"/><Relationship Id="rId3" Type="http://schemas.openxmlformats.org/officeDocument/2006/relationships/slide" Target="slide4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0.xml"/><Relationship Id="rId20" Type="http://schemas.openxmlformats.org/officeDocument/2006/relationships/chart" Target="/ppt/charts/chart29.xml"/><Relationship Id="rId18" Type="http://schemas.openxmlformats.org/officeDocument/2006/relationships/image" Target="../media/image-39-1.png"/><Relationship Id="rId19" Type="http://schemas.openxmlformats.org/officeDocument/2006/relationships/image" Target="../media/image-39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9.xml"/><Relationship Id="rId3" Type="http://schemas.openxmlformats.org/officeDocument/2006/relationships/slide" Target="slide4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9.xml"/><Relationship Id="rId20" Type="http://schemas.openxmlformats.org/officeDocument/2006/relationships/chart" Target="/ppt/charts/chart30.xml"/><Relationship Id="rId18" Type="http://schemas.openxmlformats.org/officeDocument/2006/relationships/image" Target="../media/image-40-1.png"/><Relationship Id="rId19" Type="http://schemas.openxmlformats.org/officeDocument/2006/relationships/image" Target="../media/image-40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0.xml"/><Relationship Id="rId3" Type="http://schemas.openxmlformats.org/officeDocument/2006/relationships/slide" Target="slide4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42.xml"/><Relationship Id="rId19" Type="http://schemas.openxmlformats.org/officeDocument/2006/relationships/slide" Target="slide43.xml"/><Relationship Id="rId20" Type="http://schemas.openxmlformats.org/officeDocument/2006/relationships/slide" Target="slide44.xml"/><Relationship Id="rId21" Type="http://schemas.openxmlformats.org/officeDocument/2006/relationships/slide" Target="slide45.xml"/><Relationship Id="rId17" Type="http://schemas.openxmlformats.org/officeDocument/2006/relationships/image" Target="../media/image-41-1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1.xml"/><Relationship Id="rId3" Type="http://schemas.openxmlformats.org/officeDocument/2006/relationships/slide" Target="slide4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3.xml"/><Relationship Id="rId18" Type="http://schemas.openxmlformats.org/officeDocument/2006/relationships/slide" Target="slide44.xml"/><Relationship Id="rId19" Type="http://schemas.openxmlformats.org/officeDocument/2006/relationships/slide" Target="slide45.xml"/><Relationship Id="rId22" Type="http://schemas.openxmlformats.org/officeDocument/2006/relationships/chart" Target="/ppt/charts/chart31.xml"/><Relationship Id="rId20" Type="http://schemas.openxmlformats.org/officeDocument/2006/relationships/image" Target="../media/image-42-1.png"/><Relationship Id="rId21" Type="http://schemas.openxmlformats.org/officeDocument/2006/relationships/image" Target="../media/image-42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2.xml"/><Relationship Id="rId3" Type="http://schemas.openxmlformats.org/officeDocument/2006/relationships/slide" Target="slide4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2.xml"/><Relationship Id="rId18" Type="http://schemas.openxmlformats.org/officeDocument/2006/relationships/slide" Target="slide44.xml"/><Relationship Id="rId19" Type="http://schemas.openxmlformats.org/officeDocument/2006/relationships/slide" Target="slide45.xml"/><Relationship Id="rId22" Type="http://schemas.openxmlformats.org/officeDocument/2006/relationships/chart" Target="/ppt/charts/chart32.xml"/><Relationship Id="rId20" Type="http://schemas.openxmlformats.org/officeDocument/2006/relationships/image" Target="../media/image-43-1.png"/><Relationship Id="rId21" Type="http://schemas.openxmlformats.org/officeDocument/2006/relationships/image" Target="../media/image-43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3.xml"/><Relationship Id="rId3" Type="http://schemas.openxmlformats.org/officeDocument/2006/relationships/slide" Target="slide4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2.xml"/><Relationship Id="rId18" Type="http://schemas.openxmlformats.org/officeDocument/2006/relationships/slide" Target="slide43.xml"/><Relationship Id="rId19" Type="http://schemas.openxmlformats.org/officeDocument/2006/relationships/slide" Target="slide45.xml"/><Relationship Id="rId22" Type="http://schemas.openxmlformats.org/officeDocument/2006/relationships/chart" Target="/ppt/charts/chart33.xml"/><Relationship Id="rId20" Type="http://schemas.openxmlformats.org/officeDocument/2006/relationships/image" Target="../media/image-44-1.png"/><Relationship Id="rId21" Type="http://schemas.openxmlformats.org/officeDocument/2006/relationships/image" Target="../media/image-44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4.xml"/><Relationship Id="rId3" Type="http://schemas.openxmlformats.org/officeDocument/2006/relationships/slide" Target="slide4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2.xml"/><Relationship Id="rId18" Type="http://schemas.openxmlformats.org/officeDocument/2006/relationships/slide" Target="slide43.xml"/><Relationship Id="rId19" Type="http://schemas.openxmlformats.org/officeDocument/2006/relationships/slide" Target="slide44.xml"/><Relationship Id="rId22" Type="http://schemas.openxmlformats.org/officeDocument/2006/relationships/chart" Target="/ppt/charts/chart34.xml"/><Relationship Id="rId20" Type="http://schemas.openxmlformats.org/officeDocument/2006/relationships/image" Target="../media/image-45-1.png"/><Relationship Id="rId21" Type="http://schemas.openxmlformats.org/officeDocument/2006/relationships/image" Target="../media/image-45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5.xml"/><Relationship Id="rId3" Type="http://schemas.openxmlformats.org/officeDocument/2006/relationships/slide" Target="slide4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47.xml"/><Relationship Id="rId19" Type="http://schemas.openxmlformats.org/officeDocument/2006/relationships/slide" Target="slide48.xml"/><Relationship Id="rId20" Type="http://schemas.openxmlformats.org/officeDocument/2006/relationships/slide" Target="slide49.xml"/><Relationship Id="rId17" Type="http://schemas.openxmlformats.org/officeDocument/2006/relationships/image" Target="../media/image-46-1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6.xml"/><Relationship Id="rId3" Type="http://schemas.openxmlformats.org/officeDocument/2006/relationships/slide" Target="slide4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21" Type="http://schemas.openxmlformats.org/officeDocument/2006/relationships/chart" Target="/ppt/charts/chart35.xml"/><Relationship Id="rId19" Type="http://schemas.openxmlformats.org/officeDocument/2006/relationships/image" Target="../media/image-47-1.png"/><Relationship Id="rId20" Type="http://schemas.openxmlformats.org/officeDocument/2006/relationships/image" Target="../media/image-47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7.xml"/><Relationship Id="rId3" Type="http://schemas.openxmlformats.org/officeDocument/2006/relationships/slide" Target="slide4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7.xml"/><Relationship Id="rId18" Type="http://schemas.openxmlformats.org/officeDocument/2006/relationships/slide" Target="slide49.xml"/><Relationship Id="rId21" Type="http://schemas.openxmlformats.org/officeDocument/2006/relationships/chart" Target="/ppt/charts/chart36.xml"/><Relationship Id="rId19" Type="http://schemas.openxmlformats.org/officeDocument/2006/relationships/image" Target="../media/image-48-1.png"/><Relationship Id="rId20" Type="http://schemas.openxmlformats.org/officeDocument/2006/relationships/image" Target="../media/image-48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8.xml"/><Relationship Id="rId3" Type="http://schemas.openxmlformats.org/officeDocument/2006/relationships/slide" Target="slide5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7.xml"/><Relationship Id="rId18" Type="http://schemas.openxmlformats.org/officeDocument/2006/relationships/slide" Target="slide48.xml"/><Relationship Id="rId21" Type="http://schemas.openxmlformats.org/officeDocument/2006/relationships/chart" Target="/ppt/charts/chart37.xml"/><Relationship Id="rId19" Type="http://schemas.openxmlformats.org/officeDocument/2006/relationships/image" Target="../media/image-49-1.png"/><Relationship Id="rId20" Type="http://schemas.openxmlformats.org/officeDocument/2006/relationships/image" Target="../media/image-49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9.xml"/><Relationship Id="rId3" Type="http://schemas.openxmlformats.org/officeDocument/2006/relationships/slide" Target="slide5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1.xml"/><Relationship Id="rId19" Type="http://schemas.openxmlformats.org/officeDocument/2006/relationships/slide" Target="slide52.xml"/><Relationship Id="rId17" Type="http://schemas.openxmlformats.org/officeDocument/2006/relationships/image" Target="../media/image-50-1.png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0.xml"/><Relationship Id="rId3" Type="http://schemas.openxmlformats.org/officeDocument/2006/relationships/slide" Target="slide5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2.xml"/><Relationship Id="rId20" Type="http://schemas.openxmlformats.org/officeDocument/2006/relationships/chart" Target="/ppt/charts/chart38.xml"/><Relationship Id="rId18" Type="http://schemas.openxmlformats.org/officeDocument/2006/relationships/image" Target="../media/image-51-1.png"/><Relationship Id="rId19" Type="http://schemas.openxmlformats.org/officeDocument/2006/relationships/image" Target="../media/image-51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1.xml"/><Relationship Id="rId3" Type="http://schemas.openxmlformats.org/officeDocument/2006/relationships/slide" Target="slide5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1.xml"/><Relationship Id="rId20" Type="http://schemas.openxmlformats.org/officeDocument/2006/relationships/chart" Target="/ppt/charts/chart39.xml"/><Relationship Id="rId18" Type="http://schemas.openxmlformats.org/officeDocument/2006/relationships/image" Target="../media/image-52-1.png"/><Relationship Id="rId19" Type="http://schemas.openxmlformats.org/officeDocument/2006/relationships/image" Target="../media/image-52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2.xml"/><Relationship Id="rId3" Type="http://schemas.openxmlformats.org/officeDocument/2006/relationships/slide" Target="slide5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4.xml"/><Relationship Id="rId19" Type="http://schemas.openxmlformats.org/officeDocument/2006/relationships/slide" Target="slide55.xml"/><Relationship Id="rId20" Type="http://schemas.openxmlformats.org/officeDocument/2006/relationships/slide" Target="slide56.xml"/><Relationship Id="rId21" Type="http://schemas.openxmlformats.org/officeDocument/2006/relationships/slide" Target="slide57.xml"/><Relationship Id="rId22" Type="http://schemas.openxmlformats.org/officeDocument/2006/relationships/slide" Target="slide58.xml"/><Relationship Id="rId23" Type="http://schemas.openxmlformats.org/officeDocument/2006/relationships/slide" Target="slide59.xml"/><Relationship Id="rId24" Type="http://schemas.openxmlformats.org/officeDocument/2006/relationships/slide" Target="slide60.xml"/><Relationship Id="rId17" Type="http://schemas.openxmlformats.org/officeDocument/2006/relationships/image" Target="../media/image-53-1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3.xml"/><Relationship Id="rId3" Type="http://schemas.openxmlformats.org/officeDocument/2006/relationships/slide" Target="slide5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5.xml"/><Relationship Id="rId18" Type="http://schemas.openxmlformats.org/officeDocument/2006/relationships/slide" Target="slide56.xml"/><Relationship Id="rId19" Type="http://schemas.openxmlformats.org/officeDocument/2006/relationships/slide" Target="slide57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0.xml"/><Relationship Id="rId23" Type="http://schemas.openxmlformats.org/officeDocument/2006/relationships/image" Target="../media/image-54-1.png"/><Relationship Id="rId24" Type="http://schemas.openxmlformats.org/officeDocument/2006/relationships/image" Target="../media/image-54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4.xml"/><Relationship Id="rId3" Type="http://schemas.openxmlformats.org/officeDocument/2006/relationships/slide" Target="slide5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6.xml"/><Relationship Id="rId19" Type="http://schemas.openxmlformats.org/officeDocument/2006/relationships/slide" Target="slide57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1.xml"/><Relationship Id="rId23" Type="http://schemas.openxmlformats.org/officeDocument/2006/relationships/image" Target="../media/image-55-1.png"/><Relationship Id="rId24" Type="http://schemas.openxmlformats.org/officeDocument/2006/relationships/image" Target="../media/image-55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5.xml"/><Relationship Id="rId3" Type="http://schemas.openxmlformats.org/officeDocument/2006/relationships/slide" Target="slide5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7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2.xml"/><Relationship Id="rId23" Type="http://schemas.openxmlformats.org/officeDocument/2006/relationships/image" Target="../media/image-56-1.png"/><Relationship Id="rId24" Type="http://schemas.openxmlformats.org/officeDocument/2006/relationships/image" Target="../media/image-56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6.xml"/><Relationship Id="rId3" Type="http://schemas.openxmlformats.org/officeDocument/2006/relationships/slide" Target="slide5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3.xml"/><Relationship Id="rId23" Type="http://schemas.openxmlformats.org/officeDocument/2006/relationships/image" Target="../media/image-57-1.png"/><Relationship Id="rId24" Type="http://schemas.openxmlformats.org/officeDocument/2006/relationships/image" Target="../media/image-57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7.xml"/><Relationship Id="rId3" Type="http://schemas.openxmlformats.org/officeDocument/2006/relationships/slide" Target="slide5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7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4.xml"/><Relationship Id="rId23" Type="http://schemas.openxmlformats.org/officeDocument/2006/relationships/image" Target="../media/image-58-1.png"/><Relationship Id="rId24" Type="http://schemas.openxmlformats.org/officeDocument/2006/relationships/image" Target="../media/image-58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8.xml"/><Relationship Id="rId3" Type="http://schemas.openxmlformats.org/officeDocument/2006/relationships/slide" Target="slide6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7.xml"/><Relationship Id="rId21" Type="http://schemas.openxmlformats.org/officeDocument/2006/relationships/slide" Target="slide58.xml"/><Relationship Id="rId22" Type="http://schemas.openxmlformats.org/officeDocument/2006/relationships/slide" Target="slide60.xml"/><Relationship Id="rId25" Type="http://schemas.openxmlformats.org/officeDocument/2006/relationships/chart" Target="/ppt/charts/chart45.xml"/><Relationship Id="rId23" Type="http://schemas.openxmlformats.org/officeDocument/2006/relationships/image" Target="../media/image-59-1.png"/><Relationship Id="rId24" Type="http://schemas.openxmlformats.org/officeDocument/2006/relationships/image" Target="../media/image-59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9.xml"/><Relationship Id="rId3" Type="http://schemas.openxmlformats.org/officeDocument/2006/relationships/slide" Target="slide6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7.xml"/><Relationship Id="rId21" Type="http://schemas.openxmlformats.org/officeDocument/2006/relationships/slide" Target="slide58.xml"/><Relationship Id="rId22" Type="http://schemas.openxmlformats.org/officeDocument/2006/relationships/slide" Target="slide59.xml"/><Relationship Id="rId25" Type="http://schemas.openxmlformats.org/officeDocument/2006/relationships/chart" Target="/ppt/charts/chart46.xml"/><Relationship Id="rId23" Type="http://schemas.openxmlformats.org/officeDocument/2006/relationships/image" Target="../media/image-60-1.png"/><Relationship Id="rId24" Type="http://schemas.openxmlformats.org/officeDocument/2006/relationships/image" Target="../media/image-60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0.xml"/><Relationship Id="rId3" Type="http://schemas.openxmlformats.org/officeDocument/2006/relationships/slide" Target="slide6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8" Type="http://schemas.openxmlformats.org/officeDocument/2006/relationships/slide" Target="slide62.xml"/><Relationship Id="rId19" Type="http://schemas.openxmlformats.org/officeDocument/2006/relationships/slide" Target="slide63.xml"/><Relationship Id="rId20" Type="http://schemas.openxmlformats.org/officeDocument/2006/relationships/slide" Target="slide64.xml"/><Relationship Id="rId21" Type="http://schemas.openxmlformats.org/officeDocument/2006/relationships/slide" Target="slide65.xml"/><Relationship Id="rId22" Type="http://schemas.openxmlformats.org/officeDocument/2006/relationships/slide" Target="slide66.xml"/><Relationship Id="rId17" Type="http://schemas.openxmlformats.org/officeDocument/2006/relationships/image" Target="../media/image-61-1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1.xml"/><Relationship Id="rId3" Type="http://schemas.openxmlformats.org/officeDocument/2006/relationships/slide" Target="slide6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3.xml"/><Relationship Id="rId18" Type="http://schemas.openxmlformats.org/officeDocument/2006/relationships/slide" Target="slide64.xml"/><Relationship Id="rId19" Type="http://schemas.openxmlformats.org/officeDocument/2006/relationships/slide" Target="slide65.xml"/><Relationship Id="rId20" Type="http://schemas.openxmlformats.org/officeDocument/2006/relationships/slide" Target="slide66.xml"/><Relationship Id="rId23" Type="http://schemas.openxmlformats.org/officeDocument/2006/relationships/chart" Target="/ppt/charts/chart47.xml"/><Relationship Id="rId21" Type="http://schemas.openxmlformats.org/officeDocument/2006/relationships/image" Target="../media/image-62-1.png"/><Relationship Id="rId22" Type="http://schemas.openxmlformats.org/officeDocument/2006/relationships/image" Target="../media/image-62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2.xml"/><Relationship Id="rId3" Type="http://schemas.openxmlformats.org/officeDocument/2006/relationships/slide" Target="slide6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4.xml"/><Relationship Id="rId19" Type="http://schemas.openxmlformats.org/officeDocument/2006/relationships/slide" Target="slide65.xml"/><Relationship Id="rId20" Type="http://schemas.openxmlformats.org/officeDocument/2006/relationships/slide" Target="slide66.xml"/><Relationship Id="rId23" Type="http://schemas.openxmlformats.org/officeDocument/2006/relationships/chart" Target="/ppt/charts/chart48.xml"/><Relationship Id="rId21" Type="http://schemas.openxmlformats.org/officeDocument/2006/relationships/image" Target="../media/image-63-1.png"/><Relationship Id="rId22" Type="http://schemas.openxmlformats.org/officeDocument/2006/relationships/image" Target="../media/image-63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3.xml"/><Relationship Id="rId3" Type="http://schemas.openxmlformats.org/officeDocument/2006/relationships/slide" Target="slide6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3.xml"/><Relationship Id="rId19" Type="http://schemas.openxmlformats.org/officeDocument/2006/relationships/slide" Target="slide65.xml"/><Relationship Id="rId20" Type="http://schemas.openxmlformats.org/officeDocument/2006/relationships/slide" Target="slide66.xml"/><Relationship Id="rId23" Type="http://schemas.openxmlformats.org/officeDocument/2006/relationships/chart" Target="/ppt/charts/chart49.xml"/><Relationship Id="rId21" Type="http://schemas.openxmlformats.org/officeDocument/2006/relationships/image" Target="../media/image-64-1.png"/><Relationship Id="rId22" Type="http://schemas.openxmlformats.org/officeDocument/2006/relationships/image" Target="../media/image-64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4.xml"/><Relationship Id="rId3" Type="http://schemas.openxmlformats.org/officeDocument/2006/relationships/slide" Target="slide6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3.xml"/><Relationship Id="rId19" Type="http://schemas.openxmlformats.org/officeDocument/2006/relationships/slide" Target="slide64.xml"/><Relationship Id="rId20" Type="http://schemas.openxmlformats.org/officeDocument/2006/relationships/slide" Target="slide66.xml"/><Relationship Id="rId23" Type="http://schemas.openxmlformats.org/officeDocument/2006/relationships/chart" Target="/ppt/charts/chart50.xml"/><Relationship Id="rId21" Type="http://schemas.openxmlformats.org/officeDocument/2006/relationships/image" Target="../media/image-65-1.png"/><Relationship Id="rId22" Type="http://schemas.openxmlformats.org/officeDocument/2006/relationships/image" Target="../media/image-65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5.xml"/><Relationship Id="rId3" Type="http://schemas.openxmlformats.org/officeDocument/2006/relationships/slide" Target="slide6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3.xml"/><Relationship Id="rId19" Type="http://schemas.openxmlformats.org/officeDocument/2006/relationships/slide" Target="slide64.xml"/><Relationship Id="rId20" Type="http://schemas.openxmlformats.org/officeDocument/2006/relationships/slide" Target="slide65.xml"/><Relationship Id="rId23" Type="http://schemas.openxmlformats.org/officeDocument/2006/relationships/chart" Target="/ppt/charts/chart51.xml"/><Relationship Id="rId21" Type="http://schemas.openxmlformats.org/officeDocument/2006/relationships/image" Target="../media/image-66-1.png"/><Relationship Id="rId22" Type="http://schemas.openxmlformats.org/officeDocument/2006/relationships/image" Target="../media/image-66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6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cover-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6309360" cy="7772400"/>
          </a:xfrm>
          <a:prstGeom prst="rect">
            <a:avLst/>
          </a:prstGeom>
        </p:spPr>
      </p:pic>
      <p:pic>
        <p:nvPicPr>
          <p:cNvPr id="3" name="Image 1" descr="/home/user/test4/assets/panel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818120"/>
            <a:ext cx="6309360" cy="53949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85039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الإيرادات</a:t>
            </a:r>
            <a:endParaRPr lang="en-US" sz="56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9646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حسب السنة والتبويب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10515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E6F4EF"/>
                </a:solidFill>
              </a:rPr>
              <a:t>التقرير السنوي والشهري للإيراد 2026م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10185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6F4EF"/>
                </a:solidFill>
              </a:rPr>
              <a:t>الفعلي مقابل المقدر والمستهدف • المفوتر والمحصل • المديونية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Shape 40">
            <a:hlinkClick r:id="rId16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4" name="Shape 42">
            <a:hlinkClick r:id="rId17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65760" y="22860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الفهرس</a:t>
            </a:r>
            <a:endParaRPr lang="en-US" sz="3000" dirty="0"/>
          </a:p>
        </p:txBody>
      </p:sp>
      <p:sp>
        <p:nvSpPr>
          <p:cNvPr id="46" name="Shape 44"/>
          <p:cNvSpPr/>
          <p:nvPr/>
        </p:nvSpPr>
        <p:spPr>
          <a:xfrm>
            <a:off x="6016752" y="3200400"/>
            <a:ext cx="0" cy="8778240"/>
          </a:xfrm>
          <a:prstGeom prst="line">
            <a:avLst/>
          </a:prstGeom>
          <a:noFill/>
          <a:ln w="15875">
            <a:solidFill>
              <a:srgbClr val="A4CCB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306324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3063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المؤشرات الرئيسة</a:t>
            </a:r>
            <a:endParaRPr lang="en-US" sz="1500" dirty="0"/>
          </a:p>
        </p:txBody>
      </p:sp>
      <p:sp>
        <p:nvSpPr>
          <p:cNvPr id="49" name="Shape 47">
            <a:hlinkClick r:id="rId18" tooltip="المؤشرات الرئيسة" action="ppaction://hlinksldjump"/>
          </p:cNvPr>
          <p:cNvSpPr/>
          <p:nvPr/>
        </p:nvSpPr>
        <p:spPr>
          <a:xfrm>
            <a:off x="365760" y="306324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669280" y="370332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3703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حتى تاريخه</a:t>
            </a:r>
            <a:endParaRPr lang="en-US" sz="1500" dirty="0"/>
          </a:p>
        </p:txBody>
      </p:sp>
      <p:sp>
        <p:nvSpPr>
          <p:cNvPr id="52" name="Shape 50">
            <a:hlinkClick r:id="rId19" tooltip="الإيراد حتى تاريخه" action="ppaction://hlinksldjump"/>
          </p:cNvPr>
          <p:cNvSpPr/>
          <p:nvPr/>
        </p:nvSpPr>
        <p:spPr>
          <a:xfrm>
            <a:off x="365760" y="370332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669280" y="434340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4343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لنهاية السنة</a:t>
            </a:r>
            <a:endParaRPr lang="en-US" sz="1500" dirty="0"/>
          </a:p>
        </p:txBody>
      </p:sp>
      <p:sp>
        <p:nvSpPr>
          <p:cNvPr id="55" name="Shape 53">
            <a:hlinkClick r:id="rId20" tooltip="الإيراد لنهاية السنة" action="ppaction://hlinksldjump"/>
          </p:cNvPr>
          <p:cNvSpPr/>
          <p:nvPr/>
        </p:nvSpPr>
        <p:spPr>
          <a:xfrm>
            <a:off x="365760" y="434340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669280" y="498348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4983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للشهر الحالي</a:t>
            </a:r>
            <a:endParaRPr lang="en-US" sz="1500" dirty="0"/>
          </a:p>
        </p:txBody>
      </p:sp>
      <p:sp>
        <p:nvSpPr>
          <p:cNvPr id="58" name="Shape 56">
            <a:hlinkClick r:id="rId21" tooltip="الإيراد للشهر الحالي" action="ppaction://hlinksldjump"/>
          </p:cNvPr>
          <p:cNvSpPr/>
          <p:nvPr/>
        </p:nvSpPr>
        <p:spPr>
          <a:xfrm>
            <a:off x="365760" y="498348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669280" y="562356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56235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حسب القطاع</a:t>
            </a:r>
            <a:endParaRPr lang="en-US" sz="1500" dirty="0"/>
          </a:p>
        </p:txBody>
      </p:sp>
      <p:sp>
        <p:nvSpPr>
          <p:cNvPr id="61" name="Shape 59">
            <a:hlinkClick r:id="rId22" tooltip="الإيراد حسب القطاع" action="ppaction://hlinksldjump"/>
          </p:cNvPr>
          <p:cNvSpPr/>
          <p:nvPr/>
        </p:nvSpPr>
        <p:spPr>
          <a:xfrm>
            <a:off x="365760" y="562356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669280" y="626364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6263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ملخص التبويبات: الاستثمارية والجزاءات والتبغ</a:t>
            </a:r>
            <a:endParaRPr lang="en-US" sz="1500" dirty="0"/>
          </a:p>
        </p:txBody>
      </p:sp>
      <p:sp>
        <p:nvSpPr>
          <p:cNvPr id="64" name="Shape 62">
            <a:hlinkClick r:id="rId23" tooltip="ملخص التبويبات: الاستثمارية والجزاءات والتبغ" action="ppaction://hlinksldjump"/>
          </p:cNvPr>
          <p:cNvSpPr/>
          <p:nvPr/>
        </p:nvSpPr>
        <p:spPr>
          <a:xfrm>
            <a:off x="365760" y="626364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669280" y="690372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903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الاستقطاع</a:t>
            </a:r>
            <a:endParaRPr lang="en-US" sz="1500" dirty="0"/>
          </a:p>
        </p:txBody>
      </p:sp>
      <p:sp>
        <p:nvSpPr>
          <p:cNvPr id="67" name="Shape 65">
            <a:hlinkClick r:id="rId24" tooltip="الاستقطاع" action="ppaction://hlinksldjump"/>
          </p:cNvPr>
          <p:cNvSpPr/>
          <p:nvPr/>
        </p:nvSpPr>
        <p:spPr>
          <a:xfrm>
            <a:off x="365760" y="690372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669280" y="754380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548640" y="75438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سيناريوهات الإقفال</a:t>
            </a:r>
            <a:endParaRPr lang="en-US" sz="1500" dirty="0"/>
          </a:p>
        </p:txBody>
      </p:sp>
      <p:sp>
        <p:nvSpPr>
          <p:cNvPr id="70" name="Shape 68">
            <a:hlinkClick r:id="rId25" tooltip="سيناريوهات الإقفال" action="ppaction://hlinksldjump"/>
          </p:cNvPr>
          <p:cNvSpPr/>
          <p:nvPr/>
        </p:nvSpPr>
        <p:spPr>
          <a:xfrm>
            <a:off x="365760" y="754380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669280" y="818388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8183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الجزاءات والغرامات الشهرية</a:t>
            </a:r>
            <a:endParaRPr lang="en-US" sz="1500" dirty="0"/>
          </a:p>
        </p:txBody>
      </p:sp>
      <p:sp>
        <p:nvSpPr>
          <p:cNvPr id="73" name="Shape 71">
            <a:hlinkClick r:id="rId26" tooltip="الجزاءات والغرامات الشهرية" action="ppaction://hlinksldjump"/>
          </p:cNvPr>
          <p:cNvSpPr/>
          <p:nvPr/>
        </p:nvSpPr>
        <p:spPr>
          <a:xfrm>
            <a:off x="365760" y="818388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669280" y="882396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10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8823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التنفيذ والاسترداد</a:t>
            </a:r>
            <a:endParaRPr lang="en-US" sz="1500" dirty="0"/>
          </a:p>
        </p:txBody>
      </p:sp>
      <p:sp>
        <p:nvSpPr>
          <p:cNvPr id="76" name="Shape 74">
            <a:hlinkClick r:id="rId27" tooltip="التنفيذ والاسترداد" action="ppaction://hlinksldjump"/>
          </p:cNvPr>
          <p:cNvSpPr/>
          <p:nvPr/>
        </p:nvSpPr>
        <p:spPr>
          <a:xfrm>
            <a:off x="365760" y="882396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669280" y="946404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11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548640" y="9464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والميزانية والمستهدف</a:t>
            </a:r>
            <a:endParaRPr lang="en-US" sz="1500" dirty="0"/>
          </a:p>
        </p:txBody>
      </p:sp>
      <p:sp>
        <p:nvSpPr>
          <p:cNvPr id="79" name="Shape 77">
            <a:hlinkClick r:id="rId28" tooltip="المفوتر والميزانية والمستهدف" action="ppaction://hlinksldjump"/>
          </p:cNvPr>
          <p:cNvSpPr/>
          <p:nvPr/>
        </p:nvSpPr>
        <p:spPr>
          <a:xfrm>
            <a:off x="365760" y="946404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669280" y="1010412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10104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تبويبات الوزارة: المفوتر والمستهدف</a:t>
            </a:r>
            <a:endParaRPr lang="en-US" sz="1500" dirty="0"/>
          </a:p>
        </p:txBody>
      </p:sp>
      <p:sp>
        <p:nvSpPr>
          <p:cNvPr id="82" name="Shape 80">
            <a:hlinkClick r:id="rId29" tooltip="تبويبات الوزارة: المفوتر والمستهدف" action="ppaction://hlinksldjump"/>
          </p:cNvPr>
          <p:cNvSpPr/>
          <p:nvPr/>
        </p:nvSpPr>
        <p:spPr>
          <a:xfrm>
            <a:off x="365760" y="1010412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5669280" y="1074420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13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548640" y="10744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المديونية</a:t>
            </a:r>
            <a:endParaRPr lang="en-US" sz="1500" dirty="0"/>
          </a:p>
        </p:txBody>
      </p:sp>
      <p:sp>
        <p:nvSpPr>
          <p:cNvPr id="85" name="Shape 83">
            <a:hlinkClick r:id="rId30" tooltip="المديونية" action="ppaction://hlinksldjump"/>
          </p:cNvPr>
          <p:cNvSpPr/>
          <p:nvPr/>
        </p:nvSpPr>
        <p:spPr>
          <a:xfrm>
            <a:off x="365760" y="1074420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5669280" y="1138428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14</a:t>
            </a:r>
            <a:endParaRPr lang="en-US" sz="1600" dirty="0"/>
          </a:p>
        </p:txBody>
      </p:sp>
      <p:sp>
        <p:nvSpPr>
          <p:cNvPr id="87" name="Text 85"/>
          <p:cNvSpPr txBox="1"/>
          <p:nvPr/>
        </p:nvSpPr>
        <p:spPr>
          <a:xfrm>
            <a:off x="548640" y="113842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ملاحظات منهجية</a:t>
            </a:r>
            <a:endParaRPr lang="en-US" sz="1500" dirty="0"/>
          </a:p>
        </p:txBody>
      </p:sp>
      <p:sp>
        <p:nvSpPr>
          <p:cNvPr id="88" name="Shape 86">
            <a:hlinkClick r:id="rId31" tooltip="ملاحظات منهجية" action="ppaction://hlinksldjump"/>
          </p:cNvPr>
          <p:cNvSpPr/>
          <p:nvPr/>
        </p:nvSpPr>
        <p:spPr>
          <a:xfrm>
            <a:off x="365760" y="1138428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19" name="Shape 17">
            <a:hlinkClick r:id="rId4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5760" y="22860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أبرز مؤشرات الإيراد للعام 2026م</a:t>
            </a:r>
            <a:endParaRPr lang="en-US" sz="26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306324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إجمالي منطقة الرياض (مدينة الرياض + بلديات المنطقة) حتى تاريخه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520440" y="361188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0" y="3749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58184" y="3849624"/>
            <a:ext cx="256032" cy="256032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297680" y="37033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حتى تاريخه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3657600" y="403250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51" name="Text 48"/>
          <p:cNvSpPr txBox="1"/>
          <p:nvPr/>
        </p:nvSpPr>
        <p:spPr>
          <a:xfrm>
            <a:off x="3657600" y="5276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52" name="Shape 49">
            <a:hlinkClick r:id="rId18" tooltip="للتفاصيل" action="ppaction://hlinksldjump"/>
          </p:cNvPr>
          <p:cNvSpPr/>
          <p:nvPr/>
        </p:nvSpPr>
        <p:spPr>
          <a:xfrm>
            <a:off x="3657600" y="527608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006340" y="5166360"/>
            <a:ext cx="134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+29.9%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3657600" y="5166360"/>
            <a:ext cx="134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+20.9%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365760" y="361188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02920" y="3749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57" name="Image 1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3504" y="3849624"/>
            <a:ext cx="256032" cy="256032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1143000" y="37033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502920" y="403250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60" name="Text 56"/>
          <p:cNvSpPr txBox="1"/>
          <p:nvPr/>
        </p:nvSpPr>
        <p:spPr>
          <a:xfrm>
            <a:off x="502920" y="5276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61" name="Shape 57">
            <a:hlinkClick r:id="rId20" tooltip="للتفاصيل" action="ppaction://hlinksldjump"/>
          </p:cNvPr>
          <p:cNvSpPr/>
          <p:nvPr/>
        </p:nvSpPr>
        <p:spPr>
          <a:xfrm>
            <a:off x="502920" y="527608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51663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+50.2%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الفعلي عن السنة الماضية</a:t>
            </a:r>
            <a:endParaRPr lang="en-US" sz="1100" dirty="0"/>
          </a:p>
        </p:txBody>
      </p:sp>
      <p:sp>
        <p:nvSpPr>
          <p:cNvPr id="63" name="Shape 59"/>
          <p:cNvSpPr/>
          <p:nvPr/>
        </p:nvSpPr>
        <p:spPr>
          <a:xfrm>
            <a:off x="3520440" y="576072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3657600" y="5897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65" name="Image 2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58184" y="5998464"/>
            <a:ext cx="256032" cy="256032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4297680" y="58521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7" name="Text 62"/>
          <p:cNvSpPr txBox="1"/>
          <p:nvPr/>
        </p:nvSpPr>
        <p:spPr>
          <a:xfrm>
            <a:off x="3657600" y="618134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430.3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68" name="Text 63"/>
          <p:cNvSpPr txBox="1"/>
          <p:nvPr/>
        </p:nvSpPr>
        <p:spPr>
          <a:xfrm>
            <a:off x="3657600" y="74249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69" name="Shape 64">
            <a:hlinkClick r:id="rId22" tooltip="للتفاصيل" action="ppaction://hlinksldjump"/>
          </p:cNvPr>
          <p:cNvSpPr/>
          <p:nvPr/>
        </p:nvSpPr>
        <p:spPr>
          <a:xfrm>
            <a:off x="3657600" y="742492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0" name="Shape 65"/>
          <p:cNvSpPr/>
          <p:nvPr/>
        </p:nvSpPr>
        <p:spPr>
          <a:xfrm>
            <a:off x="365760" y="576072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>
            <a:off x="502920" y="5897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72" name="Image 3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3504" y="5998464"/>
            <a:ext cx="256032" cy="256032"/>
          </a:xfrm>
          <a:prstGeom prst="rect">
            <a:avLst/>
          </a:prstGeom>
        </p:spPr>
      </p:pic>
      <p:sp>
        <p:nvSpPr>
          <p:cNvPr id="73" name="Text 67"/>
          <p:cNvSpPr txBox="1"/>
          <p:nvPr/>
        </p:nvSpPr>
        <p:spPr>
          <a:xfrm>
            <a:off x="1143000" y="58521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4" name="Text 68"/>
          <p:cNvSpPr txBox="1"/>
          <p:nvPr/>
        </p:nvSpPr>
        <p:spPr>
          <a:xfrm>
            <a:off x="502920" y="618134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1,987.7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75" name="Text 69"/>
          <p:cNvSpPr txBox="1"/>
          <p:nvPr/>
        </p:nvSpPr>
        <p:spPr>
          <a:xfrm>
            <a:off x="502920" y="74249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76" name="Shape 70">
            <a:hlinkClick r:id="rId24" tooltip="للتفاصيل" action="ppaction://hlinksldjump"/>
          </p:cNvPr>
          <p:cNvSpPr/>
          <p:nvPr/>
        </p:nvSpPr>
        <p:spPr>
          <a:xfrm>
            <a:off x="502920" y="742492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Shape 71"/>
          <p:cNvSpPr/>
          <p:nvPr/>
        </p:nvSpPr>
        <p:spPr>
          <a:xfrm>
            <a:off x="3520440" y="790956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3657600" y="8046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79" name="Image 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758184" y="8147304"/>
            <a:ext cx="256032" cy="256032"/>
          </a:xfrm>
          <a:prstGeom prst="rect">
            <a:avLst/>
          </a:prstGeom>
        </p:spPr>
      </p:pic>
      <p:sp>
        <p:nvSpPr>
          <p:cNvPr id="80" name="Text 73"/>
          <p:cNvSpPr txBox="1"/>
          <p:nvPr/>
        </p:nvSpPr>
        <p:spPr>
          <a:xfrm>
            <a:off x="4297680" y="8001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المديونية المتبقية</a:t>
            </a:r>
            <a:endParaRPr lang="en-US" sz="1200" dirty="0"/>
          </a:p>
        </p:txBody>
      </p:sp>
      <p:sp>
        <p:nvSpPr>
          <p:cNvPr id="81" name="Text 74"/>
          <p:cNvSpPr txBox="1"/>
          <p:nvPr/>
        </p:nvSpPr>
        <p:spPr>
          <a:xfrm>
            <a:off x="3657600" y="833018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2,326.4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82" name="Text 75"/>
          <p:cNvSpPr txBox="1"/>
          <p:nvPr/>
        </p:nvSpPr>
        <p:spPr>
          <a:xfrm>
            <a:off x="3657600" y="9573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83" name="Shape 76">
            <a:hlinkClick r:id="rId26" tooltip="للتفاصيل" action="ppaction://hlinksldjump"/>
          </p:cNvPr>
          <p:cNvSpPr/>
          <p:nvPr/>
        </p:nvSpPr>
        <p:spPr>
          <a:xfrm>
            <a:off x="3657600" y="957376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4" name="Shape 77"/>
          <p:cNvSpPr/>
          <p:nvPr/>
        </p:nvSpPr>
        <p:spPr>
          <a:xfrm>
            <a:off x="365760" y="790956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85" name="Shape 78"/>
          <p:cNvSpPr/>
          <p:nvPr/>
        </p:nvSpPr>
        <p:spPr>
          <a:xfrm>
            <a:off x="502920" y="8046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86" name="Image 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03504" y="8147304"/>
            <a:ext cx="256032" cy="256032"/>
          </a:xfrm>
          <a:prstGeom prst="rect">
            <a:avLst/>
          </a:prstGeom>
        </p:spPr>
      </p:pic>
      <p:sp>
        <p:nvSpPr>
          <p:cNvPr id="87" name="Text 79"/>
          <p:cNvSpPr txBox="1"/>
          <p:nvPr/>
        </p:nvSpPr>
        <p:spPr>
          <a:xfrm>
            <a:off x="1143000" y="8001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استرداد فعلي (التنفيذ)</a:t>
            </a:r>
            <a:endParaRPr lang="en-US" sz="1200" dirty="0"/>
          </a:p>
        </p:txBody>
      </p:sp>
      <p:sp>
        <p:nvSpPr>
          <p:cNvPr id="88" name="Text 80"/>
          <p:cNvSpPr txBox="1"/>
          <p:nvPr/>
        </p:nvSpPr>
        <p:spPr>
          <a:xfrm>
            <a:off x="502920" y="833018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89" name="Text 81"/>
          <p:cNvSpPr txBox="1"/>
          <p:nvPr/>
        </p:nvSpPr>
        <p:spPr>
          <a:xfrm>
            <a:off x="502920" y="9573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90" name="Shape 82">
            <a:hlinkClick r:id="rId28" tooltip="للتفاصيل" action="ppaction://hlinksldjump"/>
          </p:cNvPr>
          <p:cNvSpPr/>
          <p:nvPr/>
        </p:nvSpPr>
        <p:spPr>
          <a:xfrm>
            <a:off x="502920" y="957376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1" name="Shape 83"/>
          <p:cNvSpPr/>
          <p:nvPr/>
        </p:nvSpPr>
        <p:spPr>
          <a:xfrm>
            <a:off x="3520440" y="1005840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3657600" y="10195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93" name="Image 6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758184" y="10296144"/>
            <a:ext cx="256032" cy="256032"/>
          </a:xfrm>
          <a:prstGeom prst="rect">
            <a:avLst/>
          </a:prstGeom>
        </p:spPr>
      </p:pic>
      <p:sp>
        <p:nvSpPr>
          <p:cNvPr id="94" name="Text 85"/>
          <p:cNvSpPr txBox="1"/>
          <p:nvPr/>
        </p:nvSpPr>
        <p:spPr>
          <a:xfrm>
            <a:off x="4297680" y="101498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الاستقطاع 2026</a:t>
            </a:r>
            <a:endParaRPr lang="en-US" sz="1200" dirty="0"/>
          </a:p>
        </p:txBody>
      </p:sp>
      <p:sp>
        <p:nvSpPr>
          <p:cNvPr id="95" name="Text 86"/>
          <p:cNvSpPr txBox="1"/>
          <p:nvPr/>
        </p:nvSpPr>
        <p:spPr>
          <a:xfrm>
            <a:off x="3657600" y="1047902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96" name="Text 87"/>
          <p:cNvSpPr txBox="1"/>
          <p:nvPr/>
        </p:nvSpPr>
        <p:spPr>
          <a:xfrm>
            <a:off x="3657600" y="11722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97" name="Shape 88">
            <a:hlinkClick r:id="rId30" tooltip="للتفاصيل" action="ppaction://hlinksldjump"/>
          </p:cNvPr>
          <p:cNvSpPr/>
          <p:nvPr/>
        </p:nvSpPr>
        <p:spPr>
          <a:xfrm>
            <a:off x="3657600" y="1172260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8" name="Text 89"/>
          <p:cNvSpPr txBox="1"/>
          <p:nvPr/>
        </p:nvSpPr>
        <p:spPr>
          <a:xfrm>
            <a:off x="3657600" y="11612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+16.9%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من الإيراد</a:t>
            </a:r>
            <a:endParaRPr lang="en-US" sz="1100" dirty="0"/>
          </a:p>
        </p:txBody>
      </p:sp>
      <p:sp>
        <p:nvSpPr>
          <p:cNvPr id="99" name="Shape 90"/>
          <p:cNvSpPr/>
          <p:nvPr/>
        </p:nvSpPr>
        <p:spPr>
          <a:xfrm>
            <a:off x="365760" y="1005840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100" name="Shape 91"/>
          <p:cNvSpPr/>
          <p:nvPr/>
        </p:nvSpPr>
        <p:spPr>
          <a:xfrm>
            <a:off x="502920" y="10195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101" name="Image 7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03504" y="10296144"/>
            <a:ext cx="256032" cy="256032"/>
          </a:xfrm>
          <a:prstGeom prst="rect">
            <a:avLst/>
          </a:prstGeom>
        </p:spPr>
      </p:pic>
      <p:sp>
        <p:nvSpPr>
          <p:cNvPr id="102" name="Text 92"/>
          <p:cNvSpPr txBox="1"/>
          <p:nvPr/>
        </p:nvSpPr>
        <p:spPr>
          <a:xfrm>
            <a:off x="1143000" y="101498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المستهدف حتى تاريخه</a:t>
            </a:r>
            <a:endParaRPr lang="en-US" sz="1200" dirty="0"/>
          </a:p>
        </p:txBody>
      </p:sp>
      <p:sp>
        <p:nvSpPr>
          <p:cNvPr id="103" name="Text 93"/>
          <p:cNvSpPr txBox="1"/>
          <p:nvPr/>
        </p:nvSpPr>
        <p:spPr>
          <a:xfrm>
            <a:off x="502920" y="1047902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104" name="Text 94"/>
          <p:cNvSpPr txBox="1"/>
          <p:nvPr/>
        </p:nvSpPr>
        <p:spPr>
          <a:xfrm>
            <a:off x="502920" y="11722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105" name="Shape 95">
            <a:hlinkClick r:id="rId32" tooltip="للتفاصيل" action="ppaction://hlinksldjump"/>
          </p:cNvPr>
          <p:cNvSpPr/>
          <p:nvPr/>
        </p:nvSpPr>
        <p:spPr>
          <a:xfrm>
            <a:off x="502920" y="1172260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6" name="Text 96"/>
          <p:cNvSpPr txBox="1"/>
          <p:nvPr/>
        </p:nvSpPr>
        <p:spPr>
          <a:xfrm>
            <a:off x="502920" y="11612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6.9%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 عن المستهدف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الإيراد حتى تاريخه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02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83464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6" name="Shape 63">
            <a:hlinkClick r:id="rId23" tooltip="أخرى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حتى تاريخه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+29.9%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+20.9%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الفترة: يناير – أغسطس 2026. بلغ الفعلي 2,986.3 مليون ريال، بزيادة 29.9% عن المقدر وبزيادة 20.9% عن المستهدف.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مفوتر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3,819.9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Shape 6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مقدر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2,298.9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0" name="Shape 6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</a:t>
            </a:r>
            <a:endParaRPr lang="en-US" sz="12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3" name="Shape 69"/>
          <p:cNvSpPr/>
          <p:nvPr/>
        </p:nvSpPr>
        <p:spPr>
          <a:xfrm>
            <a:off x="36576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50292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5" name="Text 71"/>
          <p:cNvSpPr txBox="1"/>
          <p:nvPr/>
        </p:nvSpPr>
        <p:spPr>
          <a:xfrm>
            <a:off x="50292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1,987.7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76" name="Text 72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300" dirty="0"/>
          </a:p>
        </p:txBody>
      </p:sp>
      <p:graphicFrame>
        <p:nvGraphicFramePr>
          <p:cNvPr id="77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+13.4%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+9.4%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 — الفترة: يناير – أغسطس 2026. بلغ فعلي منطقة الرياض 1,052.1 مليون ريال، منها 909.0 مليون لمدينة الرياض و143.1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909.0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+13.8%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143.1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+11.4%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892.8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+12.1%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+5.2%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الرسوم والتراخيص — الفترة: يناير – أغسطس 2026. بلغ فعلي منطقة الرياض 892.8 مليون ريال، منها 777.3 مليون لمدينة الرياض و115.5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777.3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+10.4%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115.5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+25.4%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638.9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+108.2%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+69.9%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جزاءات وغرامات — الفترة: يناير – أغسطس 2026. بلغ فعلي منطقة الرياض 638.9 مليون ريال، منها 605.7 مليون لمدينة الرياض و33.2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605.7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+106.1%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33.2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+155.0%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18.1%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24.1%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 — الفترة: يناير – أغسطس 2026. بلغ فعلي منطقة الرياض 209.1 مليون ريال، منها 200.0 مليون لمدينة الرياض و9.1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20.1%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+91.6%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Shape 51">
            <a:hlinkClick r:id="rId21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193.3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+1407.3%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+2362.2%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أخرى — الفترة: يناير – أغسطس 2026. بلغ فعلي منطقة الرياض 193.3 مليون ريال، منها 110.0 مليون لمدينة الرياض و83.3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110.0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+4025.1%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+720.2%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الإيراد لنهاية السنة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03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83464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6" name="Shape 63">
            <a:hlinkClick r:id="rId23" tooltip="أخرى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لنهاية السنة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2,454.9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+27.3%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+13.6%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تقدير نهاية السنة 2026. بلغ الفعلي 2,454.9 مليون ريال، بزيادة 27.3% عن المقدر وبزيادة 13.6% عن المستهدف.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مقدر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1,928.7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Shape 6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2,161.0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0" name="Shape 6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1,759.7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3" name="Text 69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300" dirty="0"/>
          </a:p>
        </p:txBody>
      </p:sp>
      <p:graphicFrame>
        <p:nvGraphicFramePr>
          <p:cNvPr id="74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875.5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+15.1%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 — تقدير نهاية السنة 2026. بلغ فعلي منطقة الرياض 875.5 مليون ريال، منها 783.1 مليون لمدينة الرياض و92.5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783.1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+20.4%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92.5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16.0%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793.1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+17.6%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الرسوم والتراخيص — تقدير نهاية السنة 2026. بلغ فعلي منطقة الرياض 793.1 مليون ريال، منها 697.9 مليون لمدينة الرياض و95.3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697.9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+17.4%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95.3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+19.7%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552.3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+115.7%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+73.7%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جزاءات وغرامات — تقدير نهاية السنة 2026. بلغ فعلي منطقة الرياض 552.3 مليون ريال، منها 530.9 مليون لمدينة الرياض و21.3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530.9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+116.8%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21.3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+90.4%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171.8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24.2%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29.7%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 — تقدير نهاية السنة 2026. بلغ فعلي منطقة الرياض 171.8 مليون ريال، منها 164.0 مليون لمدينة الرياض و7.8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164.0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26.3%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+87.8%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Shape 51">
            <a:hlinkClick r:id="rId21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+454.6%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+805.6%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أخرى — تقدير نهاية السنة 2026. بلغ فعلي منطقة الرياض 62.1 مليون ريال، منها 62.1 مليون لمدينة الرياض و0.0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62.1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+2561.6%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99.9%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الإيراد للشهر الحالي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04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83464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6" name="Shape 63">
            <a:hlinkClick r:id="rId23" tooltip="أخرى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للشهر الحالي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175.8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25.0%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34.1%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شهر أغسطس 2026. بلغ الفعلي 175.8 مليون ريال، بانخفاض 25.0% عن المقدر وبانخفاض 34.1% عن المستهدف.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مقدر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234.4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Shape 6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266.8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0" name="Shape 6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21.2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3" name="Text 69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300" dirty="0"/>
          </a:p>
        </p:txBody>
      </p:sp>
      <p:graphicFrame>
        <p:nvGraphicFramePr>
          <p:cNvPr id="74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58.1%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67.2%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 — شهر أغسطس 2026. بلغ فعلي منطقة الرياض 23.0 مليون ريال، منها 17.7 مليون لمدينة الرياض و5.3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17.7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95.8%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101.4%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122.6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+25.5%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+22.9%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الرسوم والتراخيص — شهر أغسطس 2026. بلغ فعلي منطقة الرياض 122.6 مليون ريال، منها 78.8 مليون لمدينة الرياض و43.8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78.8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+29.9%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43.8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+18.2%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75.4%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80.6%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جزاءات وغرامات — شهر أغسطس 2026. بلغ فعلي منطقة الرياض 12.7 مليون ريال، منها 12.3 مليون لمدينة الرياض و0.5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59.6%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97.9%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39.6%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43.8%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 — شهر أغسطس 2026. بلغ فعلي منطقة الرياض 17.2 مليون ريال، منها 17.2 مليون لمدينة الرياض و0.0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17.2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33.7%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99.4%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Shape 51">
            <a:hlinkClick r:id="rId21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83.5%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72.9%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أخرى — شهر أغسطس 2026. بلغ فعلي منطقة الرياض 0.3 مليون ريال، منها 0.2 مليون لمدينة الرياض و0.1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0.2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41.1%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94.4%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الإيراد حسب القطاع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05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26771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حسب القطاع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1,554.2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المحصل لكل قطاع موزعاً على التبويبات الأربعة، لقطاعات الأمانة وبلديات المنطقة.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518.6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755.3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262.3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Shape 65"/>
          <p:cNvSpPr/>
          <p:nvPr/>
        </p:nvSpPr>
        <p:spPr>
          <a:xfrm>
            <a:off x="36576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50292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المحصل حسب القطاع والتبويب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518.6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لـإيرادات إستثمارية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547.9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381.8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136.8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1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755.3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لـالرسوم والتراخيص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778.3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741.4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13.9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262.3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لـجزاءات وغرامات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631.3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133.2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129.1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3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لـالتبغ والإيواء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ملخص التبويبات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06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11338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استثمارية</a:t>
            </a:r>
            <a:endParaRPr lang="en-US" sz="1600" dirty="0"/>
          </a:p>
        </p:txBody>
      </p:sp>
      <p:sp>
        <p:nvSpPr>
          <p:cNvPr id="51" name="Shape 48">
            <a:hlinkClick r:id="rId18" tooltip="إيرادات استثماري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54" name="Shape 51">
            <a:hlinkClick r:id="rId19" tooltip="جزاءات وغرامات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57" name="Shape 54">
            <a:hlinkClick r:id="rId20" tooltip="التبغ والإيواء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6" name="Shape 44">
            <a:hlinkClick r:id="rId17" tooltip="جزاءات وغرامات" action="ppaction://hlinksldjump"/>
          </p:cNvPr>
          <p:cNvSpPr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48" name="Shape 46">
            <a:hlinkClick r:id="rId18" tooltip="التبغ والإيواء" action="ppaction://hlinksldjump"/>
          </p:cNvPr>
          <p:cNvSpPr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0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استثمارية</a:t>
            </a:r>
            <a:endParaRPr lang="en-US" sz="17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+13.4%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+9.4%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ملخص إيرادات استثمارية حتى تاريخه: بلغ الفعلي 1,052.1 مليون ريال، بزيادة 48.1% عن محصل السنة الماضية.</a:t>
            </a:r>
            <a:endParaRPr lang="en-US" sz="1200" dirty="0"/>
          </a:p>
        </p:txBody>
      </p:sp>
      <p:sp>
        <p:nvSpPr>
          <p:cNvPr id="58" name="Shape 54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السنة الحالية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880.1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1" name="Shape 57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 عن السنة الماضية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▲ +48.1%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300" dirty="0"/>
          </a:p>
        </p:txBody>
      </p:sp>
      <p:graphicFrame>
        <p:nvGraphicFramePr>
          <p:cNvPr id="65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5" name="Shape 43">
            <a:hlinkClick r:id="rId17" tooltip="إيرادات استثمارية" action="ppaction://hlinksldjump"/>
          </p:cNvPr>
          <p:cNvSpPr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48" name="Shape 46">
            <a:hlinkClick r:id="rId18" tooltip="التبغ والإيواء" action="ppaction://hlinksldjump"/>
          </p:cNvPr>
          <p:cNvSpPr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635.4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+82.0%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+48.9%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ملخص جزاءات وغرامات حتى تاريخه: بلغ الفعلي 635.4 مليون ريال، بزيادة 133.2% عن محصل السنة الماضية.</a:t>
            </a:r>
            <a:endParaRPr lang="en-US" sz="1200" dirty="0"/>
          </a:p>
        </p:txBody>
      </p:sp>
      <p:sp>
        <p:nvSpPr>
          <p:cNvPr id="58" name="Shape 54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مفوتر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1,178.0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1" name="Shape 57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 عن السنة الماضية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▲ +133.2%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300" dirty="0"/>
          </a:p>
        </p:txBody>
      </p:sp>
      <p:graphicFrame>
        <p:nvGraphicFramePr>
          <p:cNvPr id="65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5" name="Shape 43">
            <a:hlinkClick r:id="rId17" tooltip="إيرادات استثمارية" action="ppaction://hlinksldjump"/>
          </p:cNvPr>
          <p:cNvSpPr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7" name="Shape 45">
            <a:hlinkClick r:id="rId18" tooltip="جزاءات وغرامات" action="ppaction://hlinksldjump"/>
          </p:cNvPr>
          <p:cNvSpPr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2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26.9%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32.2%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ملخص التبغ والإيواء حتى تاريخه: بلغ الفعلي 209.1 مليون ريال، بانخفاض 13.1% عن محصل السنة الماضية.</a:t>
            </a:r>
            <a:endParaRPr lang="en-US" sz="1200" dirty="0"/>
          </a:p>
        </p:txBody>
      </p:sp>
      <p:sp>
        <p:nvSpPr>
          <p:cNvPr id="58" name="Shape 54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مفوتر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234.1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1" name="Shape 57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 عن السنة الماضية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▼ 13.1%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300" dirty="0"/>
          </a:p>
        </p:txBody>
      </p:sp>
      <p:graphicFrame>
        <p:nvGraphicFramePr>
          <p:cNvPr id="65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الاستقطاع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07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5669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2025</a:t>
            </a:r>
            <a:endParaRPr lang="en-US" sz="1600" dirty="0"/>
          </a:p>
        </p:txBody>
      </p:sp>
      <p:sp>
        <p:nvSpPr>
          <p:cNvPr id="51" name="Shape 48">
            <a:hlinkClick r:id="rId18" tooltip="سنة 2025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2026</a:t>
            </a:r>
            <a:endParaRPr lang="en-US" sz="1600" dirty="0"/>
          </a:p>
        </p:txBody>
      </p:sp>
      <p:sp>
        <p:nvSpPr>
          <p:cNvPr id="54" name="Shape 51">
            <a:hlinkClick r:id="rId19" tooltip="سنة 2026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956048" y="2194560"/>
            <a:ext cx="7315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46" name="Shape 44">
            <a:hlinkClick r:id="rId17" tooltip="2026" action="ppaction://hlinksldjump"/>
          </p:cNvPr>
          <p:cNvSpPr/>
          <p:nvPr/>
        </p:nvSpPr>
        <p:spPr>
          <a:xfrm>
            <a:off x="4956048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7" name="Image 0" descr="/home/user/test4/assets/ph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الاستقطاع من الإيراد 2025</a:t>
            </a:r>
            <a:endParaRPr lang="en-US" sz="1700" dirty="0"/>
          </a:p>
        </p:txBody>
      </p:sp>
      <p:pic>
        <p:nvPicPr>
          <p:cNvPr id="49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0" name="Text 46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استقطاع الأمانة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152.5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48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الاستقطاع من الإيراد حسب التنظيم الإداري والتبويب لعام 2025؛ استقطاع كافة الأمانات 595.0 مليون ريال.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كافة الأمانات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3,966.5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6" name="Shape 52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الإيرادات الفعلية للأمانة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1,016.8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الاستقطاع لكافة الأمانات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595.0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والمستقطع (مليون ريال)</a:t>
            </a:r>
            <a:endParaRPr lang="en-US" sz="1300" dirty="0"/>
          </a:p>
        </p:txBody>
      </p:sp>
      <p:graphicFrame>
        <p:nvGraphicFramePr>
          <p:cNvPr id="63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Shape 43">
            <a:hlinkClick r:id="rId17" tooltip="2025" action="ppaction://hlinksldjump"/>
          </p:cNvPr>
          <p:cNvSpPr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956048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47" name="Image 0" descr="/home/user/test4/assets/ph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الاستقطاع من الإيراد 2026</a:t>
            </a:r>
            <a:endParaRPr lang="en-US" sz="1700" dirty="0"/>
          </a:p>
        </p:txBody>
      </p:sp>
      <p:pic>
        <p:nvPicPr>
          <p:cNvPr id="49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0" name="Text 46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استقطاع الأمانة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48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الاستقطاع من الإيراد حسب التنظيم الإداري والتبويب لعام 2026؛ استقطاع كافة الأمانات 468.2 مليون ريال.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كافة الأمانات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2,972.4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6" name="Shape 52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الإيرادات الفعلية للأمانة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657.1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الاستقطاع لكافة الأمانات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468.2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والمستقطع (مليون ريال)</a:t>
            </a:r>
            <a:endParaRPr lang="en-US" sz="1300" dirty="0"/>
          </a:p>
        </p:txBody>
      </p:sp>
      <p:graphicFrame>
        <p:nvGraphicFramePr>
          <p:cNvPr id="63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سيناريوهات الإقفال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08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5669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السيناريو الأول</a:t>
            </a:r>
            <a:endParaRPr lang="en-US" sz="1600" dirty="0"/>
          </a:p>
        </p:txBody>
      </p:sp>
      <p:sp>
        <p:nvSpPr>
          <p:cNvPr id="51" name="Shape 48">
            <a:hlinkClick r:id="rId18" tooltip="السيناريو الأول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السيناريو الثاني</a:t>
            </a:r>
            <a:endParaRPr lang="en-US" sz="1600" dirty="0"/>
          </a:p>
        </p:txBody>
      </p:sp>
      <p:sp>
        <p:nvSpPr>
          <p:cNvPr id="54" name="Shape 51">
            <a:hlinkClick r:id="rId19" tooltip="السيناريو الثاني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السيناريو الأول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2852928" y="1810512"/>
            <a:ext cx="182880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السيناريو الثاني</a:t>
            </a:r>
            <a:endParaRPr lang="en-US" sz="1100" dirty="0"/>
          </a:p>
        </p:txBody>
      </p:sp>
      <p:sp>
        <p:nvSpPr>
          <p:cNvPr id="46" name="Shape 44">
            <a:hlinkClick r:id="rId17" tooltip="السيناريو الثاني" action="ppaction://hlinksldjump"/>
          </p:cNvPr>
          <p:cNvSpPr/>
          <p:nvPr/>
        </p:nvSpPr>
        <p:spPr>
          <a:xfrm>
            <a:off x="2852928" y="1810512"/>
            <a:ext cx="182880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pic>
        <p:nvPicPr>
          <p:cNvPr id="48" name="Image 0" descr="/home/user/test4/assets/ph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السيناريو الأول للإقفال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المحصل المتوقع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20.0%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54" name="Text 5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المحصل المتوقع مقابل المستهدف للأشهر المتبقية من 2025: 2,462.7 مليون ريال مقابل مستهدف 3,076.9 مليون ريال.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178040"/>
          <a:ext cx="6126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71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عن المستهدف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6" name="Text 51"/>
          <p:cNvSpPr txBox="1"/>
          <p:nvPr/>
        </p:nvSpPr>
        <p:spPr>
          <a:xfrm>
            <a:off x="365760" y="92811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المحصل والمستهدف الشهري (مليون ريال)</a:t>
            </a:r>
            <a:endParaRPr lang="en-US" sz="1300" dirty="0"/>
          </a:p>
        </p:txBody>
      </p:sp>
      <p:graphicFrame>
        <p:nvGraphicFramePr>
          <p:cNvPr id="57" name="Chart 0" descr=""/>
          <p:cNvGraphicFramePr/>
          <p:nvPr/>
        </p:nvGraphicFramePr>
        <p:xfrm>
          <a:off x="365760" y="9646920"/>
          <a:ext cx="6126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السيناريو الأول</a:t>
            </a:r>
            <a:endParaRPr lang="en-US" sz="1100" dirty="0"/>
          </a:p>
        </p:txBody>
      </p:sp>
      <p:sp>
        <p:nvSpPr>
          <p:cNvPr id="45" name="Shape 43">
            <a:hlinkClick r:id="rId17" tooltip="السيناريو الأول" action="ppaction://hlinksldjump"/>
          </p:cNvPr>
          <p:cNvSpPr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852928" y="1810512"/>
            <a:ext cx="182880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السيناريو الثاني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pic>
        <p:nvPicPr>
          <p:cNvPr id="48" name="Image 0" descr="/home/user/test4/assets/ph3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السيناريو الثاني للإقفال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المحصل المتوقع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20.0%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54" name="Text 5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المحصل المتوقع مقابل المستهدف للأشهر المتبقية من 2025: 2,462.7 مليون ريال مقابل مستهدف 3,076.9 مليون ريال.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178040"/>
          <a:ext cx="6126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71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عن المستهدف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6" name="Text 51"/>
          <p:cNvSpPr txBox="1"/>
          <p:nvPr/>
        </p:nvSpPr>
        <p:spPr>
          <a:xfrm>
            <a:off x="365760" y="92811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المحصل والمستهدف الشهري (مليون ريال)</a:t>
            </a:r>
            <a:endParaRPr lang="en-US" sz="1300" dirty="0"/>
          </a:p>
        </p:txBody>
      </p:sp>
      <p:graphicFrame>
        <p:nvGraphicFramePr>
          <p:cNvPr id="57" name="Chart 0" descr=""/>
          <p:cNvGraphicFramePr/>
          <p:nvPr/>
        </p:nvGraphicFramePr>
        <p:xfrm>
          <a:off x="365760" y="9646920"/>
          <a:ext cx="6126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الجزاءات والغرامات الشهرية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09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170078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2023</a:t>
            </a:r>
            <a:endParaRPr lang="en-US" sz="1600" dirty="0"/>
          </a:p>
        </p:txBody>
      </p:sp>
      <p:sp>
        <p:nvSpPr>
          <p:cNvPr id="51" name="Shape 48">
            <a:hlinkClick r:id="rId18" tooltip="سنة 2023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2024</a:t>
            </a:r>
            <a:endParaRPr lang="en-US" sz="1600" dirty="0"/>
          </a:p>
        </p:txBody>
      </p:sp>
      <p:sp>
        <p:nvSpPr>
          <p:cNvPr id="54" name="Shape 51">
            <a:hlinkClick r:id="rId19" tooltip="سنة 2024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2025</a:t>
            </a:r>
            <a:endParaRPr lang="en-US" sz="1600" dirty="0"/>
          </a:p>
        </p:txBody>
      </p:sp>
      <p:sp>
        <p:nvSpPr>
          <p:cNvPr id="57" name="Shape 54">
            <a:hlinkClick r:id="rId20" tooltip="سنة 2025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2026</a:t>
            </a:r>
            <a:endParaRPr lang="en-US" sz="1600" dirty="0"/>
          </a:p>
        </p:txBody>
      </p:sp>
      <p:sp>
        <p:nvSpPr>
          <p:cNvPr id="60" name="Shape 57">
            <a:hlinkClick r:id="rId21" tooltip="سنة 2026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46" name="Shape 44">
            <a:hlinkClick r:id="rId17" tooltip="2024" action="ppaction://hlinksldjump"/>
          </p:cNvPr>
          <p:cNvSpPr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8" name="Shape 46">
            <a:hlinkClick r:id="rId18" tooltip="2025" action="ppaction://hlinksldjump"/>
          </p:cNvPr>
          <p:cNvSpPr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50" name="Shape 48">
            <a:hlinkClick r:id="rId19" tooltip="2026" action="ppaction://hlinksldjump"/>
          </p:cNvPr>
          <p:cNvSpPr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51" name="Image 0" descr="/home/user/test4/assets/ph0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2023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2023: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Shape 43">
            <a:hlinkClick r:id="rId17" tooltip="2023" action="ppaction://hlinksldjump"/>
          </p:cNvPr>
          <p:cNvSpPr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2024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8" name="Shape 46">
            <a:hlinkClick r:id="rId18" tooltip="2025" action="ppaction://hlinksldjump"/>
          </p:cNvPr>
          <p:cNvSpPr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50" name="Shape 48">
            <a:hlinkClick r:id="rId19" tooltip="2026" action="ppaction://hlinksldjump"/>
          </p:cNvPr>
          <p:cNvSpPr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51" name="Image 0" descr="/home/user/test4/assets/ph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2024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2024: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Shape 43">
            <a:hlinkClick r:id="rId17" tooltip="2023" action="ppaction://hlinksldjump"/>
          </p:cNvPr>
          <p:cNvSpPr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47" name="Shape 45">
            <a:hlinkClick r:id="rId18" tooltip="2024" action="ppaction://hlinksldjump"/>
          </p:cNvPr>
          <p:cNvSpPr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50" name="Shape 48">
            <a:hlinkClick r:id="rId19" tooltip="2026" action="ppaction://hlinksldjump"/>
          </p:cNvPr>
          <p:cNvSpPr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51" name="Image 0" descr="/home/user/test4/assets/ph2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2025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2025: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Shape 43">
            <a:hlinkClick r:id="rId17" tooltip="2023" action="ppaction://hlinksldjump"/>
          </p:cNvPr>
          <p:cNvSpPr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47" name="Shape 45">
            <a:hlinkClick r:id="rId18" tooltip="2024" action="ppaction://hlinksldjump"/>
          </p:cNvPr>
          <p:cNvSpPr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9" name="Shape 47">
            <a:hlinkClick r:id="rId19" tooltip="2025" action="ppaction://hlinksldjump"/>
          </p:cNvPr>
          <p:cNvSpPr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1" name="Image 0" descr="/home/user/test4/assets/ph3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2026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2026: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التنفيذ والاسترداد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10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11338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الإجمالي</a:t>
            </a:r>
            <a:endParaRPr lang="en-US" sz="1600" dirty="0"/>
          </a:p>
        </p:txBody>
      </p:sp>
      <p:sp>
        <p:nvSpPr>
          <p:cNvPr id="51" name="Shape 48">
            <a:hlinkClick r:id="rId18" tooltip="الإجمالي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مدينة الرياض</a:t>
            </a:r>
            <a:endParaRPr lang="en-US" sz="1600" dirty="0"/>
          </a:p>
        </p:txBody>
      </p:sp>
      <p:sp>
        <p:nvSpPr>
          <p:cNvPr id="54" name="Shape 51">
            <a:hlinkClick r:id="rId19" tooltip="مدينة الرياض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بلديات المنطقة</a:t>
            </a:r>
            <a:endParaRPr lang="en-US" sz="1600" dirty="0"/>
          </a:p>
        </p:txBody>
      </p:sp>
      <p:sp>
        <p:nvSpPr>
          <p:cNvPr id="57" name="Shape 54">
            <a:hlinkClick r:id="rId20" tooltip="بلديات المنطقة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مدينة الرياض</a:t>
            </a:r>
            <a:endParaRPr lang="en-US" sz="1100" dirty="0"/>
          </a:p>
        </p:txBody>
      </p:sp>
      <p:sp>
        <p:nvSpPr>
          <p:cNvPr id="46" name="Shape 44">
            <a:hlinkClick r:id="rId17" tooltip="مدينة الرياض" action="ppaction://hlinksldjump"/>
          </p:cNvPr>
          <p:cNvSpPr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بلديات المنطقة</a:t>
            </a:r>
            <a:endParaRPr lang="en-US" sz="1100" dirty="0"/>
          </a:p>
        </p:txBody>
      </p:sp>
      <p:sp>
        <p:nvSpPr>
          <p:cNvPr id="48" name="Shape 46">
            <a:hlinkClick r:id="rId18" tooltip="بلديات المنطقة" action="ppaction://hlinksldjump"/>
          </p:cNvPr>
          <p:cNvSpPr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0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التنفيذ والاسترداد — الإجمالي</a:t>
            </a:r>
            <a:endParaRPr lang="en-US" sz="14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قيمة الفواتير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1,309.5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 409.3 مليون ريال، وبلغ الاسترداد الفعلي 59.0 مليون ريال من إجمالي استرداد 77.0 مليون ريال.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409.3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إجمالي الاسترداد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77.0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Shape 58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استرداد فعلي</a:t>
            </a:r>
            <a:endParaRPr lang="en-US" sz="12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5" name="Text 61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300" dirty="0"/>
          </a:p>
        </p:txBody>
      </p:sp>
      <p:graphicFrame>
        <p:nvGraphicFramePr>
          <p:cNvPr id="66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45" name="Shape 43">
            <a:hlinkClick r:id="rId17" tooltip="الإجمالي" action="ppaction://hlinksldjump"/>
          </p:cNvPr>
          <p:cNvSpPr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مدينة الرياض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بلديات المنطقة</a:t>
            </a:r>
            <a:endParaRPr lang="en-US" sz="1100" dirty="0"/>
          </a:p>
        </p:txBody>
      </p:sp>
      <p:sp>
        <p:nvSpPr>
          <p:cNvPr id="48" name="Shape 46">
            <a:hlinkClick r:id="rId18" tooltip="بلديات المنطقة" action="ppaction://hlinksldjump"/>
          </p:cNvPr>
          <p:cNvSpPr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التنفيذ والاسترداد — مدينة الرياض</a:t>
            </a:r>
            <a:endParaRPr lang="en-US" sz="14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قيمة الفواتير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1,186.9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 335.2 مليون ريال، وبلغ الاسترداد الفعلي 52.8 مليون ريال من إجمالي استرداد 67.3 مليون ريال.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335.2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إجمالي الاسترداد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67.3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Shape 58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استرداد فعلي</a:t>
            </a:r>
            <a:endParaRPr lang="en-US" sz="12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52.8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5" name="Text 61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300" dirty="0"/>
          </a:p>
        </p:txBody>
      </p:sp>
      <p:graphicFrame>
        <p:nvGraphicFramePr>
          <p:cNvPr id="66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45" name="Shape 43">
            <a:hlinkClick r:id="rId17" tooltip="الإجمالي" action="ppaction://hlinksldjump"/>
          </p:cNvPr>
          <p:cNvSpPr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مدينة الرياض</a:t>
            </a:r>
            <a:endParaRPr lang="en-US" sz="1100" dirty="0"/>
          </a:p>
        </p:txBody>
      </p:sp>
      <p:sp>
        <p:nvSpPr>
          <p:cNvPr id="47" name="Shape 45">
            <a:hlinkClick r:id="rId18" tooltip="مدينة الرياض" action="ppaction://hlinksldjump"/>
          </p:cNvPr>
          <p:cNvSpPr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بلديات المنطقة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2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التنفيذ والاسترداد — بلديات المنطقة</a:t>
            </a:r>
            <a:endParaRPr lang="en-US" sz="14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قيمة الفواتير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122.5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 74.1 مليون ريال، وبلغ الاسترداد الفعلي 6.2 مليون ريال من إجمالي استرداد 9.7 مليون ريال.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74.1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إجمالي الاسترداد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9.7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Shape 58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استرداد فعلي</a:t>
            </a:r>
            <a:endParaRPr lang="en-US" sz="12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5" name="Text 61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300" dirty="0"/>
          </a:p>
        </p:txBody>
      </p:sp>
      <p:graphicFrame>
        <p:nvGraphicFramePr>
          <p:cNvPr id="66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المفوتر والميزانية والمستهدف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11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5669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المفوتر والمحصل</a:t>
            </a:r>
            <a:endParaRPr lang="en-US" sz="1600" dirty="0"/>
          </a:p>
        </p:txBody>
      </p:sp>
      <p:sp>
        <p:nvSpPr>
          <p:cNvPr id="51" name="Shape 48">
            <a:hlinkClick r:id="rId18" tooltip="المفوتر والمحصل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الميزانية والمستهدف</a:t>
            </a:r>
            <a:endParaRPr lang="en-US" sz="1600" dirty="0"/>
          </a:p>
        </p:txBody>
      </p:sp>
      <p:sp>
        <p:nvSpPr>
          <p:cNvPr id="54" name="Shape 51">
            <a:hlinkClick r:id="rId19" tooltip="الميزانية والمستهدف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المفوتر والمحصل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2578608" y="1810512"/>
            <a:ext cx="21031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الميزانية والمستهدف</a:t>
            </a:r>
            <a:endParaRPr lang="en-US" sz="1100" dirty="0"/>
          </a:p>
        </p:txBody>
      </p:sp>
      <p:sp>
        <p:nvSpPr>
          <p:cNvPr id="46" name="Shape 44">
            <a:hlinkClick r:id="rId17" tooltip="الميزانية والمستهدف" action="ppaction://hlinksldjump"/>
          </p:cNvPr>
          <p:cNvSpPr/>
          <p:nvPr/>
        </p:nvSpPr>
        <p:spPr>
          <a:xfrm>
            <a:off x="2578608" y="1810512"/>
            <a:ext cx="21031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48" name="Image 0" descr="/home/user/test4/assets/ph0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المفوتر والمحصل الشهري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المفوتر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الفترة: يناير – سبتمبر 2026. صافي المفوتر 3,464.9 مليون ريال، ومحصل السنة الحالية 2,327.2 مليون ريال.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صافي المفوتر</a:t>
            </a:r>
            <a:endParaRPr lang="en-US" sz="1200" dirty="0"/>
          </a:p>
        </p:txBody>
      </p:sp>
      <p:sp>
        <p:nvSpPr>
          <p:cNvPr id="56" name="Text 5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3,464.9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7" name="Shape 5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السنة الحالية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2,327.2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السنوات السابقة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453.2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والمحصل الشهري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المفوتر والمحصل</a:t>
            </a:r>
            <a:endParaRPr lang="en-US" sz="1100" dirty="0"/>
          </a:p>
        </p:txBody>
      </p:sp>
      <p:sp>
        <p:nvSpPr>
          <p:cNvPr id="45" name="Shape 43">
            <a:hlinkClick r:id="rId17" tooltip="المفوتر والمحصل" action="ppaction://hlinksldjump"/>
          </p:cNvPr>
          <p:cNvSpPr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78608" y="1810512"/>
            <a:ext cx="21031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الميزانية والمستهدف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48" name="Image 0" descr="/home/user/test4/assets/ph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الميزانية ومستهدف المفوتر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الاعتماد الأصلي (سنوي)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6,284.6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الميزانية بعد الاعتماد 6,285.0 مليون ريال، ومستهدف المفوتر السنوي 5,044.6 مليون ريال.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بعد الاعتماد (سنوي)</a:t>
            </a:r>
            <a:endParaRPr lang="en-US" sz="1200" dirty="0"/>
          </a:p>
        </p:txBody>
      </p:sp>
      <p:sp>
        <p:nvSpPr>
          <p:cNvPr id="56" name="Text 5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6,285.0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7" name="Shape 5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 المفوتر (سنوي)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5,044.6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الميزانية الشهرية ومستهدف المفوتر (مليون ريال)</a:t>
            </a:r>
            <a:endParaRPr lang="en-US" sz="13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تبويبات الوزارة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12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340156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استثمار العقارات</a:t>
            </a:r>
            <a:endParaRPr lang="en-US" sz="1600" dirty="0"/>
          </a:p>
        </p:txBody>
      </p:sp>
      <p:sp>
        <p:nvSpPr>
          <p:cNvPr id="54" name="Shape 51">
            <a:hlinkClick r:id="rId19" tooltip="استثمار العقارات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والمقابلات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مقابلات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الجزاءات والغرامات</a:t>
            </a:r>
            <a:endParaRPr lang="en-US" sz="1600" dirty="0"/>
          </a:p>
        </p:txBody>
      </p:sp>
      <p:sp>
        <p:nvSpPr>
          <p:cNvPr id="60" name="Shape 57">
            <a:hlinkClick r:id="rId21" tooltip="الجزاءات وال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إشغال الإيواء</a:t>
            </a:r>
            <a:endParaRPr lang="en-US" sz="1600" dirty="0"/>
          </a:p>
        </p:txBody>
      </p:sp>
      <p:sp>
        <p:nvSpPr>
          <p:cNvPr id="63" name="Shape 60">
            <a:hlinkClick r:id="rId22" tooltip="إشغال 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منتجات التبغ</a:t>
            </a:r>
            <a:endParaRPr lang="en-US" sz="1600" dirty="0"/>
          </a:p>
        </p:txBody>
      </p:sp>
      <p:sp>
        <p:nvSpPr>
          <p:cNvPr id="66" name="Shape 63">
            <a:hlinkClick r:id="rId23" tooltip="منتجات التبغ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5925312" y="8074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14400" y="788212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مختلفة</a:t>
            </a:r>
            <a:endParaRPr lang="en-US" sz="1600" dirty="0"/>
          </a:p>
        </p:txBody>
      </p:sp>
      <p:sp>
        <p:nvSpPr>
          <p:cNvPr id="69" name="Shape 66">
            <a:hlinkClick r:id="rId24" tooltip="إيرادات مختلفة" action="ppaction://hlinksldjump"/>
          </p:cNvPr>
          <p:cNvSpPr/>
          <p:nvPr/>
        </p:nvSpPr>
        <p:spPr>
          <a:xfrm>
            <a:off x="731520" y="788212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6" name="Shape 44">
            <a:hlinkClick r:id="rId17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0" name="Shape 48">
            <a:hlinkClick r:id="rId19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تبويبات الوزارة</a:t>
            </a:r>
            <a:endParaRPr lang="en-US" sz="21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+15.2%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حتى سبتمبر 3,898.7 مليون ريال مقابل مستهدف الفترة 3,385.4 مليون ريال، ومستهدف السنة 5,044.6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3,385.4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5,044.6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حسب التبويب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0" name="Shape 48">
            <a:hlinkClick r:id="rId19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استثمار العقارات البلدية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1,239.5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+8.8%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استثمار العقارات البلدية: المفوتر 1,239.5 مليون ريال مقابل مستهدف الفترة 1,139.0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1,139.0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1,920.7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0" name="Shape 48">
            <a:hlinkClick r:id="rId19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الرسوم والمقابلات المالية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918.3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7.1%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الرسوم والمقابلات المالية: المفوتر 918.3 مليون ريال مقابل مستهدف الفترة 988.7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988.7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1,410.5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2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الجزاءات والغرامات</a:t>
            </a:r>
            <a:endParaRPr lang="en-US" sz="17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1,047.3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+28.5%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الجزاءات والغرامات: المفوتر 1,047.3 مليون ريال مقابل مستهدف الفترة 814.9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814.9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1,097.2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Shape 49">
            <a:hlinkClick r:id="rId20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رسم إشغال مرافق الإيواء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141.0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28.6%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رسم إشغال مرافق الإيواء: المفوتر 141.0 مليون ريال مقابل مستهدف الفترة 197.5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197.5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287.5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Shape 49">
            <a:hlinkClick r:id="rId20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3" name="Shape 51">
            <a:hlinkClick r:id="rId21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رسم تقديم منتجات التبغ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47.2%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رسم تقديم منتجات التبغ: المفوتر 87.0 مليون ريال مقابل مستهدف الفترة 164.6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164.6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222.6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Shape 49">
            <a:hlinkClick r:id="rId20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3" name="Shape 51">
            <a:hlinkClick r:id="rId21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5" name="Shape 53">
            <a:hlinkClick r:id="rId22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الإيرادات المختلفة</a:t>
            </a:r>
            <a:endParaRPr lang="en-US" sz="17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465.6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+478.0%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الإيرادات المختلفة: المفوتر 465.6 مليون ريال مقابل مستهدف الفترة 80.6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80.6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106.0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المديونية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13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26771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استثمارية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ا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57" name="Shape 54">
            <a:hlinkClick r:id="rId20" tooltip="جزاءات وغرامات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0" name="Shape 57">
            <a:hlinkClick r:id="rId21" tooltip="التبغ والإيواء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3" name="Shape 60">
            <a:hlinkClick r:id="rId22" tooltip="أخرى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8" name="Shape 46">
            <a:hlinkClick r:id="rId18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0" name="Shape 48">
            <a:hlinkClick r:id="rId19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المديونية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2,720.2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رصيد المديونية حسب التبويب: المتبقي 2,326.4 مليون ريال، وسُدد خلال السنة الحالية 368.3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2,326.4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368.3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49.4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التبويب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8" name="Shape 46">
            <a:hlinkClick r:id="rId18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0" name="Shape 48">
            <a:hlinkClick r:id="rId19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1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استثمارية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560.8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إيرادات استثمارية: المتبقي 373.1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373.1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172.1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15.6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0" name="Shape 48">
            <a:hlinkClick r:id="rId19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1,851.7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جزاءات وغرامات: المتبقي 1,672.0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1,672.0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166.1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28.6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9" name="Shape 47">
            <a:hlinkClick r:id="rId19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3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202.6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التبغ والإيواء: المتبقي 195.7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195.7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10.8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9" name="Shape 47">
            <a:hlinkClick r:id="rId19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1" name="Shape 49">
            <a:hlinkClick r:id="rId20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105.1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أخرى: المتبقي 85.7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85.7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19.3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7" name="Shape 15">
            <a:hlinkClick r:id="rId3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19" name="Shape 17">
            <a:hlinkClick r:id="rId4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" y="22860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ملاحظات منهجية</a:t>
            </a:r>
            <a:endParaRPr lang="en-US" sz="2800" dirty="0"/>
          </a:p>
        </p:txBody>
      </p:sp>
      <p:sp>
        <p:nvSpPr>
          <p:cNvPr id="44" name="Shape 42"/>
          <p:cNvSpPr/>
          <p:nvPr/>
        </p:nvSpPr>
        <p:spPr>
          <a:xfrm>
            <a:off x="365760" y="320040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806440" y="356616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33101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التنظيم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3657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جميع البيانات مسجّلة حسب السنة والتبويب؛ البنود التفصيلية (الحسابات) مجمّعة على مستوى التبويب.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66344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806440" y="502920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47731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السنة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51206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الشيتات التي لا تحتوي عمود سنة نُسبت إلى 2026 (الإيراد للشهر الحالي، القطاع، التنفيذ والاسترداد، الاستثمارية).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612648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806440" y="649224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62362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النسب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65836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نسب الفعلي عن المقدر والمستهدف والسنة الماضية محسوبة من الأرقام الخام (الفعلي ÷ القاعدة − 1).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758952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806440" y="795528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7699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المجاميع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8046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منطقة الرياض = مدينة الرياض + بلديات المنطقة، ولا تُجمع الثلاثة معاً تفادياً للتكرار.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365760" y="905256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806440" y="941832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91622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السيناريوهات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95097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بيانات سيناريو الإقفال الأول والثاني متطابقة في الملف المصدر.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65760" y="1051560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806440" y="1088136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106253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الوحدة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109728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المبالغ بالمليون ريال سعودي، والأرقام مقرّبة لأقرب خانة عشرية وقد لا تتطابق المجاميع.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venue Report">
  <a:themeElements>
    <a:clrScheme name="Revenue Report">
      <a:dk1>
        <a:srgbClr val="242424"/>
      </a:dk1>
      <a:lt1>
        <a:srgbClr val="FFFFFF"/>
      </a:lt1>
      <a:dk2>
        <a:srgbClr val="006A46"/>
      </a:dk2>
      <a:lt2>
        <a:srgbClr val="EAF3EF"/>
      </a:lt2>
      <a:accent1>
        <a:srgbClr val="006A46"/>
      </a:accent1>
      <a:accent2>
        <a:srgbClr val="147454"/>
      </a:accent2>
      <a:accent3>
        <a:srgbClr val="74A4D4"/>
      </a:accent3>
      <a:accent4>
        <a:srgbClr val="E4A42C"/>
      </a:accent4>
      <a:accent5>
        <a:srgbClr val="F28B82"/>
      </a:accent5>
      <a:accent6>
        <a:srgbClr val="8CBCAC"/>
      </a:accent6>
      <a:hlink>
        <a:srgbClr val="006A46"/>
      </a:hlink>
      <a:folHlink>
        <a:srgbClr val="5B6B7B"/>
      </a:folHlink>
    </a:clrScheme>
    <a:fontScheme name="Revenue Report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الإيرادات 2026</dc:title>
  <dc:subject>PptxGenJS Presentation</dc:subject>
  <dc:creator>وزارة السياحة</dc:creator>
  <cp:lastModifiedBy>وزارة السياحة</cp:lastModifiedBy>
  <cp:revision>1</cp:revision>
  <dcterms:created xsi:type="dcterms:W3CDTF">2026-10-14T03:57:00Z</dcterms:created>
  <dcterms:modified xsi:type="dcterms:W3CDTF">2026-10-14T03:57:00Z</dcterms:modified>
</cp:coreProperties>
</file>