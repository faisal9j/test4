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3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4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5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6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9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10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charts/chart19.xml" ContentType="application/vnd.openxmlformats-officedocument.drawingml.chart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20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notesMasterIdLst>
    <p:notesMasterId r:id="rId67"/>
  </p:notesMasterIdLst>
  <p:sldSz cx="12188952" cy="8622792"/>
  <p:notesSz cx="8622792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غلاف" id="{ed3fbcd4-bd07-6040-44d0-768adfdffacb}">
          <p14:sldIdLst/>
        </p14:section>
        <p14:section name="المقدمة" id="{2ba48ecc-77f9-09fb-76d4-1df5a96e3a7f}">
          <p14:sldIdLst>
            <p14:sldId id="257"/>
            <p14:sldId id="258"/>
            <p14:sldId id="259"/>
          </p14:sldIdLst>
        </p14:section>
        <p14:section name="المؤشرات الرئيسة" id="{00d2ea32-3f99-6747-51e7-e4dcae31c621}">
          <p14:sldIdLst>
            <p14:sldId id="260"/>
          </p14:sldIdLst>
        </p14:section>
        <p14:section name="الإيراد" id="{d62504df-5ce5-9fc0-fad6-f2105aedbf6d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القطاعات" id="{d9b12f0b-6b9d-0019-662a-c70b52e194a2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التبويبات" id="{621f6c79-4a65-8535-6978-a8074b07ace1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التحصيل" id="{6fee945f-3e21-9fb3-95f5-026a8b8a7869}">
          <p14:sldIdLst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</p14:sldIdLst>
        </p14:section>
        <p14:section name="المديونية والاستقطاع" id="{9f8a19f3-4f18-dd38-e3ff-99a94f6e15c5}">
          <p14:sldIdLst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إخلاء المسؤولية" id="{9eacec1c-bc30-4240-91e1-3230cd6cc94e}">
          <p14:sldIdLst>
            <p14:sldId id="318"/>
            <p14:sldId id="319"/>
          </p14:sldIdLst>
        </p14:section>
        <p14:section name="Default-1" id="{1c3bb40f-bf28-eee4-22de-95428db609b4}">
          <p14:sldIdLst>
            <p14:sldId id="320"/>
          </p14:sldIdLst>
        </p14:section>
        <p14:section name="الختام" id="{03d87c11-bac3-43ee-bc00-fde954a41ac2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123.6</c:v>
                </c:pt>
                <c:pt idx="1">
                  <c:v>96.8</c:v>
                </c:pt>
                <c:pt idx="2">
                  <c:v>53.6</c:v>
                </c:pt>
                <c:pt idx="3">
                  <c:v>552.4</c:v>
                </c:pt>
                <c:pt idx="4">
                  <c:v>91</c:v>
                </c:pt>
                <c:pt idx="5">
                  <c:v>97</c:v>
                </c:pt>
                <c:pt idx="6">
                  <c:v>75.1</c:v>
                </c:pt>
                <c:pt idx="7">
                  <c:v>82</c:v>
                </c:pt>
                <c:pt idx="8">
                  <c:v>68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42.5</c:v>
                </c:pt>
                <c:pt idx="1">
                  <c:v>44.2</c:v>
                </c:pt>
                <c:pt idx="2">
                  <c:v>48.7</c:v>
                </c:pt>
                <c:pt idx="3">
                  <c:v>501.2</c:v>
                </c:pt>
                <c:pt idx="4">
                  <c:v>95.1</c:v>
                </c:pt>
                <c:pt idx="5">
                  <c:v>108.2</c:v>
                </c:pt>
                <c:pt idx="6">
                  <c:v>94.1</c:v>
                </c:pt>
                <c:pt idx="7">
                  <c:v>108</c:v>
                </c:pt>
                <c:pt idx="8">
                  <c:v>97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114</c:v>
                </c:pt>
                <c:pt idx="1">
                  <c:v>91.5</c:v>
                </c:pt>
                <c:pt idx="2">
                  <c:v>66.9</c:v>
                </c:pt>
                <c:pt idx="3">
                  <c:v>152</c:v>
                </c:pt>
                <c:pt idx="4">
                  <c:v>73.3</c:v>
                </c:pt>
                <c:pt idx="5">
                  <c:v>109.8</c:v>
                </c:pt>
                <c:pt idx="6">
                  <c:v>104.2</c:v>
                </c:pt>
                <c:pt idx="7">
                  <c:v>103.5</c:v>
                </c:pt>
                <c:pt idx="8">
                  <c:v>103.3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122.8</c:v>
                </c:pt>
                <c:pt idx="1">
                  <c:v>105.2</c:v>
                </c:pt>
                <c:pt idx="2">
                  <c:v>96.5</c:v>
                </c:pt>
                <c:pt idx="3">
                  <c:v>68.8</c:v>
                </c:pt>
                <c:pt idx="4">
                  <c:v>136.7</c:v>
                </c:pt>
                <c:pt idx="5">
                  <c:v>112.9</c:v>
                </c:pt>
                <c:pt idx="6">
                  <c:v>124.7</c:v>
                </c:pt>
                <c:pt idx="7">
                  <c:v>114.6</c:v>
                </c:pt>
                <c:pt idx="8">
                  <c:v>106.6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93.7</c:v>
                </c:pt>
                <c:pt idx="1">
                  <c:v>111.6</c:v>
                </c:pt>
                <c:pt idx="2">
                  <c:v>95.2</c:v>
                </c:pt>
                <c:pt idx="3">
                  <c:v>124</c:v>
                </c:pt>
                <c:pt idx="4">
                  <c:v>102.1</c:v>
                </c:pt>
                <c:pt idx="5">
                  <c:v>126.3</c:v>
                </c:pt>
                <c:pt idx="6">
                  <c:v>146.1</c:v>
                </c:pt>
                <c:pt idx="7">
                  <c:v>116.3</c:v>
                </c:pt>
                <c:pt idx="8">
                  <c:v>131.9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86.1</c:v>
                </c:pt>
                <c:pt idx="1">
                  <c:v>90.7</c:v>
                </c:pt>
                <c:pt idx="2">
                  <c:v>88.1</c:v>
                </c:pt>
                <c:pt idx="3">
                  <c:v>77</c:v>
                </c:pt>
                <c:pt idx="4">
                  <c:v>90.2</c:v>
                </c:pt>
                <c:pt idx="5">
                  <c:v>86.7</c:v>
                </c:pt>
                <c:pt idx="6">
                  <c:v>104.1</c:v>
                </c:pt>
                <c:pt idx="7">
                  <c:v>99.4</c:v>
                </c:pt>
                <c:pt idx="8">
                  <c:v>92.7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22.3</c:v>
                </c:pt>
                <c:pt idx="1">
                  <c:v>24.3</c:v>
                </c:pt>
                <c:pt idx="2">
                  <c:v>21.8</c:v>
                </c:pt>
                <c:pt idx="3">
                  <c:v>10.9</c:v>
                </c:pt>
                <c:pt idx="4">
                  <c:v>11</c:v>
                </c:pt>
                <c:pt idx="5">
                  <c:v>13</c:v>
                </c:pt>
                <c:pt idx="6">
                  <c:v>11.8</c:v>
                </c:pt>
                <c:pt idx="7">
                  <c:v>12.5</c:v>
                </c:pt>
                <c:pt idx="8">
                  <c:v>13.4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26.1</c:v>
                </c:pt>
                <c:pt idx="1">
                  <c:v>28.2</c:v>
                </c:pt>
                <c:pt idx="2">
                  <c:v>28.3</c:v>
                </c:pt>
                <c:pt idx="3">
                  <c:v>18.4</c:v>
                </c:pt>
                <c:pt idx="4">
                  <c:v>16.7</c:v>
                </c:pt>
                <c:pt idx="5">
                  <c:v>22.5</c:v>
                </c:pt>
                <c:pt idx="6">
                  <c:v>13.1</c:v>
                </c:pt>
                <c:pt idx="7">
                  <c:v>19.4</c:v>
                </c:pt>
                <c:pt idx="8">
                  <c:v>24.9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10.1</c:v>
                </c:pt>
                <c:pt idx="1">
                  <c:v>9.6</c:v>
                </c:pt>
                <c:pt idx="2">
                  <c:v>8.5</c:v>
                </c:pt>
                <c:pt idx="3">
                  <c:v>10</c:v>
                </c:pt>
                <c:pt idx="4">
                  <c:v>9.6</c:v>
                </c:pt>
                <c:pt idx="5">
                  <c:v>10.9</c:v>
                </c:pt>
                <c:pt idx="6">
                  <c:v>9.4</c:v>
                </c:pt>
                <c:pt idx="7">
                  <c:v>9</c:v>
                </c:pt>
                <c:pt idx="8">
                  <c:v>9.9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16.1</c:v>
                </c:pt>
                <c:pt idx="1">
                  <c:v>10.5</c:v>
                </c:pt>
                <c:pt idx="2">
                  <c:v>10.2</c:v>
                </c:pt>
                <c:pt idx="3">
                  <c:v>10.1</c:v>
                </c:pt>
                <c:pt idx="4">
                  <c:v>19</c:v>
                </c:pt>
                <c:pt idx="5">
                  <c:v>20.9</c:v>
                </c:pt>
                <c:pt idx="6">
                  <c:v>20.7</c:v>
                </c:pt>
                <c:pt idx="7">
                  <c:v>20</c:v>
                </c:pt>
                <c:pt idx="8">
                  <c:v>37.1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228.9</c:v>
                </c:pt>
                <c:pt idx="1">
                  <c:v>2.2</c:v>
                </c:pt>
                <c:pt idx="2">
                  <c:v>17.2</c:v>
                </c:pt>
                <c:pt idx="3">
                  <c:v>38.5</c:v>
                </c:pt>
                <c:pt idx="4">
                  <c:v>2.6</c:v>
                </c:pt>
                <c:pt idx="5">
                  <c:v>57.4</c:v>
                </c:pt>
                <c:pt idx="6">
                  <c:v>67.4</c:v>
                </c:pt>
                <c:pt idx="7">
                  <c:v>2.5</c:v>
                </c:pt>
                <c:pt idx="8">
                  <c:v>48.9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24</c:v>
                </c:pt>
                <c:pt idx="1">
                  <c:v>5</c:v>
                </c:pt>
                <c:pt idx="2">
                  <c:v>3.8</c:v>
                </c:pt>
                <c:pt idx="3">
                  <c:v>9.6</c:v>
                </c:pt>
                <c:pt idx="4">
                  <c:v>5.1</c:v>
                </c:pt>
                <c:pt idx="5">
                  <c:v>10.5</c:v>
                </c:pt>
                <c:pt idx="6">
                  <c:v>8.1</c:v>
                </c:pt>
                <c:pt idx="7">
                  <c:v>9</c:v>
                </c:pt>
                <c:pt idx="8">
                  <c:v>5.4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,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592.7</c:v>
                </c:pt>
                <c:pt idx="1">
                  <c:v>336.1</c:v>
                </c:pt>
                <c:pt idx="2">
                  <c:v>263.2</c:v>
                </c:pt>
                <c:pt idx="3">
                  <c:v>887.6</c:v>
                </c:pt>
                <c:pt idx="4">
                  <c:v>289.6</c:v>
                </c:pt>
                <c:pt idx="5">
                  <c:v>414.4</c:v>
                </c:pt>
                <c:pt idx="6">
                  <c:v>413.9</c:v>
                </c:pt>
                <c:pt idx="7">
                  <c:v>325.9</c:v>
                </c:pt>
                <c:pt idx="8">
                  <c:v>375.3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صافي المفوتر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,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590.5</c:v>
                </c:pt>
                <c:pt idx="1">
                  <c:v>334.6</c:v>
                </c:pt>
                <c:pt idx="2">
                  <c:v>246.2</c:v>
                </c:pt>
                <c:pt idx="3">
                  <c:v>880.8</c:v>
                </c:pt>
                <c:pt idx="4">
                  <c:v>287.3</c:v>
                </c:pt>
                <c:pt idx="5">
                  <c:v>393</c:v>
                </c:pt>
                <c:pt idx="6">
                  <c:v>368</c:v>
                </c:pt>
                <c:pt idx="7">
                  <c:v>216</c:v>
                </c:pt>
                <c:pt idx="8">
                  <c:v>148.4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 المفوتر</c:v>
                </c:pt>
              </c:strCache>
            </c:strRef>
          </c:tx>
          <c:spPr>
            <a:solidFill>
              <a:srgbClr val="E4A42C"/>
            </a:solidFill>
            <a:ln w="38100" cap="flat">
              <a:solidFill>
                <a:srgbClr val="E4A42C"/>
              </a:solidFill>
              <a:prstDash val="solid,dash,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4A42C"/>
              </a:solidFill>
              <a:ln w="9525" cap="flat">
                <a:solidFill>
                  <a:srgbClr val="E4A4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317.6</c:v>
                </c:pt>
                <c:pt idx="1">
                  <c:v>283.6</c:v>
                </c:pt>
                <c:pt idx="2">
                  <c:v>275.6</c:v>
                </c:pt>
                <c:pt idx="3">
                  <c:v>685</c:v>
                </c:pt>
                <c:pt idx="4">
                  <c:v>362.8</c:v>
                </c:pt>
                <c:pt idx="5">
                  <c:v>361.7</c:v>
                </c:pt>
                <c:pt idx="6">
                  <c:v>364.8</c:v>
                </c:pt>
                <c:pt idx="7">
                  <c:v>370.4</c:v>
                </c:pt>
                <c:pt idx="8">
                  <c:v>363.8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 السنة الحالية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146.3</c:v>
                </c:pt>
                <c:pt idx="1">
                  <c:v>221.2</c:v>
                </c:pt>
                <c:pt idx="2">
                  <c:v>144.5</c:v>
                </c:pt>
                <c:pt idx="3">
                  <c:v>209.8</c:v>
                </c:pt>
                <c:pt idx="4">
                  <c:v>202.9</c:v>
                </c:pt>
                <c:pt idx="5">
                  <c:v>635.2</c:v>
                </c:pt>
                <c:pt idx="6">
                  <c:v>253.7</c:v>
                </c:pt>
                <c:pt idx="7">
                  <c:v>263.4</c:v>
                </c:pt>
                <c:pt idx="8">
                  <c:v>250.2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السنوات السابقة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92.6</c:v>
                </c:pt>
                <c:pt idx="1">
                  <c:v>71.4</c:v>
                </c:pt>
                <c:pt idx="2">
                  <c:v>26.9</c:v>
                </c:pt>
                <c:pt idx="3">
                  <c:v>61.8</c:v>
                </c:pt>
                <c:pt idx="4">
                  <c:v>58.2</c:v>
                </c:pt>
                <c:pt idx="5">
                  <c:v>92.3</c:v>
                </c:pt>
                <c:pt idx="6">
                  <c:v>28.9</c:v>
                </c:pt>
                <c:pt idx="7">
                  <c:v>8.5</c:v>
                </c:pt>
                <c:pt idx="8">
                  <c:v>12.5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مستهدف المفوتر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317.6</c:v>
                </c:pt>
                <c:pt idx="1">
                  <c:v>283.6</c:v>
                </c:pt>
                <c:pt idx="2">
                  <c:v>275.6</c:v>
                </c:pt>
                <c:pt idx="3">
                  <c:v>685</c:v>
                </c:pt>
                <c:pt idx="4">
                  <c:v>362.8</c:v>
                </c:pt>
                <c:pt idx="5">
                  <c:v>361.7</c:v>
                </c:pt>
                <c:pt idx="6">
                  <c:v>364.8</c:v>
                </c:pt>
                <c:pt idx="7">
                  <c:v>370.4</c:v>
                </c:pt>
                <c:pt idx="8">
                  <c:v>363.8</c:v>
                </c:pt>
                <c:pt idx="9">
                  <c:v>378</c:v>
                </c:pt>
                <c:pt idx="10">
                  <c:v>858.8</c:v>
                </c:pt>
                <c:pt idx="11">
                  <c:v>422.4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الاعتماد الأصلي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523.7</c:v>
                </c:pt>
                <c:pt idx="1">
                  <c:v>523.7</c:v>
                </c:pt>
                <c:pt idx="2">
                  <c:v>523.7</c:v>
                </c:pt>
                <c:pt idx="3">
                  <c:v>523.7</c:v>
                </c:pt>
                <c:pt idx="4">
                  <c:v>523.7</c:v>
                </c:pt>
                <c:pt idx="5">
                  <c:v>523.7</c:v>
                </c:pt>
                <c:pt idx="6">
                  <c:v>523.7</c:v>
                </c:pt>
                <c:pt idx="7">
                  <c:v>523.7</c:v>
                </c:pt>
                <c:pt idx="8">
                  <c:v>523.7</c:v>
                </c:pt>
                <c:pt idx="9">
                  <c:v>523.7</c:v>
                </c:pt>
                <c:pt idx="10">
                  <c:v>523.7</c:v>
                </c:pt>
                <c:pt idx="11">
                  <c:v>523.7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بعد الاعتماد</c:v>
                </c:pt>
              </c:strCache>
            </c:strRef>
          </c:tx>
          <c:spPr>
            <a:solidFill>
              <a:srgbClr val="E4A42C"/>
            </a:solidFill>
            <a:ln w="38100" cap="flat">
              <a:solidFill>
                <a:srgbClr val="E4A42C"/>
              </a:solidFill>
              <a:prstDash val="solid,dash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4A42C"/>
              </a:solidFill>
              <a:ln w="9525" cap="flat">
                <a:solidFill>
                  <a:srgbClr val="E4A4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523.8</c:v>
                </c:pt>
                <c:pt idx="1">
                  <c:v>523.8</c:v>
                </c:pt>
                <c:pt idx="2">
                  <c:v>523.8</c:v>
                </c:pt>
                <c:pt idx="3">
                  <c:v>523.8</c:v>
                </c:pt>
                <c:pt idx="4">
                  <c:v>523.8</c:v>
                </c:pt>
                <c:pt idx="5">
                  <c:v>523.8</c:v>
                </c:pt>
                <c:pt idx="6">
                  <c:v>523.8</c:v>
                </c:pt>
                <c:pt idx="7">
                  <c:v>523.8</c:v>
                </c:pt>
                <c:pt idx="8">
                  <c:v>523.8</c:v>
                </c:pt>
                <c:pt idx="9">
                  <c:v>523.8</c:v>
                </c:pt>
                <c:pt idx="10">
                  <c:v>523.8</c:v>
                </c:pt>
                <c:pt idx="11">
                  <c:v>523.8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dash,dash,dash,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dash,dash,dash,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4A42C"/>
            </a:solidFill>
            <a:ln w="38100" cap="flat">
              <a:solidFill>
                <a:srgbClr val="E4A42C"/>
              </a:solidFill>
              <a:prstDash val="dash,dash,dash,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4A42C"/>
              </a:solidFill>
              <a:ln w="9525" cap="flat">
                <a:solidFill>
                  <a:srgbClr val="E4A4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,dash,dash,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 2023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 2024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مفوتر 2023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 2025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مفوتر 2024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مفوتر 2025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1081.4</c:v>
                </c:pt>
                <c:pt idx="1">
                  <c:v>432.5</c:v>
                </c:pt>
                <c:pt idx="2">
                  <c:v>462.8</c:v>
                </c:pt>
                <c:pt idx="3">
                  <c:v>486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1351</c:v>
                </c:pt>
                <c:pt idx="1">
                  <c:v>540.4</c:v>
                </c:pt>
                <c:pt idx="2">
                  <c:v>578.2</c:v>
                </c:pt>
                <c:pt idx="3">
                  <c:v>607.2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1081.4</c:v>
                </c:pt>
                <c:pt idx="1">
                  <c:v>432.5</c:v>
                </c:pt>
                <c:pt idx="2">
                  <c:v>462.8</c:v>
                </c:pt>
                <c:pt idx="3">
                  <c:v>486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,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1351</c:v>
                </c:pt>
                <c:pt idx="1">
                  <c:v>540.4</c:v>
                </c:pt>
                <c:pt idx="2">
                  <c:v>578.2</c:v>
                </c:pt>
                <c:pt idx="3">
                  <c:v>607.2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LIGHT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GREEN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BLANK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assets/logo-am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201168"/>
            <a:ext cx="749808" cy="8138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8165592"/>
            <a:ext cx="365760" cy="0"/>
          </a:xfrm>
          <a:prstGeom prst="line">
            <a:avLst/>
          </a:prstGeom>
          <a:noFill/>
          <a:ln w="9525">
            <a:solidFill>
              <a:srgbClr val="8A95A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754880" y="7882128"/>
            <a:ext cx="6976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3"/>
                </a:solidFill>
              </a:rPr>
              <a:t>التقرير الإحصائي للإيرادات 2026م | أمانة منطقة الرياض</a:t>
            </a:r>
            <a:endParaRPr lang="en-US" sz="900" dirty="0"/>
          </a:p>
          <a:p>
            <a:pPr rtl="1" algn="r" indent="0" marL="0">
              <a:buNone/>
            </a:pPr>
            <a:r>
              <a:rPr lang="en-US" sz="900" dirty="0">
                <a:solidFill>
                  <a:srgbClr val="8A95A3"/>
                </a:solidFill>
              </a:rPr>
              <a:t>المصدر: ملف الإيرادات</a:t>
            </a:r>
            <a:endParaRPr lang="en-US" sz="900" dirty="0"/>
          </a:p>
          <a:p>
            <a:pPr rtl="1" algn="r" indent="0" marL="0">
              <a:buNone/>
            </a:pPr>
            <a:r>
              <a:rPr lang="en-US" sz="900" dirty="0">
                <a:solidFill>
                  <a:srgbClr val="8A95A3"/>
                </a:solidFill>
              </a:rPr>
              <a:t>تم تقريب الأرقام لأقرب خانة عشرية، وقد لا تتطابق المجاميع نتيجة لعمليات التقريب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201168"/>
            <a:ext cx="749808" cy="813816"/>
          </a:xfrm>
          <a:prstGeom prst="rect">
            <a:avLst>
              <a:gd name="adj" fmla="val 17073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est4/assets/logo-am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201168"/>
            <a:ext cx="749808" cy="81381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8165592"/>
            <a:ext cx="365760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754880" y="7882128"/>
            <a:ext cx="6976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A"/>
                </a:solidFill>
              </a:rPr>
              <a:t>التقرير الإحصائي للإيرادات 2026م | أمانة منطقة الرياض</a:t>
            </a:r>
            <a:endParaRPr lang="en-US" sz="900" dirty="0"/>
          </a:p>
          <a:p>
            <a:pPr rtl="1" algn="r" indent="0" marL="0">
              <a:buNone/>
            </a:pPr>
            <a:r>
              <a:rPr lang="en-US" sz="900" dirty="0">
                <a:solidFill>
                  <a:srgbClr val="CFE3DA"/>
                </a:solidFill>
              </a:rPr>
              <a:t>المصدر: ملف الإيرادات</a:t>
            </a:r>
            <a:endParaRPr lang="en-US" sz="900" dirty="0"/>
          </a:p>
          <a:p>
            <a:pPr rtl="1" algn="r" indent="0" marL="0">
              <a:buNone/>
            </a:pPr>
            <a:r>
              <a:rPr lang="en-US" sz="900" dirty="0">
                <a:solidFill>
                  <a:srgbClr val="CFE3DA"/>
                </a:solidFill>
              </a:rPr>
              <a:t>تم تقريب الأرقام لأقرب خانة عشرية، وقد لا تتطابق المجاميع نتيجة لعمليات التقريب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FE3DA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.xml"/><Relationship Id="rId3" Type="http://schemas.openxmlformats.org/officeDocument/2006/relationships/slide" Target="slide1.xml"/><Relationship Id="rId4" Type="http://schemas.openxmlformats.org/officeDocument/2006/relationships/slide" Target="slide3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image" Target="../media/image-2-1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.xml"/><Relationship Id="rId13" Type="http://schemas.openxmlformats.org/officeDocument/2006/relationships/slide" Target="slide4.xml"/><Relationship Id="rId14" Type="http://schemas.openxmlformats.org/officeDocument/2006/relationships/slide" Target="slide5.xml"/><Relationship Id="rId15" Type="http://schemas.openxmlformats.org/officeDocument/2006/relationships/slide" Target="slide6.xml"/><Relationship Id="rId16" Type="http://schemas.openxmlformats.org/officeDocument/2006/relationships/slide" Target="slide25.xml"/><Relationship Id="rId17" Type="http://schemas.openxmlformats.org/officeDocument/2006/relationships/slide" Target="slide31.xml"/><Relationship Id="rId18" Type="http://schemas.openxmlformats.org/officeDocument/2006/relationships/slide" Target="slide42.xml"/><Relationship Id="rId19" Type="http://schemas.openxmlformats.org/officeDocument/2006/relationships/slide" Target="slide55.xml"/><Relationship Id="rId20" Type="http://schemas.openxmlformats.org/officeDocument/2006/relationships/slide" Target="slide63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.xml"/><Relationship Id="rId3" Type="http://schemas.openxmlformats.org/officeDocument/2006/relationships/slide" Target="slide4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6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7.xml"/><Relationship Id="rId3" Type="http://schemas.openxmlformats.org/officeDocument/2006/relationships/slide" Target="slide5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3" Type="http://schemas.openxmlformats.org/officeDocument/2006/relationships/slide" Target="slide7.xml"/><Relationship Id="rId14" Type="http://schemas.openxmlformats.org/officeDocument/2006/relationships/slide" Target="slide13.xml"/><Relationship Id="rId15" Type="http://schemas.openxmlformats.org/officeDocument/2006/relationships/slide" Target="slide19.xml"/><Relationship Id="rId12" Type="http://schemas.openxmlformats.org/officeDocument/2006/relationships/image" Target="../media/image-6-1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8.xml"/><Relationship Id="rId3" Type="http://schemas.openxmlformats.org/officeDocument/2006/relationships/slide" Target="slide6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9.xml"/><Relationship Id="rId19" Type="http://schemas.openxmlformats.org/officeDocument/2006/relationships/slide" Target="slide8.xml"/><Relationship Id="rId20" Type="http://schemas.openxmlformats.org/officeDocument/2006/relationships/slide" Target="slide9.xml"/><Relationship Id="rId21" Type="http://schemas.openxmlformats.org/officeDocument/2006/relationships/slide" Target="slide10.xml"/><Relationship Id="rId22" Type="http://schemas.openxmlformats.org/officeDocument/2006/relationships/slide" Target="slide11.xml"/><Relationship Id="rId23" Type="http://schemas.openxmlformats.org/officeDocument/2006/relationships/slide" Target="slide12.xml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9.xml"/><Relationship Id="rId3" Type="http://schemas.openxmlformats.org/officeDocument/2006/relationships/slide" Target="slide7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7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0.xml"/><Relationship Id="rId3" Type="http://schemas.openxmlformats.org/officeDocument/2006/relationships/slide" Target="slide8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7.xml"/><Relationship Id="rId13" Type="http://schemas.openxmlformats.org/officeDocument/2006/relationships/slide" Target="slide8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1.xml"/><Relationship Id="rId3" Type="http://schemas.openxmlformats.org/officeDocument/2006/relationships/slide" Target="slide9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7.xml"/><Relationship Id="rId13" Type="http://schemas.openxmlformats.org/officeDocument/2006/relationships/slide" Target="slide8.xml"/><Relationship Id="rId14" Type="http://schemas.openxmlformats.org/officeDocument/2006/relationships/slide" Target="slide9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2.xml"/><Relationship Id="rId3" Type="http://schemas.openxmlformats.org/officeDocument/2006/relationships/slide" Target="slide10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7.xml"/><Relationship Id="rId13" Type="http://schemas.openxmlformats.org/officeDocument/2006/relationships/slide" Target="slide8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3.xml"/><Relationship Id="rId3" Type="http://schemas.openxmlformats.org/officeDocument/2006/relationships/slide" Target="slide11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7.xml"/><Relationship Id="rId13" Type="http://schemas.openxmlformats.org/officeDocument/2006/relationships/slide" Target="slide8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1.xml"/><Relationship Id="rId17" Type="http://schemas.openxmlformats.org/officeDocument/2006/relationships/slide" Target="slide13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4.xml"/><Relationship Id="rId3" Type="http://schemas.openxmlformats.org/officeDocument/2006/relationships/slide" Target="slide1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4.xml"/><Relationship Id="rId13" Type="http://schemas.openxmlformats.org/officeDocument/2006/relationships/slide" Target="slide15.xml"/><Relationship Id="rId14" Type="http://schemas.openxmlformats.org/officeDocument/2006/relationships/slide" Target="slide16.xml"/><Relationship Id="rId15" Type="http://schemas.openxmlformats.org/officeDocument/2006/relationships/slide" Target="slide17.xml"/><Relationship Id="rId16" Type="http://schemas.openxmlformats.org/officeDocument/2006/relationships/slide" Target="slide18.xml"/><Relationship Id="rId17" Type="http://schemas.openxmlformats.org/officeDocument/2006/relationships/slide" Target="slide7.xml"/><Relationship Id="rId18" Type="http://schemas.openxmlformats.org/officeDocument/2006/relationships/slide" Target="slide19.xml"/><Relationship Id="rId19" Type="http://schemas.openxmlformats.org/officeDocument/2006/relationships/slide" Target="slide14.xml"/><Relationship Id="rId20" Type="http://schemas.openxmlformats.org/officeDocument/2006/relationships/slide" Target="slide15.xml"/><Relationship Id="rId21" Type="http://schemas.openxmlformats.org/officeDocument/2006/relationships/slide" Target="slide16.xml"/><Relationship Id="rId22" Type="http://schemas.openxmlformats.org/officeDocument/2006/relationships/slide" Target="slide17.xml"/><Relationship Id="rId23" Type="http://schemas.openxmlformats.org/officeDocument/2006/relationships/slide" Target="slide18.xml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5.xml"/><Relationship Id="rId3" Type="http://schemas.openxmlformats.org/officeDocument/2006/relationships/slide" Target="slide13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3.xml"/><Relationship Id="rId13" Type="http://schemas.openxmlformats.org/officeDocument/2006/relationships/slide" Target="slide15.xml"/><Relationship Id="rId14" Type="http://schemas.openxmlformats.org/officeDocument/2006/relationships/slide" Target="slide16.xml"/><Relationship Id="rId15" Type="http://schemas.openxmlformats.org/officeDocument/2006/relationships/slide" Target="slide17.xml"/><Relationship Id="rId16" Type="http://schemas.openxmlformats.org/officeDocument/2006/relationships/slide" Target="slide18.xml"/><Relationship Id="rId17" Type="http://schemas.openxmlformats.org/officeDocument/2006/relationships/slide" Target="slide7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6.xml"/><Relationship Id="rId3" Type="http://schemas.openxmlformats.org/officeDocument/2006/relationships/slide" Target="slide14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3.xml"/><Relationship Id="rId13" Type="http://schemas.openxmlformats.org/officeDocument/2006/relationships/slide" Target="slide14.xml"/><Relationship Id="rId14" Type="http://schemas.openxmlformats.org/officeDocument/2006/relationships/slide" Target="slide16.xml"/><Relationship Id="rId15" Type="http://schemas.openxmlformats.org/officeDocument/2006/relationships/slide" Target="slide17.xml"/><Relationship Id="rId16" Type="http://schemas.openxmlformats.org/officeDocument/2006/relationships/slide" Target="slide18.xml"/><Relationship Id="rId17" Type="http://schemas.openxmlformats.org/officeDocument/2006/relationships/slide" Target="slide7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7.xml"/><Relationship Id="rId3" Type="http://schemas.openxmlformats.org/officeDocument/2006/relationships/slide" Target="slide15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3.xml"/><Relationship Id="rId13" Type="http://schemas.openxmlformats.org/officeDocument/2006/relationships/slide" Target="slide14.xml"/><Relationship Id="rId14" Type="http://schemas.openxmlformats.org/officeDocument/2006/relationships/slide" Target="slide15.xml"/><Relationship Id="rId15" Type="http://schemas.openxmlformats.org/officeDocument/2006/relationships/slide" Target="slide17.xml"/><Relationship Id="rId16" Type="http://schemas.openxmlformats.org/officeDocument/2006/relationships/slide" Target="slide18.xml"/><Relationship Id="rId17" Type="http://schemas.openxmlformats.org/officeDocument/2006/relationships/slide" Target="slide7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8.xml"/><Relationship Id="rId3" Type="http://schemas.openxmlformats.org/officeDocument/2006/relationships/slide" Target="slide16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3.xml"/><Relationship Id="rId13" Type="http://schemas.openxmlformats.org/officeDocument/2006/relationships/slide" Target="slide14.xml"/><Relationship Id="rId14" Type="http://schemas.openxmlformats.org/officeDocument/2006/relationships/slide" Target="slide15.xml"/><Relationship Id="rId15" Type="http://schemas.openxmlformats.org/officeDocument/2006/relationships/slide" Target="slide16.xml"/><Relationship Id="rId16" Type="http://schemas.openxmlformats.org/officeDocument/2006/relationships/slide" Target="slide18.xml"/><Relationship Id="rId17" Type="http://schemas.openxmlformats.org/officeDocument/2006/relationships/slide" Target="slide7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9.xml"/><Relationship Id="rId3" Type="http://schemas.openxmlformats.org/officeDocument/2006/relationships/slide" Target="slide17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3.xml"/><Relationship Id="rId13" Type="http://schemas.openxmlformats.org/officeDocument/2006/relationships/slide" Target="slide14.xml"/><Relationship Id="rId14" Type="http://schemas.openxmlformats.org/officeDocument/2006/relationships/slide" Target="slide15.xml"/><Relationship Id="rId15" Type="http://schemas.openxmlformats.org/officeDocument/2006/relationships/slide" Target="slide16.xml"/><Relationship Id="rId16" Type="http://schemas.openxmlformats.org/officeDocument/2006/relationships/slide" Target="slide17.xml"/><Relationship Id="rId17" Type="http://schemas.openxmlformats.org/officeDocument/2006/relationships/slide" Target="slide7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0.xml"/><Relationship Id="rId3" Type="http://schemas.openxmlformats.org/officeDocument/2006/relationships/slide" Target="slide18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0.xml"/><Relationship Id="rId13" Type="http://schemas.openxmlformats.org/officeDocument/2006/relationships/slide" Target="slide21.xml"/><Relationship Id="rId14" Type="http://schemas.openxmlformats.org/officeDocument/2006/relationships/slide" Target="slide22.xml"/><Relationship Id="rId15" Type="http://schemas.openxmlformats.org/officeDocument/2006/relationships/slide" Target="slide23.xml"/><Relationship Id="rId16" Type="http://schemas.openxmlformats.org/officeDocument/2006/relationships/slide" Target="slide24.xml"/><Relationship Id="rId17" Type="http://schemas.openxmlformats.org/officeDocument/2006/relationships/slide" Target="slide7.xml"/><Relationship Id="rId18" Type="http://schemas.openxmlformats.org/officeDocument/2006/relationships/slide" Target="slide13.xml"/><Relationship Id="rId19" Type="http://schemas.openxmlformats.org/officeDocument/2006/relationships/slide" Target="slide20.xml"/><Relationship Id="rId20" Type="http://schemas.openxmlformats.org/officeDocument/2006/relationships/slide" Target="slide21.xml"/><Relationship Id="rId21" Type="http://schemas.openxmlformats.org/officeDocument/2006/relationships/slide" Target="slide22.xml"/><Relationship Id="rId22" Type="http://schemas.openxmlformats.org/officeDocument/2006/relationships/slide" Target="slide23.xml"/><Relationship Id="rId23" Type="http://schemas.openxmlformats.org/officeDocument/2006/relationships/slide" Target="slide24.xml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1.xml"/><Relationship Id="rId3" Type="http://schemas.openxmlformats.org/officeDocument/2006/relationships/slide" Target="slide19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9.xml"/><Relationship Id="rId13" Type="http://schemas.openxmlformats.org/officeDocument/2006/relationships/slide" Target="slide21.xml"/><Relationship Id="rId14" Type="http://schemas.openxmlformats.org/officeDocument/2006/relationships/slide" Target="slide22.xml"/><Relationship Id="rId15" Type="http://schemas.openxmlformats.org/officeDocument/2006/relationships/slide" Target="slide23.xml"/><Relationship Id="rId16" Type="http://schemas.openxmlformats.org/officeDocument/2006/relationships/slide" Target="slide24.xml"/><Relationship Id="rId17" Type="http://schemas.openxmlformats.org/officeDocument/2006/relationships/slide" Target="slide7.xml"/><Relationship Id="rId18" Type="http://schemas.openxmlformats.org/officeDocument/2006/relationships/slide" Target="slide13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2.xml"/><Relationship Id="rId3" Type="http://schemas.openxmlformats.org/officeDocument/2006/relationships/slide" Target="slide20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9.xml"/><Relationship Id="rId13" Type="http://schemas.openxmlformats.org/officeDocument/2006/relationships/slide" Target="slide20.xml"/><Relationship Id="rId14" Type="http://schemas.openxmlformats.org/officeDocument/2006/relationships/slide" Target="slide22.xml"/><Relationship Id="rId15" Type="http://schemas.openxmlformats.org/officeDocument/2006/relationships/slide" Target="slide23.xml"/><Relationship Id="rId16" Type="http://schemas.openxmlformats.org/officeDocument/2006/relationships/slide" Target="slide24.xml"/><Relationship Id="rId17" Type="http://schemas.openxmlformats.org/officeDocument/2006/relationships/slide" Target="slide7.xml"/><Relationship Id="rId18" Type="http://schemas.openxmlformats.org/officeDocument/2006/relationships/slide" Target="slide13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3.xml"/><Relationship Id="rId3" Type="http://schemas.openxmlformats.org/officeDocument/2006/relationships/slide" Target="slide21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9.xml"/><Relationship Id="rId13" Type="http://schemas.openxmlformats.org/officeDocument/2006/relationships/slide" Target="slide20.xml"/><Relationship Id="rId14" Type="http://schemas.openxmlformats.org/officeDocument/2006/relationships/slide" Target="slide21.xml"/><Relationship Id="rId15" Type="http://schemas.openxmlformats.org/officeDocument/2006/relationships/slide" Target="slide23.xml"/><Relationship Id="rId16" Type="http://schemas.openxmlformats.org/officeDocument/2006/relationships/slide" Target="slide24.xml"/><Relationship Id="rId17" Type="http://schemas.openxmlformats.org/officeDocument/2006/relationships/slide" Target="slide7.xml"/><Relationship Id="rId18" Type="http://schemas.openxmlformats.org/officeDocument/2006/relationships/slide" Target="slide13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4.xml"/><Relationship Id="rId3" Type="http://schemas.openxmlformats.org/officeDocument/2006/relationships/slide" Target="slide2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9.xml"/><Relationship Id="rId13" Type="http://schemas.openxmlformats.org/officeDocument/2006/relationships/slide" Target="slide20.xml"/><Relationship Id="rId14" Type="http://schemas.openxmlformats.org/officeDocument/2006/relationships/slide" Target="slide21.xml"/><Relationship Id="rId15" Type="http://schemas.openxmlformats.org/officeDocument/2006/relationships/slide" Target="slide22.xml"/><Relationship Id="rId16" Type="http://schemas.openxmlformats.org/officeDocument/2006/relationships/slide" Target="slide24.xml"/><Relationship Id="rId17" Type="http://schemas.openxmlformats.org/officeDocument/2006/relationships/slide" Target="slide7.xml"/><Relationship Id="rId18" Type="http://schemas.openxmlformats.org/officeDocument/2006/relationships/slide" Target="slide13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5.xml"/><Relationship Id="rId3" Type="http://schemas.openxmlformats.org/officeDocument/2006/relationships/slide" Target="slide23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9.xml"/><Relationship Id="rId13" Type="http://schemas.openxmlformats.org/officeDocument/2006/relationships/slide" Target="slide20.xml"/><Relationship Id="rId14" Type="http://schemas.openxmlformats.org/officeDocument/2006/relationships/slide" Target="slide21.xml"/><Relationship Id="rId15" Type="http://schemas.openxmlformats.org/officeDocument/2006/relationships/slide" Target="slide22.xml"/><Relationship Id="rId16" Type="http://schemas.openxmlformats.org/officeDocument/2006/relationships/slide" Target="slide23.xml"/><Relationship Id="rId17" Type="http://schemas.openxmlformats.org/officeDocument/2006/relationships/slide" Target="slide7.xml"/><Relationship Id="rId18" Type="http://schemas.openxmlformats.org/officeDocument/2006/relationships/slide" Target="slide13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6.xml"/><Relationship Id="rId3" Type="http://schemas.openxmlformats.org/officeDocument/2006/relationships/slide" Target="slide24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3" Type="http://schemas.openxmlformats.org/officeDocument/2006/relationships/slide" Target="slide26.xml"/><Relationship Id="rId12" Type="http://schemas.openxmlformats.org/officeDocument/2006/relationships/image" Target="../media/image-25-1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7.xml"/><Relationship Id="rId3" Type="http://schemas.openxmlformats.org/officeDocument/2006/relationships/slide" Target="slide25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7.xml"/><Relationship Id="rId13" Type="http://schemas.openxmlformats.org/officeDocument/2006/relationships/slide" Target="slide28.xml"/><Relationship Id="rId14" Type="http://schemas.openxmlformats.org/officeDocument/2006/relationships/slide" Target="slide29.xml"/><Relationship Id="rId15" Type="http://schemas.openxmlformats.org/officeDocument/2006/relationships/slide" Target="slide30.xml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8.xml"/><Relationship Id="rId3" Type="http://schemas.openxmlformats.org/officeDocument/2006/relationships/slide" Target="slide26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6.xml"/><Relationship Id="rId13" Type="http://schemas.openxmlformats.org/officeDocument/2006/relationships/slide" Target="slide28.xml"/><Relationship Id="rId14" Type="http://schemas.openxmlformats.org/officeDocument/2006/relationships/slide" Target="slide29.xml"/><Relationship Id="rId15" Type="http://schemas.openxmlformats.org/officeDocument/2006/relationships/slide" Target="slide30.xml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9.xml"/><Relationship Id="rId3" Type="http://schemas.openxmlformats.org/officeDocument/2006/relationships/slide" Target="slide27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6.xml"/><Relationship Id="rId13" Type="http://schemas.openxmlformats.org/officeDocument/2006/relationships/slide" Target="slide27.xml"/><Relationship Id="rId14" Type="http://schemas.openxmlformats.org/officeDocument/2006/relationships/slide" Target="slide29.xml"/><Relationship Id="rId15" Type="http://schemas.openxmlformats.org/officeDocument/2006/relationships/slide" Target="slide30.xml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0.xml"/><Relationship Id="rId3" Type="http://schemas.openxmlformats.org/officeDocument/2006/relationships/slide" Target="slide28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6.xml"/><Relationship Id="rId13" Type="http://schemas.openxmlformats.org/officeDocument/2006/relationships/slide" Target="slide27.xml"/><Relationship Id="rId14" Type="http://schemas.openxmlformats.org/officeDocument/2006/relationships/slide" Target="slide28.xml"/><Relationship Id="rId15" Type="http://schemas.openxmlformats.org/officeDocument/2006/relationships/slide" Target="slide30.xml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1.xml"/><Relationship Id="rId3" Type="http://schemas.openxmlformats.org/officeDocument/2006/relationships/slide" Target="slide29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6.xml"/><Relationship Id="rId13" Type="http://schemas.openxmlformats.org/officeDocument/2006/relationships/slide" Target="slide27.xml"/><Relationship Id="rId14" Type="http://schemas.openxmlformats.org/officeDocument/2006/relationships/slide" Target="slide28.xml"/><Relationship Id="rId15" Type="http://schemas.openxmlformats.org/officeDocument/2006/relationships/slide" Target="slide29.xml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2.xml"/><Relationship Id="rId3" Type="http://schemas.openxmlformats.org/officeDocument/2006/relationships/slide" Target="slide30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3" Type="http://schemas.openxmlformats.org/officeDocument/2006/relationships/slide" Target="slide32.xml"/><Relationship Id="rId14" Type="http://schemas.openxmlformats.org/officeDocument/2006/relationships/slide" Target="slide35.xml"/><Relationship Id="rId12" Type="http://schemas.openxmlformats.org/officeDocument/2006/relationships/image" Target="../media/image-31-1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3.xml"/><Relationship Id="rId3" Type="http://schemas.openxmlformats.org/officeDocument/2006/relationships/slide" Target="slide31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3.xml"/><Relationship Id="rId13" Type="http://schemas.openxmlformats.org/officeDocument/2006/relationships/slide" Target="slide34.xml"/><Relationship Id="rId14" Type="http://schemas.openxmlformats.org/officeDocument/2006/relationships/slide" Target="slide35.xml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4.xml"/><Relationship Id="rId3" Type="http://schemas.openxmlformats.org/officeDocument/2006/relationships/slide" Target="slide3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2.xml"/><Relationship Id="rId13" Type="http://schemas.openxmlformats.org/officeDocument/2006/relationships/slide" Target="slide34.xml"/><Relationship Id="rId14" Type="http://schemas.openxmlformats.org/officeDocument/2006/relationships/slide" Target="slide35.xml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5.xml"/><Relationship Id="rId3" Type="http://schemas.openxmlformats.org/officeDocument/2006/relationships/slide" Target="slide33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2.xml"/><Relationship Id="rId13" Type="http://schemas.openxmlformats.org/officeDocument/2006/relationships/slide" Target="slide33.xml"/><Relationship Id="rId14" Type="http://schemas.openxmlformats.org/officeDocument/2006/relationships/slide" Target="slide35.xml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6.xml"/><Relationship Id="rId3" Type="http://schemas.openxmlformats.org/officeDocument/2006/relationships/slide" Target="slide34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6.xml"/><Relationship Id="rId13" Type="http://schemas.openxmlformats.org/officeDocument/2006/relationships/slide" Target="slide37.xml"/><Relationship Id="rId14" Type="http://schemas.openxmlformats.org/officeDocument/2006/relationships/slide" Target="slide38.xml"/><Relationship Id="rId15" Type="http://schemas.openxmlformats.org/officeDocument/2006/relationships/slide" Target="slide39.xml"/><Relationship Id="rId16" Type="http://schemas.openxmlformats.org/officeDocument/2006/relationships/slide" Target="slide40.xml"/><Relationship Id="rId17" Type="http://schemas.openxmlformats.org/officeDocument/2006/relationships/slide" Target="slide41.xml"/><Relationship Id="rId18" Type="http://schemas.openxmlformats.org/officeDocument/2006/relationships/slide" Target="slide32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7.xml"/><Relationship Id="rId3" Type="http://schemas.openxmlformats.org/officeDocument/2006/relationships/slide" Target="slide35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5.xml"/><Relationship Id="rId13" Type="http://schemas.openxmlformats.org/officeDocument/2006/relationships/slide" Target="slide37.xml"/><Relationship Id="rId14" Type="http://schemas.openxmlformats.org/officeDocument/2006/relationships/slide" Target="slide38.xml"/><Relationship Id="rId15" Type="http://schemas.openxmlformats.org/officeDocument/2006/relationships/slide" Target="slide39.xml"/><Relationship Id="rId16" Type="http://schemas.openxmlformats.org/officeDocument/2006/relationships/slide" Target="slide40.xml"/><Relationship Id="rId17" Type="http://schemas.openxmlformats.org/officeDocument/2006/relationships/slide" Target="slide41.xml"/><Relationship Id="rId18" Type="http://schemas.openxmlformats.org/officeDocument/2006/relationships/slide" Target="slide32.xml"/><Relationship Id="rId19" Type="http://schemas.openxmlformats.org/officeDocument/2006/relationships/chart" Target="/ppt/charts/chart1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8.xml"/><Relationship Id="rId3" Type="http://schemas.openxmlformats.org/officeDocument/2006/relationships/slide" Target="slide36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5.xml"/><Relationship Id="rId13" Type="http://schemas.openxmlformats.org/officeDocument/2006/relationships/slide" Target="slide36.xml"/><Relationship Id="rId14" Type="http://schemas.openxmlformats.org/officeDocument/2006/relationships/slide" Target="slide38.xml"/><Relationship Id="rId15" Type="http://schemas.openxmlformats.org/officeDocument/2006/relationships/slide" Target="slide39.xml"/><Relationship Id="rId16" Type="http://schemas.openxmlformats.org/officeDocument/2006/relationships/slide" Target="slide40.xml"/><Relationship Id="rId17" Type="http://schemas.openxmlformats.org/officeDocument/2006/relationships/slide" Target="slide41.xml"/><Relationship Id="rId18" Type="http://schemas.openxmlformats.org/officeDocument/2006/relationships/slide" Target="slide32.xml"/><Relationship Id="rId19" Type="http://schemas.openxmlformats.org/officeDocument/2006/relationships/chart" Target="/ppt/charts/chart2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9.xml"/><Relationship Id="rId3" Type="http://schemas.openxmlformats.org/officeDocument/2006/relationships/slide" Target="slide37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5.xml"/><Relationship Id="rId13" Type="http://schemas.openxmlformats.org/officeDocument/2006/relationships/slide" Target="slide36.xml"/><Relationship Id="rId14" Type="http://schemas.openxmlformats.org/officeDocument/2006/relationships/slide" Target="slide37.xml"/><Relationship Id="rId15" Type="http://schemas.openxmlformats.org/officeDocument/2006/relationships/slide" Target="slide39.xml"/><Relationship Id="rId16" Type="http://schemas.openxmlformats.org/officeDocument/2006/relationships/slide" Target="slide40.xml"/><Relationship Id="rId17" Type="http://schemas.openxmlformats.org/officeDocument/2006/relationships/slide" Target="slide41.xml"/><Relationship Id="rId18" Type="http://schemas.openxmlformats.org/officeDocument/2006/relationships/slide" Target="slide32.xml"/><Relationship Id="rId19" Type="http://schemas.openxmlformats.org/officeDocument/2006/relationships/chart" Target="/ppt/charts/chart3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0.xml"/><Relationship Id="rId3" Type="http://schemas.openxmlformats.org/officeDocument/2006/relationships/slide" Target="slide38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5.xml"/><Relationship Id="rId13" Type="http://schemas.openxmlformats.org/officeDocument/2006/relationships/slide" Target="slide36.xml"/><Relationship Id="rId14" Type="http://schemas.openxmlformats.org/officeDocument/2006/relationships/slide" Target="slide37.xml"/><Relationship Id="rId15" Type="http://schemas.openxmlformats.org/officeDocument/2006/relationships/slide" Target="slide38.xml"/><Relationship Id="rId16" Type="http://schemas.openxmlformats.org/officeDocument/2006/relationships/slide" Target="slide40.xml"/><Relationship Id="rId17" Type="http://schemas.openxmlformats.org/officeDocument/2006/relationships/slide" Target="slide41.xml"/><Relationship Id="rId18" Type="http://schemas.openxmlformats.org/officeDocument/2006/relationships/slide" Target="slide32.xml"/><Relationship Id="rId19" Type="http://schemas.openxmlformats.org/officeDocument/2006/relationships/chart" Target="/ppt/charts/chart4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1.xml"/><Relationship Id="rId3" Type="http://schemas.openxmlformats.org/officeDocument/2006/relationships/slide" Target="slide39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5.xml"/><Relationship Id="rId13" Type="http://schemas.openxmlformats.org/officeDocument/2006/relationships/slide" Target="slide36.xml"/><Relationship Id="rId14" Type="http://schemas.openxmlformats.org/officeDocument/2006/relationships/slide" Target="slide37.xml"/><Relationship Id="rId15" Type="http://schemas.openxmlformats.org/officeDocument/2006/relationships/slide" Target="slide38.xml"/><Relationship Id="rId16" Type="http://schemas.openxmlformats.org/officeDocument/2006/relationships/slide" Target="slide39.xml"/><Relationship Id="rId17" Type="http://schemas.openxmlformats.org/officeDocument/2006/relationships/slide" Target="slide41.xml"/><Relationship Id="rId18" Type="http://schemas.openxmlformats.org/officeDocument/2006/relationships/slide" Target="slide32.xml"/><Relationship Id="rId19" Type="http://schemas.openxmlformats.org/officeDocument/2006/relationships/chart" Target="/ppt/charts/chart5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2.xml"/><Relationship Id="rId3" Type="http://schemas.openxmlformats.org/officeDocument/2006/relationships/slide" Target="slide40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5.xml"/><Relationship Id="rId13" Type="http://schemas.openxmlformats.org/officeDocument/2006/relationships/slide" Target="slide36.xml"/><Relationship Id="rId14" Type="http://schemas.openxmlformats.org/officeDocument/2006/relationships/slide" Target="slide37.xml"/><Relationship Id="rId15" Type="http://schemas.openxmlformats.org/officeDocument/2006/relationships/slide" Target="slide38.xml"/><Relationship Id="rId16" Type="http://schemas.openxmlformats.org/officeDocument/2006/relationships/slide" Target="slide39.xml"/><Relationship Id="rId17" Type="http://schemas.openxmlformats.org/officeDocument/2006/relationships/slide" Target="slide40.xml"/><Relationship Id="rId18" Type="http://schemas.openxmlformats.org/officeDocument/2006/relationships/slide" Target="slide32.xml"/><Relationship Id="rId19" Type="http://schemas.openxmlformats.org/officeDocument/2006/relationships/chart" Target="/ppt/charts/chart6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3.xml"/><Relationship Id="rId3" Type="http://schemas.openxmlformats.org/officeDocument/2006/relationships/slide" Target="slide41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3" Type="http://schemas.openxmlformats.org/officeDocument/2006/relationships/slide" Target="slide43.xml"/><Relationship Id="rId14" Type="http://schemas.openxmlformats.org/officeDocument/2006/relationships/slide" Target="slide45.xml"/><Relationship Id="rId15" Type="http://schemas.openxmlformats.org/officeDocument/2006/relationships/slide" Target="slide50.xml"/><Relationship Id="rId16" Type="http://schemas.openxmlformats.org/officeDocument/2006/relationships/slide" Target="slide52.xml"/><Relationship Id="rId12" Type="http://schemas.openxmlformats.org/officeDocument/2006/relationships/image" Target="../media/image-42-1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4.xml"/><Relationship Id="rId3" Type="http://schemas.openxmlformats.org/officeDocument/2006/relationships/slide" Target="slide4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4.xml"/><Relationship Id="rId13" Type="http://schemas.openxmlformats.org/officeDocument/2006/relationships/slide" Target="slide45.xml"/><Relationship Id="rId14" Type="http://schemas.openxmlformats.org/officeDocument/2006/relationships/slide" Target="slide50.xml"/><Relationship Id="rId15" Type="http://schemas.openxmlformats.org/officeDocument/2006/relationships/slide" Target="slide52.xml"/><Relationship Id="rId16" Type="http://schemas.openxmlformats.org/officeDocument/2006/relationships/chart" Target="/ppt/charts/chart7.xml"/><Relationship Id="rId17" Type="http://schemas.openxmlformats.org/officeDocument/2006/relationships/chart" Target="/ppt/charts/chart8.xml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5.xml"/><Relationship Id="rId3" Type="http://schemas.openxmlformats.org/officeDocument/2006/relationships/slide" Target="slide43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3.xml"/><Relationship Id="rId13" Type="http://schemas.openxmlformats.org/officeDocument/2006/relationships/slide" Target="slide45.xml"/><Relationship Id="rId14" Type="http://schemas.openxmlformats.org/officeDocument/2006/relationships/slide" Target="slide50.xml"/><Relationship Id="rId15" Type="http://schemas.openxmlformats.org/officeDocument/2006/relationships/slide" Target="slide52.xml"/><Relationship Id="rId16" Type="http://schemas.openxmlformats.org/officeDocument/2006/relationships/chart" Target="/ppt/charts/chart9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6.xml"/><Relationship Id="rId3" Type="http://schemas.openxmlformats.org/officeDocument/2006/relationships/slide" Target="slide44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3.xml"/><Relationship Id="rId13" Type="http://schemas.openxmlformats.org/officeDocument/2006/relationships/slide" Target="slide50.xml"/><Relationship Id="rId14" Type="http://schemas.openxmlformats.org/officeDocument/2006/relationships/slide" Target="slide52.xml"/><Relationship Id="rId15" Type="http://schemas.openxmlformats.org/officeDocument/2006/relationships/slide" Target="slide46.xml"/><Relationship Id="rId16" Type="http://schemas.openxmlformats.org/officeDocument/2006/relationships/slide" Target="slide47.xml"/><Relationship Id="rId17" Type="http://schemas.openxmlformats.org/officeDocument/2006/relationships/slide" Target="slide48.xml"/><Relationship Id="rId18" Type="http://schemas.openxmlformats.org/officeDocument/2006/relationships/slide" Target="slide49.xml"/><Relationship Id="rId19" Type="http://schemas.openxmlformats.org/officeDocument/2006/relationships/chart" Target="/ppt/charts/chart10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7.xml"/><Relationship Id="rId3" Type="http://schemas.openxmlformats.org/officeDocument/2006/relationships/slide" Target="slide45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3.xml"/><Relationship Id="rId13" Type="http://schemas.openxmlformats.org/officeDocument/2006/relationships/slide" Target="slide50.xml"/><Relationship Id="rId14" Type="http://schemas.openxmlformats.org/officeDocument/2006/relationships/slide" Target="slide52.xml"/><Relationship Id="rId15" Type="http://schemas.openxmlformats.org/officeDocument/2006/relationships/slide" Target="slide45.xml"/><Relationship Id="rId16" Type="http://schemas.openxmlformats.org/officeDocument/2006/relationships/slide" Target="slide47.xml"/><Relationship Id="rId17" Type="http://schemas.openxmlformats.org/officeDocument/2006/relationships/slide" Target="slide48.xml"/><Relationship Id="rId18" Type="http://schemas.openxmlformats.org/officeDocument/2006/relationships/slide" Target="slide49.xml"/><Relationship Id="rId19" Type="http://schemas.openxmlformats.org/officeDocument/2006/relationships/chart" Target="/ppt/charts/chart11.xml"/><Relationship Id="rId20" Type="http://schemas.openxmlformats.org/officeDocument/2006/relationships/chart" Target="/ppt/charts/chart12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8.xml"/><Relationship Id="rId3" Type="http://schemas.openxmlformats.org/officeDocument/2006/relationships/slide" Target="slide46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3.xml"/><Relationship Id="rId13" Type="http://schemas.openxmlformats.org/officeDocument/2006/relationships/slide" Target="slide50.xml"/><Relationship Id="rId14" Type="http://schemas.openxmlformats.org/officeDocument/2006/relationships/slide" Target="slide52.xml"/><Relationship Id="rId15" Type="http://schemas.openxmlformats.org/officeDocument/2006/relationships/slide" Target="slide45.xml"/><Relationship Id="rId16" Type="http://schemas.openxmlformats.org/officeDocument/2006/relationships/slide" Target="slide46.xml"/><Relationship Id="rId17" Type="http://schemas.openxmlformats.org/officeDocument/2006/relationships/slide" Target="slide48.xml"/><Relationship Id="rId18" Type="http://schemas.openxmlformats.org/officeDocument/2006/relationships/slide" Target="slide49.xml"/><Relationship Id="rId19" Type="http://schemas.openxmlformats.org/officeDocument/2006/relationships/chart" Target="/ppt/charts/chart13.xml"/><Relationship Id="rId20" Type="http://schemas.openxmlformats.org/officeDocument/2006/relationships/chart" Target="/ppt/charts/chart14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9.xml"/><Relationship Id="rId3" Type="http://schemas.openxmlformats.org/officeDocument/2006/relationships/slide" Target="slide47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3.xml"/><Relationship Id="rId13" Type="http://schemas.openxmlformats.org/officeDocument/2006/relationships/slide" Target="slide50.xml"/><Relationship Id="rId14" Type="http://schemas.openxmlformats.org/officeDocument/2006/relationships/slide" Target="slide52.xml"/><Relationship Id="rId15" Type="http://schemas.openxmlformats.org/officeDocument/2006/relationships/slide" Target="slide45.xml"/><Relationship Id="rId16" Type="http://schemas.openxmlformats.org/officeDocument/2006/relationships/slide" Target="slide46.xml"/><Relationship Id="rId17" Type="http://schemas.openxmlformats.org/officeDocument/2006/relationships/slide" Target="slide47.xml"/><Relationship Id="rId18" Type="http://schemas.openxmlformats.org/officeDocument/2006/relationships/slide" Target="slide49.xml"/><Relationship Id="rId19" Type="http://schemas.openxmlformats.org/officeDocument/2006/relationships/chart" Target="/ppt/charts/chart15.xml"/><Relationship Id="rId20" Type="http://schemas.openxmlformats.org/officeDocument/2006/relationships/chart" Target="/ppt/charts/chart16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0.xml"/><Relationship Id="rId3" Type="http://schemas.openxmlformats.org/officeDocument/2006/relationships/slide" Target="slide48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3.xml"/><Relationship Id="rId13" Type="http://schemas.openxmlformats.org/officeDocument/2006/relationships/slide" Target="slide50.xml"/><Relationship Id="rId14" Type="http://schemas.openxmlformats.org/officeDocument/2006/relationships/slide" Target="slide52.xml"/><Relationship Id="rId15" Type="http://schemas.openxmlformats.org/officeDocument/2006/relationships/slide" Target="slide45.xml"/><Relationship Id="rId16" Type="http://schemas.openxmlformats.org/officeDocument/2006/relationships/slide" Target="slide46.xml"/><Relationship Id="rId17" Type="http://schemas.openxmlformats.org/officeDocument/2006/relationships/slide" Target="slide47.xml"/><Relationship Id="rId18" Type="http://schemas.openxmlformats.org/officeDocument/2006/relationships/slide" Target="slide48.xml"/><Relationship Id="rId19" Type="http://schemas.openxmlformats.org/officeDocument/2006/relationships/chart" Target="/ppt/charts/chart17.xml"/><Relationship Id="rId20" Type="http://schemas.openxmlformats.org/officeDocument/2006/relationships/chart" Target="/ppt/charts/chart18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1.xml"/><Relationship Id="rId3" Type="http://schemas.openxmlformats.org/officeDocument/2006/relationships/slide" Target="slide49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51.xml"/><Relationship Id="rId13" Type="http://schemas.openxmlformats.org/officeDocument/2006/relationships/slide" Target="slide43.xml"/><Relationship Id="rId14" Type="http://schemas.openxmlformats.org/officeDocument/2006/relationships/slide" Target="slide45.xml"/><Relationship Id="rId15" Type="http://schemas.openxmlformats.org/officeDocument/2006/relationships/slide" Target="slide52.xml"/><Relationship Id="rId16" Type="http://schemas.openxmlformats.org/officeDocument/2006/relationships/chart" Target="/ppt/charts/chart19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2.xml"/><Relationship Id="rId3" Type="http://schemas.openxmlformats.org/officeDocument/2006/relationships/slide" Target="slide50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50.xml"/><Relationship Id="rId13" Type="http://schemas.openxmlformats.org/officeDocument/2006/relationships/slide" Target="slide43.xml"/><Relationship Id="rId14" Type="http://schemas.openxmlformats.org/officeDocument/2006/relationships/slide" Target="slide45.xml"/><Relationship Id="rId15" Type="http://schemas.openxmlformats.org/officeDocument/2006/relationships/slide" Target="slide52.xml"/><Relationship Id="rId16" Type="http://schemas.openxmlformats.org/officeDocument/2006/relationships/chart" Target="/ppt/charts/chart20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3.xml"/><Relationship Id="rId3" Type="http://schemas.openxmlformats.org/officeDocument/2006/relationships/slide" Target="slide51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53.xml"/><Relationship Id="rId13" Type="http://schemas.openxmlformats.org/officeDocument/2006/relationships/slide" Target="slide54.xml"/><Relationship Id="rId14" Type="http://schemas.openxmlformats.org/officeDocument/2006/relationships/slide" Target="slide43.xml"/><Relationship Id="rId15" Type="http://schemas.openxmlformats.org/officeDocument/2006/relationships/slide" Target="slide45.xml"/><Relationship Id="rId16" Type="http://schemas.openxmlformats.org/officeDocument/2006/relationships/slide" Target="slide50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4.xml"/><Relationship Id="rId3" Type="http://schemas.openxmlformats.org/officeDocument/2006/relationships/slide" Target="slide5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52.xml"/><Relationship Id="rId13" Type="http://schemas.openxmlformats.org/officeDocument/2006/relationships/slide" Target="slide54.xml"/><Relationship Id="rId14" Type="http://schemas.openxmlformats.org/officeDocument/2006/relationships/slide" Target="slide43.xml"/><Relationship Id="rId15" Type="http://schemas.openxmlformats.org/officeDocument/2006/relationships/slide" Target="slide45.xml"/><Relationship Id="rId16" Type="http://schemas.openxmlformats.org/officeDocument/2006/relationships/slide" Target="slide50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5.xml"/><Relationship Id="rId3" Type="http://schemas.openxmlformats.org/officeDocument/2006/relationships/slide" Target="slide53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52.xml"/><Relationship Id="rId13" Type="http://schemas.openxmlformats.org/officeDocument/2006/relationships/slide" Target="slide53.xml"/><Relationship Id="rId14" Type="http://schemas.openxmlformats.org/officeDocument/2006/relationships/slide" Target="slide43.xml"/><Relationship Id="rId15" Type="http://schemas.openxmlformats.org/officeDocument/2006/relationships/slide" Target="slide45.xml"/><Relationship Id="rId16" Type="http://schemas.openxmlformats.org/officeDocument/2006/relationships/slide" Target="slide50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6.xml"/><Relationship Id="rId3" Type="http://schemas.openxmlformats.org/officeDocument/2006/relationships/slide" Target="slide54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3" Type="http://schemas.openxmlformats.org/officeDocument/2006/relationships/slide" Target="slide56.xml"/><Relationship Id="rId14" Type="http://schemas.openxmlformats.org/officeDocument/2006/relationships/slide" Target="slide62.xml"/><Relationship Id="rId12" Type="http://schemas.openxmlformats.org/officeDocument/2006/relationships/image" Target="../media/image-55-1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7.xml"/><Relationship Id="rId3" Type="http://schemas.openxmlformats.org/officeDocument/2006/relationships/slide" Target="slide55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7.xml"/><Relationship Id="rId13" Type="http://schemas.openxmlformats.org/officeDocument/2006/relationships/slide" Target="slide58.xml"/><Relationship Id="rId14" Type="http://schemas.openxmlformats.org/officeDocument/2006/relationships/slide" Target="slide59.xml"/><Relationship Id="rId15" Type="http://schemas.openxmlformats.org/officeDocument/2006/relationships/slide" Target="slide60.xml"/><Relationship Id="rId16" Type="http://schemas.openxmlformats.org/officeDocument/2006/relationships/slide" Target="slide62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8.xml"/><Relationship Id="rId3" Type="http://schemas.openxmlformats.org/officeDocument/2006/relationships/slide" Target="slide56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6.xml"/><Relationship Id="rId13" Type="http://schemas.openxmlformats.org/officeDocument/2006/relationships/slide" Target="slide58.xml"/><Relationship Id="rId14" Type="http://schemas.openxmlformats.org/officeDocument/2006/relationships/slide" Target="slide59.xml"/><Relationship Id="rId15" Type="http://schemas.openxmlformats.org/officeDocument/2006/relationships/slide" Target="slide60.xml"/><Relationship Id="rId16" Type="http://schemas.openxmlformats.org/officeDocument/2006/relationships/slide" Target="slide62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9.xml"/><Relationship Id="rId3" Type="http://schemas.openxmlformats.org/officeDocument/2006/relationships/slide" Target="slide57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6.xml"/><Relationship Id="rId13" Type="http://schemas.openxmlformats.org/officeDocument/2006/relationships/slide" Target="slide57.xml"/><Relationship Id="rId14" Type="http://schemas.openxmlformats.org/officeDocument/2006/relationships/slide" Target="slide59.xml"/><Relationship Id="rId15" Type="http://schemas.openxmlformats.org/officeDocument/2006/relationships/slide" Target="slide60.xml"/><Relationship Id="rId16" Type="http://schemas.openxmlformats.org/officeDocument/2006/relationships/slide" Target="slide62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0.xml"/><Relationship Id="rId3" Type="http://schemas.openxmlformats.org/officeDocument/2006/relationships/slide" Target="slide58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6.xml"/><Relationship Id="rId13" Type="http://schemas.openxmlformats.org/officeDocument/2006/relationships/slide" Target="slide57.xml"/><Relationship Id="rId14" Type="http://schemas.openxmlformats.org/officeDocument/2006/relationships/slide" Target="slide58.xml"/><Relationship Id="rId15" Type="http://schemas.openxmlformats.org/officeDocument/2006/relationships/slide" Target="slide60.xml"/><Relationship Id="rId16" Type="http://schemas.openxmlformats.org/officeDocument/2006/relationships/slide" Target="slide62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1.xml"/><Relationship Id="rId3" Type="http://schemas.openxmlformats.org/officeDocument/2006/relationships/slide" Target="slide59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6.xml"/><Relationship Id="rId13" Type="http://schemas.openxmlformats.org/officeDocument/2006/relationships/slide" Target="slide57.xml"/><Relationship Id="rId14" Type="http://schemas.openxmlformats.org/officeDocument/2006/relationships/slide" Target="slide58.xml"/><Relationship Id="rId15" Type="http://schemas.openxmlformats.org/officeDocument/2006/relationships/slide" Target="slide59.xml"/><Relationship Id="rId16" Type="http://schemas.openxmlformats.org/officeDocument/2006/relationships/slide" Target="slide62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2.xml"/><Relationship Id="rId3" Type="http://schemas.openxmlformats.org/officeDocument/2006/relationships/slide" Target="slide60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6.xml"/><Relationship Id="rId13" Type="http://schemas.openxmlformats.org/officeDocument/2006/relationships/slide" Target="slide62.xml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3.xml"/><Relationship Id="rId3" Type="http://schemas.openxmlformats.org/officeDocument/2006/relationships/slide" Target="slide61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6.xml"/><Relationship Id="rId13" Type="http://schemas.openxmlformats.org/officeDocument/2006/relationships/slide" Target="slide61.xml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4.xml"/><Relationship Id="rId3" Type="http://schemas.openxmlformats.org/officeDocument/2006/relationships/slide" Target="slide6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55.xml"/><Relationship Id="rId12" Type="http://schemas.openxmlformats.org/officeDocument/2006/relationships/image" Target="../media/image-63-1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5.xml"/><Relationship Id="rId3" Type="http://schemas.openxmlformats.org/officeDocument/2006/relationships/slide" Target="slide63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55.xml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11457432" cy="725119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80560" y="48920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الإيرادات حسب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4480560" y="55778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السنة والتبويب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480560" y="63550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في منطقة الرياض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480560" y="68580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E3F0EA"/>
                </a:solidFill>
              </a:rPr>
              <a:t>التقرير الإحصائي للإيرادات للعام 2026م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795528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أمانة منطقة الرياض | الإيرادات حسب السنة والتبويب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19" name="Shape 17">
            <a:hlinkClick r:id="rId5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1" name="Shape 19">
            <a:hlinkClick r:id="rId6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المقدمة</a:t>
            </a:r>
            <a:endParaRPr lang="en-US" sz="3600" dirty="0"/>
          </a:p>
        </p:txBody>
      </p:sp>
      <p:pic>
        <p:nvPicPr>
          <p:cNvPr id="33" name="Image 0" descr="/home/user/test4/assets/ph-towe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188720"/>
            <a:ext cx="4480560" cy="502920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5440680" y="2103120"/>
            <a:ext cx="6291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يقدّم هذا التقرير الإحصائي نظرة شاملة على إيرادات أمانة منطقة الرياض للعام 2026م، اعتماداً على ملف الإيرادات الذي يجمع الإيراد الفعلي والمقدر والمستهدف والمفوتر والمحصل والمديونية.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440680" y="3520440"/>
            <a:ext cx="6291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تُعرض البيانات منظمة حسب السنة والتبويب (إيرادات استثمارية، الرسوم والتراخيص، جزاءات وغرامات، التبغ والإيواء، أخرى) بدلاً من البنود التفصيلية، مع إمكانية التنقل بين التبويبات والسنوات من أعلى كل صفحة.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40680" y="4937760"/>
            <a:ext cx="6291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يعرض التقرير المؤشرات الرئيسة، ثم الإيراد حتى تاريخه ولنهاية السنة وللشهر الحالي، والإيراد حسب القطاع، وتبويبات الوزارة، ثم التحصيل (المفوتر والجزاءات والتنفيذ والاسترداد وسيناريوهات الإقفال)، وأخيراً المديونية والاستقطاع.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440680" y="6355080"/>
            <a:ext cx="6291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يهدف التقرير إلى دعم متخذي القرار بمؤشرات واضحة تساعد على متابعة الإيرادات وتحسين التحصيل.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19" name="Shape 17">
            <a:hlinkClick r:id="rId5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1" name="Shape 19">
            <a:hlinkClick r:id="rId6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الفهرس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22402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119872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المقدمة</a:t>
            </a:r>
            <a:endParaRPr lang="en-US" sz="1800" dirty="0"/>
          </a:p>
        </p:txBody>
      </p:sp>
      <p:sp>
        <p:nvSpPr>
          <p:cNvPr id="35" name="Shape 33">
            <a:hlinkClick r:id="rId12" tooltip="المقدمة" action="ppaction://hlinksldjump"/>
          </p:cNvPr>
          <p:cNvSpPr/>
          <p:nvPr/>
        </p:nvSpPr>
        <p:spPr>
          <a:xfrm>
            <a:off x="8119872" y="2240280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274552" y="30815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8119872" y="3081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التعريفات</a:t>
            </a:r>
            <a:endParaRPr lang="en-US" sz="1800" dirty="0"/>
          </a:p>
        </p:txBody>
      </p:sp>
      <p:sp>
        <p:nvSpPr>
          <p:cNvPr id="38" name="Shape 36">
            <a:hlinkClick r:id="rId13" tooltip="التعريفات" action="ppaction://hlinksldjump"/>
          </p:cNvPr>
          <p:cNvSpPr/>
          <p:nvPr/>
        </p:nvSpPr>
        <p:spPr>
          <a:xfrm>
            <a:off x="8119872" y="3081528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1274552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119872" y="39227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المؤشرات الرئيسة</a:t>
            </a:r>
            <a:endParaRPr lang="en-US" sz="1800" dirty="0"/>
          </a:p>
        </p:txBody>
      </p:sp>
      <p:sp>
        <p:nvSpPr>
          <p:cNvPr id="41" name="Shape 39">
            <a:hlinkClick r:id="rId14" tooltip="المؤشرات الرئيسة" action="ppaction://hlinksldjump"/>
          </p:cNvPr>
          <p:cNvSpPr/>
          <p:nvPr/>
        </p:nvSpPr>
        <p:spPr>
          <a:xfrm>
            <a:off x="8119872" y="3922776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503152" y="4443984"/>
            <a:ext cx="0" cy="950976"/>
          </a:xfrm>
          <a:prstGeom prst="line">
            <a:avLst/>
          </a:prstGeom>
          <a:noFill/>
          <a:ln w="19050">
            <a:solidFill>
              <a:srgbClr val="74A4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19872" y="448970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أبرز مؤشرات الإيراد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119872" y="4837176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الفعلي مقابل المقدر والمستهدف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8119872" y="518464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والتحصيل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434072" y="22402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4279392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الإيراد</a:t>
            </a:r>
            <a:endParaRPr lang="en-US" sz="1800" dirty="0"/>
          </a:p>
        </p:txBody>
      </p:sp>
      <p:sp>
        <p:nvSpPr>
          <p:cNvPr id="48" name="Shape 46">
            <a:hlinkClick r:id="rId15" tooltip="الإيراد" action="ppaction://hlinksldjump"/>
          </p:cNvPr>
          <p:cNvSpPr/>
          <p:nvPr/>
        </p:nvSpPr>
        <p:spPr>
          <a:xfrm>
            <a:off x="4279392" y="2240280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662672" y="2761488"/>
            <a:ext cx="0" cy="950976"/>
          </a:xfrm>
          <a:prstGeom prst="line">
            <a:avLst/>
          </a:prstGeom>
          <a:noFill/>
          <a:ln w="19050">
            <a:solidFill>
              <a:srgbClr val="74A4D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279392" y="280720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حتى تاريخه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4279392" y="31546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لنهاية السنة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4279392" y="350215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للشهر الحالي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434072" y="41239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4279392" y="41239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القطاعات</a:t>
            </a:r>
            <a:endParaRPr lang="en-US" sz="1800" dirty="0"/>
          </a:p>
        </p:txBody>
      </p:sp>
      <p:sp>
        <p:nvSpPr>
          <p:cNvPr id="55" name="Shape 53">
            <a:hlinkClick r:id="rId16" tooltip="القطاعات" action="ppaction://hlinksldjump"/>
          </p:cNvPr>
          <p:cNvSpPr/>
          <p:nvPr/>
        </p:nvSpPr>
        <p:spPr>
          <a:xfrm>
            <a:off x="4279392" y="4123944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662672" y="4645152"/>
            <a:ext cx="0" cy="256032"/>
          </a:xfrm>
          <a:prstGeom prst="line">
            <a:avLst/>
          </a:prstGeom>
          <a:noFill/>
          <a:ln w="19050">
            <a:solidFill>
              <a:srgbClr val="74A4D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79392" y="46908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حسب القطاع والتبويب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434072" y="531266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4279392" y="53126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التبويبات</a:t>
            </a:r>
            <a:endParaRPr lang="en-US" sz="1800" dirty="0"/>
          </a:p>
        </p:txBody>
      </p:sp>
      <p:sp>
        <p:nvSpPr>
          <p:cNvPr id="60" name="Shape 58">
            <a:hlinkClick r:id="rId17" tooltip="التبويبات" action="ppaction://hlinksldjump"/>
          </p:cNvPr>
          <p:cNvSpPr/>
          <p:nvPr/>
        </p:nvSpPr>
        <p:spPr>
          <a:xfrm>
            <a:off x="4279392" y="5312664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662672" y="5833872"/>
            <a:ext cx="0" cy="603504"/>
          </a:xfrm>
          <a:prstGeom prst="line">
            <a:avLst/>
          </a:prstGeom>
          <a:noFill/>
          <a:ln w="19050">
            <a:solidFill>
              <a:srgbClr val="74A4D4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279392" y="587959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ملخص التبويبات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4279392" y="6227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تبويبات الوزارة: المفوتر والمستهدف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3593592" y="22402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438912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التحصيل</a:t>
            </a:r>
            <a:endParaRPr lang="en-US" sz="1800" dirty="0"/>
          </a:p>
        </p:txBody>
      </p:sp>
      <p:sp>
        <p:nvSpPr>
          <p:cNvPr id="66" name="Shape 64">
            <a:hlinkClick r:id="rId18" tooltip="التحصيل" action="ppaction://hlinksldjump"/>
          </p:cNvPr>
          <p:cNvSpPr/>
          <p:nvPr/>
        </p:nvSpPr>
        <p:spPr>
          <a:xfrm>
            <a:off x="438912" y="2240280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3822192" y="2761488"/>
            <a:ext cx="0" cy="1298448"/>
          </a:xfrm>
          <a:prstGeom prst="line">
            <a:avLst/>
          </a:prstGeom>
          <a:noFill/>
          <a:ln w="19050">
            <a:solidFill>
              <a:srgbClr val="74A4D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38912" y="280720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والميزانية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38912" y="31546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الجزاءات والغرامات الشهرية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38912" y="350215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سيناريوهات الإقفال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438912" y="38496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التنفيذ والاسترداد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3593592" y="44714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438912" y="44714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المديونية والاستقطاع</a:t>
            </a:r>
            <a:endParaRPr lang="en-US" sz="1800" dirty="0"/>
          </a:p>
        </p:txBody>
      </p:sp>
      <p:sp>
        <p:nvSpPr>
          <p:cNvPr id="74" name="Shape 72">
            <a:hlinkClick r:id="rId19" tooltip="المديونية والاستقطاع" action="ppaction://hlinksldjump"/>
          </p:cNvPr>
          <p:cNvSpPr/>
          <p:nvPr/>
        </p:nvSpPr>
        <p:spPr>
          <a:xfrm>
            <a:off x="438912" y="4471416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3822192" y="4992624"/>
            <a:ext cx="0" cy="603504"/>
          </a:xfrm>
          <a:prstGeom prst="line">
            <a:avLst/>
          </a:prstGeom>
          <a:noFill/>
          <a:ln w="19050">
            <a:solidFill>
              <a:srgbClr val="74A4D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38912" y="503834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المديونية حسب التبويب وسنة النشوء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438912" y="5385816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الاستقطاع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3593592" y="60076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438912" y="60076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إخلاء المسؤولية وتواصل معنا</a:t>
            </a:r>
            <a:endParaRPr lang="en-US" sz="1800" dirty="0"/>
          </a:p>
        </p:txBody>
      </p:sp>
      <p:sp>
        <p:nvSpPr>
          <p:cNvPr id="80" name="Shape 78">
            <a:hlinkClick r:id="rId20" tooltip="إخلاء المسؤولية وتواصل معنا" action="ppaction://hlinksldjump"/>
          </p:cNvPr>
          <p:cNvSpPr/>
          <p:nvPr/>
        </p:nvSpPr>
        <p:spPr>
          <a:xfrm>
            <a:off x="438912" y="6007608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19" name="Shape 17">
            <a:hlinkClick r:id="rId5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1" name="Shape 19">
            <a:hlinkClick r:id="rId6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التعريفات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21488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المفوتر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253288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قيمة الفواتير الصادرة خلال الفترة على المنشآت، ويُحتسب حسب تاريخ الإصدار.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1488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الفعلي (المحقق)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253288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المبالغ المحصّلة فعلياً حسب تاريخ السداد، وهو الأساس المعتمد لدى الأمانة.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355080" y="3566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المقدّر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355080" y="395020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الإيراد المتوقع للفترة المقدّر من الأمانة بالاتفاق مع وزارة المالية.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3566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المستهدف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395020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المستهدف السنوي المعتمد للإيراد، ويُوزَّع شهرياً بحسب المؤشرات والسجلات المتاحة.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4983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محصل سنوات سابقة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6355080" y="53675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المبالغ المحصّلة خلال السنة الحالية عن فواتير صادرة في سنوات سابقة.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983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التبويب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3675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تصنيف الإيراد الرئيس: إيرادات استثمارية، الرسوم والتراخيص، جزاءات وغرامات، التبغ والإيواء، أخرى.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55080" y="6400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الاستقطاع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6355080" y="678484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النسبة المقتطعة من إيراد التبويبات المحددة لصالح جهات أخرى وفق الأنظمة.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6400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المديونية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678484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رصيد المبالغ المستحقة غير المسددة، موزعاً حسب التبويب وسنة نشوء المديونية.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3F0EA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E3F0EA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E3F0E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E3F0EA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E3F0EA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1" name="Shape 19">
            <a:hlinkClick r:id="rId6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أبرز مؤشرات الإيراد للعام 2026م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إجمالي منطقة الرياض (مدينة الرياض + بلديات المنطقة) حتى تاريخه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074152" y="2468880"/>
            <a:ext cx="3657600" cy="2514600"/>
          </a:xfrm>
          <a:prstGeom prst="roundRect">
            <a:avLst>
              <a:gd name="adj" fmla="val 10182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48472" y="2633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الإيراد المحقق (الفعلي) حتى تاريخه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348472" y="3035808"/>
            <a:ext cx="310896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2,986.3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600" dirty="0"/>
          </a:p>
        </p:txBody>
      </p:sp>
      <p:sp>
        <p:nvSpPr>
          <p:cNvPr id="37" name="Text 35"/>
          <p:cNvSpPr txBox="1"/>
          <p:nvPr/>
        </p:nvSpPr>
        <p:spPr>
          <a:xfrm>
            <a:off x="8348472" y="4251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9E8CF"/>
                </a:solidFill>
              </a:rPr>
              <a:t>▲ 50.2%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مقارنة بمحصل السنة الماضية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8348472" y="45720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138.2% من المستهدف السنوي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265676" y="2468880"/>
            <a:ext cx="3657600" cy="2514600"/>
          </a:xfrm>
          <a:prstGeom prst="roundRect">
            <a:avLst>
              <a:gd name="adj" fmla="val 10182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39996" y="2633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إجمالي المفوتر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4539996" y="3035808"/>
            <a:ext cx="310896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3,819.9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600" dirty="0"/>
          </a:p>
        </p:txBody>
      </p:sp>
      <p:sp>
        <p:nvSpPr>
          <p:cNvPr id="42" name="Text 40"/>
          <p:cNvSpPr txBox="1"/>
          <p:nvPr/>
        </p:nvSpPr>
        <p:spPr>
          <a:xfrm>
            <a:off x="4539996" y="4251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9E8CF"/>
                </a:solidFill>
              </a:rPr>
              <a:t>▲ 29.9%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الفعلي عن المقدر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4539996" y="45720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المحصل سنوات سابقة 430.3 مليون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2468880"/>
            <a:ext cx="3657600" cy="2514600"/>
          </a:xfrm>
          <a:prstGeom prst="roundRect">
            <a:avLst>
              <a:gd name="adj" fmla="val 10182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2633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المستهدف حتى تاريخه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3035808"/>
            <a:ext cx="310896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2,469.5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6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251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9E8CF"/>
                </a:solidFill>
              </a:rPr>
              <a:t>▲ 20.9%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الفعلي عن المستهدف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731520" y="45720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المقدر 2,298.9 مليون ريال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074152" y="5166360"/>
            <a:ext cx="3657600" cy="2514600"/>
          </a:xfrm>
          <a:prstGeom prst="roundRect">
            <a:avLst>
              <a:gd name="adj" fmla="val 10182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348472" y="53309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المديونية المتبقية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8348472" y="5733288"/>
            <a:ext cx="3108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2,326.4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600" dirty="0"/>
          </a:p>
        </p:txBody>
      </p:sp>
      <p:sp>
        <p:nvSpPr>
          <p:cNvPr id="52" name="Text 50"/>
          <p:cNvSpPr txBox="1"/>
          <p:nvPr/>
        </p:nvSpPr>
        <p:spPr>
          <a:xfrm>
            <a:off x="8348472" y="7269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سُدد خلال السنة 368.3 مليون ريال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265676" y="5166360"/>
            <a:ext cx="3657600" cy="2514600"/>
          </a:xfrm>
          <a:prstGeom prst="roundRect">
            <a:avLst>
              <a:gd name="adj" fmla="val 10182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539996" y="53309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استرداد فعلي (التنفيذ)</a:t>
            </a:r>
            <a:endParaRPr lang="en-US" sz="1600" dirty="0"/>
          </a:p>
        </p:txBody>
      </p:sp>
      <p:sp>
        <p:nvSpPr>
          <p:cNvPr id="55" name="Text 53"/>
          <p:cNvSpPr txBox="1"/>
          <p:nvPr/>
        </p:nvSpPr>
        <p:spPr>
          <a:xfrm>
            <a:off x="4539996" y="5733288"/>
            <a:ext cx="3108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59.0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600" dirty="0"/>
          </a:p>
        </p:txBody>
      </p:sp>
      <p:sp>
        <p:nvSpPr>
          <p:cNvPr id="56" name="Text 54"/>
          <p:cNvSpPr txBox="1"/>
          <p:nvPr/>
        </p:nvSpPr>
        <p:spPr>
          <a:xfrm>
            <a:off x="4539996" y="7269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من إجمالي استرداد 77.0 مليون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57200" y="5166360"/>
            <a:ext cx="3657600" cy="2514600"/>
          </a:xfrm>
          <a:prstGeom prst="roundRect">
            <a:avLst>
              <a:gd name="adj" fmla="val 10182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31520" y="53309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الاستقطاع 2026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731520" y="5733288"/>
            <a:ext cx="31089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111.0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600" dirty="0"/>
          </a:p>
        </p:txBody>
      </p:sp>
      <p:sp>
        <p:nvSpPr>
          <p:cNvPr id="60" name="Text 58"/>
          <p:cNvSpPr txBox="1"/>
          <p:nvPr/>
        </p:nvSpPr>
        <p:spPr>
          <a:xfrm>
            <a:off x="731520" y="7269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9E8CF"/>
                </a:solidFill>
              </a:rPr>
              <a:t>▲ 16.9%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من الإيراد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FE3DA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32" name="Image 0" descr="/home/user/test4/assets/ph-hotel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371600"/>
            <a:ext cx="5394960" cy="603504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309360" y="237744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الإيراد</a:t>
            </a:r>
            <a:endParaRPr lang="en-US" sz="4800" dirty="0"/>
          </a:p>
        </p:txBody>
      </p:sp>
      <p:sp>
        <p:nvSpPr>
          <p:cNvPr id="34" name="Shape 31"/>
          <p:cNvSpPr/>
          <p:nvPr/>
        </p:nvSpPr>
        <p:spPr>
          <a:xfrm>
            <a:off x="6309360" y="3657600"/>
            <a:ext cx="5422392" cy="1883664"/>
          </a:xfrm>
          <a:prstGeom prst="roundRect">
            <a:avLst>
              <a:gd name="adj" fmla="val 14563"/>
            </a:avLst>
          </a:prstGeom>
          <a:solidFill>
            <a:srgbClr val="006A46"/>
          </a:solidFill>
          <a:ln/>
        </p:spPr>
      </p:sp>
      <p:sp>
        <p:nvSpPr>
          <p:cNvPr id="35" name="Shape 32"/>
          <p:cNvSpPr/>
          <p:nvPr/>
        </p:nvSpPr>
        <p:spPr>
          <a:xfrm>
            <a:off x="11320272" y="4069080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583680" y="3886200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الإيراد حتى تاريخه</a:t>
            </a:r>
            <a:endParaRPr lang="en-US" sz="1600" dirty="0"/>
          </a:p>
        </p:txBody>
      </p:sp>
      <p:sp>
        <p:nvSpPr>
          <p:cNvPr id="37" name="Shape 34">
            <a:hlinkClick r:id="rId13" tooltip="الإيراد حتى تاريخه" action="ppaction://hlinksldjump"/>
          </p:cNvPr>
          <p:cNvSpPr/>
          <p:nvPr/>
        </p:nvSpPr>
        <p:spPr>
          <a:xfrm>
            <a:off x="6492240" y="3886200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320272" y="4544568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583680" y="4361688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الإيراد لنهاية السنة</a:t>
            </a:r>
            <a:endParaRPr lang="en-US" sz="1600" dirty="0"/>
          </a:p>
        </p:txBody>
      </p:sp>
      <p:sp>
        <p:nvSpPr>
          <p:cNvPr id="40" name="Shape 37">
            <a:hlinkClick r:id="rId14" tooltip="الإيراد لنهاية السنة" action="ppaction://hlinksldjump"/>
          </p:cNvPr>
          <p:cNvSpPr/>
          <p:nvPr/>
        </p:nvSpPr>
        <p:spPr>
          <a:xfrm>
            <a:off x="6492240" y="4361688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11320272" y="5020056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583680" y="4837176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الإيراد للشهر الحالي</a:t>
            </a:r>
            <a:endParaRPr lang="en-US" sz="1600" dirty="0"/>
          </a:p>
        </p:txBody>
      </p:sp>
      <p:sp>
        <p:nvSpPr>
          <p:cNvPr id="43" name="Shape 40">
            <a:hlinkClick r:id="rId15" tooltip="الإيراد للشهر الحالي" action="ppaction://hlinksldjump"/>
          </p:cNvPr>
          <p:cNvSpPr/>
          <p:nvPr/>
        </p:nvSpPr>
        <p:spPr>
          <a:xfrm>
            <a:off x="6492240" y="4837176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 حتى تاريخه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الفترة: يناير – أغسطس 2026 — منطقة الرياض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6" name="Shape 34">
            <a:hlinkClick r:id="rId12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7" name="Shape 45">
            <a:hlinkClick r:id="rId17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74152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074152" y="288036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006A4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302752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الإيراد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8302752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8302752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2,986.3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56" name="Text 54"/>
          <p:cNvSpPr txBox="1"/>
          <p:nvPr/>
        </p:nvSpPr>
        <p:spPr>
          <a:xfrm>
            <a:off x="8302752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29.9%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8302752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120.9%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265676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4265676" y="288036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E4A4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494276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4494276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4494276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1,052.1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63" name="Text 61"/>
          <p:cNvSpPr txBox="1"/>
          <p:nvPr/>
        </p:nvSpPr>
        <p:spPr>
          <a:xfrm>
            <a:off x="4494276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13.4%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494276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109.4%</a:t>
            </a:r>
            <a:endParaRPr lang="en-US" sz="1100" dirty="0"/>
          </a:p>
        </p:txBody>
      </p:sp>
      <p:sp>
        <p:nvSpPr>
          <p:cNvPr id="65" name="Shape 63">
            <a:hlinkClick r:id="rId19" tooltip="إيرادات إستثمارية" action="ppaction://hlinksldjump"/>
          </p:cNvPr>
          <p:cNvSpPr/>
          <p:nvPr/>
        </p:nvSpPr>
        <p:spPr>
          <a:xfrm>
            <a:off x="4265676" y="288036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457200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57200" y="288036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74A4D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85800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69" name="Text 67"/>
          <p:cNvSpPr txBox="1"/>
          <p:nvPr/>
        </p:nvSpPr>
        <p:spPr>
          <a:xfrm>
            <a:off x="685800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685800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892.8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12.1%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685800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105.2%</a:t>
            </a:r>
            <a:endParaRPr lang="en-US" sz="1100" dirty="0"/>
          </a:p>
        </p:txBody>
      </p:sp>
      <p:sp>
        <p:nvSpPr>
          <p:cNvPr id="73" name="Shape 71">
            <a:hlinkClick r:id="rId20" tooltip="الرسوم والتراخيص" action="ppaction://hlinksldjump"/>
          </p:cNvPr>
          <p:cNvSpPr/>
          <p:nvPr/>
        </p:nvSpPr>
        <p:spPr>
          <a:xfrm>
            <a:off x="457200" y="288036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074152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8074152" y="566928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0B6B73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302752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77" name="Text 75"/>
          <p:cNvSpPr txBox="1"/>
          <p:nvPr/>
        </p:nvSpPr>
        <p:spPr>
          <a:xfrm>
            <a:off x="8302752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8302752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638.9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79" name="Text 77"/>
          <p:cNvSpPr txBox="1"/>
          <p:nvPr/>
        </p:nvSpPr>
        <p:spPr>
          <a:xfrm>
            <a:off x="8302752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108.2%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8302752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169.9%</a:t>
            </a:r>
            <a:endParaRPr lang="en-US" sz="1100" dirty="0"/>
          </a:p>
        </p:txBody>
      </p:sp>
      <p:sp>
        <p:nvSpPr>
          <p:cNvPr id="81" name="Shape 79">
            <a:hlinkClick r:id="rId21" tooltip="جزاءات وغرامات" action="ppaction://hlinksldjump"/>
          </p:cNvPr>
          <p:cNvSpPr/>
          <p:nvPr/>
        </p:nvSpPr>
        <p:spPr>
          <a:xfrm>
            <a:off x="8074152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4265676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4265676" y="566928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006A4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4494276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85" name="Text 83"/>
          <p:cNvSpPr txBox="1"/>
          <p:nvPr/>
        </p:nvSpPr>
        <p:spPr>
          <a:xfrm>
            <a:off x="4494276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86" name="Text 84"/>
          <p:cNvSpPr txBox="1"/>
          <p:nvPr/>
        </p:nvSpPr>
        <p:spPr>
          <a:xfrm>
            <a:off x="4494276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209.1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87" name="Text 85"/>
          <p:cNvSpPr txBox="1"/>
          <p:nvPr/>
        </p:nvSpPr>
        <p:spPr>
          <a:xfrm>
            <a:off x="4494276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18.1%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4494276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75.9%</a:t>
            </a:r>
            <a:endParaRPr lang="en-US" sz="1100" dirty="0"/>
          </a:p>
        </p:txBody>
      </p:sp>
      <p:sp>
        <p:nvSpPr>
          <p:cNvPr id="89" name="Shape 87">
            <a:hlinkClick r:id="rId22" tooltip="التبغ والإيواء" action="ppaction://hlinksldjump"/>
          </p:cNvPr>
          <p:cNvSpPr/>
          <p:nvPr/>
        </p:nvSpPr>
        <p:spPr>
          <a:xfrm>
            <a:off x="4265676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457200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457200" y="566928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E4A42C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685800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93" name="Text 91"/>
          <p:cNvSpPr txBox="1"/>
          <p:nvPr/>
        </p:nvSpPr>
        <p:spPr>
          <a:xfrm>
            <a:off x="685800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94" name="Text 92"/>
          <p:cNvSpPr txBox="1"/>
          <p:nvPr/>
        </p:nvSpPr>
        <p:spPr>
          <a:xfrm>
            <a:off x="685800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193.3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95" name="Text 93"/>
          <p:cNvSpPr txBox="1"/>
          <p:nvPr/>
        </p:nvSpPr>
        <p:spPr>
          <a:xfrm>
            <a:off x="685800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1407.3%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85800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2462.2%</a:t>
            </a:r>
            <a:endParaRPr lang="en-US" sz="1100" dirty="0"/>
          </a:p>
        </p:txBody>
      </p:sp>
      <p:sp>
        <p:nvSpPr>
          <p:cNvPr id="97" name="Shape 95">
            <a:hlinkClick r:id="rId23" tooltip="أخرى" action="ppaction://hlinksldjump"/>
          </p:cNvPr>
          <p:cNvSpPr/>
          <p:nvPr/>
        </p:nvSpPr>
        <p:spPr>
          <a:xfrm>
            <a:off x="457200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إستثمارية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حتى تاريخه — الفترة: يناير –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7" name="Shape 45">
            <a:hlinkClick r:id="rId17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1,052.1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13.4%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9.4%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909.0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13.8%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143.1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11.4%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1,076.4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497649" y="4005072"/>
            <a:ext cx="3485831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1,052.1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910226" y="4553712"/>
            <a:ext cx="3073254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927.6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1798193" y="5102352"/>
            <a:ext cx="3185287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961.4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5532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1417320" y="565099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3" name="Shape 81"/>
          <p:cNvSpPr/>
          <p:nvPr/>
        </p:nvSpPr>
        <p:spPr>
          <a:xfrm>
            <a:off x="2629737" y="5650992"/>
            <a:ext cx="2353743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48640" y="5532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710.4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2179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إستثمارية — الفترة: يناير – أغسطس 2026. بلغ فعلي منطقة الرياض 1,052.1 مليون ريال، منها 909.0 مليون لمدينة الرياض و143.1 مليون لبلديات المنطقة، بزيادة 13.4% عن المقدر وبزيادة 9.4%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الرسوم والتراخيص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حتى تاريخه — الفترة: يناير –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7" name="Shape 45">
            <a:hlinkClick r:id="rId17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892.8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12.1%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5.2%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777.3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10.4%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115.5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25.4%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43400" y="3456432"/>
            <a:ext cx="3540080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886.3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892.8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802220" y="4553712"/>
            <a:ext cx="3181260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796.4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1592585" y="5102352"/>
            <a:ext cx="3390895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848.9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5532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1417320" y="565099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3" name="Shape 81"/>
          <p:cNvSpPr/>
          <p:nvPr/>
        </p:nvSpPr>
        <p:spPr>
          <a:xfrm>
            <a:off x="1727039" y="5650992"/>
            <a:ext cx="3256441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48640" y="5532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815.2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2179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الرسوم والتراخيص — الفترة: يناير – أغسطس 2026. بلغ فعلي منطقة الرياض 892.8 مليون ريال، منها 777.3 مليون لمدينة الرياض و115.5 مليون لبلديات المنطقة، بزيادة 12.1% عن المقدر وبزيادة 5.2%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جزاءات وغرامات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حتى تاريخه — الفترة: يناير –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7" name="Shape 45">
            <a:hlinkClick r:id="rId17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638.9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108.2%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69.9%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605.7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106.1%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33.2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155.0%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1,178.3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3049877" y="4005072"/>
            <a:ext cx="1933603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638.9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4054858" y="4553712"/>
            <a:ext cx="928622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306.8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3845681" y="5102352"/>
            <a:ext cx="1137799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376.0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5532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1417320" y="565099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3" name="Shape 81"/>
          <p:cNvSpPr/>
          <p:nvPr/>
        </p:nvSpPr>
        <p:spPr>
          <a:xfrm>
            <a:off x="4254855" y="5650992"/>
            <a:ext cx="728625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48640" y="5532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240.8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2179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جزاءات وغرامات — الفترة: يناير – أغسطس 2026. بلغ فعلي منطقة الرياض 638.9 مليون ريال، منها 605.7 مليون لمدينة الرياض و33.2 مليون لبلديات المنطقة، بزيادة 108.2% عن المقدر وبزيادة 69.9%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التبغ والإيواء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حتى تاريخه — الفترة: يناير –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7" name="Shape 45">
            <a:hlinkClick r:id="rId17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209.1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18.1%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24.1%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200.0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20.1%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91.6%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944618" y="3456432"/>
            <a:ext cx="3038862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234.6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2275200" y="4005072"/>
            <a:ext cx="270828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209.1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677895" y="4553712"/>
            <a:ext cx="3305585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255.2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275.3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5532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1417320" y="565099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3" name="Shape 81"/>
          <p:cNvSpPr/>
          <p:nvPr/>
        </p:nvSpPr>
        <p:spPr>
          <a:xfrm>
            <a:off x="2181299" y="5650992"/>
            <a:ext cx="2802181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48640" y="5532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216.3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2179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التبغ والإيواء — الفترة: يناير – أغسطس 2026. بلغ فعلي منطقة الرياض 209.1 مليون ريال، منها 200.0 مليون لمدينة الرياض و9.1 مليون لبلديات المنطقة، بانخفاض 18.1% عن المقدر وبانخفاض 24.1%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أخرى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حتى تاريخه — الفترة: يناير –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Shape 41">
            <a:hlinkClick r:id="rId16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أخرى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7" name="Shape 45">
            <a:hlinkClick r:id="rId17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193.3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1407.3%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2362.2%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110.0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4025.1%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83.3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720.2%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444.3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3431566" y="4005072"/>
            <a:ext cx="1551914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193.3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4800600" y="455371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E4A4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12.8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0600" y="510235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74A4D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7.9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5532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1417320" y="565099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3" name="Shape 81"/>
          <p:cNvSpPr/>
          <p:nvPr/>
        </p:nvSpPr>
        <p:spPr>
          <a:xfrm>
            <a:off x="4800600" y="565099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9AA5B1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48640" y="5532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4.9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2179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أخرى — الفترة: يناير – أغسطس 2026. بلغ فعلي منطقة الرياض 193.3 مليون ريال، منها 110.0 مليون لمدينة الرياض و83.3 مليون لبلديات المنطقة، بزيادة 1407.3% عن المقدر وبزيادة 2362.2%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 لنهاية السنة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تقدير نهاية السنة 2026 — منطقة الرياض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6" name="Shape 34">
            <a:hlinkClick r:id="rId12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74152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074152" y="288036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006A4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302752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الإيراد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8302752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8302752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2,454.9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56" name="Text 54"/>
          <p:cNvSpPr txBox="1"/>
          <p:nvPr/>
        </p:nvSpPr>
        <p:spPr>
          <a:xfrm>
            <a:off x="8302752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27.3%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8302752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113.6%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265676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4265676" y="288036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E4A4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494276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4494276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4494276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875.5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63" name="Text 61"/>
          <p:cNvSpPr txBox="1"/>
          <p:nvPr/>
        </p:nvSpPr>
        <p:spPr>
          <a:xfrm>
            <a:off x="4494276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15.1%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494276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101.6%</a:t>
            </a:r>
            <a:endParaRPr lang="en-US" sz="1100" dirty="0"/>
          </a:p>
        </p:txBody>
      </p:sp>
      <p:sp>
        <p:nvSpPr>
          <p:cNvPr id="65" name="Shape 63">
            <a:hlinkClick r:id="rId19" tooltip="إيرادات إستثمارية" action="ppaction://hlinksldjump"/>
          </p:cNvPr>
          <p:cNvSpPr/>
          <p:nvPr/>
        </p:nvSpPr>
        <p:spPr>
          <a:xfrm>
            <a:off x="4265676" y="288036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457200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57200" y="288036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74A4D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85800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69" name="Text 67"/>
          <p:cNvSpPr txBox="1"/>
          <p:nvPr/>
        </p:nvSpPr>
        <p:spPr>
          <a:xfrm>
            <a:off x="685800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685800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793.1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17.6%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685800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108.6%</a:t>
            </a:r>
            <a:endParaRPr lang="en-US" sz="1100" dirty="0"/>
          </a:p>
        </p:txBody>
      </p:sp>
      <p:sp>
        <p:nvSpPr>
          <p:cNvPr id="73" name="Shape 71">
            <a:hlinkClick r:id="rId20" tooltip="الرسوم والتراخيص" action="ppaction://hlinksldjump"/>
          </p:cNvPr>
          <p:cNvSpPr/>
          <p:nvPr/>
        </p:nvSpPr>
        <p:spPr>
          <a:xfrm>
            <a:off x="457200" y="288036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074152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8074152" y="566928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0B6B73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302752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77" name="Text 75"/>
          <p:cNvSpPr txBox="1"/>
          <p:nvPr/>
        </p:nvSpPr>
        <p:spPr>
          <a:xfrm>
            <a:off x="8302752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8302752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552.3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79" name="Text 77"/>
          <p:cNvSpPr txBox="1"/>
          <p:nvPr/>
        </p:nvSpPr>
        <p:spPr>
          <a:xfrm>
            <a:off x="8302752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115.7%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8302752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173.7%</a:t>
            </a:r>
            <a:endParaRPr lang="en-US" sz="1100" dirty="0"/>
          </a:p>
        </p:txBody>
      </p:sp>
      <p:sp>
        <p:nvSpPr>
          <p:cNvPr id="81" name="Shape 79">
            <a:hlinkClick r:id="rId21" tooltip="جزاءات وغرامات" action="ppaction://hlinksldjump"/>
          </p:cNvPr>
          <p:cNvSpPr/>
          <p:nvPr/>
        </p:nvSpPr>
        <p:spPr>
          <a:xfrm>
            <a:off x="8074152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4265676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4265676" y="566928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006A4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4494276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85" name="Text 83"/>
          <p:cNvSpPr txBox="1"/>
          <p:nvPr/>
        </p:nvSpPr>
        <p:spPr>
          <a:xfrm>
            <a:off x="4494276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86" name="Text 84"/>
          <p:cNvSpPr txBox="1"/>
          <p:nvPr/>
        </p:nvSpPr>
        <p:spPr>
          <a:xfrm>
            <a:off x="4494276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171.8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87" name="Text 85"/>
          <p:cNvSpPr txBox="1"/>
          <p:nvPr/>
        </p:nvSpPr>
        <p:spPr>
          <a:xfrm>
            <a:off x="4494276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24.2%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4494276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70.3%</a:t>
            </a:r>
            <a:endParaRPr lang="en-US" sz="1100" dirty="0"/>
          </a:p>
        </p:txBody>
      </p:sp>
      <p:sp>
        <p:nvSpPr>
          <p:cNvPr id="89" name="Shape 87">
            <a:hlinkClick r:id="rId22" tooltip="التبغ والإيواء" action="ppaction://hlinksldjump"/>
          </p:cNvPr>
          <p:cNvSpPr/>
          <p:nvPr/>
        </p:nvSpPr>
        <p:spPr>
          <a:xfrm>
            <a:off x="4265676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457200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457200" y="566928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E4A42C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685800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93" name="Text 91"/>
          <p:cNvSpPr txBox="1"/>
          <p:nvPr/>
        </p:nvSpPr>
        <p:spPr>
          <a:xfrm>
            <a:off x="685800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94" name="Text 92"/>
          <p:cNvSpPr txBox="1"/>
          <p:nvPr/>
        </p:nvSpPr>
        <p:spPr>
          <a:xfrm>
            <a:off x="685800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62.1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95" name="Text 93"/>
          <p:cNvSpPr txBox="1"/>
          <p:nvPr/>
        </p:nvSpPr>
        <p:spPr>
          <a:xfrm>
            <a:off x="685800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454.6%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85800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905.6%</a:t>
            </a:r>
            <a:endParaRPr lang="en-US" sz="1100" dirty="0"/>
          </a:p>
        </p:txBody>
      </p:sp>
      <p:sp>
        <p:nvSpPr>
          <p:cNvPr id="97" name="Shape 95">
            <a:hlinkClick r:id="rId23" tooltip="أخرى" action="ppaction://hlinksldjump"/>
          </p:cNvPr>
          <p:cNvSpPr/>
          <p:nvPr/>
        </p:nvSpPr>
        <p:spPr>
          <a:xfrm>
            <a:off x="457200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إستثمارية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لنهاية السنة — تقدير نهاية السنة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875.5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15.1%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1.6%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783.1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20.4%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92.5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16.0%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875.5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885209" y="4005072"/>
            <a:ext cx="3098271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760.6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472994" y="4553712"/>
            <a:ext cx="3510486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861.8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9148" y="5102352"/>
            <a:ext cx="2624332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644.3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إستثمارية — تقدير نهاية السنة 2026. بلغ فعلي منطقة الرياض 875.5 مليون ريال، منها 783.1 مليون لمدينة الرياض و92.5 مليون لبلديات المنطقة، بزيادة 15.1% عن المقدر وبزيادة 1.6%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الرسوم والتراخيص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لنهاية السنة — تقدير نهاية السنة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793.1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17.6%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8.6%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697.9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17.4%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95.3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19.7%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793.1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952018" y="4005072"/>
            <a:ext cx="3031462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674.2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700931" y="4553712"/>
            <a:ext cx="3282549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730.1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1775789" y="5102352"/>
            <a:ext cx="3207691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713.4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الرسوم والتراخيص — تقدير نهاية السنة 2026. بلغ فعلي منطقة الرياض 793.1 مليون ريال، منها 697.9 مليون لمدينة الرياض و95.3 مليون لبلديات المنطقة، بزيادة 17.6% عن المقدر وبزيادة 8.6%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جزاءات وغرامات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لنهاية السنة — تقدير نهاية السنة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552.3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115.7%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73.7%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530.9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116.8%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21.3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90.4%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552.3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3330059" y="4005072"/>
            <a:ext cx="1653421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256.1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2930947" y="4553712"/>
            <a:ext cx="2052533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317.9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3657540" y="5102352"/>
            <a:ext cx="1325940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205.3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جزاءات وغرامات — تقدير نهاية السنة 2026. بلغ فعلي منطقة الرياض 552.3 مليون ريال، منها 530.9 مليون لمدينة الرياض و21.3 مليون لبلديات المنطقة، بزيادة 115.7% عن المقدر وبزيادة 73.7%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التبغ والإيواء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لنهاية السنة — تقدير نهاية السنة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171.8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24.2%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29.7%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164.0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26.3%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87.8%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2476396" y="3456432"/>
            <a:ext cx="2507084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171.8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677237" y="4005072"/>
            <a:ext cx="3306243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226.6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244.4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2159975" y="5102352"/>
            <a:ext cx="2823505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193.5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التبغ والإيواء — تقدير نهاية السنة 2026. بلغ فعلي منطقة الرياض 171.8 مليون ريال، منها 164.0 مليون لمدينة الرياض و7.8 مليون لبلديات المنطقة، بانخفاض 24.2% عن المقدر وبانخفاض 29.7%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أخرى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لنهاية السنة — تقدير نهاية السنة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Shape 41">
            <a:hlinkClick r:id="rId16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أخرى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62.1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454.6%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805.6%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62.1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2561.6%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99.9%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62.1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4340494" y="4005072"/>
            <a:ext cx="642986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11.2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4589670" y="4553712"/>
            <a:ext cx="39381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6.9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799003" y="5102352"/>
            <a:ext cx="184477" cy="219456"/>
          </a:xfrm>
          <a:prstGeom prst="roundRect">
            <a:avLst>
              <a:gd name="adj" fmla="val 59481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3.2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أخرى — تقدير نهاية السنة 2026. بلغ فعلي منطقة الرياض 62.1 مليون ريال، منها 62.1 مليون لمدينة الرياض و0.0 مليون لبلديات المنطقة، بزيادة 454.6% عن المقدر وبزيادة 805.6%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 للشهر الحالي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شهر أغسطس 2026 — منطقة الرياض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6" name="Shape 34">
            <a:hlinkClick r:id="rId12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Shape 46">
            <a:hlinkClick r:id="rId18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74152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074152" y="288036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006A4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302752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الإيراد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8302752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8302752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175.8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56" name="Text 54"/>
          <p:cNvSpPr txBox="1"/>
          <p:nvPr/>
        </p:nvSpPr>
        <p:spPr>
          <a:xfrm>
            <a:off x="8302752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25.0%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8302752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65.9%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265676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4265676" y="288036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E4A4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494276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4494276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4494276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23.0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63" name="Text 61"/>
          <p:cNvSpPr txBox="1"/>
          <p:nvPr/>
        </p:nvSpPr>
        <p:spPr>
          <a:xfrm>
            <a:off x="4494276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58.1%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494276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32.8%</a:t>
            </a:r>
            <a:endParaRPr lang="en-US" sz="1100" dirty="0"/>
          </a:p>
        </p:txBody>
      </p:sp>
      <p:sp>
        <p:nvSpPr>
          <p:cNvPr id="65" name="Shape 63">
            <a:hlinkClick r:id="rId19" tooltip="إيرادات إستثمارية" action="ppaction://hlinksldjump"/>
          </p:cNvPr>
          <p:cNvSpPr/>
          <p:nvPr/>
        </p:nvSpPr>
        <p:spPr>
          <a:xfrm>
            <a:off x="4265676" y="288036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457200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57200" y="288036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74A4D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85800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69" name="Text 67"/>
          <p:cNvSpPr txBox="1"/>
          <p:nvPr/>
        </p:nvSpPr>
        <p:spPr>
          <a:xfrm>
            <a:off x="685800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685800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122.6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25.5%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685800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122.9%</a:t>
            </a:r>
            <a:endParaRPr lang="en-US" sz="1100" dirty="0"/>
          </a:p>
        </p:txBody>
      </p:sp>
      <p:sp>
        <p:nvSpPr>
          <p:cNvPr id="73" name="Shape 71">
            <a:hlinkClick r:id="rId20" tooltip="الرسوم والتراخيص" action="ppaction://hlinksldjump"/>
          </p:cNvPr>
          <p:cNvSpPr/>
          <p:nvPr/>
        </p:nvSpPr>
        <p:spPr>
          <a:xfrm>
            <a:off x="457200" y="288036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074152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8074152" y="566928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0B6B73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302752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77" name="Text 75"/>
          <p:cNvSpPr txBox="1"/>
          <p:nvPr/>
        </p:nvSpPr>
        <p:spPr>
          <a:xfrm>
            <a:off x="8302752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8302752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12.7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79" name="Text 77"/>
          <p:cNvSpPr txBox="1"/>
          <p:nvPr/>
        </p:nvSpPr>
        <p:spPr>
          <a:xfrm>
            <a:off x="8302752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75.4%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8302752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19.4%</a:t>
            </a:r>
            <a:endParaRPr lang="en-US" sz="1100" dirty="0"/>
          </a:p>
        </p:txBody>
      </p:sp>
      <p:sp>
        <p:nvSpPr>
          <p:cNvPr id="81" name="Shape 79">
            <a:hlinkClick r:id="rId21" tooltip="جزاءات وغرامات" action="ppaction://hlinksldjump"/>
          </p:cNvPr>
          <p:cNvSpPr/>
          <p:nvPr/>
        </p:nvSpPr>
        <p:spPr>
          <a:xfrm>
            <a:off x="8074152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4265676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4265676" y="566928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006A4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4494276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85" name="Text 83"/>
          <p:cNvSpPr txBox="1"/>
          <p:nvPr/>
        </p:nvSpPr>
        <p:spPr>
          <a:xfrm>
            <a:off x="4494276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86" name="Text 84"/>
          <p:cNvSpPr txBox="1"/>
          <p:nvPr/>
        </p:nvSpPr>
        <p:spPr>
          <a:xfrm>
            <a:off x="4494276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17.2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87" name="Text 85"/>
          <p:cNvSpPr txBox="1"/>
          <p:nvPr/>
        </p:nvSpPr>
        <p:spPr>
          <a:xfrm>
            <a:off x="4494276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39.6%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4494276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56.2%</a:t>
            </a:r>
            <a:endParaRPr lang="en-US" sz="1100" dirty="0"/>
          </a:p>
        </p:txBody>
      </p:sp>
      <p:sp>
        <p:nvSpPr>
          <p:cNvPr id="89" name="Shape 87">
            <a:hlinkClick r:id="rId22" tooltip="التبغ والإيواء" action="ppaction://hlinksldjump"/>
          </p:cNvPr>
          <p:cNvSpPr/>
          <p:nvPr/>
        </p:nvSpPr>
        <p:spPr>
          <a:xfrm>
            <a:off x="4265676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457200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457200" y="5669280"/>
            <a:ext cx="3657600" cy="777240"/>
          </a:xfrm>
          <a:prstGeom prst="round2SameRect">
            <a:avLst>
              <a:gd name="adj" fmla="val 25882"/>
            </a:avLst>
          </a:prstGeom>
          <a:solidFill>
            <a:srgbClr val="E4A42C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685800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93" name="Text 91"/>
          <p:cNvSpPr txBox="1"/>
          <p:nvPr/>
        </p:nvSpPr>
        <p:spPr>
          <a:xfrm>
            <a:off x="685800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94" name="Text 92"/>
          <p:cNvSpPr txBox="1"/>
          <p:nvPr/>
        </p:nvSpPr>
        <p:spPr>
          <a:xfrm>
            <a:off x="685800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0.3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95" name="Text 93"/>
          <p:cNvSpPr txBox="1"/>
          <p:nvPr/>
        </p:nvSpPr>
        <p:spPr>
          <a:xfrm>
            <a:off x="685800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83.5%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85800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27.1%</a:t>
            </a:r>
            <a:endParaRPr lang="en-US" sz="1100" dirty="0"/>
          </a:p>
        </p:txBody>
      </p:sp>
      <p:sp>
        <p:nvSpPr>
          <p:cNvPr id="97" name="Shape 95">
            <a:hlinkClick r:id="rId23" tooltip="أخرى" action="ppaction://hlinksldjump"/>
          </p:cNvPr>
          <p:cNvSpPr/>
          <p:nvPr/>
        </p:nvSpPr>
        <p:spPr>
          <a:xfrm>
            <a:off x="457200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إستثمارية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للشهر الحالي — شهر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Shape 46">
            <a:hlinkClick r:id="rId18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23.0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58.1%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67.2%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95.8%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101.4%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3201" y="3456432"/>
            <a:ext cx="1170279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23.0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2192364" y="4005072"/>
            <a:ext cx="2791116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54.8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70.0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281823" y="5102352"/>
            <a:ext cx="701657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13.8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إستثمارية — شهر أغسطس 2026. بلغ فعلي منطقة الرياض 23.0 مليون ريال، منها 17.7 مليون لمدينة الرياض و5.3 مليون لبلديات المنطقة، بانخفاض 58.1% عن المقدر وبانخفاض 67.2%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الرسوم والتراخيص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للشهر الحالي — شهر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Shape 46">
            <a:hlinkClick r:id="rId18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122.6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25.5%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22.9%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78.8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29.9%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43.8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18.2%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122.6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2141212" y="4005072"/>
            <a:ext cx="2842268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97.7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2082465" y="4553712"/>
            <a:ext cx="2901015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99.8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0600" y="510235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0.6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الرسوم والتراخيص — شهر أغسطس 2026. بلغ فعلي منطقة الرياض 122.6 مليون ريال، منها 78.8 مليون لمدينة الرياض و43.8 مليون لبلديات المنطقة، بزيادة 25.5% عن المقدر وبزيادة 22.9%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جزاءات وغرامات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للشهر الحالي — شهر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Shape 46">
            <a:hlinkClick r:id="rId18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12.7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75.4%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80.6%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59.6%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97.9%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289865" y="3456432"/>
            <a:ext cx="69361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12.7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2166077" y="4005072"/>
            <a:ext cx="2817403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51.8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65.6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637561" y="5102352"/>
            <a:ext cx="345919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6.4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جزاءات وغرامات — شهر أغسطس 2026. بلغ فعلي منطقة الرياض 12.7 مليون ريال، منها 12.3 مليون لمدينة الرياض و0.5 مليون لبلديات المنطقة، بانخفاض 75.4% عن المقدر وبانخفاض 80.6%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التبغ والإيواء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للشهر الحالي — شهر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Shape 46">
            <a:hlinkClick r:id="rId18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17.2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39.6%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43.8%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33.7%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99.4%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2977848" y="3456432"/>
            <a:ext cx="2005632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17.2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664840" y="4005072"/>
            <a:ext cx="3318640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28.4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30.5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0600" y="510235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0.4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التبغ والإيواء — شهر أغسطس 2026. بلغ فعلي منطقة الرياض 17.2 مليون ريال، منها 17.2 مليون لمدينة الرياض و0.0 مليون لبلديات المنطقة، بانخفاض 39.6% عن المقدر وبانخفاض 43.8%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أخرى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للشهر الحالي — شهر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Shape 41">
            <a:hlinkClick r:id="rId16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أخرى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Shape 46">
            <a:hlinkClick r:id="rId18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0.3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83.5%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72.9%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41.1%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94.4%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394365" y="3456432"/>
            <a:ext cx="58911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0.3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1.6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2807840" y="4553712"/>
            <a:ext cx="217564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1.0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0600" y="510235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0.0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أخرى — شهر أغسطس 2026. بلغ فعلي منطقة الرياض 0.3 مليون ريال، منها 0.2 مليون لمدينة الرياض و0.1 مليون لبلديات المنطقة، بانخفاض 83.5% عن المقدر وبانخفاض 72.9%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32" name="Image 0" descr="/home/user/test4/assets/ph-plaz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371600"/>
            <a:ext cx="5394960" cy="603504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309360" y="237744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القطاعات</a:t>
            </a:r>
            <a:endParaRPr lang="en-US" sz="4800" dirty="0"/>
          </a:p>
        </p:txBody>
      </p:sp>
      <p:sp>
        <p:nvSpPr>
          <p:cNvPr id="34" name="Shape 31"/>
          <p:cNvSpPr/>
          <p:nvPr/>
        </p:nvSpPr>
        <p:spPr>
          <a:xfrm>
            <a:off x="6309360" y="3657600"/>
            <a:ext cx="5422392" cy="932688"/>
          </a:xfrm>
          <a:prstGeom prst="roundRect">
            <a:avLst>
              <a:gd name="adj" fmla="val 29412"/>
            </a:avLst>
          </a:prstGeom>
          <a:solidFill>
            <a:srgbClr val="006A46"/>
          </a:solidFill>
          <a:ln/>
        </p:spPr>
      </p:sp>
      <p:sp>
        <p:nvSpPr>
          <p:cNvPr id="35" name="Shape 32"/>
          <p:cNvSpPr/>
          <p:nvPr/>
        </p:nvSpPr>
        <p:spPr>
          <a:xfrm>
            <a:off x="11320272" y="4069080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583680" y="3886200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الإيراد حسب القطاع والتبويب</a:t>
            </a:r>
            <a:endParaRPr lang="en-US" sz="1600" dirty="0"/>
          </a:p>
        </p:txBody>
      </p:sp>
      <p:sp>
        <p:nvSpPr>
          <p:cNvPr id="37" name="Shape 34">
            <a:hlinkClick r:id="rId13" tooltip="الإيراد حسب القطاع والتبويب" action="ppaction://hlinksldjump"/>
          </p:cNvPr>
          <p:cNvSpPr/>
          <p:nvPr/>
        </p:nvSpPr>
        <p:spPr>
          <a:xfrm>
            <a:off x="6492240" y="3886200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 حسب القطاع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إجمالي المحصل لكل قطاع موزعاً على التبويبات — مليون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6" name="Shape 34">
            <a:hlinkClick r:id="rId12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183112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1828800"/>
                <a:gridCol w="1828800"/>
                <a:gridCol w="1828800"/>
                <a:gridCol w="1828800"/>
                <a:gridCol w="2743200"/>
              </a:tblGrid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المجموع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التبغ والإيواء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جزاءات وغرامات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الرسوم والتراخيص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إيرادات إستثمارية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القطاع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343.8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5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165.0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4D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125.0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3D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قطاع الامانة - الجنوب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247.1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2.5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BE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59.4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3D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128.8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DE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قطاع الامانة - الشرق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196.1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9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9E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102.9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50.5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EE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قطاع الامانة - الشمال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157.9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9E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87.9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29.5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قطاع الامانة - الغرب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313.6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CD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56.2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4D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185.4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66.0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قطاع الامانة - الوسط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(أ)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102.6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DE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32.9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(ب)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85.4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61.4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(ج)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1.7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36.6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(د)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2.5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(هـ)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1,554.2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262.3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755.3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518.6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الإجمالي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45" name="Text 42"/>
          <p:cNvSpPr txBox="1"/>
          <p:nvPr/>
        </p:nvSpPr>
        <p:spPr>
          <a:xfrm>
            <a:off x="548640" y="7781544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A5B1"/>
                </a:solidFill>
              </a:rPr>
              <a:t>القيم بالمليون ريال، والأعمق = الأعلى ضمن التبويب نفسه.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إستثمارية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الفواتير والفعلي والمحصل حسب القطاع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المحصل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8366760" y="3401568"/>
            <a:ext cx="30906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518.6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7" name="Shape 45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547.9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0" name="Shape 48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381.8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إجمالي المحصل حسب القطاع (مليون ريال)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937760" y="3291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الجنوب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6" name="Shape 54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48640" y="3291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125.0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93776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الوسط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417320" y="3822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0" name="Shape 58"/>
          <p:cNvSpPr/>
          <p:nvPr/>
        </p:nvSpPr>
        <p:spPr>
          <a:xfrm>
            <a:off x="3014111" y="3822192"/>
            <a:ext cx="1786489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864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66.0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937760" y="4206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(ب)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1417320" y="4279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4" name="Shape 62"/>
          <p:cNvSpPr/>
          <p:nvPr/>
        </p:nvSpPr>
        <p:spPr>
          <a:xfrm>
            <a:off x="3102327" y="4279392"/>
            <a:ext cx="1698273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48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62.8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937760" y="4663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(ج)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1417320" y="4736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8" name="Shape 66"/>
          <p:cNvSpPr/>
          <p:nvPr/>
        </p:nvSpPr>
        <p:spPr>
          <a:xfrm>
            <a:off x="3138964" y="4736592"/>
            <a:ext cx="1661636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48640" y="4663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61.4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93776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الشرق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1417320" y="5193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2" name="Shape 70"/>
          <p:cNvSpPr/>
          <p:nvPr/>
        </p:nvSpPr>
        <p:spPr>
          <a:xfrm>
            <a:off x="3274949" y="5193792"/>
            <a:ext cx="1525651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48640" y="5120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56.4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37760" y="5577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الشمال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1417320" y="5650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4107" y="5650992"/>
            <a:ext cx="1366493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48640" y="5577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50.5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4937760" y="6035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(د)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417320" y="6108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0" name="Shape 78"/>
          <p:cNvSpPr/>
          <p:nvPr/>
        </p:nvSpPr>
        <p:spPr>
          <a:xfrm>
            <a:off x="3809145" y="6108192"/>
            <a:ext cx="99145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48640" y="6035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36.6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4937760" y="6492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الغرب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417320" y="6565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4" name="Shape 82"/>
          <p:cNvSpPr/>
          <p:nvPr/>
        </p:nvSpPr>
        <p:spPr>
          <a:xfrm>
            <a:off x="4001191" y="6565392"/>
            <a:ext cx="799409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48640" y="6492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29.5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4937760" y="6949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(أ)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417320" y="7022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8" name="Shape 86"/>
          <p:cNvSpPr/>
          <p:nvPr/>
        </p:nvSpPr>
        <p:spPr>
          <a:xfrm>
            <a:off x="4194090" y="7022592"/>
            <a:ext cx="60651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48640" y="6949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22.4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937760" y="7406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(هـ)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417320" y="7479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92" name="Shape 90"/>
          <p:cNvSpPr/>
          <p:nvPr/>
        </p:nvSpPr>
        <p:spPr>
          <a:xfrm>
            <a:off x="4587818" y="7479792"/>
            <a:ext cx="212782" cy="219456"/>
          </a:xfrm>
          <a:prstGeom prst="roundRect">
            <a:avLst>
              <a:gd name="adj" fmla="val 51568"/>
            </a:avLst>
          </a:prstGeom>
          <a:solidFill>
            <a:srgbClr val="006A4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48640" y="7406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7.9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الرسوم والتراخيص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الفواتير والفعلي والمحصل حسب القطاع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المحصل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8366760" y="3401568"/>
            <a:ext cx="30906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755.3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7" name="Shape 45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778.3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0" name="Shape 48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741.4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إجمالي المحصل حسب القطاع (مليون ريال)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937760" y="3291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الوسط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6" name="Shape 54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48640" y="3291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185.4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93776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الجنوب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417320" y="3822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0" name="Shape 58"/>
          <p:cNvSpPr/>
          <p:nvPr/>
        </p:nvSpPr>
        <p:spPr>
          <a:xfrm>
            <a:off x="1789945" y="3822192"/>
            <a:ext cx="301065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864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165.0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937760" y="4206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الشرق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1417320" y="4279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4" name="Shape 62"/>
          <p:cNvSpPr/>
          <p:nvPr/>
        </p:nvSpPr>
        <p:spPr>
          <a:xfrm>
            <a:off x="2449650" y="4279392"/>
            <a:ext cx="235095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48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128.8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937760" y="4663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الشمال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1417320" y="4736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8" name="Shape 66"/>
          <p:cNvSpPr/>
          <p:nvPr/>
        </p:nvSpPr>
        <p:spPr>
          <a:xfrm>
            <a:off x="2922580" y="4736592"/>
            <a:ext cx="187802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48640" y="4663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102.9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93776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الغرب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1417320" y="5193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2" name="Shape 70"/>
          <p:cNvSpPr/>
          <p:nvPr/>
        </p:nvSpPr>
        <p:spPr>
          <a:xfrm>
            <a:off x="3196286" y="5193792"/>
            <a:ext cx="1604314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48640" y="5120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87.9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37760" y="5577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(ب)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1417320" y="5650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6" name="Shape 74"/>
          <p:cNvSpPr/>
          <p:nvPr/>
        </p:nvSpPr>
        <p:spPr>
          <a:xfrm>
            <a:off x="4200590" y="5650992"/>
            <a:ext cx="60001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48640" y="5577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32.9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4937760" y="6035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(أ)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417320" y="6108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0" name="Shape 78"/>
          <p:cNvSpPr/>
          <p:nvPr/>
        </p:nvSpPr>
        <p:spPr>
          <a:xfrm>
            <a:off x="4419989" y="6108192"/>
            <a:ext cx="380611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48640" y="6035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20.9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4937760" y="6492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(ج)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417320" y="6565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4" name="Shape 82"/>
          <p:cNvSpPr/>
          <p:nvPr/>
        </p:nvSpPr>
        <p:spPr>
          <a:xfrm>
            <a:off x="4437326" y="6565392"/>
            <a:ext cx="363274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48640" y="6492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19.9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4937760" y="6949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(د)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417320" y="7022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8" name="Shape 86"/>
          <p:cNvSpPr/>
          <p:nvPr/>
        </p:nvSpPr>
        <p:spPr>
          <a:xfrm>
            <a:off x="4617720" y="702259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006A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48640" y="6949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9.1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937760" y="7406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(هـ)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417320" y="7479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92" name="Shape 90"/>
          <p:cNvSpPr/>
          <p:nvPr/>
        </p:nvSpPr>
        <p:spPr>
          <a:xfrm>
            <a:off x="4617720" y="747979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006A4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48640" y="7406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2.5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جزاءات وغرامات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الفواتير والفعلي والمحصل حسب القطاع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المحصل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8366760" y="3401568"/>
            <a:ext cx="30906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262.3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7" name="Shape 45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631.3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0" name="Shape 48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133.2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إجمالي المحصل حسب القطاع (مليون ريال)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937760" y="3291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الشرق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6" name="Shape 54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48640" y="3291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59.4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93776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الوسط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417320" y="3822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0" name="Shape 58"/>
          <p:cNvSpPr/>
          <p:nvPr/>
        </p:nvSpPr>
        <p:spPr>
          <a:xfrm>
            <a:off x="1602002" y="3822192"/>
            <a:ext cx="3198598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864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56.2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937760" y="4206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الجنوب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1417320" y="4279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4" name="Shape 62"/>
          <p:cNvSpPr/>
          <p:nvPr/>
        </p:nvSpPr>
        <p:spPr>
          <a:xfrm>
            <a:off x="1791282" y="4279392"/>
            <a:ext cx="3009318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48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52.8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937760" y="4663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الشمال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1417320" y="4736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8" name="Shape 66"/>
          <p:cNvSpPr/>
          <p:nvPr/>
        </p:nvSpPr>
        <p:spPr>
          <a:xfrm>
            <a:off x="2529924" y="4736592"/>
            <a:ext cx="2270676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48640" y="4663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39.9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93776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الغرب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1417320" y="5193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2" name="Shape 70"/>
          <p:cNvSpPr/>
          <p:nvPr/>
        </p:nvSpPr>
        <p:spPr>
          <a:xfrm>
            <a:off x="2561505" y="5193792"/>
            <a:ext cx="223909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48640" y="5120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39.3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37760" y="5577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(ب)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1417320" y="5650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6" name="Shape 74"/>
          <p:cNvSpPr/>
          <p:nvPr/>
        </p:nvSpPr>
        <p:spPr>
          <a:xfrm>
            <a:off x="4511945" y="5650992"/>
            <a:ext cx="28865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48640" y="5577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5.1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4937760" y="6035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(أ)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417320" y="6108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0" name="Shape 78"/>
          <p:cNvSpPr/>
          <p:nvPr/>
        </p:nvSpPr>
        <p:spPr>
          <a:xfrm>
            <a:off x="4578804" y="6108192"/>
            <a:ext cx="221796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48640" y="6035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3.9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4937760" y="6492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(ج)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417320" y="6565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4" name="Shape 82"/>
          <p:cNvSpPr/>
          <p:nvPr/>
        </p:nvSpPr>
        <p:spPr>
          <a:xfrm>
            <a:off x="4595627" y="6565392"/>
            <a:ext cx="204973" cy="219456"/>
          </a:xfrm>
          <a:prstGeom prst="roundRect">
            <a:avLst>
              <a:gd name="adj" fmla="val 53533"/>
            </a:avLst>
          </a:prstGeom>
          <a:solidFill>
            <a:srgbClr val="006A46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48640" y="6492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3.6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4937760" y="6949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(د)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417320" y="7022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8" name="Shape 86"/>
          <p:cNvSpPr/>
          <p:nvPr/>
        </p:nvSpPr>
        <p:spPr>
          <a:xfrm>
            <a:off x="4617720" y="702259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006A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48640" y="6949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1.7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937760" y="7406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(هـ)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417320" y="7479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92" name="Shape 90"/>
          <p:cNvSpPr/>
          <p:nvPr/>
        </p:nvSpPr>
        <p:spPr>
          <a:xfrm>
            <a:off x="4617720" y="747979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006A4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48640" y="7406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0.4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التبغ والإيواء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الفواتير والفعلي والمحصل حسب القطاع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المحصل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8366760" y="3401568"/>
            <a:ext cx="30906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18.0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7" name="Shape 45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0" name="Shape 48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17.1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إجمالي المحصل حسب القطاع (مليون ريال)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937760" y="3291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الوسط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6" name="Shape 54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48640" y="3291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6.0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93776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الشمال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417320" y="3822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0" name="Shape 58"/>
          <p:cNvSpPr/>
          <p:nvPr/>
        </p:nvSpPr>
        <p:spPr>
          <a:xfrm>
            <a:off x="3213016" y="3822192"/>
            <a:ext cx="1587584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864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2.8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937760" y="4206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الشرق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1417320" y="4279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4" name="Shape 62"/>
          <p:cNvSpPr/>
          <p:nvPr/>
        </p:nvSpPr>
        <p:spPr>
          <a:xfrm>
            <a:off x="3421316" y="4279392"/>
            <a:ext cx="1379284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48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2.5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937760" y="4663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(ب)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1417320" y="4736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8" name="Shape 66"/>
          <p:cNvSpPr/>
          <p:nvPr/>
        </p:nvSpPr>
        <p:spPr>
          <a:xfrm>
            <a:off x="3713752" y="4736592"/>
            <a:ext cx="1086848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48640" y="4663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1.9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93776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الغرب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1417320" y="5193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2" name="Shape 70"/>
          <p:cNvSpPr/>
          <p:nvPr/>
        </p:nvSpPr>
        <p:spPr>
          <a:xfrm>
            <a:off x="4158811" y="5193792"/>
            <a:ext cx="641789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48640" y="5120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1.1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37760" y="5577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(هـ)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1417320" y="5650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6" name="Shape 74"/>
          <p:cNvSpPr/>
          <p:nvPr/>
        </p:nvSpPr>
        <p:spPr>
          <a:xfrm>
            <a:off x="4196530" y="5650992"/>
            <a:ext cx="60407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48640" y="5577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1.1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4937760" y="6035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الجنوب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417320" y="6108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0" name="Shape 78"/>
          <p:cNvSpPr/>
          <p:nvPr/>
        </p:nvSpPr>
        <p:spPr>
          <a:xfrm>
            <a:off x="4299554" y="6108192"/>
            <a:ext cx="501046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48640" y="6035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0.9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4937760" y="6492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(أ)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417320" y="6565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4" name="Shape 82"/>
          <p:cNvSpPr/>
          <p:nvPr/>
        </p:nvSpPr>
        <p:spPr>
          <a:xfrm>
            <a:off x="4315790" y="6565392"/>
            <a:ext cx="48481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48640" y="6492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0.9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4937760" y="6949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(ج)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417320" y="7022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8" name="Shape 86"/>
          <p:cNvSpPr/>
          <p:nvPr/>
        </p:nvSpPr>
        <p:spPr>
          <a:xfrm>
            <a:off x="4518882" y="7022592"/>
            <a:ext cx="281718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48640" y="6949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0.5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937760" y="7406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(د)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417320" y="7479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92" name="Shape 90"/>
          <p:cNvSpPr/>
          <p:nvPr/>
        </p:nvSpPr>
        <p:spPr>
          <a:xfrm>
            <a:off x="4617720" y="747979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006A4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48640" y="7406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0.3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32" name="Image 0" descr="/home/user/test4/assets/ph-towers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371600"/>
            <a:ext cx="5394960" cy="603504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309360" y="237744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التبويبات</a:t>
            </a:r>
            <a:endParaRPr lang="en-US" sz="4800" dirty="0"/>
          </a:p>
        </p:txBody>
      </p:sp>
      <p:sp>
        <p:nvSpPr>
          <p:cNvPr id="34" name="Shape 31"/>
          <p:cNvSpPr/>
          <p:nvPr/>
        </p:nvSpPr>
        <p:spPr>
          <a:xfrm>
            <a:off x="6309360" y="3657600"/>
            <a:ext cx="5422392" cy="1408176"/>
          </a:xfrm>
          <a:prstGeom prst="roundRect">
            <a:avLst>
              <a:gd name="adj" fmla="val 19481"/>
            </a:avLst>
          </a:prstGeom>
          <a:solidFill>
            <a:srgbClr val="006A46"/>
          </a:solidFill>
          <a:ln/>
        </p:spPr>
      </p:sp>
      <p:sp>
        <p:nvSpPr>
          <p:cNvPr id="35" name="Shape 32"/>
          <p:cNvSpPr/>
          <p:nvPr/>
        </p:nvSpPr>
        <p:spPr>
          <a:xfrm>
            <a:off x="11320272" y="4069080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583680" y="3886200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ملخص التبويبات: الاستثمارية والجزاءات والتبغ</a:t>
            </a:r>
            <a:endParaRPr lang="en-US" sz="1600" dirty="0"/>
          </a:p>
        </p:txBody>
      </p:sp>
      <p:sp>
        <p:nvSpPr>
          <p:cNvPr id="37" name="Shape 34">
            <a:hlinkClick r:id="rId13" tooltip="ملخص التبويبات: الاستثمارية والجزاءات والتبغ" action="ppaction://hlinksldjump"/>
          </p:cNvPr>
          <p:cNvSpPr/>
          <p:nvPr/>
        </p:nvSpPr>
        <p:spPr>
          <a:xfrm>
            <a:off x="6492240" y="3886200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320272" y="4544568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583680" y="4361688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تبويبات الوزارة: المفوتر والمستهدف</a:t>
            </a:r>
            <a:endParaRPr lang="en-US" sz="1600" dirty="0"/>
          </a:p>
        </p:txBody>
      </p:sp>
      <p:sp>
        <p:nvSpPr>
          <p:cNvPr id="40" name="Shape 37">
            <a:hlinkClick r:id="rId14" tooltip="تبويبات الوزارة: المفوتر والمستهدف" action="ppaction://hlinksldjump"/>
          </p:cNvPr>
          <p:cNvSpPr/>
          <p:nvPr/>
        </p:nvSpPr>
        <p:spPr>
          <a:xfrm>
            <a:off x="6492240" y="4361688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استثمارية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ملخص التبويب حتى تاريخه — مقارنة بالمقدر والمستهدف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944100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32561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6" name="Shape 34">
            <a:hlinkClick r:id="rId12" tooltip="جزاءات وغرامات" action="ppaction://hlinksldjump"/>
          </p:cNvPr>
          <p:cNvSpPr/>
          <p:nvPr/>
        </p:nvSpPr>
        <p:spPr>
          <a:xfrm>
            <a:off x="832561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707124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38" name="Shape 36">
            <a:hlinkClick r:id="rId13" tooltip="التبغ والإيواء" action="ppaction://hlinksldjump"/>
          </p:cNvPr>
          <p:cNvSpPr/>
          <p:nvPr/>
        </p:nvSpPr>
        <p:spPr>
          <a:xfrm>
            <a:off x="670712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41" name="Shape 39">
            <a:hlinkClick r:id="rId14" tooltip="تبويبات الوزارة" action="ppaction://hlinksldjump"/>
          </p:cNvPr>
          <p:cNvSpPr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1,052.1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46" name="Text 44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13.4%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9.4%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السنة الحالية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880.1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1" name="Shape 49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 عن محصل السنة الماضية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48.1%</a:t>
            </a:r>
            <a:pPr algn="r" indent="0" marL="0">
              <a:buNone/>
            </a:pPr>
            <a:endParaRPr lang="en-US" sz="3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مؤشرات التبويب (مليون ريال)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120640" y="33375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الحالية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417320" y="346557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7" name="Shape 55"/>
          <p:cNvSpPr/>
          <p:nvPr/>
        </p:nvSpPr>
        <p:spPr>
          <a:xfrm>
            <a:off x="2000612" y="3465576"/>
            <a:ext cx="2982868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48640" y="333756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880.1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20640" y="390448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1417320" y="4032504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1" name="Shape 59"/>
          <p:cNvSpPr/>
          <p:nvPr/>
        </p:nvSpPr>
        <p:spPr>
          <a:xfrm>
            <a:off x="1417320" y="4032504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8640" y="390448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1,052.1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120640" y="447141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سنوات سابقة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1417320" y="4599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5" name="Shape 63"/>
          <p:cNvSpPr/>
          <p:nvPr/>
        </p:nvSpPr>
        <p:spPr>
          <a:xfrm>
            <a:off x="4400188" y="4599432"/>
            <a:ext cx="583292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48640" y="447141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172.1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120640" y="503834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1417320" y="5166360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9" name="Shape 67"/>
          <p:cNvSpPr/>
          <p:nvPr/>
        </p:nvSpPr>
        <p:spPr>
          <a:xfrm>
            <a:off x="1839405" y="5166360"/>
            <a:ext cx="3144075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48640" y="50383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927.6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56052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1417320" y="5733288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3" name="Shape 71"/>
          <p:cNvSpPr/>
          <p:nvPr/>
        </p:nvSpPr>
        <p:spPr>
          <a:xfrm>
            <a:off x="1724789" y="5733288"/>
            <a:ext cx="3258691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48640" y="5605272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961.4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5120640" y="6172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1417320" y="630021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7" name="Shape 75"/>
          <p:cNvSpPr/>
          <p:nvPr/>
        </p:nvSpPr>
        <p:spPr>
          <a:xfrm>
            <a:off x="2575496" y="6300216"/>
            <a:ext cx="2407984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548640" y="61722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710.4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548640" y="6967728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بلغ فعلي إيرادات استثمارية حتى تاريخه 1,052.1 مليون ريال، بزيادة 13.4% عن المقدر وبزيادة 48.1% عن محصل السنة الماضية.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جزاءات وغرامات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ملخص التبويب حتى تاريخه — مقارنة بالمقدر والمستهدف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944100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5" name="Shape 33">
            <a:hlinkClick r:id="rId12" tooltip="إيرادات استثمارية" action="ppaction://hlinksldjump"/>
          </p:cNvPr>
          <p:cNvSpPr/>
          <p:nvPr/>
        </p:nvSpPr>
        <p:spPr>
          <a:xfrm>
            <a:off x="9944100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32561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707124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38" name="Shape 36">
            <a:hlinkClick r:id="rId13" tooltip="التبغ والإيواء" action="ppaction://hlinksldjump"/>
          </p:cNvPr>
          <p:cNvSpPr/>
          <p:nvPr/>
        </p:nvSpPr>
        <p:spPr>
          <a:xfrm>
            <a:off x="670712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41" name="Shape 39">
            <a:hlinkClick r:id="rId14" tooltip="تبويبات الوزارة" action="ppaction://hlinksldjump"/>
          </p:cNvPr>
          <p:cNvSpPr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635.4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46" name="Text 44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82.0%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48.9%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مفوتر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1,178.0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1" name="Shape 49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 عن محصل السنة الماضية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133.2%</a:t>
            </a:r>
            <a:pPr algn="r" indent="0" marL="0">
              <a:buNone/>
            </a:pPr>
            <a:endParaRPr lang="en-US" sz="3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مؤشرات التبويب (مليون ريال)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120640" y="33375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417320" y="346557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7" name="Shape 55"/>
          <p:cNvSpPr/>
          <p:nvPr/>
        </p:nvSpPr>
        <p:spPr>
          <a:xfrm>
            <a:off x="1417320" y="346557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48640" y="333756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1,178.0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20640" y="390448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1417320" y="4032504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1" name="Shape 59"/>
          <p:cNvSpPr/>
          <p:nvPr/>
        </p:nvSpPr>
        <p:spPr>
          <a:xfrm>
            <a:off x="3059805" y="4032504"/>
            <a:ext cx="192367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8640" y="390448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635.4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120640" y="447141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سنوات سابقة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1417320" y="4599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5" name="Shape 63"/>
          <p:cNvSpPr/>
          <p:nvPr/>
        </p:nvSpPr>
        <p:spPr>
          <a:xfrm>
            <a:off x="4480633" y="4599432"/>
            <a:ext cx="502847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48640" y="447141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166.1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120640" y="503834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1417320" y="5166360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9" name="Shape 67"/>
          <p:cNvSpPr/>
          <p:nvPr/>
        </p:nvSpPr>
        <p:spPr>
          <a:xfrm>
            <a:off x="3926562" y="5166360"/>
            <a:ext cx="1056918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48640" y="50383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349.1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56052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1417320" y="5733288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3" name="Shape 71"/>
          <p:cNvSpPr/>
          <p:nvPr/>
        </p:nvSpPr>
        <p:spPr>
          <a:xfrm>
            <a:off x="3691607" y="5733288"/>
            <a:ext cx="1291873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48640" y="5605272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426.7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5120640" y="6172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1417320" y="630021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7" name="Shape 75"/>
          <p:cNvSpPr/>
          <p:nvPr/>
        </p:nvSpPr>
        <p:spPr>
          <a:xfrm>
            <a:off x="4158532" y="6300216"/>
            <a:ext cx="824948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548640" y="61722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272.5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548640" y="6967728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بلغ فعلي جزاءات وغرامات حتى تاريخه 635.4 مليون ريال، بزيادة 82.0% عن المقدر وبزيادة 133.2% عن محصل السنة الماضية.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التبغ والإيواء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ملخص التبويب حتى تاريخه — مقارنة بالمقدر والمستهدف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944100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5" name="Shape 33">
            <a:hlinkClick r:id="rId12" tooltip="إيرادات استثمارية" action="ppaction://hlinksldjump"/>
          </p:cNvPr>
          <p:cNvSpPr/>
          <p:nvPr/>
        </p:nvSpPr>
        <p:spPr>
          <a:xfrm>
            <a:off x="9944100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32561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7" name="Shape 35">
            <a:hlinkClick r:id="rId13" tooltip="جزاءات وغرامات" action="ppaction://hlinksldjump"/>
          </p:cNvPr>
          <p:cNvSpPr/>
          <p:nvPr/>
        </p:nvSpPr>
        <p:spPr>
          <a:xfrm>
            <a:off x="832561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70712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41" name="Shape 39">
            <a:hlinkClick r:id="rId14" tooltip="تبويبات الوزارة" action="ppaction://hlinksldjump"/>
          </p:cNvPr>
          <p:cNvSpPr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209.1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46" name="Text 44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26.9%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32.2%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مفوتر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234.1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1" name="Shape 49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 عن محصل السنة الماضية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13.1%</a:t>
            </a:r>
            <a:pPr algn="r" indent="0" marL="0">
              <a:buNone/>
            </a:pPr>
            <a:endParaRPr lang="en-US" sz="3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مؤشرات التبويب (مليون ريال)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120640" y="33375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417320" y="346557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7" name="Shape 55"/>
          <p:cNvSpPr/>
          <p:nvPr/>
        </p:nvSpPr>
        <p:spPr>
          <a:xfrm>
            <a:off x="2276671" y="3465576"/>
            <a:ext cx="2706809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48640" y="333756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234.1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20640" y="390448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1417320" y="4032504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1" name="Shape 59"/>
          <p:cNvSpPr/>
          <p:nvPr/>
        </p:nvSpPr>
        <p:spPr>
          <a:xfrm>
            <a:off x="2565480" y="4032504"/>
            <a:ext cx="241800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8640" y="390448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209.1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120640" y="447141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سنوات سابقة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1417320" y="4599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5" name="Shape 63"/>
          <p:cNvSpPr/>
          <p:nvPr/>
        </p:nvSpPr>
        <p:spPr>
          <a:xfrm>
            <a:off x="4800600" y="459943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9AA5B1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48640" y="447141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9.5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120640" y="503834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1417320" y="5166360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9" name="Shape 67"/>
          <p:cNvSpPr/>
          <p:nvPr/>
        </p:nvSpPr>
        <p:spPr>
          <a:xfrm>
            <a:off x="1676714" y="5166360"/>
            <a:ext cx="3306766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48640" y="50383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285.9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56052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1417320" y="5733288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3" name="Shape 71"/>
          <p:cNvSpPr/>
          <p:nvPr/>
        </p:nvSpPr>
        <p:spPr>
          <a:xfrm>
            <a:off x="1417320" y="5733288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48640" y="5605272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308.4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5120640" y="6172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1417320" y="630021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7" name="Shape 75"/>
          <p:cNvSpPr/>
          <p:nvPr/>
        </p:nvSpPr>
        <p:spPr>
          <a:xfrm>
            <a:off x="2201778" y="6300216"/>
            <a:ext cx="2781702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548640" y="61722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240.5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548640" y="6967728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بلغ فعلي التبغ والإيواء حتى تاريخه 209.1 مليون ريال، بانخفاض 26.9% عن المقدر وبانخفاض 13.1% عن محصل السنة الماضية.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المفوتر الشهري لكل تبويب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من يناير إلى سبتمبر 2026م — مليون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6" name="Shape 34">
            <a:hlinkClick r:id="rId12" tooltip="استثمار العقارات" action="ppaction://hlinksldjump"/>
          </p:cNvPr>
          <p:cNvSpPr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8" name="Shape 36">
            <a:hlinkClick r:id="rId13" tooltip="الرسوم والمقابلات" action="ppaction://hlinksldjump"/>
          </p:cNvPr>
          <p:cNvSpPr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0" name="Shape 38">
            <a:hlinkClick r:id="rId14" tooltip="الجزاءات والغرامات" action="ppaction://hlinksldjump"/>
          </p:cNvPr>
          <p:cNvSpPr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2" name="Shape 40">
            <a:hlinkClick r:id="rId15" tooltip="إشغال الإيواء" action="ppaction://hlinksldjump"/>
          </p:cNvPr>
          <p:cNvSpPr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4" name="Shape 42">
            <a:hlinkClick r:id="rId16" tooltip="منتجات التبغ" action="ppaction://hlinksldjump"/>
          </p:cNvPr>
          <p:cNvSpPr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6" name="Shape 44">
            <a:hlinkClick r:id="rId17" tooltip="إيرادات مختلفة" action="ppaction://hlinksldjump"/>
          </p:cNvPr>
          <p:cNvSpPr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18311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850392"/>
                <a:gridCol w="850392"/>
                <a:gridCol w="850392"/>
                <a:gridCol w="850392"/>
                <a:gridCol w="850392"/>
                <a:gridCol w="850392"/>
                <a:gridCol w="850392"/>
                <a:gridCol w="850392"/>
                <a:gridCol w="850392"/>
                <a:gridCol w="2103120"/>
              </a:tblGrid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المجموع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سبتمبر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أغسطس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يوليو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يونيو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مايو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أبريل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مارس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فبراير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يناير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1,239.5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68.0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82.0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75.1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97.0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EE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91.0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EE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552.4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96.8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EE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123.6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A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استثمار العقارات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918.3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103.3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D4C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103.5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D4C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104.2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D4C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109.8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ACFC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73.3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152.0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66.9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91.5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FD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114.0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BBD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الرسوم والمقابلات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1,047.3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131.9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DBEA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116.3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D4C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146.1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126.3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6B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102.1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9B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95.2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D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93.7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الجزاءات والغرامات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141.0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13.4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6D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11.8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21.8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2B8A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B5A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إشغال الإيواء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87.0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8B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3D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9.4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9C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2C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6B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2C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10.1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4C2B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منتجات التبغ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465.6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5D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67.4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FD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57.4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17.2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2.2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228.9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إيرادات مختلفة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3,898.7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375.3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7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325.9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DE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413.9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414.4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289.6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887.6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263.2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336.1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BE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592.7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CDB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الإجمالي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52" name="Text 49"/>
          <p:cNvSpPr txBox="1"/>
          <p:nvPr/>
        </p:nvSpPr>
        <p:spPr>
          <a:xfrm>
            <a:off x="548640" y="649224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المفوتر حتى سبتمبر 3,898.7 مليون ريال مقابل مستهدف الفترة 3,385.4 مليون ريال (بزيادة 15.2%)، ومستهدف السنة 5,044.6 مليون ريال. الأعمق = الأعلى شهرياً داخل التبويب نفسه.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استثمار العقارات البلدية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والمستهدف الشهري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8" name="Shape 36">
            <a:hlinkClick r:id="rId13" tooltip="الرسوم والمقابلات" action="ppaction://hlinksldjump"/>
          </p:cNvPr>
          <p:cNvSpPr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0" name="Shape 38">
            <a:hlinkClick r:id="rId14" tooltip="الجزاءات والغرامات" action="ppaction://hlinksldjump"/>
          </p:cNvPr>
          <p:cNvSpPr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2" name="Shape 40">
            <a:hlinkClick r:id="rId15" tooltip="إشغال الإيواء" action="ppaction://hlinksldjump"/>
          </p:cNvPr>
          <p:cNvSpPr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4" name="Shape 42">
            <a:hlinkClick r:id="rId16" tooltip="منتجات التبغ" action="ppaction://hlinksldjump"/>
          </p:cNvPr>
          <p:cNvSpPr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6" name="Shape 44">
            <a:hlinkClick r:id="rId17" tooltip="إيرادات مختلفة" action="ppaction://hlinksldjump"/>
          </p:cNvPr>
          <p:cNvSpPr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المفوتر (يناير–سبتمبر)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3401568"/>
            <a:ext cx="30906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1,239.5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4" name="Text 52"/>
          <p:cNvSpPr txBox="1"/>
          <p:nvPr/>
        </p:nvSpPr>
        <p:spPr>
          <a:xfrm>
            <a:off x="8366760" y="42519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8.8%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(يناير–سبتمبر)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1,139.0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السنوي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1,920.7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4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548640" y="32004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548640" y="7086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استثمار العقارات البلدية: المفوتر 1,239.5 مليون ريال مقابل مستهدف الفترة 1,139.0 مليون ريال (بزيادة 8.8%).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الرسوم والمقابلات المالية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والمستهدف الشهري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7" name="Shape 35">
            <a:hlinkClick r:id="rId13" tooltip="استثمار العقارات" action="ppaction://hlinksldjump"/>
          </p:cNvPr>
          <p:cNvSpPr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0" name="Shape 38">
            <a:hlinkClick r:id="rId14" tooltip="الجزاءات والغرامات" action="ppaction://hlinksldjump"/>
          </p:cNvPr>
          <p:cNvSpPr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2" name="Shape 40">
            <a:hlinkClick r:id="rId15" tooltip="إشغال الإيواء" action="ppaction://hlinksldjump"/>
          </p:cNvPr>
          <p:cNvSpPr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4" name="Shape 42">
            <a:hlinkClick r:id="rId16" tooltip="منتجات التبغ" action="ppaction://hlinksldjump"/>
          </p:cNvPr>
          <p:cNvSpPr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6" name="Shape 44">
            <a:hlinkClick r:id="rId17" tooltip="إيرادات مختلفة" action="ppaction://hlinksldjump"/>
          </p:cNvPr>
          <p:cNvSpPr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المفوتر (يناير–سبتمبر)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3401568"/>
            <a:ext cx="30906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918.3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4" name="Text 52"/>
          <p:cNvSpPr txBox="1"/>
          <p:nvPr/>
        </p:nvSpPr>
        <p:spPr>
          <a:xfrm>
            <a:off x="8366760" y="42519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7.1%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(يناير–سبتمبر)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988.7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السنوي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1,410.5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4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548640" y="32004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548640" y="7086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الرسوم والمقابلات المالية: المفوتر 918.3 مليون ريال مقابل مستهدف الفترة 988.7 مليون ريال (بانخفاض 7.1%).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الجزاءات والغرامات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والمستهدف الشهري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7" name="Shape 35">
            <a:hlinkClick r:id="rId13" tooltip="استثمار العقارات" action="ppaction://hlinksldjump"/>
          </p:cNvPr>
          <p:cNvSpPr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9" name="Shape 37">
            <a:hlinkClick r:id="rId14" tooltip="الرسوم والمقابلات" action="ppaction://hlinksldjump"/>
          </p:cNvPr>
          <p:cNvSpPr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2" name="Shape 40">
            <a:hlinkClick r:id="rId15" tooltip="إشغال الإيواء" action="ppaction://hlinksldjump"/>
          </p:cNvPr>
          <p:cNvSpPr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4" name="Shape 42">
            <a:hlinkClick r:id="rId16" tooltip="منتجات التبغ" action="ppaction://hlinksldjump"/>
          </p:cNvPr>
          <p:cNvSpPr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6" name="Shape 44">
            <a:hlinkClick r:id="rId17" tooltip="إيرادات مختلفة" action="ppaction://hlinksldjump"/>
          </p:cNvPr>
          <p:cNvSpPr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المفوتر (يناير–سبتمبر)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3401568"/>
            <a:ext cx="30906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1,047.3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4" name="Text 52"/>
          <p:cNvSpPr txBox="1"/>
          <p:nvPr/>
        </p:nvSpPr>
        <p:spPr>
          <a:xfrm>
            <a:off x="8366760" y="42519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28.5%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(يناير–سبتمبر)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814.9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السنوي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1,097.2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4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548640" y="32004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548640" y="7086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الجزاءات والغرامات: المفوتر 1,047.3 مليون ريال مقابل مستهدف الفترة 814.9 مليون ريال (بزيادة 28.5%).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رسم إشغال مرافق 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والمستهدف الشهري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7" name="Shape 35">
            <a:hlinkClick r:id="rId13" tooltip="استثمار العقارات" action="ppaction://hlinksldjump"/>
          </p:cNvPr>
          <p:cNvSpPr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9" name="Shape 37">
            <a:hlinkClick r:id="rId14" tooltip="الرسوم والمقابلات" action="ppaction://hlinksldjump"/>
          </p:cNvPr>
          <p:cNvSpPr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1" name="Shape 39">
            <a:hlinkClick r:id="rId15" tooltip="الجزاءات والغرامات" action="ppaction://hlinksldjump"/>
          </p:cNvPr>
          <p:cNvSpPr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4" name="Shape 42">
            <a:hlinkClick r:id="rId16" tooltip="منتجات التبغ" action="ppaction://hlinksldjump"/>
          </p:cNvPr>
          <p:cNvSpPr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6" name="Shape 44">
            <a:hlinkClick r:id="rId17" tooltip="إيرادات مختلفة" action="ppaction://hlinksldjump"/>
          </p:cNvPr>
          <p:cNvSpPr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المفوتر (يناير–سبتمبر)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3401568"/>
            <a:ext cx="30906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141.0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4" name="Text 52"/>
          <p:cNvSpPr txBox="1"/>
          <p:nvPr/>
        </p:nvSpPr>
        <p:spPr>
          <a:xfrm>
            <a:off x="8366760" y="42519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28.6%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(يناير–سبتمبر)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197.5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السنوي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287.5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4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548640" y="32004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548640" y="7086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رسم إشغال مرافق الإيواء: المفوتر 141.0 مليون ريال مقابل مستهدف الفترة 197.5 مليون ريال (بانخفاض 28.6%).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رسم تقديم منتجات التبغ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والمستهدف الشهري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7" name="Shape 35">
            <a:hlinkClick r:id="rId13" tooltip="استثمار العقارات" action="ppaction://hlinksldjump"/>
          </p:cNvPr>
          <p:cNvSpPr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9" name="Shape 37">
            <a:hlinkClick r:id="rId14" tooltip="الرسوم والمقابلات" action="ppaction://hlinksldjump"/>
          </p:cNvPr>
          <p:cNvSpPr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1" name="Shape 39">
            <a:hlinkClick r:id="rId15" tooltip="الجزاءات والغرامات" action="ppaction://hlinksldjump"/>
          </p:cNvPr>
          <p:cNvSpPr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3" name="Shape 41">
            <a:hlinkClick r:id="rId16" tooltip="إشغال الإيواء" action="ppaction://hlinksldjump"/>
          </p:cNvPr>
          <p:cNvSpPr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6" name="Shape 44">
            <a:hlinkClick r:id="rId17" tooltip="إيرادات مختلفة" action="ppaction://hlinksldjump"/>
          </p:cNvPr>
          <p:cNvSpPr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المفوتر (يناير–سبتمبر)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3401568"/>
            <a:ext cx="30906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87.0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4" name="Text 52"/>
          <p:cNvSpPr txBox="1"/>
          <p:nvPr/>
        </p:nvSpPr>
        <p:spPr>
          <a:xfrm>
            <a:off x="8366760" y="42519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47.2%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(يناير–سبتمبر)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164.6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السنوي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222.6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4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548640" y="32004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548640" y="7086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رسم تقديم منتجات التبغ: المفوتر 87.0 مليون ريال مقابل مستهدف الفترة 164.6 مليون ريال (بانخفاض 47.2%).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الإيرادات المختلفة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والمستهدف الشهري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7" name="Shape 35">
            <a:hlinkClick r:id="rId13" tooltip="استثمار العقارات" action="ppaction://hlinksldjump"/>
          </p:cNvPr>
          <p:cNvSpPr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9" name="Shape 37">
            <a:hlinkClick r:id="rId14" tooltip="الرسوم والمقابلات" action="ppaction://hlinksldjump"/>
          </p:cNvPr>
          <p:cNvSpPr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1" name="Shape 39">
            <a:hlinkClick r:id="rId15" tooltip="الجزاءات والغرامات" action="ppaction://hlinksldjump"/>
          </p:cNvPr>
          <p:cNvSpPr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3" name="Shape 41">
            <a:hlinkClick r:id="rId16" tooltip="إشغال الإيواء" action="ppaction://hlinksldjump"/>
          </p:cNvPr>
          <p:cNvSpPr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5" name="Shape 43">
            <a:hlinkClick r:id="rId17" tooltip="منتجات التبغ" action="ppaction://hlinksldjump"/>
          </p:cNvPr>
          <p:cNvSpPr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المفوتر (يناير–سبتمبر)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3401568"/>
            <a:ext cx="30906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465.6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4" name="Text 52"/>
          <p:cNvSpPr txBox="1"/>
          <p:nvPr/>
        </p:nvSpPr>
        <p:spPr>
          <a:xfrm>
            <a:off x="8366760" y="42519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478.0%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(يناير–سبتمبر)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80.6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السنوي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106.0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4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548640" y="32004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548640" y="7086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الإيرادات المختلفة: المفوتر 465.6 مليون ريال مقابل مستهدف الفترة 80.6 مليون ريال (بزيادة 478.0%).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32" name="Image 0" descr="/home/user/test4/assets/ph-build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371600"/>
            <a:ext cx="5394960" cy="603504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309360" y="237744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التحصيل</a:t>
            </a:r>
            <a:endParaRPr lang="en-US" sz="4800" dirty="0"/>
          </a:p>
        </p:txBody>
      </p:sp>
      <p:sp>
        <p:nvSpPr>
          <p:cNvPr id="34" name="Shape 31"/>
          <p:cNvSpPr/>
          <p:nvPr/>
        </p:nvSpPr>
        <p:spPr>
          <a:xfrm>
            <a:off x="6309360" y="3657600"/>
            <a:ext cx="5422392" cy="2359152"/>
          </a:xfrm>
          <a:prstGeom prst="roundRect">
            <a:avLst>
              <a:gd name="adj" fmla="val 11628"/>
            </a:avLst>
          </a:prstGeom>
          <a:solidFill>
            <a:srgbClr val="006A46"/>
          </a:solidFill>
          <a:ln/>
        </p:spPr>
      </p:sp>
      <p:sp>
        <p:nvSpPr>
          <p:cNvPr id="35" name="Shape 32"/>
          <p:cNvSpPr/>
          <p:nvPr/>
        </p:nvSpPr>
        <p:spPr>
          <a:xfrm>
            <a:off x="11320272" y="4069080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583680" y="3886200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المفوتر والميزانية</a:t>
            </a:r>
            <a:endParaRPr lang="en-US" sz="1600" dirty="0"/>
          </a:p>
        </p:txBody>
      </p:sp>
      <p:sp>
        <p:nvSpPr>
          <p:cNvPr id="37" name="Shape 34">
            <a:hlinkClick r:id="rId13" tooltip="المفوتر والميزانية" action="ppaction://hlinksldjump"/>
          </p:cNvPr>
          <p:cNvSpPr/>
          <p:nvPr/>
        </p:nvSpPr>
        <p:spPr>
          <a:xfrm>
            <a:off x="6492240" y="3886200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320272" y="4544568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583680" y="4361688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الجزاءات والغرامات الشهرية</a:t>
            </a:r>
            <a:endParaRPr lang="en-US" sz="1600" dirty="0"/>
          </a:p>
        </p:txBody>
      </p:sp>
      <p:sp>
        <p:nvSpPr>
          <p:cNvPr id="40" name="Shape 37">
            <a:hlinkClick r:id="rId14" tooltip="الجزاءات والغرامات الشهرية" action="ppaction://hlinksldjump"/>
          </p:cNvPr>
          <p:cNvSpPr/>
          <p:nvPr/>
        </p:nvSpPr>
        <p:spPr>
          <a:xfrm>
            <a:off x="6492240" y="4361688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11320272" y="5020056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583680" y="4837176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سيناريوهات الإقفال</a:t>
            </a:r>
            <a:endParaRPr lang="en-US" sz="1600" dirty="0"/>
          </a:p>
        </p:txBody>
      </p:sp>
      <p:sp>
        <p:nvSpPr>
          <p:cNvPr id="43" name="Shape 40">
            <a:hlinkClick r:id="rId15" tooltip="سيناريوهات الإقفال" action="ppaction://hlinksldjump"/>
          </p:cNvPr>
          <p:cNvSpPr/>
          <p:nvPr/>
        </p:nvSpPr>
        <p:spPr>
          <a:xfrm>
            <a:off x="6492240" y="4837176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11320272" y="5495544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583680" y="5312664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التنفيذ والاسترداد</a:t>
            </a:r>
            <a:endParaRPr lang="en-US" sz="1600" dirty="0"/>
          </a:p>
        </p:txBody>
      </p:sp>
      <p:sp>
        <p:nvSpPr>
          <p:cNvPr id="46" name="Shape 43">
            <a:hlinkClick r:id="rId16" tooltip="التنفيذ والاسترداد" action="ppaction://hlinksldjump"/>
          </p:cNvPr>
          <p:cNvSpPr/>
          <p:nvPr/>
        </p:nvSpPr>
        <p:spPr>
          <a:xfrm>
            <a:off x="6492240" y="5312664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الفوترة والتحصيل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الفترة: يناير – سبتمبر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117836" y="2212848"/>
            <a:ext cx="1613916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المفوتر والمحصل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065008" y="2212848"/>
            <a:ext cx="196138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الميزانية والمستهدف</a:t>
            </a:r>
            <a:endParaRPr lang="en-US" sz="1200" dirty="0"/>
          </a:p>
        </p:txBody>
      </p:sp>
      <p:sp>
        <p:nvSpPr>
          <p:cNvPr id="36" name="Shape 34">
            <a:hlinkClick r:id="rId12" tooltip="الميزانية والمستهدف" action="ppaction://hlinksldjump"/>
          </p:cNvPr>
          <p:cNvSpPr/>
          <p:nvPr/>
        </p:nvSpPr>
        <p:spPr>
          <a:xfrm>
            <a:off x="8065008" y="2212848"/>
            <a:ext cx="196138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9" name="Shape 37">
            <a:hlinkClick r:id="rId13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1" name="Shape 39">
            <a:hlinkClick r:id="rId14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3" name="Shape 41">
            <a:hlinkClick r:id="rId15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المفوتر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8001000" y="3401568"/>
            <a:ext cx="345643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3,898.7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8" name="Shape 46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السنة الحالية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2,327.2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1" name="Shape 49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السنوات السابقة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453.2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وصافي المفوتر شهرياً (مليون ريال)</a:t>
            </a:r>
            <a:endParaRPr lang="en-US" sz="1400" dirty="0"/>
          </a:p>
        </p:txBody>
      </p:sp>
      <p:graphicFrame>
        <p:nvGraphicFramePr>
          <p:cNvPr id="55" name="Chart 0" descr=""/>
          <p:cNvGraphicFramePr/>
          <p:nvPr/>
        </p:nvGraphicFramePr>
        <p:xfrm>
          <a:off x="548640" y="3200400"/>
          <a:ext cx="69494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56" name="Text 53"/>
          <p:cNvSpPr txBox="1"/>
          <p:nvPr/>
        </p:nvSpPr>
        <p:spPr>
          <a:xfrm>
            <a:off x="548640" y="55778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شهرياً (مليون ريال)</a:t>
            </a:r>
            <a:endParaRPr lang="en-US" sz="1400" dirty="0"/>
          </a:p>
        </p:txBody>
      </p:sp>
      <p:graphicFrame>
        <p:nvGraphicFramePr>
          <p:cNvPr id="57" name="Chart 1" descr=""/>
          <p:cNvGraphicFramePr/>
          <p:nvPr/>
        </p:nvGraphicFramePr>
        <p:xfrm>
          <a:off x="548640" y="5943600"/>
          <a:ext cx="69494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الميزانية ومستهدف المفوتر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الاعتماد الأصلي وبعد الاعتماد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117836" y="2212848"/>
            <a:ext cx="1613916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المفوتر والمحصل</a:t>
            </a:r>
            <a:endParaRPr lang="en-US" sz="1200" dirty="0"/>
          </a:p>
        </p:txBody>
      </p:sp>
      <p:sp>
        <p:nvSpPr>
          <p:cNvPr id="35" name="Shape 33">
            <a:hlinkClick r:id="rId12" tooltip="المفوتر والمحصل" action="ppaction://hlinksldjump"/>
          </p:cNvPr>
          <p:cNvSpPr/>
          <p:nvPr/>
        </p:nvSpPr>
        <p:spPr>
          <a:xfrm>
            <a:off x="10117836" y="2212848"/>
            <a:ext cx="1613916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65008" y="2212848"/>
            <a:ext cx="196138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الميزانية والمستهدف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9" name="Shape 37">
            <a:hlinkClick r:id="rId13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1" name="Shape 39">
            <a:hlinkClick r:id="rId14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3" name="Shape 41">
            <a:hlinkClick r:id="rId15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الاعتماد الأصلي (سنوي)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8366760" y="3401568"/>
            <a:ext cx="30906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6,284.6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8" name="Shape 46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بعد الاعتماد (سنوي)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6,285.0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1" name="Shape 49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مستهدف المفوتر (سنوي)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5,044.6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الميزانية الشهرية ومستهدف المفوتر (مليون ريال)</a:t>
            </a:r>
            <a:endParaRPr lang="en-US" sz="1400" dirty="0"/>
          </a:p>
        </p:txBody>
      </p:sp>
      <p:graphicFrame>
        <p:nvGraphicFramePr>
          <p:cNvPr id="55" name="Chart 0" descr=""/>
          <p:cNvGraphicFramePr/>
          <p:nvPr/>
        </p:nvGraphicFramePr>
        <p:xfrm>
          <a:off x="548640" y="3200400"/>
          <a:ext cx="73152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56" name="Text 53"/>
          <p:cNvSpPr txBox="1"/>
          <p:nvPr/>
        </p:nvSpPr>
        <p:spPr>
          <a:xfrm>
            <a:off x="548640" y="7360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الميزانية بعد الاعتماد 6,285.0 مليون ريال مقابل مستهدف مفوتر سنوي 5,044.6 مليون ريال.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الجزاءات والغرامات — مقارنة السنوات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الشهري لكل سنة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5" name="Shape 33">
            <a:hlinkClick r:id="rId12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38" name="Shape 36">
            <a:hlinkClick r:id="rId13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0" name="Shape 38">
            <a:hlinkClick r:id="rId14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مقارنة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2023</a:t>
            </a:r>
            <a:endParaRPr lang="en-US" sz="900" dirty="0"/>
          </a:p>
        </p:txBody>
      </p:sp>
      <p:sp>
        <p:nvSpPr>
          <p:cNvPr id="43" name="Shape 41">
            <a:hlinkClick r:id="rId15" tooltip="2023" action="ppaction://hlinksldjump"/>
          </p:cNvPr>
          <p:cNvSpPr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2024</a:t>
            </a:r>
            <a:endParaRPr lang="en-US" sz="900" dirty="0"/>
          </a:p>
        </p:txBody>
      </p:sp>
      <p:sp>
        <p:nvSpPr>
          <p:cNvPr id="45" name="Shape 43">
            <a:hlinkClick r:id="rId16" tooltip="2024" action="ppaction://hlinksldjump"/>
          </p:cNvPr>
          <p:cNvSpPr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2025</a:t>
            </a:r>
            <a:endParaRPr lang="en-US" sz="900" dirty="0"/>
          </a:p>
        </p:txBody>
      </p:sp>
      <p:sp>
        <p:nvSpPr>
          <p:cNvPr id="47" name="Shape 45">
            <a:hlinkClick r:id="rId17" tooltip="2025" action="ppaction://hlinksldjump"/>
          </p:cNvPr>
          <p:cNvSpPr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2026</a:t>
            </a:r>
            <a:endParaRPr lang="en-US" sz="900" dirty="0"/>
          </a:p>
        </p:txBody>
      </p:sp>
      <p:sp>
        <p:nvSpPr>
          <p:cNvPr id="49" name="Shape 47">
            <a:hlinkClick r:id="rId18" tooltip="2026" action="ppaction://hlinksldjump"/>
          </p:cNvPr>
          <p:cNvSpPr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مفوتر الجزاءات والغرامات شهرياً حسب السنة (مليون ريال)</a:t>
            </a:r>
            <a:endParaRPr lang="en-US" sz="14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48640" y="32004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52" name="Shape 49"/>
          <p:cNvSpPr/>
          <p:nvPr/>
        </p:nvSpPr>
        <p:spPr>
          <a:xfrm>
            <a:off x="8092440" y="2834640"/>
            <a:ext cx="3639312" cy="1280160"/>
          </a:xfrm>
          <a:prstGeom prst="roundRect">
            <a:avLst>
              <a:gd name="adj" fmla="val 20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مفوتر سنة 2026</a:t>
            </a:r>
            <a:endParaRPr lang="en-US" sz="1800" dirty="0"/>
          </a:p>
        </p:txBody>
      </p:sp>
      <p:sp>
        <p:nvSpPr>
          <p:cNvPr id="54" name="Text 51"/>
          <p:cNvSpPr txBox="1"/>
          <p:nvPr/>
        </p:nvSpPr>
        <p:spPr>
          <a:xfrm>
            <a:off x="8366760" y="3401568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5" name="Shape 52"/>
          <p:cNvSpPr/>
          <p:nvPr/>
        </p:nvSpPr>
        <p:spPr>
          <a:xfrm>
            <a:off x="8092440" y="425196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8366760" y="44165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مفوتر سنة 2025</a:t>
            </a:r>
            <a:endParaRPr lang="en-US" sz="1500" dirty="0"/>
          </a:p>
        </p:txBody>
      </p:sp>
      <p:sp>
        <p:nvSpPr>
          <p:cNvPr id="57" name="Text 54"/>
          <p:cNvSpPr txBox="1"/>
          <p:nvPr/>
        </p:nvSpPr>
        <p:spPr>
          <a:xfrm>
            <a:off x="8366760" y="481888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5"/>
          <p:cNvSpPr/>
          <p:nvPr/>
        </p:nvSpPr>
        <p:spPr>
          <a:xfrm>
            <a:off x="8092440" y="557784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8366760" y="57424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مفوتر سنة 2024</a:t>
            </a:r>
            <a:endParaRPr lang="en-US" sz="1500" dirty="0"/>
          </a:p>
        </p:txBody>
      </p:sp>
      <p:sp>
        <p:nvSpPr>
          <p:cNvPr id="60" name="Text 57"/>
          <p:cNvSpPr txBox="1"/>
          <p:nvPr/>
        </p:nvSpPr>
        <p:spPr>
          <a:xfrm>
            <a:off x="8366760" y="614476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Shape 58"/>
          <p:cNvSpPr/>
          <p:nvPr/>
        </p:nvSpPr>
        <p:spPr>
          <a:xfrm>
            <a:off x="8092440" y="690372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0B6B73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2" name="Text 59"/>
          <p:cNvSpPr txBox="1"/>
          <p:nvPr/>
        </p:nvSpPr>
        <p:spPr>
          <a:xfrm>
            <a:off x="8366760" y="706831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مفوتر سنة 2023</a:t>
            </a:r>
            <a:endParaRPr lang="en-US" sz="1500" dirty="0"/>
          </a:p>
        </p:txBody>
      </p:sp>
      <p:sp>
        <p:nvSpPr>
          <p:cNvPr id="63" name="Text 60"/>
          <p:cNvSpPr txBox="1"/>
          <p:nvPr/>
        </p:nvSpPr>
        <p:spPr>
          <a:xfrm>
            <a:off x="8366760" y="747064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الجزاءات والغرامات — 2023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والمحصل شهرياً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5" name="Shape 33">
            <a:hlinkClick r:id="rId12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38" name="Shape 36">
            <a:hlinkClick r:id="rId13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0" name="Shape 38">
            <a:hlinkClick r:id="rId14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مقارنة</a:t>
            </a:r>
            <a:endParaRPr lang="en-US" sz="900" dirty="0"/>
          </a:p>
        </p:txBody>
      </p:sp>
      <p:sp>
        <p:nvSpPr>
          <p:cNvPr id="42" name="Shape 40">
            <a:hlinkClick r:id="rId15" tooltip="مقارنة" action="ppaction://hlinksldjump"/>
          </p:cNvPr>
          <p:cNvSpPr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2023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2024</a:t>
            </a:r>
            <a:endParaRPr lang="en-US" sz="900" dirty="0"/>
          </a:p>
        </p:txBody>
      </p:sp>
      <p:sp>
        <p:nvSpPr>
          <p:cNvPr id="45" name="Shape 43">
            <a:hlinkClick r:id="rId16" tooltip="2024" action="ppaction://hlinksldjump"/>
          </p:cNvPr>
          <p:cNvSpPr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2025</a:t>
            </a:r>
            <a:endParaRPr lang="en-US" sz="900" dirty="0"/>
          </a:p>
        </p:txBody>
      </p:sp>
      <p:sp>
        <p:nvSpPr>
          <p:cNvPr id="47" name="Shape 45">
            <a:hlinkClick r:id="rId17" tooltip="2025" action="ppaction://hlinksldjump"/>
          </p:cNvPr>
          <p:cNvSpPr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2026</a:t>
            </a:r>
            <a:endParaRPr lang="en-US" sz="900" dirty="0"/>
          </a:p>
        </p:txBody>
      </p:sp>
      <p:sp>
        <p:nvSpPr>
          <p:cNvPr id="49" name="Shape 47">
            <a:hlinkClick r:id="rId18" tooltip="2026" action="ppaction://hlinksldjump"/>
          </p:cNvPr>
          <p:cNvSpPr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مفوتر السنة</a:t>
            </a:r>
            <a:endParaRPr lang="en-US" sz="1800" dirty="0"/>
          </a:p>
        </p:txBody>
      </p:sp>
      <p:sp>
        <p:nvSpPr>
          <p:cNvPr id="52" name="Text 50"/>
          <p:cNvSpPr txBox="1"/>
          <p:nvPr/>
        </p:nvSpPr>
        <p:spPr>
          <a:xfrm>
            <a:off x="8001000" y="3401568"/>
            <a:ext cx="345643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3" name="Shape 51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الفترة الماضية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6" name="Shape 54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ذات الشهر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7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الجزاءات والغرامات الشهرية (مليون ريال)</a:t>
            </a:r>
            <a:endParaRPr lang="en-US" sz="1400" dirty="0"/>
          </a:p>
        </p:txBody>
      </p:sp>
      <p:graphicFrame>
        <p:nvGraphicFramePr>
          <p:cNvPr id="60" name="Chart 0" descr=""/>
          <p:cNvGraphicFramePr/>
          <p:nvPr/>
        </p:nvGraphicFramePr>
        <p:xfrm>
          <a:off x="548640" y="3200400"/>
          <a:ext cx="6949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1" name="Text 58"/>
          <p:cNvSpPr txBox="1"/>
          <p:nvPr/>
        </p:nvSpPr>
        <p:spPr>
          <a:xfrm>
            <a:off x="548640" y="5669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الشهري (مليون ريال)</a:t>
            </a:r>
            <a:endParaRPr lang="en-US" sz="1400" dirty="0"/>
          </a:p>
        </p:txBody>
      </p:sp>
      <p:graphicFrame>
        <p:nvGraphicFramePr>
          <p:cNvPr id="62" name="Chart 1" descr=""/>
          <p:cNvGraphicFramePr/>
          <p:nvPr/>
        </p:nvGraphicFramePr>
        <p:xfrm>
          <a:off x="548640" y="6035040"/>
          <a:ext cx="694944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الجزاءات والغرامات — 2024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والمحصل شهرياً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5" name="Shape 33">
            <a:hlinkClick r:id="rId12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38" name="Shape 36">
            <a:hlinkClick r:id="rId13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0" name="Shape 38">
            <a:hlinkClick r:id="rId14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مقارنة</a:t>
            </a:r>
            <a:endParaRPr lang="en-US" sz="900" dirty="0"/>
          </a:p>
        </p:txBody>
      </p:sp>
      <p:sp>
        <p:nvSpPr>
          <p:cNvPr id="42" name="Shape 40">
            <a:hlinkClick r:id="rId15" tooltip="مقارنة" action="ppaction://hlinksldjump"/>
          </p:cNvPr>
          <p:cNvSpPr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2023</a:t>
            </a:r>
            <a:endParaRPr lang="en-US" sz="900" dirty="0"/>
          </a:p>
        </p:txBody>
      </p:sp>
      <p:sp>
        <p:nvSpPr>
          <p:cNvPr id="44" name="Shape 42">
            <a:hlinkClick r:id="rId16" tooltip="2023" action="ppaction://hlinksldjump"/>
          </p:cNvPr>
          <p:cNvSpPr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2024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2025</a:t>
            </a:r>
            <a:endParaRPr lang="en-US" sz="900" dirty="0"/>
          </a:p>
        </p:txBody>
      </p:sp>
      <p:sp>
        <p:nvSpPr>
          <p:cNvPr id="47" name="Shape 45">
            <a:hlinkClick r:id="rId17" tooltip="2025" action="ppaction://hlinksldjump"/>
          </p:cNvPr>
          <p:cNvSpPr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2026</a:t>
            </a:r>
            <a:endParaRPr lang="en-US" sz="900" dirty="0"/>
          </a:p>
        </p:txBody>
      </p:sp>
      <p:sp>
        <p:nvSpPr>
          <p:cNvPr id="49" name="Shape 47">
            <a:hlinkClick r:id="rId18" tooltip="2026" action="ppaction://hlinksldjump"/>
          </p:cNvPr>
          <p:cNvSpPr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مفوتر السنة</a:t>
            </a:r>
            <a:endParaRPr lang="en-US" sz="1800" dirty="0"/>
          </a:p>
        </p:txBody>
      </p:sp>
      <p:sp>
        <p:nvSpPr>
          <p:cNvPr id="52" name="Text 50"/>
          <p:cNvSpPr txBox="1"/>
          <p:nvPr/>
        </p:nvSpPr>
        <p:spPr>
          <a:xfrm>
            <a:off x="8001000" y="3401568"/>
            <a:ext cx="345643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425196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0.0%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2023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الفترة الماضية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7" name="Shape 55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ذات الشهر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الجزاءات والغرامات الشهرية (مليون ريال)</a:t>
            </a:r>
            <a:endParaRPr lang="en-US" sz="1400" dirty="0"/>
          </a:p>
        </p:txBody>
      </p:sp>
      <p:graphicFrame>
        <p:nvGraphicFramePr>
          <p:cNvPr id="61" name="Chart 0" descr=""/>
          <p:cNvGraphicFramePr/>
          <p:nvPr/>
        </p:nvGraphicFramePr>
        <p:xfrm>
          <a:off x="548640" y="3200400"/>
          <a:ext cx="6949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2" name="Text 59"/>
          <p:cNvSpPr txBox="1"/>
          <p:nvPr/>
        </p:nvSpPr>
        <p:spPr>
          <a:xfrm>
            <a:off x="548640" y="5669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الشهري (مليون ريال)</a:t>
            </a:r>
            <a:endParaRPr lang="en-US" sz="1400" dirty="0"/>
          </a:p>
        </p:txBody>
      </p:sp>
      <p:graphicFrame>
        <p:nvGraphicFramePr>
          <p:cNvPr id="63" name="Chart 1" descr=""/>
          <p:cNvGraphicFramePr/>
          <p:nvPr/>
        </p:nvGraphicFramePr>
        <p:xfrm>
          <a:off x="548640" y="6035040"/>
          <a:ext cx="694944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الجزاءات والغرامات — 2025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والمحصل شهرياً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5" name="Shape 33">
            <a:hlinkClick r:id="rId12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38" name="Shape 36">
            <a:hlinkClick r:id="rId13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0" name="Shape 38">
            <a:hlinkClick r:id="rId14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مقارنة</a:t>
            </a:r>
            <a:endParaRPr lang="en-US" sz="900" dirty="0"/>
          </a:p>
        </p:txBody>
      </p:sp>
      <p:sp>
        <p:nvSpPr>
          <p:cNvPr id="42" name="Shape 40">
            <a:hlinkClick r:id="rId15" tooltip="مقارنة" action="ppaction://hlinksldjump"/>
          </p:cNvPr>
          <p:cNvSpPr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2023</a:t>
            </a:r>
            <a:endParaRPr lang="en-US" sz="900" dirty="0"/>
          </a:p>
        </p:txBody>
      </p:sp>
      <p:sp>
        <p:nvSpPr>
          <p:cNvPr id="44" name="Shape 42">
            <a:hlinkClick r:id="rId16" tooltip="2023" action="ppaction://hlinksldjump"/>
          </p:cNvPr>
          <p:cNvSpPr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2024</a:t>
            </a:r>
            <a:endParaRPr lang="en-US" sz="900" dirty="0"/>
          </a:p>
        </p:txBody>
      </p:sp>
      <p:sp>
        <p:nvSpPr>
          <p:cNvPr id="46" name="Shape 44">
            <a:hlinkClick r:id="rId17" tooltip="2024" action="ppaction://hlinksldjump"/>
          </p:cNvPr>
          <p:cNvSpPr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2025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2026</a:t>
            </a:r>
            <a:endParaRPr lang="en-US" sz="900" dirty="0"/>
          </a:p>
        </p:txBody>
      </p:sp>
      <p:sp>
        <p:nvSpPr>
          <p:cNvPr id="49" name="Shape 47">
            <a:hlinkClick r:id="rId18" tooltip="2026" action="ppaction://hlinksldjump"/>
          </p:cNvPr>
          <p:cNvSpPr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مفوتر السنة</a:t>
            </a:r>
            <a:endParaRPr lang="en-US" sz="1800" dirty="0"/>
          </a:p>
        </p:txBody>
      </p:sp>
      <p:sp>
        <p:nvSpPr>
          <p:cNvPr id="52" name="Text 50"/>
          <p:cNvSpPr txBox="1"/>
          <p:nvPr/>
        </p:nvSpPr>
        <p:spPr>
          <a:xfrm>
            <a:off x="8001000" y="3401568"/>
            <a:ext cx="345643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425196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0.0%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2024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الفترة الماضية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7" name="Shape 55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ذات الشهر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الجزاءات والغرامات الشهرية (مليون ريال)</a:t>
            </a:r>
            <a:endParaRPr lang="en-US" sz="1400" dirty="0"/>
          </a:p>
        </p:txBody>
      </p:sp>
      <p:graphicFrame>
        <p:nvGraphicFramePr>
          <p:cNvPr id="61" name="Chart 0" descr=""/>
          <p:cNvGraphicFramePr/>
          <p:nvPr/>
        </p:nvGraphicFramePr>
        <p:xfrm>
          <a:off x="548640" y="3200400"/>
          <a:ext cx="6949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2" name="Text 59"/>
          <p:cNvSpPr txBox="1"/>
          <p:nvPr/>
        </p:nvSpPr>
        <p:spPr>
          <a:xfrm>
            <a:off x="548640" y="5669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الشهري (مليون ريال)</a:t>
            </a:r>
            <a:endParaRPr lang="en-US" sz="1400" dirty="0"/>
          </a:p>
        </p:txBody>
      </p:sp>
      <p:graphicFrame>
        <p:nvGraphicFramePr>
          <p:cNvPr id="63" name="Chart 1" descr=""/>
          <p:cNvGraphicFramePr/>
          <p:nvPr/>
        </p:nvGraphicFramePr>
        <p:xfrm>
          <a:off x="548640" y="6035040"/>
          <a:ext cx="694944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الجزاءات والغرامات — 2026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والمحصل شهرياً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5" name="Shape 33">
            <a:hlinkClick r:id="rId12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38" name="Shape 36">
            <a:hlinkClick r:id="rId13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0" name="Shape 38">
            <a:hlinkClick r:id="rId14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مقارنة</a:t>
            </a:r>
            <a:endParaRPr lang="en-US" sz="900" dirty="0"/>
          </a:p>
        </p:txBody>
      </p:sp>
      <p:sp>
        <p:nvSpPr>
          <p:cNvPr id="42" name="Shape 40">
            <a:hlinkClick r:id="rId15" tooltip="مقارنة" action="ppaction://hlinksldjump"/>
          </p:cNvPr>
          <p:cNvSpPr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2023</a:t>
            </a:r>
            <a:endParaRPr lang="en-US" sz="900" dirty="0"/>
          </a:p>
        </p:txBody>
      </p:sp>
      <p:sp>
        <p:nvSpPr>
          <p:cNvPr id="44" name="Shape 42">
            <a:hlinkClick r:id="rId16" tooltip="2023" action="ppaction://hlinksldjump"/>
          </p:cNvPr>
          <p:cNvSpPr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2024</a:t>
            </a:r>
            <a:endParaRPr lang="en-US" sz="900" dirty="0"/>
          </a:p>
        </p:txBody>
      </p:sp>
      <p:sp>
        <p:nvSpPr>
          <p:cNvPr id="46" name="Shape 44">
            <a:hlinkClick r:id="rId17" tooltip="2024" action="ppaction://hlinksldjump"/>
          </p:cNvPr>
          <p:cNvSpPr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2025</a:t>
            </a:r>
            <a:endParaRPr lang="en-US" sz="900" dirty="0"/>
          </a:p>
        </p:txBody>
      </p:sp>
      <p:sp>
        <p:nvSpPr>
          <p:cNvPr id="48" name="Shape 46">
            <a:hlinkClick r:id="rId18" tooltip="2025" action="ppaction://hlinksldjump"/>
          </p:cNvPr>
          <p:cNvSpPr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2026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مفوتر السنة</a:t>
            </a:r>
            <a:endParaRPr lang="en-US" sz="1800" dirty="0"/>
          </a:p>
        </p:txBody>
      </p:sp>
      <p:sp>
        <p:nvSpPr>
          <p:cNvPr id="52" name="Text 50"/>
          <p:cNvSpPr txBox="1"/>
          <p:nvPr/>
        </p:nvSpPr>
        <p:spPr>
          <a:xfrm>
            <a:off x="8001000" y="3401568"/>
            <a:ext cx="345643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425196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0.0%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2025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الفترة الماضية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7" name="Shape 55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ذات الشهر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الجزاءات والغرامات الشهرية (مليون ريال)</a:t>
            </a:r>
            <a:endParaRPr lang="en-US" sz="1400" dirty="0"/>
          </a:p>
        </p:txBody>
      </p:sp>
      <p:graphicFrame>
        <p:nvGraphicFramePr>
          <p:cNvPr id="61" name="Chart 0" descr=""/>
          <p:cNvGraphicFramePr/>
          <p:nvPr/>
        </p:nvGraphicFramePr>
        <p:xfrm>
          <a:off x="548640" y="3200400"/>
          <a:ext cx="6949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2" name="Text 59"/>
          <p:cNvSpPr txBox="1"/>
          <p:nvPr/>
        </p:nvSpPr>
        <p:spPr>
          <a:xfrm>
            <a:off x="548640" y="5669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الشهري (مليون ريال)</a:t>
            </a:r>
            <a:endParaRPr lang="en-US" sz="1400" dirty="0"/>
          </a:p>
        </p:txBody>
      </p:sp>
      <p:graphicFrame>
        <p:nvGraphicFramePr>
          <p:cNvPr id="63" name="Chart 1" descr=""/>
          <p:cNvGraphicFramePr/>
          <p:nvPr/>
        </p:nvGraphicFramePr>
        <p:xfrm>
          <a:off x="548640" y="6035040"/>
          <a:ext cx="694944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السيناريو الأول للإقفال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المحصل المتوقع مقابل المستهدف للأشهر المتبقية من 2025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117836" y="2212848"/>
            <a:ext cx="1613916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السيناريو الأول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325612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السيناريو الثاني</a:t>
            </a:r>
            <a:endParaRPr lang="en-US" sz="1200" dirty="0"/>
          </a:p>
        </p:txBody>
      </p:sp>
      <p:sp>
        <p:nvSpPr>
          <p:cNvPr id="36" name="Shape 34">
            <a:hlinkClick r:id="rId12" tooltip="السيناريو الثاني" action="ppaction://hlinksldjump"/>
          </p:cNvPr>
          <p:cNvSpPr/>
          <p:nvPr/>
        </p:nvSpPr>
        <p:spPr>
          <a:xfrm>
            <a:off x="8325612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8" name="Shape 36">
            <a:hlinkClick r:id="rId13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40" name="Shape 38">
            <a:hlinkClick r:id="rId14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3" name="Shape 41">
            <a:hlinkClick r:id="rId15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275320" y="2834640"/>
            <a:ext cx="3456432" cy="2194560"/>
          </a:xfrm>
          <a:prstGeom prst="roundRect">
            <a:avLst>
              <a:gd name="adj" fmla="val 11667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المحصل المتوقع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8549640" y="3401568"/>
            <a:ext cx="290779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2,462.7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8" name="Text 46"/>
          <p:cNvSpPr txBox="1"/>
          <p:nvPr/>
        </p:nvSpPr>
        <p:spPr>
          <a:xfrm>
            <a:off x="8549640" y="46177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20.0%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8275320" y="5166360"/>
            <a:ext cx="3456432" cy="1691640"/>
          </a:xfrm>
          <a:prstGeom prst="roundRect">
            <a:avLst>
              <a:gd name="adj" fmla="val 15135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8549640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8549640" y="5733288"/>
            <a:ext cx="290779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3,076.9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28346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والمستهدف الشهري (مليون ريال)</a:t>
            </a:r>
            <a:endParaRPr lang="en-US" sz="1400" dirty="0"/>
          </a:p>
        </p:txBody>
      </p:sp>
      <p:graphicFrame>
        <p:nvGraphicFramePr>
          <p:cNvPr id="53" name="Chart 0" descr=""/>
          <p:cNvGraphicFramePr/>
          <p:nvPr/>
        </p:nvGraphicFramePr>
        <p:xfrm>
          <a:off x="548640" y="3200400"/>
          <a:ext cx="74980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6"/>
          </a:graphicData>
        </a:graphic>
      </p:graphicFrame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486400"/>
          <a:ext cx="74980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645920"/>
                <a:gridCol w="2194560"/>
              </a:tblGrid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المحصل عن المستهدف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مستهدف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محصل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562.3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2B8A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461.3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25.0%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590.8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443.1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B9A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21.7%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536.5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8C4B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420.3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BBD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451.3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DE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20.3%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499.1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D6C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397.5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DED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15.2%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436.8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نقل الملكية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السيناريو الثاني للإقفال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المحصل المتوقع مقابل المستهدف للأشهر المتبقية من 2025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117836" y="2212848"/>
            <a:ext cx="1613916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السيناريو الأول</a:t>
            </a:r>
            <a:endParaRPr lang="en-US" sz="1200" dirty="0"/>
          </a:p>
        </p:txBody>
      </p:sp>
      <p:sp>
        <p:nvSpPr>
          <p:cNvPr id="35" name="Shape 33">
            <a:hlinkClick r:id="rId12" tooltip="السيناريو الأول" action="ppaction://hlinksldjump"/>
          </p:cNvPr>
          <p:cNvSpPr/>
          <p:nvPr/>
        </p:nvSpPr>
        <p:spPr>
          <a:xfrm>
            <a:off x="10117836" y="2212848"/>
            <a:ext cx="1613916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325612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السيناريو الثاني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8" name="Shape 36">
            <a:hlinkClick r:id="rId13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40" name="Shape 38">
            <a:hlinkClick r:id="rId14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3" name="Shape 41">
            <a:hlinkClick r:id="rId15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275320" y="2834640"/>
            <a:ext cx="3456432" cy="2194560"/>
          </a:xfrm>
          <a:prstGeom prst="roundRect">
            <a:avLst>
              <a:gd name="adj" fmla="val 11667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المحصل المتوقع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8549640" y="3401568"/>
            <a:ext cx="290779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2,462.7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8" name="Text 46"/>
          <p:cNvSpPr txBox="1"/>
          <p:nvPr/>
        </p:nvSpPr>
        <p:spPr>
          <a:xfrm>
            <a:off x="8549640" y="46177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20.0%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8275320" y="5166360"/>
            <a:ext cx="3456432" cy="1691640"/>
          </a:xfrm>
          <a:prstGeom prst="roundRect">
            <a:avLst>
              <a:gd name="adj" fmla="val 15135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8549640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8549640" y="5733288"/>
            <a:ext cx="290779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3,076.9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28346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والمستهدف الشهري (مليون ريال)</a:t>
            </a:r>
            <a:endParaRPr lang="en-US" sz="1400" dirty="0"/>
          </a:p>
        </p:txBody>
      </p:sp>
      <p:graphicFrame>
        <p:nvGraphicFramePr>
          <p:cNvPr id="53" name="Chart 0" descr=""/>
          <p:cNvGraphicFramePr/>
          <p:nvPr/>
        </p:nvGraphicFramePr>
        <p:xfrm>
          <a:off x="548640" y="3200400"/>
          <a:ext cx="74980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6"/>
          </a:graphicData>
        </a:graphic>
      </p:graphicFrame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486400"/>
          <a:ext cx="74980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645920"/>
                <a:gridCol w="2194560"/>
              </a:tblGrid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المحصل عن المستهدف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مستهدف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محصل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562.3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2B8A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461.3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25.0%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590.8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443.1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B9A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21.7%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536.5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8C4B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420.3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BBD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451.3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DE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20.3%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499.1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D6C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397.5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DED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15.2%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436.8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نقل الملكية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التنفيذ والاسترداد — الإجمالي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حسب التبويب — مليون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25912" y="2212848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الإجمالي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281160" y="2212848"/>
            <a:ext cx="135331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36" name="Shape 34">
            <a:hlinkClick r:id="rId12" tooltip="مدينة الرياض" action="ppaction://hlinksldjump"/>
          </p:cNvPr>
          <p:cNvSpPr/>
          <p:nvPr/>
        </p:nvSpPr>
        <p:spPr>
          <a:xfrm>
            <a:off x="9281160" y="2212848"/>
            <a:ext cx="135331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66267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38" name="Shape 36">
            <a:hlinkClick r:id="rId13" tooltip="بلديات المنطقة" action="ppaction://hlinksldjump"/>
          </p:cNvPr>
          <p:cNvSpPr/>
          <p:nvPr/>
        </p:nvSpPr>
        <p:spPr>
          <a:xfrm>
            <a:off x="766267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40" name="Shape 38">
            <a:hlinkClick r:id="rId14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42" name="Shape 40">
            <a:hlinkClick r:id="rId15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4" name="Shape 42">
            <a:hlinkClick r:id="rId16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988552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262872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قيمة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262872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1,309.5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0" name="Shape 48"/>
          <p:cNvSpPr/>
          <p:nvPr/>
        </p:nvSpPr>
        <p:spPr>
          <a:xfrm>
            <a:off x="6144768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6419088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المنفذ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6419088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409.3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3" name="Shape 51"/>
          <p:cNvSpPr/>
          <p:nvPr/>
        </p:nvSpPr>
        <p:spPr>
          <a:xfrm>
            <a:off x="3300984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3575304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الاسترداد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3575304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77.0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6" name="Shape 54"/>
          <p:cNvSpPr/>
          <p:nvPr/>
        </p:nvSpPr>
        <p:spPr>
          <a:xfrm>
            <a:off x="457200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0B6B73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31520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استرداد فعلي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31520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59.0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183112" cy="914400"/>
        </p:xfrm>
        <a:graphic>
          <a:graphicData uri="http://schemas.openxmlformats.org/drawingml/2006/table">
            <a:tbl>
              <a:tblPr/>
              <a:tblGrid>
                <a:gridCol w="2039112"/>
                <a:gridCol w="2011680"/>
                <a:gridCol w="2011680"/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استرداد فعلي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إجمالي الاسترداد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المنفذ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قيمة الفواتير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26.4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D3C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42.8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CBB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253.2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6B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795.4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7B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13.2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3D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14.1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6D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60.4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18.4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DD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19.1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E2D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109.5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0D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DD3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20.8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59.0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77.0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409.3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1,309.5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الإجمالي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التنفيذ والاسترداد — مدينة الرياض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حسب التبويب — مليون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25912" y="2212848"/>
            <a:ext cx="1005840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الإجمالي</a:t>
            </a:r>
            <a:endParaRPr lang="en-US" sz="1200" dirty="0"/>
          </a:p>
        </p:txBody>
      </p:sp>
      <p:sp>
        <p:nvSpPr>
          <p:cNvPr id="35" name="Shape 33">
            <a:hlinkClick r:id="rId12" tooltip="الإجمالي" action="ppaction://hlinksldjump"/>
          </p:cNvPr>
          <p:cNvSpPr/>
          <p:nvPr/>
        </p:nvSpPr>
        <p:spPr>
          <a:xfrm>
            <a:off x="10725912" y="2212848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281160" y="2212848"/>
            <a:ext cx="135331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66267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38" name="Shape 36">
            <a:hlinkClick r:id="rId13" tooltip="بلديات المنطقة" action="ppaction://hlinksldjump"/>
          </p:cNvPr>
          <p:cNvSpPr/>
          <p:nvPr/>
        </p:nvSpPr>
        <p:spPr>
          <a:xfrm>
            <a:off x="766267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40" name="Shape 38">
            <a:hlinkClick r:id="rId14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42" name="Shape 40">
            <a:hlinkClick r:id="rId15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4" name="Shape 42">
            <a:hlinkClick r:id="rId16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988552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262872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قيمة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262872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1,186.9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0" name="Shape 48"/>
          <p:cNvSpPr/>
          <p:nvPr/>
        </p:nvSpPr>
        <p:spPr>
          <a:xfrm>
            <a:off x="6144768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6419088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المنفذ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6419088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335.2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3" name="Shape 51"/>
          <p:cNvSpPr/>
          <p:nvPr/>
        </p:nvSpPr>
        <p:spPr>
          <a:xfrm>
            <a:off x="3300984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3575304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الاسترداد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3575304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67.3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6" name="Shape 54"/>
          <p:cNvSpPr/>
          <p:nvPr/>
        </p:nvSpPr>
        <p:spPr>
          <a:xfrm>
            <a:off x="457200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0B6B73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31520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استرداد فعلي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31520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52.8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183112" cy="914400"/>
        </p:xfrm>
        <a:graphic>
          <a:graphicData uri="http://schemas.openxmlformats.org/drawingml/2006/table">
            <a:tbl>
              <a:tblPr/>
              <a:tblGrid>
                <a:gridCol w="2039112"/>
                <a:gridCol w="2011680"/>
                <a:gridCol w="2011680"/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استرداد فعلي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إجمالي الاسترداد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المنفذ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قيمة الفواتير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D7C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33.5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CFC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183.3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CCB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708.7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8B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13.1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E2D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5D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EE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39.6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D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18.8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FD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105.3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DD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391.0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DCD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47.6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52.8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67.3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335.2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1,186.9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الإجمالي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التنفيذ والاسترداد — بلديات المنطقة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حسب التبويب — مليون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25912" y="2212848"/>
            <a:ext cx="1005840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الإجمالي</a:t>
            </a:r>
            <a:endParaRPr lang="en-US" sz="1200" dirty="0"/>
          </a:p>
        </p:txBody>
      </p:sp>
      <p:sp>
        <p:nvSpPr>
          <p:cNvPr id="35" name="Shape 33">
            <a:hlinkClick r:id="rId12" tooltip="الإجمالي" action="ppaction://hlinksldjump"/>
          </p:cNvPr>
          <p:cNvSpPr/>
          <p:nvPr/>
        </p:nvSpPr>
        <p:spPr>
          <a:xfrm>
            <a:off x="10725912" y="2212848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281160" y="2212848"/>
            <a:ext cx="135331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37" name="Shape 35">
            <a:hlinkClick r:id="rId13" tooltip="مدينة الرياض" action="ppaction://hlinksldjump"/>
          </p:cNvPr>
          <p:cNvSpPr/>
          <p:nvPr/>
        </p:nvSpPr>
        <p:spPr>
          <a:xfrm>
            <a:off x="9281160" y="2212848"/>
            <a:ext cx="135331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66267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40" name="Shape 38">
            <a:hlinkClick r:id="rId14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42" name="Shape 40">
            <a:hlinkClick r:id="rId15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4" name="Shape 42">
            <a:hlinkClick r:id="rId16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988552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262872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قيمة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262872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122.5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0" name="Shape 48"/>
          <p:cNvSpPr/>
          <p:nvPr/>
        </p:nvSpPr>
        <p:spPr>
          <a:xfrm>
            <a:off x="6144768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6419088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المنفذ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6419088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74.1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3" name="Shape 51"/>
          <p:cNvSpPr/>
          <p:nvPr/>
        </p:nvSpPr>
        <p:spPr>
          <a:xfrm>
            <a:off x="3300984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3575304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الاسترداد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3575304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9.7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6" name="Shape 54"/>
          <p:cNvSpPr/>
          <p:nvPr/>
        </p:nvSpPr>
        <p:spPr>
          <a:xfrm>
            <a:off x="457200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0B6B73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31520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استرداد فعلي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31520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6.2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183112" cy="914400"/>
        </p:xfrm>
        <a:graphic>
          <a:graphicData uri="http://schemas.openxmlformats.org/drawingml/2006/table">
            <a:tbl>
              <a:tblPr/>
              <a:tblGrid>
                <a:gridCol w="2039112"/>
                <a:gridCol w="2011680"/>
                <a:gridCol w="2011680"/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استرداد فعلي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إجمالي الاسترداد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المنفذ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قيمة الفواتير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B09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9.3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1AE9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2AE9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86.7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C0A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7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0.4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0.4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4.2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BE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6.2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74.1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122.5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الإجمالي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32" name="Image 0" descr="/home/user/test4/assets/ph-nigh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371600"/>
            <a:ext cx="5394960" cy="603504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309360" y="237744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المديونية والاستقطاع</a:t>
            </a:r>
            <a:endParaRPr lang="en-US" sz="4800" dirty="0"/>
          </a:p>
        </p:txBody>
      </p:sp>
      <p:sp>
        <p:nvSpPr>
          <p:cNvPr id="34" name="Shape 31"/>
          <p:cNvSpPr/>
          <p:nvPr/>
        </p:nvSpPr>
        <p:spPr>
          <a:xfrm>
            <a:off x="6309360" y="3657600"/>
            <a:ext cx="5422392" cy="1408176"/>
          </a:xfrm>
          <a:prstGeom prst="roundRect">
            <a:avLst>
              <a:gd name="adj" fmla="val 19481"/>
            </a:avLst>
          </a:prstGeom>
          <a:solidFill>
            <a:srgbClr val="006A46"/>
          </a:solidFill>
          <a:ln/>
        </p:spPr>
      </p:sp>
      <p:sp>
        <p:nvSpPr>
          <p:cNvPr id="35" name="Shape 32"/>
          <p:cNvSpPr/>
          <p:nvPr/>
        </p:nvSpPr>
        <p:spPr>
          <a:xfrm>
            <a:off x="11320272" y="4069080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583680" y="3886200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المديونية حسب التبويب وسنة النشوء</a:t>
            </a:r>
            <a:endParaRPr lang="en-US" sz="1600" dirty="0"/>
          </a:p>
        </p:txBody>
      </p:sp>
      <p:sp>
        <p:nvSpPr>
          <p:cNvPr id="37" name="Shape 34">
            <a:hlinkClick r:id="rId13" tooltip="المديونية حسب التبويب وسنة النشوء" action="ppaction://hlinksldjump"/>
          </p:cNvPr>
          <p:cNvSpPr/>
          <p:nvPr/>
        </p:nvSpPr>
        <p:spPr>
          <a:xfrm>
            <a:off x="6492240" y="3886200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320272" y="4544568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583680" y="4361688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الاستقطاع</a:t>
            </a:r>
            <a:endParaRPr lang="en-US" sz="1600" dirty="0"/>
          </a:p>
        </p:txBody>
      </p:sp>
      <p:sp>
        <p:nvSpPr>
          <p:cNvPr id="40" name="Shape 37">
            <a:hlinkClick r:id="rId14" tooltip="الاستقطاع" action="ppaction://hlinksldjump"/>
          </p:cNvPr>
          <p:cNvSpPr/>
          <p:nvPr/>
        </p:nvSpPr>
        <p:spPr>
          <a:xfrm>
            <a:off x="6492240" y="4361688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المديونية — نظرة عامة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رصيد المديونية حسب التبويب — مليون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6" name="Shape 34">
            <a:hlinkClick r:id="rId12" tooltip="إيرادات ا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8" name="Shape 36">
            <a:hlinkClick r:id="rId13" tooltip="جزاءات وغرامات" action="ppaction://hlinksldjump"/>
          </p:cNvPr>
          <p:cNvSpPr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0" name="Shape 38">
            <a:hlinkClick r:id="rId14" tooltip="التبغ والإيواء" action="ppaction://hlinksldjump"/>
          </p:cNvPr>
          <p:cNvSpPr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2" name="Shape 40">
            <a:hlinkClick r:id="rId15" tooltip="أخرى" action="ppaction://hlinksldjump"/>
          </p:cNvPr>
          <p:cNvSpPr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45" name="Shape 43">
            <a:hlinkClick r:id="rId16" tooltip="الاستقطاع" action="ppaction://hlinksldjump"/>
          </p:cNvPr>
          <p:cNvSpPr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75320" y="2834640"/>
            <a:ext cx="345643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رصيد المديونية الإجمالي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3401568"/>
            <a:ext cx="2907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2,720.2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8549640" y="425196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المتبقي 2,326.4 مليون ريال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75320" y="480060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549640" y="496519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ما تم سداده السنة الحالية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549640" y="536752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368.3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Shape 52"/>
          <p:cNvSpPr/>
          <p:nvPr/>
        </p:nvSpPr>
        <p:spPr>
          <a:xfrm>
            <a:off x="8275320" y="630936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549640" y="6473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الملغي من المديونية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549640" y="687628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49.4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371600"/>
                <a:gridCol w="1280160"/>
                <a:gridCol w="1371600"/>
                <a:gridCol w="2194560"/>
              </a:tblGrid>
              <a:tr h="5486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الملغي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ما تم سداده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المتبقي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الرصيد الإجمالي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DD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172.1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D3C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373.1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560.8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7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إيرادات استثمارية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28.6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9B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166.1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D4C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1,672.0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C0A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1,851.7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C3B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5.2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CE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195.7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202.6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85.7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49.4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368.3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2,326.4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2,720.2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الإجمالي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58" name="Text 55"/>
          <p:cNvSpPr txBox="1"/>
          <p:nvPr/>
        </p:nvSpPr>
        <p:spPr>
          <a:xfrm>
            <a:off x="548640" y="644652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المتبقي من المديونية 2,326.4 مليون ريال من رصيد إجمالي 2,720.2 مليون ريال؛ سُدّد منها خلال السنة الحالية 368.3 مليون ريال.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استثمارية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المديونية حسب سنة النشوء — ألف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8" name="Shape 36">
            <a:hlinkClick r:id="rId13" tooltip="جزاءات وغرامات" action="ppaction://hlinksldjump"/>
          </p:cNvPr>
          <p:cNvSpPr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0" name="Shape 38">
            <a:hlinkClick r:id="rId14" tooltip="التبغ والإيواء" action="ppaction://hlinksldjump"/>
          </p:cNvPr>
          <p:cNvSpPr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2" name="Shape 40">
            <a:hlinkClick r:id="rId15" tooltip="أخرى" action="ppaction://hlinksldjump"/>
          </p:cNvPr>
          <p:cNvSpPr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45" name="Shape 43">
            <a:hlinkClick r:id="rId16" tooltip="الاستقطاع" action="ppaction://hlinksldjump"/>
          </p:cNvPr>
          <p:cNvSpPr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75320" y="2834640"/>
            <a:ext cx="345643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رصيد المديونية الإجمالي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3401568"/>
            <a:ext cx="2907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560.8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8549640" y="425196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المتبقي 373.1 مليون ريال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75320" y="480060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549640" y="496519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ما تم سداده السنة الحالية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549640" y="536752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172.1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Shape 52"/>
          <p:cNvSpPr/>
          <p:nvPr/>
        </p:nvSpPr>
        <p:spPr>
          <a:xfrm>
            <a:off x="8275320" y="630936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549640" y="6473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الملغي من المديونية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549640" y="687628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15.6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554480"/>
                <a:gridCol w="1737360"/>
                <a:gridCol w="1463040"/>
              </a:tblGrid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الملغي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ما تم سداده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المتبقي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الرصيد الإجمالي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سنة النشوء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10,345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115,807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85,941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212,092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2,275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4D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21,289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6D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56,988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C3B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80,552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D8C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1,396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5,360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31,315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9C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38,070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7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459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14,644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36,890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D4C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51,994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1,944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66,460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BBA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68,508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CD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1,741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14,330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16,115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EE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1,688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20,917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22,635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2,808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10,682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13,656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185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1,166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26,591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DD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27,942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170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588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5,518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6,276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731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6,946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EE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7,709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3,780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4,066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1,206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1,265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544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4,043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5,002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9,108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2009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جزاءات وغرامات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المديونية حسب سنة النشوء — ألف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ا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0" name="Shape 38">
            <a:hlinkClick r:id="rId14" tooltip="التبغ والإيواء" action="ppaction://hlinksldjump"/>
          </p:cNvPr>
          <p:cNvSpPr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2" name="Shape 40">
            <a:hlinkClick r:id="rId15" tooltip="أخرى" action="ppaction://hlinksldjump"/>
          </p:cNvPr>
          <p:cNvSpPr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45" name="Shape 43">
            <a:hlinkClick r:id="rId16" tooltip="الاستقطاع" action="ppaction://hlinksldjump"/>
          </p:cNvPr>
          <p:cNvSpPr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75320" y="2834640"/>
            <a:ext cx="345643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رصيد المديونية الإجمالي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3401568"/>
            <a:ext cx="2907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1,851.7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8549640" y="425196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المتبقي 1,672.0 مليون ريال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75320" y="480060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549640" y="496519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ما تم سداده السنة الحالية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549640" y="536752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166.1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Shape 52"/>
          <p:cNvSpPr/>
          <p:nvPr/>
        </p:nvSpPr>
        <p:spPr>
          <a:xfrm>
            <a:off x="8275320" y="630936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549640" y="6473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الملغي من المديونية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549640" y="687628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28.6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554480"/>
                <a:gridCol w="1737360"/>
                <a:gridCol w="1463040"/>
              </a:tblGrid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الملغي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ما تم سداده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المتبقي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الرصيد الإجمالي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سنة النشوء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24,320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114,362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582,855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713,370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2,730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41,041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9C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443,156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BCA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482,712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4C2B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778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4,127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254,204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D4C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257,752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9CE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721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4,064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164,569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FD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169,075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1,963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88,168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9E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89,505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423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47,528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EE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47,710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40,005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40,048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24,386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24,403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7,930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7,930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6,378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6,378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2,527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2,531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2,491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2,491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1,812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1,812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1,057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1,057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1,284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1,284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1,173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1,173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2009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1,073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1,073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2008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2007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التبغ والإيواء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المديونية حسب سنة النشوء — ألف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ا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9" name="Shape 37">
            <a:hlinkClick r:id="rId14" tooltip="جزاءات وغرامات" action="ppaction://hlinksldjump"/>
          </p:cNvPr>
          <p:cNvSpPr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2" name="Shape 40">
            <a:hlinkClick r:id="rId15" tooltip="أخرى" action="ppaction://hlinksldjump"/>
          </p:cNvPr>
          <p:cNvSpPr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45" name="Shape 43">
            <a:hlinkClick r:id="rId16" tooltip="الاستقطاع" action="ppaction://hlinksldjump"/>
          </p:cNvPr>
          <p:cNvSpPr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75320" y="2834640"/>
            <a:ext cx="345643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رصيد المديونية الإجمالي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3401568"/>
            <a:ext cx="2907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202.6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8549640" y="425196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المتبقي 195.7 مليون ريال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75320" y="480060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549640" y="496519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ما تم سداده السنة الحالية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549640" y="536752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10.8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Shape 52"/>
          <p:cNvSpPr/>
          <p:nvPr/>
        </p:nvSpPr>
        <p:spPr>
          <a:xfrm>
            <a:off x="8275320" y="630936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549640" y="6473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الملغي من المديونية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549640" y="687628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554480"/>
                <a:gridCol w="1737360"/>
                <a:gridCol w="1463040"/>
              </a:tblGrid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الملغي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ما تم سداده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المتبقي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الرصيد الإجمالي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سنة النشوء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4,312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8,143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62,719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BCA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67,637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B9A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809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6D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2,124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1D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83,265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84,954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13,603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13,685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16,711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5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16,768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5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225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5,402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5,586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8,784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8,814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CE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4,669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4,669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502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502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أخرى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المديونية حسب سنة النشوء — ألف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ا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9" name="Shape 37">
            <a:hlinkClick r:id="rId14" tooltip="جزاءات وغرامات" action="ppaction://hlinksldjump"/>
          </p:cNvPr>
          <p:cNvSpPr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1" name="Shape 39">
            <a:hlinkClick r:id="rId15" tooltip="التبغ والإيواء" action="ppaction://hlinksldjump"/>
          </p:cNvPr>
          <p:cNvSpPr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أخرى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45" name="Shape 43">
            <a:hlinkClick r:id="rId16" tooltip="الاستقطاع" action="ppaction://hlinksldjump"/>
          </p:cNvPr>
          <p:cNvSpPr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75320" y="2834640"/>
            <a:ext cx="345643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رصيد المديونية الإجمالي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3401568"/>
            <a:ext cx="2907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105.1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8549640" y="425196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المتبقي 85.7 مليون ريال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75320" y="480060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549640" y="496519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ما تم سداده السنة الحالية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549640" y="536752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19.3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Shape 52"/>
          <p:cNvSpPr/>
          <p:nvPr/>
        </p:nvSpPr>
        <p:spPr>
          <a:xfrm>
            <a:off x="8275320" y="630936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549640" y="6473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الملغي من المديونية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549640" y="687628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554480"/>
                <a:gridCol w="1737360"/>
                <a:gridCol w="1463040"/>
              </a:tblGrid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الملغي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ما تم سداده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المتبقي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الرصيد الإجمالي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سنة النشوء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19,282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78,237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97,554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3,959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3,959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442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442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439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439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173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173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537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537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1,602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1,602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2009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الاستقطاع من الإيراد — 2025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حسب التنظيم الإداري والتبويب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5" name="Shape 33">
            <a:hlinkClick r:id="rId12" tooltip="المديونية" action="ppaction://hlinksldjump"/>
          </p:cNvPr>
          <p:cNvSpPr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64592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" y="2212848"/>
            <a:ext cx="731520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2026</a:t>
            </a:r>
            <a:endParaRPr lang="en-US" sz="1100" dirty="0"/>
          </a:p>
        </p:txBody>
      </p:sp>
      <p:sp>
        <p:nvSpPr>
          <p:cNvPr id="39" name="Shape 37">
            <a:hlinkClick r:id="rId13" tooltip="2026" action="ppaction://hlinksldjump"/>
          </p:cNvPr>
          <p:cNvSpPr/>
          <p:nvPr/>
        </p:nvSpPr>
        <p:spPr>
          <a:xfrm>
            <a:off x="82296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092440" y="2834640"/>
            <a:ext cx="3639312" cy="1280160"/>
          </a:xfrm>
          <a:prstGeom prst="roundRect">
            <a:avLst>
              <a:gd name="adj" fmla="val 20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استقطاع الأمانة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8366760" y="3401568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152.5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3" name="Shape 41"/>
          <p:cNvSpPr/>
          <p:nvPr/>
        </p:nvSpPr>
        <p:spPr>
          <a:xfrm>
            <a:off x="8092440" y="425196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366760" y="44165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الإيرادات الفعلية للأمانة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366760" y="481888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1,016.8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46" name="Shape 44"/>
          <p:cNvSpPr/>
          <p:nvPr/>
        </p:nvSpPr>
        <p:spPr>
          <a:xfrm>
            <a:off x="8092440" y="557784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8366760" y="57424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الاستقطاع لكافة الأمانات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8366760" y="614476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595.0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49" name="Shape 47"/>
          <p:cNvSpPr/>
          <p:nvPr/>
        </p:nvSpPr>
        <p:spPr>
          <a:xfrm>
            <a:off x="8092440" y="690372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0B6B73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8366760" y="706831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إيرادات كافة الأمانات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8366760" y="747064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3,966.5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الإيراد والمستقطع حسب التنظيم الإداري والتبويب (مليون ريال)</a:t>
            </a:r>
            <a:endParaRPr lang="en-US" sz="14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7315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3200400"/>
              </a:tblGrid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نسبة الاستقطاع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المستقطع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الإيراد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التنظيم الإداري — التبويب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91.2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608.0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مدينة الرياض — الرسوم والتراخيص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CEC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318.9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CEC0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مدينة الرياض — التبغ والإيواء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84.3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المنطقة — الرسوم والتراخيص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5.7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المنطقة — التبغ والإيواء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54" name="Text 51"/>
          <p:cNvSpPr txBox="1"/>
          <p:nvPr/>
        </p:nvSpPr>
        <p:spPr>
          <a:xfrm>
            <a:off x="4663440" y="5989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مدينة الرياض — الرسوم والتراخيص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1417320" y="603961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6" name="Shape 53"/>
          <p:cNvSpPr/>
          <p:nvPr/>
        </p:nvSpPr>
        <p:spPr>
          <a:xfrm>
            <a:off x="1417320" y="603961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548640" y="59893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91.2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663440" y="6400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مدينة الرياض — التبغ والإيواء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1417320" y="645109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0" name="Shape 57"/>
          <p:cNvSpPr/>
          <p:nvPr/>
        </p:nvSpPr>
        <p:spPr>
          <a:xfrm>
            <a:off x="2895662" y="6451092"/>
            <a:ext cx="1630618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48640" y="6400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47.8</a:t>
            </a:r>
            <a:endParaRPr lang="en-US" sz="1100" dirty="0"/>
          </a:p>
        </p:txBody>
      </p:sp>
      <p:sp>
        <p:nvSpPr>
          <p:cNvPr id="62" name="Text 59"/>
          <p:cNvSpPr txBox="1"/>
          <p:nvPr/>
        </p:nvSpPr>
        <p:spPr>
          <a:xfrm>
            <a:off x="4663440" y="6812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بلديات المنطقة — الرسوم والتراخيص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1417320" y="686257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4" name="Shape 61"/>
          <p:cNvSpPr/>
          <p:nvPr/>
        </p:nvSpPr>
        <p:spPr>
          <a:xfrm>
            <a:off x="4095409" y="6862572"/>
            <a:ext cx="430871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548640" y="68122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12.6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4663440" y="7223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بلديات المنطقة — التبغ والإيواء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1417320" y="727405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8" name="Shape 65"/>
          <p:cNvSpPr/>
          <p:nvPr/>
        </p:nvSpPr>
        <p:spPr>
          <a:xfrm>
            <a:off x="4343400" y="727405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74A4D4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48640" y="72237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0.9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الاستقطاع من الإيراد — 2026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حسب التنظيم الإداري والتبويب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5" name="Shape 33">
            <a:hlinkClick r:id="rId12" tooltip="المديونية" action="ppaction://hlinksldjump"/>
          </p:cNvPr>
          <p:cNvSpPr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645920" y="2212848"/>
            <a:ext cx="731520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2025</a:t>
            </a:r>
            <a:endParaRPr lang="en-US" sz="1100" dirty="0"/>
          </a:p>
        </p:txBody>
      </p:sp>
      <p:sp>
        <p:nvSpPr>
          <p:cNvPr id="38" name="Shape 36">
            <a:hlinkClick r:id="rId13" tooltip="2025" action="ppaction://hlinksldjump"/>
          </p:cNvPr>
          <p:cNvSpPr/>
          <p:nvPr/>
        </p:nvSpPr>
        <p:spPr>
          <a:xfrm>
            <a:off x="164592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2296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092440" y="2834640"/>
            <a:ext cx="3639312" cy="1280160"/>
          </a:xfrm>
          <a:prstGeom prst="roundRect">
            <a:avLst>
              <a:gd name="adj" fmla="val 20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استقطاع الأمانة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8366760" y="3401568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111.0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3" name="Shape 41"/>
          <p:cNvSpPr/>
          <p:nvPr/>
        </p:nvSpPr>
        <p:spPr>
          <a:xfrm>
            <a:off x="8092440" y="425196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366760" y="44165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الإيرادات الفعلية للأمانة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366760" y="481888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657.1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46" name="Shape 44"/>
          <p:cNvSpPr/>
          <p:nvPr/>
        </p:nvSpPr>
        <p:spPr>
          <a:xfrm>
            <a:off x="8092440" y="557784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8366760" y="57424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الاستقطاع لكافة الأمانات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8366760" y="614476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468.2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49" name="Shape 47"/>
          <p:cNvSpPr/>
          <p:nvPr/>
        </p:nvSpPr>
        <p:spPr>
          <a:xfrm>
            <a:off x="8092440" y="690372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0B6B73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8366760" y="706831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إيرادات كافة الأمانات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8366760" y="747064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2,972.4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الإيراد والمستقطع حسب التنظيم الإداري والتبويب (مليون ريال)</a:t>
            </a:r>
            <a:endParaRPr lang="en-US" sz="14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7315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3200400"/>
              </a:tblGrid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نسبة الاستقطاع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المستقطع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الإيراد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التنظيم الإداري — التبويب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17.0%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71.4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420.1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مدينة الرياض — الرسوم والتراخيص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16.7%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D6C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176.0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5C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مدينة الرياض — التبغ والإيواء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16.9%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57.0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المنطقة — الرسوم والتراخيص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15.9%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المنطقة — التبغ والإيواء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54" name="Text 51"/>
          <p:cNvSpPr txBox="1"/>
          <p:nvPr/>
        </p:nvSpPr>
        <p:spPr>
          <a:xfrm>
            <a:off x="4663440" y="5989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مدينة الرياض — الرسوم والتراخيص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1417320" y="603961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6" name="Shape 53"/>
          <p:cNvSpPr/>
          <p:nvPr/>
        </p:nvSpPr>
        <p:spPr>
          <a:xfrm>
            <a:off x="1417320" y="603961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548640" y="59893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71.4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663440" y="6400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مدينة الرياض — التبغ والإيواء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1417320" y="645109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0" name="Shape 57"/>
          <p:cNvSpPr/>
          <p:nvPr/>
        </p:nvSpPr>
        <p:spPr>
          <a:xfrm>
            <a:off x="3250934" y="6451092"/>
            <a:ext cx="1275346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48640" y="6400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29.3</a:t>
            </a:r>
            <a:endParaRPr lang="en-US" sz="1100" dirty="0"/>
          </a:p>
        </p:txBody>
      </p:sp>
      <p:sp>
        <p:nvSpPr>
          <p:cNvPr id="62" name="Text 59"/>
          <p:cNvSpPr txBox="1"/>
          <p:nvPr/>
        </p:nvSpPr>
        <p:spPr>
          <a:xfrm>
            <a:off x="4663440" y="6812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بلديات المنطقة — الرسوم والتراخيص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1417320" y="686257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4" name="Shape 61"/>
          <p:cNvSpPr/>
          <p:nvPr/>
        </p:nvSpPr>
        <p:spPr>
          <a:xfrm>
            <a:off x="4106358" y="6862572"/>
            <a:ext cx="419922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548640" y="68122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9.6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4663440" y="7223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بلديات المنطقة — التبغ والإيواء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1417320" y="727405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8" name="Shape 65"/>
          <p:cNvSpPr/>
          <p:nvPr/>
        </p:nvSpPr>
        <p:spPr>
          <a:xfrm>
            <a:off x="4343400" y="727405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74A4D4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48640" y="72237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0.6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Shape 28">
            <a:hlinkClick r:id="rId11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إخلاء المسؤولية</a:t>
            </a:r>
            <a:endParaRPr lang="en-US" sz="3600" dirty="0"/>
          </a:p>
        </p:txBody>
      </p:sp>
      <p:pic>
        <p:nvPicPr>
          <p:cNvPr id="33" name="Image 0" descr="/home/user/test4/assets/ph-nigh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188720"/>
            <a:ext cx="4206240" cy="475488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5212080" y="2103120"/>
            <a:ext cx="6519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أُعدّ هذا التقرير من بيانات ملف الإيرادات لأمانة منطقة الرياض لأغراض المتابعة الداخلية ودعم اتخاذ القرار، وهو يعكس البيانات المتاحة وقت إعداده وقد تتغير بعد ورود تحصيلات أو فواتير جديدة.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212080" y="3017520"/>
            <a:ext cx="6519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ولا تتحمل الأمانة مسؤولية أي قرار يُتخذ بالاعتماد على هذا التقرير وحده دون مراجعة المصادر الأصلية.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212080" y="3931920"/>
            <a:ext cx="6519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لا يجوز نسخ هذا التقرير أو تداوله خارج الجهات المصرّح لها دون إذن مسبق من الأمانة.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212080" y="4937760"/>
            <a:ext cx="6519672" cy="210312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5486400" y="50292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تواصل معنا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5486400" y="5577840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785"/>
                </a:solidFill>
              </a:rPr>
              <a:t>أمانة منطقة الرياض — إدارة متابعة الإيرادات. للاستفسار عن بيانات هذا التقرير أو طلب نسخة محدّثة، يرجى التواصل مع الفريق المختص.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Shape 28">
            <a:hlinkClick r:id="rId11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مصادر البيانات والملاحظات</a:t>
            </a:r>
            <a:endParaRPr lang="en-US" sz="3600" dirty="0"/>
          </a:p>
        </p:txBody>
      </p:sp>
      <p:sp>
        <p:nvSpPr>
          <p:cNvPr id="33" name="Shape 31"/>
          <p:cNvSpPr/>
          <p:nvPr/>
        </p:nvSpPr>
        <p:spPr>
          <a:xfrm>
            <a:off x="11567160" y="244144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228600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جميع البيانات مسجّلة حسب السنة والتبويب؛ البنود التفصيلية (الحسابات) مجمّعة على مستوى التبويب.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11567160" y="321868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" y="306324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الشيتات التي لا تحتوي عمود سنة نُسبت إلى 2026 (الإيراد للشهر الحالي، القطاع، التنفيذ والاسترداد، الاستثمارية).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67160" y="399592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" y="384048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نسب الفعلي عن المقدر والمستهدف والسنة الماضية محسوبة من الأرقام الخام (الفعلي ÷ القاعدة − 1).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11567160" y="477316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461772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إجمالي منطقة الرياض = مدينة الرياض + بلديات المنطقة، ولا تُجمع الثلاثة معاً تفادياً للتكرار.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67160" y="555040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539496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بيانات سيناريو الإقفال الأول والثاني متطابقة في الملف المصدر.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1567160" y="632764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617220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المبالغ بالمليون ريال سعودي ما لم يُذكر خلاف ذلك، والأرقام مقرّبة وقد لا تتطابق المجاميع نتيجة لعمليات التقريب.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67160" y="710488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694944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تواريخ الفترات: الإيراد حتى تاريخه لشهر أغسطس، والمفوتر وتبويبات الوزارة حتى أحدث شهر في الملف.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22792"/>
          </a:xfrm>
          <a:prstGeom prst="rect">
            <a:avLst/>
          </a:prstGeom>
          <a:solidFill>
            <a:srgbClr val="006A46"/>
          </a:solidFill>
          <a:ln/>
        </p:spPr>
      </p:sp>
      <p:sp>
        <p:nvSpPr>
          <p:cNvPr id="3" name="Shape 1"/>
          <p:cNvSpPr/>
          <p:nvPr/>
        </p:nvSpPr>
        <p:spPr>
          <a:xfrm>
            <a:off x="5120640" y="2743200"/>
            <a:ext cx="1947672" cy="2103120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/>
        </p:spPr>
      </p:sp>
      <p:pic>
        <p:nvPicPr>
          <p:cNvPr id="4" name="Image 0" descr="/home/user/test4/assets/logo-am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6088" y="2880360"/>
            <a:ext cx="1645920" cy="1783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5212080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أمانة منطقة الرياض | الإيرادات حسب السنة والتبويب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ana Revenue Report">
  <a:themeElements>
    <a:clrScheme name="Amana Revenue Report">
      <a:dk1>
        <a:srgbClr val="1F2A37"/>
      </a:dk1>
      <a:lt1>
        <a:srgbClr val="FFFFFF"/>
      </a:lt1>
      <a:dk2>
        <a:srgbClr val="394B5F"/>
      </a:dk2>
      <a:lt2>
        <a:srgbClr val="F1F5F3"/>
      </a:lt2>
      <a:accent1>
        <a:srgbClr val="006A46"/>
      </a:accent1>
      <a:accent2>
        <a:srgbClr val="74A4D4"/>
      </a:accent2>
      <a:accent3>
        <a:srgbClr val="E4A42C"/>
      </a:accent3>
      <a:accent4>
        <a:srgbClr val="0B6B73"/>
      </a:accent4>
      <a:accent5>
        <a:srgbClr val="E5736B"/>
      </a:accent5>
      <a:accent6>
        <a:srgbClr val="8CBCAC"/>
      </a:accent6>
      <a:hlink>
        <a:srgbClr val="006A46"/>
      </a:hlink>
      <a:folHlink>
        <a:srgbClr val="5B6B7B"/>
      </a:folHlink>
    </a:clrScheme>
    <a:fontScheme name="Amana Revenue Report">
      <a:majorFont>
        <a:latin typeface="Vazirmat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Vazirmat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الإيرادات 2026</dc:title>
  <dc:subject>PptxGenJS Presentation</dc:subject>
  <dc:creator>أمانة منطقة الرياض</dc:creator>
  <cp:lastModifiedBy>أمانة منطقة الرياض</cp:lastModifiedBy>
  <cp:revision>1</cp:revision>
  <dcterms:created xsi:type="dcterms:W3CDTF">2026-10-14T04:08:29Z</dcterms:created>
  <dcterms:modified xsi:type="dcterms:W3CDTF">2026-10-14T04:08:29Z</dcterms:modified>
</cp:coreProperties>
</file>