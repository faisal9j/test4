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9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0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4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7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8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9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30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31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3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33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34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35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36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3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38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39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40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4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42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43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44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45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46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47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charts/chart48.xml" ContentType="application/vnd.openxmlformats-officedocument.drawingml.chart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49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50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51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غلاف" id="{e5c9f1ce-779e-58b8-3a9f-8240f687079f}">
          <p14:sldIdLst/>
        </p14:section>
        <p14:section name="الفهرس" id="{c9fc4ec3-e572-1e53-04a5-3d53ab29acce}">
          <p14:sldIdLst>
            <p14:sldId id="257"/>
          </p14:sldIdLst>
        </p14:section>
        <p14:section name="المؤشرات الرئيسة" id="{d285fd82-dc77-901e-1b32-abe632d11292}">
          <p14:sldIdLst>
            <p14:sldId id="258"/>
          </p14:sldIdLst>
        </p14:section>
        <p14:section name="الإيراد حتى تاريخه" id="{bf7d73f1-2639-8829-fc48-8c769e6dc94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الإيراد لنهاية السنة" id="{a028c783-83c2-b8bf-a4b0-8416a85202a7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الإيراد للشهر الحالي" id="{393c8eb6-dfd7-889c-70e0-3a7a09ded4ff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الإيراد حسب القطاع" id="{f27299bd-a0fd-f0de-116e-1b3d29b14f3f}">
          <p14:sldIdLst>
            <p14:sldId id="277"/>
            <p14:sldId id="278"/>
            <p14:sldId id="279"/>
            <p14:sldId id="280"/>
            <p14:sldId id="281"/>
          </p14:sldIdLst>
        </p14:section>
        <p14:section name="ملخص التبويبات" id="{b131726b-7520-6599-9b2e-18609b8840d1}">
          <p14:sldIdLst>
            <p14:sldId id="282"/>
            <p14:sldId id="283"/>
            <p14:sldId id="284"/>
          </p14:sldIdLst>
        </p14:section>
        <p14:section name="الاستقطاع" id="{918f71cd-6a42-fc57-68df-2b68b705487b}">
          <p14:sldIdLst>
            <p14:sldId id="285"/>
            <p14:sldId id="286"/>
          </p14:sldIdLst>
        </p14:section>
        <p14:section name="سيناريوهات الإقفال" id="{0fa6b589-1bcb-4e6a-2303-5ce2b06b5b48}">
          <p14:sldIdLst>
            <p14:sldId id="287"/>
            <p14:sldId id="288"/>
          </p14:sldIdLst>
        </p14:section>
        <p14:section name="الجزاءات والغرامات الشهرية" id="{9002af70-bbe4-fff6-6632-a090dcc571bd}">
          <p14:sldIdLst>
            <p14:sldId id="289"/>
            <p14:sldId id="290"/>
            <p14:sldId id="291"/>
            <p14:sldId id="292"/>
          </p14:sldIdLst>
        </p14:section>
        <p14:section name="التنفيذ والاسترداد" id="{78772e2b-baa2-07f0-1972-a3ac6d5a2a6d}">
          <p14:sldIdLst>
            <p14:sldId id="293"/>
            <p14:sldId id="294"/>
            <p14:sldId id="295"/>
          </p14:sldIdLst>
        </p14:section>
        <p14:section name="المفوتر والميزانية والمستهدف" id="{0e88eb52-b5ac-ff76-134c-f6b267ad6641}">
          <p14:sldIdLst>
            <p14:sldId id="296"/>
            <p14:sldId id="297"/>
          </p14:sldIdLst>
        </p14:section>
        <p14:section name="تبويبات الوزارة" id="{d55212d4-6f3d-4566-0fa3-1a2a965d20be}">
          <p14:sldIdLst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المديونية" id="{b752a027-76c2-8ac7-cdc4-fe0bbbd64a5f}">
          <p14:sldIdLst>
            <p14:sldId id="305"/>
            <p14:sldId id="306"/>
            <p14:sldId id="307"/>
            <p14:sldId id="308"/>
            <p14:sldId id="309"/>
          </p14:sldIdLst>
        </p14:section>
        <p14:section name="ملاحظات منهجية" id="{ea4718f5-654b-ab41-9150-77aece8299b0}">
          <p14:sldIdLst>
            <p14:sldId id="31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1052.1</c:v>
                </c:pt>
                <c:pt idx="1">
                  <c:v>892.8</c:v>
                </c:pt>
                <c:pt idx="2">
                  <c:v>638.9</c:v>
                </c:pt>
                <c:pt idx="3">
                  <c:v>209.1</c:v>
                </c:pt>
                <c:pt idx="4">
                  <c:v>193.3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927.6</c:v>
                </c:pt>
                <c:pt idx="1">
                  <c:v>796.4</c:v>
                </c:pt>
                <c:pt idx="2">
                  <c:v>306.8</c:v>
                </c:pt>
                <c:pt idx="3">
                  <c:v>255.2</c:v>
                </c:pt>
                <c:pt idx="4">
                  <c:v>12.8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961.4</c:v>
                </c:pt>
                <c:pt idx="1">
                  <c:v>848.9</c:v>
                </c:pt>
                <c:pt idx="2">
                  <c:v>376</c:v>
                </c:pt>
                <c:pt idx="3">
                  <c:v>275.3</c:v>
                </c:pt>
                <c:pt idx="4">
                  <c:v>7.9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710.4</c:v>
                </c:pt>
                <c:pt idx="1">
                  <c:v>815.2</c:v>
                </c:pt>
                <c:pt idx="2">
                  <c:v>240.8</c:v>
                </c:pt>
                <c:pt idx="3">
                  <c:v>216.3</c:v>
                </c:pt>
                <c:pt idx="4">
                  <c:v>4.9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1076.4</c:v>
                </c:pt>
                <c:pt idx="1">
                  <c:v>887.7</c:v>
                </c:pt>
                <c:pt idx="2">
                  <c:v>188.7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1052.1</c:v>
                </c:pt>
                <c:pt idx="1">
                  <c:v>909</c:v>
                </c:pt>
                <c:pt idx="2">
                  <c:v>143.1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927.6</c:v>
                </c:pt>
                <c:pt idx="1">
                  <c:v>799.1</c:v>
                </c:pt>
                <c:pt idx="2">
                  <c:v>128.5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961.4</c:v>
                </c:pt>
                <c:pt idx="1">
                  <c:v>793.6</c:v>
                </c:pt>
                <c:pt idx="2">
                  <c:v>167.9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710.4</c:v>
                </c:pt>
                <c:pt idx="1">
                  <c:v>569.5</c:v>
                </c:pt>
                <c:pt idx="2">
                  <c:v>140.9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886.3</c:v>
                </c:pt>
                <c:pt idx="1">
                  <c:v>856</c:v>
                </c:pt>
                <c:pt idx="2">
                  <c:v>30.2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892.8</c:v>
                </c:pt>
                <c:pt idx="1">
                  <c:v>777.3</c:v>
                </c:pt>
                <c:pt idx="2">
                  <c:v>115.5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796.4</c:v>
                </c:pt>
                <c:pt idx="1">
                  <c:v>704.3</c:v>
                </c:pt>
                <c:pt idx="2">
                  <c:v>92.1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848.9</c:v>
                </c:pt>
                <c:pt idx="1">
                  <c:v>753.1</c:v>
                </c:pt>
                <c:pt idx="2">
                  <c:v>95.8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815.2</c:v>
                </c:pt>
                <c:pt idx="1">
                  <c:v>734.1</c:v>
                </c:pt>
                <c:pt idx="2">
                  <c:v>81.1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1178.3</c:v>
                </c:pt>
                <c:pt idx="1">
                  <c:v>1013.3</c:v>
                </c:pt>
                <c:pt idx="2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638.9</c:v>
                </c:pt>
                <c:pt idx="1">
                  <c:v>605.7</c:v>
                </c:pt>
                <c:pt idx="2">
                  <c:v>33.2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306.8</c:v>
                </c:pt>
                <c:pt idx="1">
                  <c:v>293.8</c:v>
                </c:pt>
                <c:pt idx="2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376</c:v>
                </c:pt>
                <c:pt idx="1">
                  <c:v>360.3</c:v>
                </c:pt>
                <c:pt idx="2">
                  <c:v>15.7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240.8</c:v>
                </c:pt>
                <c:pt idx="1">
                  <c:v>233.3</c:v>
                </c:pt>
                <c:pt idx="2">
                  <c:v>7.4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234.6</c:v>
                </c:pt>
                <c:pt idx="1">
                  <c:v>226.1</c:v>
                </c:pt>
                <c:pt idx="2">
                  <c:v>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209.1</c:v>
                </c:pt>
                <c:pt idx="1">
                  <c:v>200</c:v>
                </c:pt>
                <c:pt idx="2">
                  <c:v>9.1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255.2</c:v>
                </c:pt>
                <c:pt idx="1">
                  <c:v>250.4</c:v>
                </c:pt>
                <c:pt idx="2">
                  <c:v>4.7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275.3</c:v>
                </c:pt>
                <c:pt idx="1">
                  <c:v>270.1</c:v>
                </c:pt>
                <c:pt idx="2">
                  <c:v>5.2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216.3</c:v>
                </c:pt>
                <c:pt idx="1">
                  <c:v>206.2</c:v>
                </c:pt>
                <c:pt idx="2">
                  <c:v>10.1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444.3</c:v>
                </c:pt>
                <c:pt idx="1">
                  <c:v>359.9</c:v>
                </c:pt>
                <c:pt idx="2">
                  <c:v>84.4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193.3</c:v>
                </c:pt>
                <c:pt idx="1">
                  <c:v>110</c:v>
                </c:pt>
                <c:pt idx="2">
                  <c:v>83.3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12.8</c:v>
                </c:pt>
                <c:pt idx="1">
                  <c:v>2.7</c:v>
                </c:pt>
                <c:pt idx="2">
                  <c:v>10.2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7.9</c:v>
                </c:pt>
                <c:pt idx="1">
                  <c:v>4.2</c:v>
                </c:pt>
                <c:pt idx="2">
                  <c:v>3.6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4.9</c:v>
                </c:pt>
                <c:pt idx="1">
                  <c:v>4.7</c:v>
                </c:pt>
                <c:pt idx="2">
                  <c:v>0.2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875.5</c:v>
                </c:pt>
                <c:pt idx="1">
                  <c:v>793.1</c:v>
                </c:pt>
                <c:pt idx="2">
                  <c:v>552.3</c:v>
                </c:pt>
                <c:pt idx="3">
                  <c:v>171.8</c:v>
                </c:pt>
                <c:pt idx="4">
                  <c:v>62.1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760.6</c:v>
                </c:pt>
                <c:pt idx="1">
                  <c:v>674.2</c:v>
                </c:pt>
                <c:pt idx="2">
                  <c:v>256.1</c:v>
                </c:pt>
                <c:pt idx="3">
                  <c:v>226.6</c:v>
                </c:pt>
                <c:pt idx="4">
                  <c:v>11.2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861.8</c:v>
                </c:pt>
                <c:pt idx="1">
                  <c:v>730.1</c:v>
                </c:pt>
                <c:pt idx="2">
                  <c:v>317.9</c:v>
                </c:pt>
                <c:pt idx="3">
                  <c:v>244.4</c:v>
                </c:pt>
                <c:pt idx="4">
                  <c:v>6.9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644.3</c:v>
                </c:pt>
                <c:pt idx="1">
                  <c:v>713.4</c:v>
                </c:pt>
                <c:pt idx="2">
                  <c:v>205.3</c:v>
                </c:pt>
                <c:pt idx="3">
                  <c:v>193.5</c:v>
                </c:pt>
                <c:pt idx="4">
                  <c:v>3.2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875.5</c:v>
                </c:pt>
                <c:pt idx="1">
                  <c:v>783.1</c:v>
                </c:pt>
                <c:pt idx="2">
                  <c:v>92.5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760.6</c:v>
                </c:pt>
                <c:pt idx="1">
                  <c:v>650.6</c:v>
                </c:pt>
                <c:pt idx="2">
                  <c:v>110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861.8</c:v>
                </c:pt>
                <c:pt idx="1">
                  <c:v>717</c:v>
                </c:pt>
                <c:pt idx="2">
                  <c:v>144.9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644.3</c:v>
                </c:pt>
                <c:pt idx="1">
                  <c:v>470.2</c:v>
                </c:pt>
                <c:pt idx="2">
                  <c:v>174.1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793.1</c:v>
                </c:pt>
                <c:pt idx="1">
                  <c:v>697.9</c:v>
                </c:pt>
                <c:pt idx="2">
                  <c:v>95.3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674.2</c:v>
                </c:pt>
                <c:pt idx="1">
                  <c:v>594.6</c:v>
                </c:pt>
                <c:pt idx="2">
                  <c:v>79.6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730.1</c:v>
                </c:pt>
                <c:pt idx="1">
                  <c:v>649</c:v>
                </c:pt>
                <c:pt idx="2">
                  <c:v>81.1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713.4</c:v>
                </c:pt>
                <c:pt idx="1">
                  <c:v>535.4</c:v>
                </c:pt>
                <c:pt idx="2">
                  <c:v>178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552.3</c:v>
                </c:pt>
                <c:pt idx="1">
                  <c:v>530.9</c:v>
                </c:pt>
                <c:pt idx="2">
                  <c:v>21.3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256.1</c:v>
                </c:pt>
                <c:pt idx="1">
                  <c:v>244.9</c:v>
                </c:pt>
                <c:pt idx="2">
                  <c:v>11.2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317.9</c:v>
                </c:pt>
                <c:pt idx="1">
                  <c:v>304.5</c:v>
                </c:pt>
                <c:pt idx="2">
                  <c:v>13.4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205.3</c:v>
                </c:pt>
                <c:pt idx="1">
                  <c:v>196.9</c:v>
                </c:pt>
                <c:pt idx="2">
                  <c:v>8.5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171.8</c:v>
                </c:pt>
                <c:pt idx="1">
                  <c:v>164</c:v>
                </c:pt>
                <c:pt idx="2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226.6</c:v>
                </c:pt>
                <c:pt idx="1">
                  <c:v>222.4</c:v>
                </c:pt>
                <c:pt idx="2">
                  <c:v>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244.4</c:v>
                </c:pt>
                <c:pt idx="1">
                  <c:v>239.9</c:v>
                </c:pt>
                <c:pt idx="2">
                  <c:v>4.5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193.5</c:v>
                </c:pt>
                <c:pt idx="1">
                  <c:v>187.1</c:v>
                </c:pt>
                <c:pt idx="2">
                  <c:v>6.4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62.1</c:v>
                </c:pt>
                <c:pt idx="1">
                  <c:v>62.1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11.2</c:v>
                </c:pt>
                <c:pt idx="1">
                  <c:v>2.3</c:v>
                </c:pt>
                <c:pt idx="2">
                  <c:v>8.9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6.9</c:v>
                </c:pt>
                <c:pt idx="1">
                  <c:v>3.7</c:v>
                </c:pt>
                <c:pt idx="2">
                  <c:v>3.2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3.2</c:v>
                </c:pt>
                <c:pt idx="1">
                  <c:v>3.2</c:v>
                </c:pt>
                <c:pt idx="2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122.6</c:v>
                </c:pt>
                <c:pt idx="2">
                  <c:v>12.7</c:v>
                </c:pt>
                <c:pt idx="3">
                  <c:v>17.2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54.8</c:v>
                </c:pt>
                <c:pt idx="1">
                  <c:v>97.7</c:v>
                </c:pt>
                <c:pt idx="2">
                  <c:v>51.8</c:v>
                </c:pt>
                <c:pt idx="3">
                  <c:v>28.4</c:v>
                </c:pt>
                <c:pt idx="4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70</c:v>
                </c:pt>
                <c:pt idx="1">
                  <c:v>99.8</c:v>
                </c:pt>
                <c:pt idx="2">
                  <c:v>65.6</c:v>
                </c:pt>
                <c:pt idx="3">
                  <c:v>30.5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13.8</c:v>
                </c:pt>
                <c:pt idx="1">
                  <c:v>0.6</c:v>
                </c:pt>
                <c:pt idx="2">
                  <c:v>6.4</c:v>
                </c:pt>
                <c:pt idx="3">
                  <c:v>0.4</c:v>
                </c:pt>
                <c:pt idx="4">
                  <c:v>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17.7</c:v>
                </c:pt>
                <c:pt idx="2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54.8</c:v>
                </c:pt>
                <c:pt idx="1">
                  <c:v>424</c:v>
                </c:pt>
                <c:pt idx="2">
                  <c:v>-369.2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426.2</c:v>
                </c:pt>
                <c:pt idx="2">
                  <c:v>-356.2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13.8</c:v>
                </c:pt>
                <c:pt idx="1">
                  <c:v>5.3</c:v>
                </c:pt>
                <c:pt idx="2">
                  <c:v>8.5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122.6</c:v>
                </c:pt>
                <c:pt idx="1">
                  <c:v>78.8</c:v>
                </c:pt>
                <c:pt idx="2">
                  <c:v>43.8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97.7</c:v>
                </c:pt>
                <c:pt idx="1">
                  <c:v>60.7</c:v>
                </c:pt>
                <c:pt idx="2">
                  <c:v>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99.8</c:v>
                </c:pt>
                <c:pt idx="1">
                  <c:v>72.5</c:v>
                </c:pt>
                <c:pt idx="2">
                  <c:v>27.2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0.6</c:v>
                </c:pt>
                <c:pt idx="1">
                  <c:v>0.5</c:v>
                </c:pt>
                <c:pt idx="2">
                  <c:v>0.1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12.7</c:v>
                </c:pt>
                <c:pt idx="1">
                  <c:v>12.3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51.8</c:v>
                </c:pt>
                <c:pt idx="1">
                  <c:v>30.4</c:v>
                </c:pt>
                <c:pt idx="2">
                  <c:v>21.4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65.6</c:v>
                </c:pt>
                <c:pt idx="1">
                  <c:v>36.3</c:v>
                </c:pt>
                <c:pt idx="2">
                  <c:v>29.3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6.4</c:v>
                </c:pt>
                <c:pt idx="1">
                  <c:v>6.1</c:v>
                </c:pt>
                <c:pt idx="2">
                  <c:v>0.3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17.2</c:v>
                </c:pt>
                <c:pt idx="1">
                  <c:v>17.2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28.4</c:v>
                </c:pt>
                <c:pt idx="1">
                  <c:v>25.9</c:v>
                </c:pt>
                <c:pt idx="2">
                  <c:v>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30.5</c:v>
                </c:pt>
                <c:pt idx="1">
                  <c:v>27.9</c:v>
                </c:pt>
                <c:pt idx="2">
                  <c:v>2.6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</c:v>
                </c:pt>
                <c:pt idx="1">
                  <c:v>0.4</c:v>
                </c:pt>
                <c:pt idx="2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0.2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مقدر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</c:v>
                </c:pt>
                <c:pt idx="1">
                  <c:v>0.3</c:v>
                </c:pt>
                <c:pt idx="2">
                  <c:v>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السنة الماضية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منطقة الرياض</c:v>
                  </c:pt>
                  <c:pt idx="1">
                    <c:v>مدينة الرياض</c:v>
                  </c:pt>
                  <c:pt idx="2">
                    <c:v>بلديات المنطقة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إيرادات إستثمارية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</c:v>
                </c:pt>
                <c:pt idx="1">
                  <c:v>56.4</c:v>
                </c:pt>
                <c:pt idx="2">
                  <c:v>50.5</c:v>
                </c:pt>
                <c:pt idx="3">
                  <c:v>29.5</c:v>
                </c:pt>
                <c:pt idx="4">
                  <c:v>66</c:v>
                </c:pt>
                <c:pt idx="5">
                  <c:v>22.4</c:v>
                </c:pt>
                <c:pt idx="6">
                  <c:v>62.8</c:v>
                </c:pt>
                <c:pt idx="7">
                  <c:v>61.4</c:v>
                </c:pt>
                <c:pt idx="8">
                  <c:v>36.6</c:v>
                </c:pt>
                <c:pt idx="9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الرسوم والتراخيص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165</c:v>
                </c:pt>
                <c:pt idx="1">
                  <c:v>128.8</c:v>
                </c:pt>
                <c:pt idx="2">
                  <c:v>102.9</c:v>
                </c:pt>
                <c:pt idx="3">
                  <c:v>87.9</c:v>
                </c:pt>
                <c:pt idx="4">
                  <c:v>185.4</c:v>
                </c:pt>
                <c:pt idx="5">
                  <c:v>20.9</c:v>
                </c:pt>
                <c:pt idx="6">
                  <c:v>32.9</c:v>
                </c:pt>
                <c:pt idx="7">
                  <c:v>19.9</c:v>
                </c:pt>
                <c:pt idx="8">
                  <c:v>9.1</c:v>
                </c:pt>
                <c:pt idx="9">
                  <c:v>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جزاءات وغرامات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52.8</c:v>
                </c:pt>
                <c:pt idx="1">
                  <c:v>59.4</c:v>
                </c:pt>
                <c:pt idx="2">
                  <c:v>39.9</c:v>
                </c:pt>
                <c:pt idx="3">
                  <c:v>39.3</c:v>
                </c:pt>
                <c:pt idx="4">
                  <c:v>56.2</c:v>
                </c:pt>
                <c:pt idx="5">
                  <c:v>3.9</c:v>
                </c:pt>
                <c:pt idx="6">
                  <c:v>5.1</c:v>
                </c:pt>
                <c:pt idx="7">
                  <c:v>3.6</c:v>
                </c:pt>
                <c:pt idx="8">
                  <c:v>1.7</c:v>
                </c:pt>
                <c:pt idx="9">
                  <c:v>0.4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التبغ والإيواء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0.9</c:v>
                </c:pt>
                <c:pt idx="1">
                  <c:v>2.5</c:v>
                </c:pt>
                <c:pt idx="2">
                  <c:v>2.8</c:v>
                </c:pt>
                <c:pt idx="3">
                  <c:v>1.1</c:v>
                </c:pt>
                <c:pt idx="4">
                  <c:v>6</c:v>
                </c:pt>
                <c:pt idx="5">
                  <c:v>0.9</c:v>
                </c:pt>
                <c:pt idx="6">
                  <c:v>1.9</c:v>
                </c:pt>
                <c:pt idx="7">
                  <c:v>0.5</c:v>
                </c:pt>
                <c:pt idx="8">
                  <c:v>0.3</c:v>
                </c:pt>
                <c:pt idx="9">
                  <c:v>1.1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152.7</c:v>
                </c:pt>
                <c:pt idx="1">
                  <c:v>65.8</c:v>
                </c:pt>
                <c:pt idx="2">
                  <c:v>48.7</c:v>
                </c:pt>
                <c:pt idx="3">
                  <c:v>33.4</c:v>
                </c:pt>
                <c:pt idx="4">
                  <c:v>58.7</c:v>
                </c:pt>
                <c:pt idx="5">
                  <c:v>20</c:v>
                </c:pt>
                <c:pt idx="6">
                  <c:v>66.3</c:v>
                </c:pt>
                <c:pt idx="7">
                  <c:v>56.1</c:v>
                </c:pt>
                <c:pt idx="8">
                  <c:v>40.1</c:v>
                </c:pt>
                <c:pt idx="9">
                  <c:v>6.2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101.7</c:v>
                </c:pt>
                <c:pt idx="1">
                  <c:v>45.9</c:v>
                </c:pt>
                <c:pt idx="2">
                  <c:v>38.8</c:v>
                </c:pt>
                <c:pt idx="3">
                  <c:v>25.1</c:v>
                </c:pt>
                <c:pt idx="4">
                  <c:v>47.9</c:v>
                </c:pt>
                <c:pt idx="5">
                  <c:v>17</c:v>
                </c:pt>
                <c:pt idx="6">
                  <c:v>40.3</c:v>
                </c:pt>
                <c:pt idx="7">
                  <c:v>37.1</c:v>
                </c:pt>
                <c:pt idx="8">
                  <c:v>25.5</c:v>
                </c:pt>
                <c:pt idx="9">
                  <c:v>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سنوات سابقة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23.3</c:v>
                </c:pt>
                <c:pt idx="1">
                  <c:v>10.4</c:v>
                </c:pt>
                <c:pt idx="2">
                  <c:v>11.7</c:v>
                </c:pt>
                <c:pt idx="3">
                  <c:v>4.4</c:v>
                </c:pt>
                <c:pt idx="4">
                  <c:v>18.2</c:v>
                </c:pt>
                <c:pt idx="5">
                  <c:v>5.4</c:v>
                </c:pt>
                <c:pt idx="6">
                  <c:v>22.5</c:v>
                </c:pt>
                <c:pt idx="7">
                  <c:v>24.3</c:v>
                </c:pt>
                <c:pt idx="8">
                  <c:v>11.1</c:v>
                </c:pt>
                <c:pt idx="9">
                  <c:v>5.6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إجمالي المحصل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125</c:v>
                </c:pt>
                <c:pt idx="1">
                  <c:v>56.4</c:v>
                </c:pt>
                <c:pt idx="2">
                  <c:v>50.5</c:v>
                </c:pt>
                <c:pt idx="3">
                  <c:v>29.5</c:v>
                </c:pt>
                <c:pt idx="4">
                  <c:v>66</c:v>
                </c:pt>
                <c:pt idx="5">
                  <c:v>22.4</c:v>
                </c:pt>
                <c:pt idx="6">
                  <c:v>62.8</c:v>
                </c:pt>
                <c:pt idx="7">
                  <c:v>61.4</c:v>
                </c:pt>
                <c:pt idx="8">
                  <c:v>36.6</c:v>
                </c:pt>
                <c:pt idx="9">
                  <c:v>7.9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174.1</c:v>
                </c:pt>
                <c:pt idx="1">
                  <c:v>132.9</c:v>
                </c:pt>
                <c:pt idx="2">
                  <c:v>105</c:v>
                </c:pt>
                <c:pt idx="3">
                  <c:v>90.1</c:v>
                </c:pt>
                <c:pt idx="4">
                  <c:v>189.2</c:v>
                </c:pt>
                <c:pt idx="5">
                  <c:v>21.5</c:v>
                </c:pt>
                <c:pt idx="6">
                  <c:v>33.9</c:v>
                </c:pt>
                <c:pt idx="7">
                  <c:v>20.2</c:v>
                </c:pt>
                <c:pt idx="8">
                  <c:v>9.1</c:v>
                </c:pt>
                <c:pt idx="9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162.6</c:v>
                </c:pt>
                <c:pt idx="1">
                  <c:v>126.7</c:v>
                </c:pt>
                <c:pt idx="2">
                  <c:v>101.2</c:v>
                </c:pt>
                <c:pt idx="3">
                  <c:v>86.7</c:v>
                </c:pt>
                <c:pt idx="4">
                  <c:v>182</c:v>
                </c:pt>
                <c:pt idx="5">
                  <c:v>20.4</c:v>
                </c:pt>
                <c:pt idx="6">
                  <c:v>31.8</c:v>
                </c:pt>
                <c:pt idx="7">
                  <c:v>19.1</c:v>
                </c:pt>
                <c:pt idx="8">
                  <c:v>8.7</c:v>
                </c:pt>
                <c:pt idx="9">
                  <c:v>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سنوات سابقة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2.4</c:v>
                </c:pt>
                <c:pt idx="1">
                  <c:v>2.2</c:v>
                </c:pt>
                <c:pt idx="2">
                  <c:v>1.7</c:v>
                </c:pt>
                <c:pt idx="3">
                  <c:v>1.2</c:v>
                </c:pt>
                <c:pt idx="4">
                  <c:v>3.4</c:v>
                </c:pt>
                <c:pt idx="5">
                  <c:v>0.4</c:v>
                </c:pt>
                <c:pt idx="6">
                  <c:v>1</c:v>
                </c:pt>
                <c:pt idx="7">
                  <c:v>0.8</c:v>
                </c:pt>
                <c:pt idx="8">
                  <c:v>0.5</c:v>
                </c:pt>
                <c:pt idx="9">
                  <c:v>0.3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إجمالي المحصل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165</c:v>
                </c:pt>
                <c:pt idx="1">
                  <c:v>128.8</c:v>
                </c:pt>
                <c:pt idx="2">
                  <c:v>102.9</c:v>
                </c:pt>
                <c:pt idx="3">
                  <c:v>87.9</c:v>
                </c:pt>
                <c:pt idx="4">
                  <c:v>185.4</c:v>
                </c:pt>
                <c:pt idx="5">
                  <c:v>20.9</c:v>
                </c:pt>
                <c:pt idx="6">
                  <c:v>32.9</c:v>
                </c:pt>
                <c:pt idx="7">
                  <c:v>19.9</c:v>
                </c:pt>
                <c:pt idx="8">
                  <c:v>9.1</c:v>
                </c:pt>
                <c:pt idx="9">
                  <c:v>2.5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102</c:v>
                </c:pt>
                <c:pt idx="1">
                  <c:v>187.8</c:v>
                </c:pt>
                <c:pt idx="2">
                  <c:v>115.8</c:v>
                </c:pt>
                <c:pt idx="3">
                  <c:v>95.5</c:v>
                </c:pt>
                <c:pt idx="4">
                  <c:v>103.8</c:v>
                </c:pt>
                <c:pt idx="5">
                  <c:v>10.7</c:v>
                </c:pt>
                <c:pt idx="6">
                  <c:v>7.4</c:v>
                </c:pt>
                <c:pt idx="7">
                  <c:v>5.4</c:v>
                </c:pt>
                <c:pt idx="8">
                  <c:v>2.5</c:v>
                </c:pt>
                <c:pt idx="9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20.5</c:v>
                </c:pt>
                <c:pt idx="1">
                  <c:v>39</c:v>
                </c:pt>
                <c:pt idx="2">
                  <c:v>21.8</c:v>
                </c:pt>
                <c:pt idx="3">
                  <c:v>19.1</c:v>
                </c:pt>
                <c:pt idx="4">
                  <c:v>24.4</c:v>
                </c:pt>
                <c:pt idx="5">
                  <c:v>2.8</c:v>
                </c:pt>
                <c:pt idx="6">
                  <c:v>2.7</c:v>
                </c:pt>
                <c:pt idx="7">
                  <c:v>1.6</c:v>
                </c:pt>
                <c:pt idx="8">
                  <c:v>1</c:v>
                </c:pt>
                <c:pt idx="9">
                  <c:v>0.2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سنوات سابقة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32.3</c:v>
                </c:pt>
                <c:pt idx="1">
                  <c:v>20.4</c:v>
                </c:pt>
                <c:pt idx="2">
                  <c:v>18.1</c:v>
                </c:pt>
                <c:pt idx="3">
                  <c:v>20.2</c:v>
                </c:pt>
                <c:pt idx="4">
                  <c:v>31.8</c:v>
                </c:pt>
                <c:pt idx="5">
                  <c:v>1.1</c:v>
                </c:pt>
                <c:pt idx="6">
                  <c:v>2.3</c:v>
                </c:pt>
                <c:pt idx="7">
                  <c:v>2</c:v>
                </c:pt>
                <c:pt idx="8">
                  <c:v>0.7</c:v>
                </c:pt>
                <c:pt idx="9">
                  <c:v>0.2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إجمالي المحصل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52.8</c:v>
                </c:pt>
                <c:pt idx="1">
                  <c:v>59.4</c:v>
                </c:pt>
                <c:pt idx="2">
                  <c:v>39.9</c:v>
                </c:pt>
                <c:pt idx="3">
                  <c:v>39.3</c:v>
                </c:pt>
                <c:pt idx="4">
                  <c:v>56.2</c:v>
                </c:pt>
                <c:pt idx="5">
                  <c:v>3.9</c:v>
                </c:pt>
                <c:pt idx="6">
                  <c:v>5.1</c:v>
                </c:pt>
                <c:pt idx="7">
                  <c:v>3.6</c:v>
                </c:pt>
                <c:pt idx="8">
                  <c:v>1.7</c:v>
                </c:pt>
                <c:pt idx="9">
                  <c:v>0.4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إجمالي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</c:v>
                </c:pt>
                <c:pt idx="1">
                  <c:v>2.4</c:v>
                </c:pt>
                <c:pt idx="2">
                  <c:v>2.8</c:v>
                </c:pt>
                <c:pt idx="3">
                  <c:v>1.2</c:v>
                </c:pt>
                <c:pt idx="4">
                  <c:v>5.9</c:v>
                </c:pt>
                <c:pt idx="5">
                  <c:v>1</c:v>
                </c:pt>
                <c:pt idx="6">
                  <c:v>1.8</c:v>
                </c:pt>
                <c:pt idx="7">
                  <c:v>0.5</c:v>
                </c:pt>
                <c:pt idx="8">
                  <c:v>0.4</c:v>
                </c:pt>
                <c:pt idx="9">
                  <c:v>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فعلي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0.9</c:v>
                </c:pt>
                <c:pt idx="1">
                  <c:v>2.4</c:v>
                </c:pt>
                <c:pt idx="2">
                  <c:v>2.8</c:v>
                </c:pt>
                <c:pt idx="3">
                  <c:v>1.1</c:v>
                </c:pt>
                <c:pt idx="4">
                  <c:v>5.9</c:v>
                </c:pt>
                <c:pt idx="5">
                  <c:v>0.8</c:v>
                </c:pt>
                <c:pt idx="6">
                  <c:v>1.6</c:v>
                </c:pt>
                <c:pt idx="7">
                  <c:v>0.4</c:v>
                </c:pt>
                <c:pt idx="8">
                  <c:v>0.3</c:v>
                </c:pt>
                <c:pt idx="9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سنوات سابقة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0.1</c:v>
                </c:pt>
                <c:pt idx="2">
                  <c:v>0.1</c:v>
                </c:pt>
                <c:pt idx="3">
                  <c:v>0</c:v>
                </c:pt>
                <c:pt idx="4">
                  <c:v>0.2</c:v>
                </c:pt>
                <c:pt idx="5">
                  <c:v>0.1</c:v>
                </c:pt>
                <c:pt idx="6">
                  <c:v>0.3</c:v>
                </c:pt>
                <c:pt idx="7">
                  <c:v>0.1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إجمالي المحصل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قطاع الامانة - الجنوب</c:v>
                  </c:pt>
                  <c:pt idx="1">
                    <c:v>قطاع الامانة - الشرق</c:v>
                  </c:pt>
                  <c:pt idx="2">
                    <c:v>قطاع الامانة - الشمال</c:v>
                  </c:pt>
                  <c:pt idx="3">
                    <c:v>قطاع الامانة - الغرب</c:v>
                  </c:pt>
                  <c:pt idx="4">
                    <c:v>قطاع الامانة - الوسط</c:v>
                  </c:pt>
                  <c:pt idx="5">
                    <c:v>بلديات (أ)</c:v>
                  </c:pt>
                  <c:pt idx="6">
                    <c:v>بلديات (ب)</c:v>
                  </c:pt>
                  <c:pt idx="7">
                    <c:v>بلديات (ج)</c:v>
                  </c:pt>
                  <c:pt idx="8">
                    <c:v>بلديات (د)</c:v>
                  </c:pt>
                  <c:pt idx="9">
                    <c:v>بلديات (هـ)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0.9</c:v>
                </c:pt>
                <c:pt idx="1">
                  <c:v>2.5</c:v>
                </c:pt>
                <c:pt idx="2">
                  <c:v>2.8</c:v>
                </c:pt>
                <c:pt idx="3">
                  <c:v>1.1</c:v>
                </c:pt>
                <c:pt idx="4">
                  <c:v>6</c:v>
                </c:pt>
                <c:pt idx="5">
                  <c:v>0.9</c:v>
                </c:pt>
                <c:pt idx="6">
                  <c:v>1.9</c:v>
                </c:pt>
                <c:pt idx="7">
                  <c:v>0.5</c:v>
                </c:pt>
                <c:pt idx="8">
                  <c:v>0.3</c:v>
                </c:pt>
                <c:pt idx="9">
                  <c:v>1.1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إيرادات استثمارية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محصل السنة الحالية</c:v>
                  </c:pt>
                  <c:pt idx="1">
                    <c:v>فعلي</c:v>
                  </c:pt>
                  <c:pt idx="2">
                    <c:v>محصل سنوات سابقة</c:v>
                  </c:pt>
                  <c:pt idx="3">
                    <c:v>مقدر</c:v>
                  </c:pt>
                  <c:pt idx="4">
                    <c:v>مستهدف</c:v>
                  </c:pt>
                  <c:pt idx="5">
                    <c:v>محصل السنة الماضية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880.1</c:v>
                </c:pt>
                <c:pt idx="1">
                  <c:v>1052.1</c:v>
                </c:pt>
                <c:pt idx="2">
                  <c:v>172.1</c:v>
                </c:pt>
                <c:pt idx="3">
                  <c:v>927.6</c:v>
                </c:pt>
                <c:pt idx="4">
                  <c:v>961.4</c:v>
                </c:pt>
                <c:pt idx="5">
                  <c:v>710.4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جزاءات وغرامات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مفوتر</c:v>
                  </c:pt>
                  <c:pt idx="1">
                    <c:v>فعلي</c:v>
                  </c:pt>
                  <c:pt idx="2">
                    <c:v>محصل سنوات سابقة</c:v>
                  </c:pt>
                  <c:pt idx="3">
                    <c:v>مقدر</c:v>
                  </c:pt>
                  <c:pt idx="4">
                    <c:v>مستهدف</c:v>
                  </c:pt>
                  <c:pt idx="5">
                    <c:v>محصل السنة الماضية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1178</c:v>
                </c:pt>
                <c:pt idx="1">
                  <c:v>635.4</c:v>
                </c:pt>
                <c:pt idx="2">
                  <c:v>166.1</c:v>
                </c:pt>
                <c:pt idx="3">
                  <c:v>349.1</c:v>
                </c:pt>
                <c:pt idx="4">
                  <c:v>426.7</c:v>
                </c:pt>
                <c:pt idx="5">
                  <c:v>272.5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التبغ والإيواء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مفوتر</c:v>
                  </c:pt>
                  <c:pt idx="1">
                    <c:v>فعلي</c:v>
                  </c:pt>
                  <c:pt idx="2">
                    <c:v>محصل سنوات سابقة</c:v>
                  </c:pt>
                  <c:pt idx="3">
                    <c:v>مقدر</c:v>
                  </c:pt>
                  <c:pt idx="4">
                    <c:v>مستهدف</c:v>
                  </c:pt>
                  <c:pt idx="5">
                    <c:v>محصل السنة الماضية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234.1</c:v>
                </c:pt>
                <c:pt idx="1">
                  <c:v>209.1</c:v>
                </c:pt>
                <c:pt idx="2">
                  <c:v>9.5</c:v>
                </c:pt>
                <c:pt idx="3">
                  <c:v>285.9</c:v>
                </c:pt>
                <c:pt idx="4">
                  <c:v>308.4</c:v>
                </c:pt>
                <c:pt idx="5">
                  <c:v>240.5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مدينة الرياض — الرسوم والتراخيص</c:v>
                  </c:pt>
                  <c:pt idx="1">
                    <c:v>مدينة الرياض — التبغ والإيواء</c:v>
                  </c:pt>
                  <c:pt idx="2">
                    <c:v>بلديات المنطقة — الرسوم والتراخيص</c:v>
                  </c:pt>
                  <c:pt idx="3">
                    <c:v>بلديات المنطقة — التبغ والإيواء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608</c:v>
                </c:pt>
                <c:pt idx="1">
                  <c:v>318.9</c:v>
                </c:pt>
                <c:pt idx="2">
                  <c:v>84.3</c:v>
                </c:pt>
                <c:pt idx="3">
                  <c:v>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المستقطع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مدينة الرياض — الرسوم والتراخيص</c:v>
                  </c:pt>
                  <c:pt idx="1">
                    <c:v>مدينة الرياض — التبغ والإيواء</c:v>
                  </c:pt>
                  <c:pt idx="2">
                    <c:v>بلديات المنطقة — الرسوم والتراخيص</c:v>
                  </c:pt>
                  <c:pt idx="3">
                    <c:v>بلديات المنطقة — التبغ والإيواء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91.2</c:v>
                </c:pt>
                <c:pt idx="1">
                  <c:v>47.8</c:v>
                </c:pt>
                <c:pt idx="2">
                  <c:v>12.6</c:v>
                </c:pt>
                <c:pt idx="3">
                  <c:v>0.9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مدينة الرياض — الرسوم والتراخيص</c:v>
                  </c:pt>
                  <c:pt idx="1">
                    <c:v>مدينة الرياض — التبغ والإيواء</c:v>
                  </c:pt>
                  <c:pt idx="2">
                    <c:v>بلديات المنطقة — الرسوم والتراخيص</c:v>
                  </c:pt>
                  <c:pt idx="3">
                    <c:v>بلديات المنطقة — التبغ والإيواء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420.1</c:v>
                </c:pt>
                <c:pt idx="1">
                  <c:v>176</c:v>
                </c:pt>
                <c:pt idx="2">
                  <c:v>57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المستقطع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مدينة الرياض — الرسوم والتراخيص</c:v>
                  </c:pt>
                  <c:pt idx="1">
                    <c:v>مدينة الرياض — التبغ والإيواء</c:v>
                  </c:pt>
                  <c:pt idx="2">
                    <c:v>بلديات المنطقة — الرسوم والتراخيص</c:v>
                  </c:pt>
                  <c:pt idx="3">
                    <c:v>بلديات المنطقة — التبغ والإيواء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71.4</c:v>
                </c:pt>
                <c:pt idx="1">
                  <c:v>29.3</c:v>
                </c:pt>
                <c:pt idx="2">
                  <c:v>9.6</c:v>
                </c:pt>
                <c:pt idx="3">
                  <c:v>0.6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محصل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سبتمبر</c:v>
                  </c:pt>
                  <c:pt idx="1">
                    <c:v>أكتوبر</c:v>
                  </c:pt>
                  <c:pt idx="2">
                    <c:v>نوفمبر</c:v>
                  </c:pt>
                  <c:pt idx="3">
                    <c:v>ديسمبر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1081.4</c:v>
                </c:pt>
                <c:pt idx="1">
                  <c:v>432.5</c:v>
                </c:pt>
                <c:pt idx="2">
                  <c:v>462.8</c:v>
                </c:pt>
                <c:pt idx="3">
                  <c:v>486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سبتمبر</c:v>
                  </c:pt>
                  <c:pt idx="1">
                    <c:v>أكتوبر</c:v>
                  </c:pt>
                  <c:pt idx="2">
                    <c:v>نوفمبر</c:v>
                  </c:pt>
                  <c:pt idx="3">
                    <c:v>ديسمبر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1351</c:v>
                </c:pt>
                <c:pt idx="1">
                  <c:v>540.4</c:v>
                </c:pt>
                <c:pt idx="2">
                  <c:v>578.2</c:v>
                </c:pt>
                <c:pt idx="3">
                  <c:v>607.2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محصل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سبتمبر</c:v>
                  </c:pt>
                  <c:pt idx="1">
                    <c:v>أكتوبر</c:v>
                  </c:pt>
                  <c:pt idx="2">
                    <c:v>نوفمبر</c:v>
                  </c:pt>
                  <c:pt idx="3">
                    <c:v>ديسمبر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1081.4</c:v>
                </c:pt>
                <c:pt idx="1">
                  <c:v>432.5</c:v>
                </c:pt>
                <c:pt idx="2">
                  <c:v>462.8</c:v>
                </c:pt>
                <c:pt idx="3">
                  <c:v>486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سبتمبر</c:v>
                  </c:pt>
                  <c:pt idx="1">
                    <c:v>أكتوبر</c:v>
                  </c:pt>
                  <c:pt idx="2">
                    <c:v>نوفمبر</c:v>
                  </c:pt>
                  <c:pt idx="3">
                    <c:v>ديسمبر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1351</c:v>
                </c:pt>
                <c:pt idx="1">
                  <c:v>540.4</c:v>
                </c:pt>
                <c:pt idx="2">
                  <c:v>578.2</c:v>
                </c:pt>
                <c:pt idx="3">
                  <c:v>607.2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 الشهر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69.8</c:v>
                </c:pt>
                <c:pt idx="1">
                  <c:v>69.8</c:v>
                </c:pt>
                <c:pt idx="2">
                  <c:v>69.8</c:v>
                </c:pt>
                <c:pt idx="3">
                  <c:v>69.8</c:v>
                </c:pt>
                <c:pt idx="4">
                  <c:v>69.8</c:v>
                </c:pt>
                <c:pt idx="5">
                  <c:v>69.8</c:v>
                </c:pt>
                <c:pt idx="6">
                  <c:v>69.8</c:v>
                </c:pt>
                <c:pt idx="7">
                  <c:v>69.8</c:v>
                </c:pt>
                <c:pt idx="8">
                  <c:v>69.8</c:v>
                </c:pt>
                <c:pt idx="9">
                  <c:v>69.8</c:v>
                </c:pt>
                <c:pt idx="10">
                  <c:v>69.8</c:v>
                </c:pt>
                <c:pt idx="11">
                  <c:v>69.8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محصل عن الفترة الماضية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عن ذات الشهر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10.7</c:v>
                </c:pt>
                <c:pt idx="1">
                  <c:v>10.7</c:v>
                </c:pt>
                <c:pt idx="2">
                  <c:v>10.7</c:v>
                </c:pt>
                <c:pt idx="3">
                  <c:v>10.7</c:v>
                </c:pt>
                <c:pt idx="4">
                  <c:v>10.7</c:v>
                </c:pt>
                <c:pt idx="5">
                  <c:v>10.7</c:v>
                </c:pt>
                <c:pt idx="6">
                  <c:v>10.7</c:v>
                </c:pt>
                <c:pt idx="7">
                  <c:v>10.7</c:v>
                </c:pt>
                <c:pt idx="8">
                  <c:v>10.7</c:v>
                </c:pt>
                <c:pt idx="9">
                  <c:v>10.7</c:v>
                </c:pt>
                <c:pt idx="10">
                  <c:v>10.7</c:v>
                </c:pt>
                <c:pt idx="11">
                  <c:v>10.7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 الشهر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69.8</c:v>
                </c:pt>
                <c:pt idx="1">
                  <c:v>69.8</c:v>
                </c:pt>
                <c:pt idx="2">
                  <c:v>69.8</c:v>
                </c:pt>
                <c:pt idx="3">
                  <c:v>69.8</c:v>
                </c:pt>
                <c:pt idx="4">
                  <c:v>69.8</c:v>
                </c:pt>
                <c:pt idx="5">
                  <c:v>69.8</c:v>
                </c:pt>
                <c:pt idx="6">
                  <c:v>69.8</c:v>
                </c:pt>
                <c:pt idx="7">
                  <c:v>69.8</c:v>
                </c:pt>
                <c:pt idx="8">
                  <c:v>69.8</c:v>
                </c:pt>
                <c:pt idx="9">
                  <c:v>69.8</c:v>
                </c:pt>
                <c:pt idx="10">
                  <c:v>69.8</c:v>
                </c:pt>
                <c:pt idx="11">
                  <c:v>69.8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محصل عن الفترة الماضية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عن ذات الشهر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10.7</c:v>
                </c:pt>
                <c:pt idx="1">
                  <c:v>10.7</c:v>
                </c:pt>
                <c:pt idx="2">
                  <c:v>10.7</c:v>
                </c:pt>
                <c:pt idx="3">
                  <c:v>10.7</c:v>
                </c:pt>
                <c:pt idx="4">
                  <c:v>10.7</c:v>
                </c:pt>
                <c:pt idx="5">
                  <c:v>10.7</c:v>
                </c:pt>
                <c:pt idx="6">
                  <c:v>10.7</c:v>
                </c:pt>
                <c:pt idx="7">
                  <c:v>10.7</c:v>
                </c:pt>
                <c:pt idx="8">
                  <c:v>10.7</c:v>
                </c:pt>
                <c:pt idx="9">
                  <c:v>10.7</c:v>
                </c:pt>
                <c:pt idx="10">
                  <c:v>10.7</c:v>
                </c:pt>
                <c:pt idx="11">
                  <c:v>10.7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 الشهر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69.8</c:v>
                </c:pt>
                <c:pt idx="1">
                  <c:v>69.8</c:v>
                </c:pt>
                <c:pt idx="2">
                  <c:v>69.8</c:v>
                </c:pt>
                <c:pt idx="3">
                  <c:v>69.8</c:v>
                </c:pt>
                <c:pt idx="4">
                  <c:v>69.8</c:v>
                </c:pt>
                <c:pt idx="5">
                  <c:v>69.8</c:v>
                </c:pt>
                <c:pt idx="6">
                  <c:v>69.8</c:v>
                </c:pt>
                <c:pt idx="7">
                  <c:v>69.8</c:v>
                </c:pt>
                <c:pt idx="8">
                  <c:v>69.8</c:v>
                </c:pt>
                <c:pt idx="9">
                  <c:v>69.8</c:v>
                </c:pt>
                <c:pt idx="10">
                  <c:v>69.8</c:v>
                </c:pt>
                <c:pt idx="11">
                  <c:v>69.8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محصل عن الفترة الماضية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عن ذات الشهر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10.7</c:v>
                </c:pt>
                <c:pt idx="1">
                  <c:v>10.7</c:v>
                </c:pt>
                <c:pt idx="2">
                  <c:v>10.7</c:v>
                </c:pt>
                <c:pt idx="3">
                  <c:v>10.7</c:v>
                </c:pt>
                <c:pt idx="4">
                  <c:v>10.7</c:v>
                </c:pt>
                <c:pt idx="5">
                  <c:v>10.7</c:v>
                </c:pt>
                <c:pt idx="6">
                  <c:v>10.7</c:v>
                </c:pt>
                <c:pt idx="7">
                  <c:v>10.7</c:v>
                </c:pt>
                <c:pt idx="8">
                  <c:v>10.7</c:v>
                </c:pt>
                <c:pt idx="9">
                  <c:v>10.7</c:v>
                </c:pt>
                <c:pt idx="10">
                  <c:v>10.7</c:v>
                </c:pt>
                <c:pt idx="11">
                  <c:v>10.7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 الشهر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69.8</c:v>
                </c:pt>
                <c:pt idx="1">
                  <c:v>69.8</c:v>
                </c:pt>
                <c:pt idx="2">
                  <c:v>69.8</c:v>
                </c:pt>
                <c:pt idx="3">
                  <c:v>69.8</c:v>
                </c:pt>
                <c:pt idx="4">
                  <c:v>69.8</c:v>
                </c:pt>
                <c:pt idx="5">
                  <c:v>69.8</c:v>
                </c:pt>
                <c:pt idx="6">
                  <c:v>69.8</c:v>
                </c:pt>
                <c:pt idx="7">
                  <c:v>69.8</c:v>
                </c:pt>
                <c:pt idx="8">
                  <c:v>69.8</c:v>
                </c:pt>
                <c:pt idx="9">
                  <c:v>69.8</c:v>
                </c:pt>
                <c:pt idx="10">
                  <c:v>69.8</c:v>
                </c:pt>
                <c:pt idx="11">
                  <c:v>69.8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محصل عن الفترة الماضية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عن ذات الشهر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10.7</c:v>
                </c:pt>
                <c:pt idx="1">
                  <c:v>10.7</c:v>
                </c:pt>
                <c:pt idx="2">
                  <c:v>10.7</c:v>
                </c:pt>
                <c:pt idx="3">
                  <c:v>10.7</c:v>
                </c:pt>
                <c:pt idx="4">
                  <c:v>10.7</c:v>
                </c:pt>
                <c:pt idx="5">
                  <c:v>10.7</c:v>
                </c:pt>
                <c:pt idx="6">
                  <c:v>10.7</c:v>
                </c:pt>
                <c:pt idx="7">
                  <c:v>10.7</c:v>
                </c:pt>
                <c:pt idx="8">
                  <c:v>10.7</c:v>
                </c:pt>
                <c:pt idx="9">
                  <c:v>10.7</c:v>
                </c:pt>
                <c:pt idx="10">
                  <c:v>10.7</c:v>
                </c:pt>
                <c:pt idx="11">
                  <c:v>10.7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795.4</c:v>
                </c:pt>
                <c:pt idx="1">
                  <c:v>60.4</c:v>
                </c:pt>
                <c:pt idx="2">
                  <c:v>405.9</c:v>
                </c:pt>
                <c:pt idx="3">
                  <c:v>0</c:v>
                </c:pt>
                <c:pt idx="4">
                  <c:v>47.7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253.2</c:v>
                </c:pt>
                <c:pt idx="1">
                  <c:v>25.9</c:v>
                </c:pt>
                <c:pt idx="2">
                  <c:v>109.5</c:v>
                </c:pt>
                <c:pt idx="3">
                  <c:v>0</c:v>
                </c:pt>
                <c:pt idx="4">
                  <c:v>20.8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إجمالي استرداد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42.8</c:v>
                </c:pt>
                <c:pt idx="1">
                  <c:v>14.1</c:v>
                </c:pt>
                <c:pt idx="2">
                  <c:v>19.1</c:v>
                </c:pt>
                <c:pt idx="3">
                  <c:v>0</c:v>
                </c:pt>
                <c:pt idx="4">
                  <c:v>0.9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استرداد فعلي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26.4</c:v>
                </c:pt>
                <c:pt idx="1">
                  <c:v>13.2</c:v>
                </c:pt>
                <c:pt idx="2">
                  <c:v>18.4</c:v>
                </c:pt>
                <c:pt idx="3">
                  <c:v>0</c:v>
                </c:pt>
                <c:pt idx="4">
                  <c:v>0.9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708.7</c:v>
                </c:pt>
                <c:pt idx="1">
                  <c:v>39.6</c:v>
                </c:pt>
                <c:pt idx="2">
                  <c:v>391</c:v>
                </c:pt>
                <c:pt idx="3">
                  <c:v>0</c:v>
                </c:pt>
                <c:pt idx="4">
                  <c:v>47.6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183.3</c:v>
                </c:pt>
                <c:pt idx="1">
                  <c:v>25.9</c:v>
                </c:pt>
                <c:pt idx="2">
                  <c:v>105.3</c:v>
                </c:pt>
                <c:pt idx="3">
                  <c:v>0</c:v>
                </c:pt>
                <c:pt idx="4">
                  <c:v>20.7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إجمالي استرداد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33.5</c:v>
                </c:pt>
                <c:pt idx="1">
                  <c:v>14</c:v>
                </c:pt>
                <c:pt idx="2">
                  <c:v>18.8</c:v>
                </c:pt>
                <c:pt idx="3">
                  <c:v>0</c:v>
                </c:pt>
                <c:pt idx="4">
                  <c:v>0.9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استرداد فعلي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20.7</c:v>
                </c:pt>
                <c:pt idx="1">
                  <c:v>13.1</c:v>
                </c:pt>
                <c:pt idx="2">
                  <c:v>18</c:v>
                </c:pt>
                <c:pt idx="3">
                  <c:v>0</c:v>
                </c:pt>
                <c:pt idx="4">
                  <c:v>0.9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قيمة الفواتير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86.7</c:v>
                </c:pt>
                <c:pt idx="1">
                  <c:v>20.9</c:v>
                </c:pt>
                <c:pt idx="2">
                  <c:v>14.9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المنفذ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69.9</c:v>
                </c:pt>
                <c:pt idx="1">
                  <c:v>0</c:v>
                </c:pt>
                <c:pt idx="2">
                  <c:v>4.2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إجمالي استرداد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9.3</c:v>
                </c:pt>
                <c:pt idx="1">
                  <c:v>0.1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استرداد فعلي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إيرادات إستثمارية</c:v>
                  </c:pt>
                  <c:pt idx="1">
                    <c:v>الرسوم والتراخيص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5.7</c:v>
                </c:pt>
                <c:pt idx="1">
                  <c:v>0.1</c:v>
                </c:pt>
                <c:pt idx="2">
                  <c:v>0.4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592.7</c:v>
                </c:pt>
                <c:pt idx="1">
                  <c:v>336.1</c:v>
                </c:pt>
                <c:pt idx="2">
                  <c:v>263.2</c:v>
                </c:pt>
                <c:pt idx="3">
                  <c:v>887.6</c:v>
                </c:pt>
                <c:pt idx="4">
                  <c:v>289.6</c:v>
                </c:pt>
                <c:pt idx="5">
                  <c:v>414.4</c:v>
                </c:pt>
                <c:pt idx="6">
                  <c:v>413.9</c:v>
                </c:pt>
                <c:pt idx="7">
                  <c:v>325.9</c:v>
                </c:pt>
                <c:pt idx="8">
                  <c:v>375.3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صافي المفوتر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590.5</c:v>
                </c:pt>
                <c:pt idx="1">
                  <c:v>334.6</c:v>
                </c:pt>
                <c:pt idx="2">
                  <c:v>246.2</c:v>
                </c:pt>
                <c:pt idx="3">
                  <c:v>880.8</c:v>
                </c:pt>
                <c:pt idx="4">
                  <c:v>287.3</c:v>
                </c:pt>
                <c:pt idx="5">
                  <c:v>393</c:v>
                </c:pt>
                <c:pt idx="6">
                  <c:v>368</c:v>
                </c:pt>
                <c:pt idx="7">
                  <c:v>216</c:v>
                </c:pt>
                <c:pt idx="8">
                  <c:v>148.4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محصل السنة الحالية</c:v>
                </c:pt>
              </c:strCache>
            </c:strRef>
          </c:tx>
          <c:spPr>
            <a:solidFill>
              <a:srgbClr val="8FD14F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146.3</c:v>
                </c:pt>
                <c:pt idx="1">
                  <c:v>221.2</c:v>
                </c:pt>
                <c:pt idx="2">
                  <c:v>144.5</c:v>
                </c:pt>
                <c:pt idx="3">
                  <c:v>209.8</c:v>
                </c:pt>
                <c:pt idx="4">
                  <c:v>202.9</c:v>
                </c:pt>
                <c:pt idx="5">
                  <c:v>635.2</c:v>
                </c:pt>
                <c:pt idx="6">
                  <c:v>253.7</c:v>
                </c:pt>
                <c:pt idx="7">
                  <c:v>263.4</c:v>
                </c:pt>
                <c:pt idx="8">
                  <c:v>250.2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محصل السنوات السابقة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92.6</c:v>
                </c:pt>
                <c:pt idx="1">
                  <c:v>71.4</c:v>
                </c:pt>
                <c:pt idx="2">
                  <c:v>26.9</c:v>
                </c:pt>
                <c:pt idx="3">
                  <c:v>61.8</c:v>
                </c:pt>
                <c:pt idx="4">
                  <c:v>58.2</c:v>
                </c:pt>
                <c:pt idx="5">
                  <c:v>92.3</c:v>
                </c:pt>
                <c:pt idx="6">
                  <c:v>28.9</c:v>
                </c:pt>
                <c:pt idx="7">
                  <c:v>8.5</c:v>
                </c:pt>
                <c:pt idx="8">
                  <c:v>12.5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مستهدف المفوتر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317.6</c:v>
                </c:pt>
                <c:pt idx="1">
                  <c:v>283.6</c:v>
                </c:pt>
                <c:pt idx="2">
                  <c:v>275.6</c:v>
                </c:pt>
                <c:pt idx="3">
                  <c:v>685</c:v>
                </c:pt>
                <c:pt idx="4">
                  <c:v>362.8</c:v>
                </c:pt>
                <c:pt idx="5">
                  <c:v>361.7</c:v>
                </c:pt>
                <c:pt idx="6">
                  <c:v>364.8</c:v>
                </c:pt>
                <c:pt idx="7">
                  <c:v>370.4</c:v>
                </c:pt>
                <c:pt idx="8">
                  <c:v>363.8</c:v>
                </c:pt>
                <c:pt idx="9">
                  <c:v>378</c:v>
                </c:pt>
                <c:pt idx="10">
                  <c:v>858.8</c:v>
                </c:pt>
                <c:pt idx="11">
                  <c:v>422.4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الاعتماد الأصلي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523.7</c:v>
                </c:pt>
                <c:pt idx="1">
                  <c:v>523.7</c:v>
                </c:pt>
                <c:pt idx="2">
                  <c:v>523.7</c:v>
                </c:pt>
                <c:pt idx="3">
                  <c:v>523.7</c:v>
                </c:pt>
                <c:pt idx="4">
                  <c:v>523.7</c:v>
                </c:pt>
                <c:pt idx="5">
                  <c:v>523.7</c:v>
                </c:pt>
                <c:pt idx="6">
                  <c:v>523.7</c:v>
                </c:pt>
                <c:pt idx="7">
                  <c:v>523.7</c:v>
                </c:pt>
                <c:pt idx="8">
                  <c:v>523.7</c:v>
                </c:pt>
                <c:pt idx="9">
                  <c:v>523.7</c:v>
                </c:pt>
                <c:pt idx="10">
                  <c:v>523.7</c:v>
                </c:pt>
                <c:pt idx="11">
                  <c:v>523.7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بعد الاعتماد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523.8</c:v>
                </c:pt>
                <c:pt idx="1">
                  <c:v>523.8</c:v>
                </c:pt>
                <c:pt idx="2">
                  <c:v>523.8</c:v>
                </c:pt>
                <c:pt idx="3">
                  <c:v>523.8</c:v>
                </c:pt>
                <c:pt idx="4">
                  <c:v>523.8</c:v>
                </c:pt>
                <c:pt idx="5">
                  <c:v>523.8</c:v>
                </c:pt>
                <c:pt idx="6">
                  <c:v>523.8</c:v>
                </c:pt>
                <c:pt idx="7">
                  <c:v>523.8</c:v>
                </c:pt>
                <c:pt idx="8">
                  <c:v>523.8</c:v>
                </c:pt>
                <c:pt idx="9">
                  <c:v>523.8</c:v>
                </c:pt>
                <c:pt idx="10">
                  <c:v>523.8</c:v>
                </c:pt>
                <c:pt idx="11">
                  <c:v>523.8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 المفوتر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317.6</c:v>
                </c:pt>
                <c:pt idx="1">
                  <c:v>283.6</c:v>
                </c:pt>
                <c:pt idx="2">
                  <c:v>275.6</c:v>
                </c:pt>
                <c:pt idx="3">
                  <c:v>685</c:v>
                </c:pt>
                <c:pt idx="4">
                  <c:v>362.8</c:v>
                </c:pt>
                <c:pt idx="5">
                  <c:v>361.7</c:v>
                </c:pt>
                <c:pt idx="6">
                  <c:v>364.8</c:v>
                </c:pt>
                <c:pt idx="7">
                  <c:v>370.4</c:v>
                </c:pt>
                <c:pt idx="8">
                  <c:v>363.8</c:v>
                </c:pt>
                <c:pt idx="9">
                  <c:v>378</c:v>
                </c:pt>
                <c:pt idx="10">
                  <c:v>858.8</c:v>
                </c:pt>
                <c:pt idx="11">
                  <c:v>422.4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 (يناير–أغسطس)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استثمار العقارات</c:v>
                  </c:pt>
                  <c:pt idx="1">
                    <c:v>الرسوم والمقابلات</c:v>
                  </c:pt>
                  <c:pt idx="2">
                    <c:v>الجزاءات والغرامات</c:v>
                  </c:pt>
                  <c:pt idx="3">
                    <c:v>إشغال الإيواء</c:v>
                  </c:pt>
                  <c:pt idx="4">
                    <c:v>منتجات التبغ</c:v>
                  </c:pt>
                  <c:pt idx="5">
                    <c:v>إيرادات مختلفة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1171.5</c:v>
                </c:pt>
                <c:pt idx="1">
                  <c:v>815.1</c:v>
                </c:pt>
                <c:pt idx="2">
                  <c:v>915.4</c:v>
                </c:pt>
                <c:pt idx="3">
                  <c:v>127.6</c:v>
                </c:pt>
                <c:pt idx="4">
                  <c:v>77</c:v>
                </c:pt>
                <c:pt idx="5">
                  <c:v>416.8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 (يناير–أغسطس)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استثمار العقارات</c:v>
                  </c:pt>
                  <c:pt idx="1">
                    <c:v>الرسوم والمقابلات</c:v>
                  </c:pt>
                  <c:pt idx="2">
                    <c:v>الجزاءات والغرامات</c:v>
                  </c:pt>
                  <c:pt idx="3">
                    <c:v>إشغال الإيواء</c:v>
                  </c:pt>
                  <c:pt idx="4">
                    <c:v>منتجات التبغ</c:v>
                  </c:pt>
                  <c:pt idx="5">
                    <c:v>إيرادات مختلفة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1042</c:v>
                </c:pt>
                <c:pt idx="1">
                  <c:v>882.1</c:v>
                </c:pt>
                <c:pt idx="2">
                  <c:v>722.2</c:v>
                </c:pt>
                <c:pt idx="3">
                  <c:v>172.6</c:v>
                </c:pt>
                <c:pt idx="4">
                  <c:v>127.5</c:v>
                </c:pt>
                <c:pt idx="5">
                  <c:v>75.2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مستهدف السنة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;-#,##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استثمار العقارات</c:v>
                  </c:pt>
                  <c:pt idx="1">
                    <c:v>الرسوم والمقابلات</c:v>
                  </c:pt>
                  <c:pt idx="2">
                    <c:v>الجزاءات والغرامات</c:v>
                  </c:pt>
                  <c:pt idx="3">
                    <c:v>إشغال الإيواء</c:v>
                  </c:pt>
                  <c:pt idx="4">
                    <c:v>منتجات التبغ</c:v>
                  </c:pt>
                  <c:pt idx="5">
                    <c:v>إيرادات مختلفة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1920.7</c:v>
                </c:pt>
                <c:pt idx="1">
                  <c:v>1410.5</c:v>
                </c:pt>
                <c:pt idx="2">
                  <c:v>1097.2</c:v>
                </c:pt>
                <c:pt idx="3">
                  <c:v>287.5</c:v>
                </c:pt>
                <c:pt idx="4">
                  <c:v>222.6</c:v>
                </c:pt>
                <c:pt idx="5">
                  <c:v>106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123.6</c:v>
                </c:pt>
                <c:pt idx="1">
                  <c:v>96.8</c:v>
                </c:pt>
                <c:pt idx="2">
                  <c:v>53.6</c:v>
                </c:pt>
                <c:pt idx="3">
                  <c:v>552.4</c:v>
                </c:pt>
                <c:pt idx="4">
                  <c:v>91</c:v>
                </c:pt>
                <c:pt idx="5">
                  <c:v>97</c:v>
                </c:pt>
                <c:pt idx="6">
                  <c:v>75.1</c:v>
                </c:pt>
                <c:pt idx="7">
                  <c:v>82</c:v>
                </c:pt>
                <c:pt idx="8">
                  <c:v>68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42.5</c:v>
                </c:pt>
                <c:pt idx="1">
                  <c:v>44.2</c:v>
                </c:pt>
                <c:pt idx="2">
                  <c:v>48.7</c:v>
                </c:pt>
                <c:pt idx="3">
                  <c:v>501.2</c:v>
                </c:pt>
                <c:pt idx="4">
                  <c:v>95.1</c:v>
                </c:pt>
                <c:pt idx="5">
                  <c:v>108.2</c:v>
                </c:pt>
                <c:pt idx="6">
                  <c:v>94.1</c:v>
                </c:pt>
                <c:pt idx="7">
                  <c:v>108</c:v>
                </c:pt>
                <c:pt idx="8">
                  <c:v>97</c:v>
                </c:pt>
                <c:pt idx="9">
                  <c:v>111.8</c:v>
                </c:pt>
                <c:pt idx="10">
                  <c:v>574.7</c:v>
                </c:pt>
                <c:pt idx="11">
                  <c:v>95.1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114</c:v>
                </c:pt>
                <c:pt idx="1">
                  <c:v>91.5</c:v>
                </c:pt>
                <c:pt idx="2">
                  <c:v>66.9</c:v>
                </c:pt>
                <c:pt idx="3">
                  <c:v>152</c:v>
                </c:pt>
                <c:pt idx="4">
                  <c:v>73.3</c:v>
                </c:pt>
                <c:pt idx="5">
                  <c:v>109.8</c:v>
                </c:pt>
                <c:pt idx="6">
                  <c:v>104.2</c:v>
                </c:pt>
                <c:pt idx="7">
                  <c:v>103.5</c:v>
                </c:pt>
                <c:pt idx="8">
                  <c:v>103.3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122.8</c:v>
                </c:pt>
                <c:pt idx="1">
                  <c:v>105.2</c:v>
                </c:pt>
                <c:pt idx="2">
                  <c:v>96.5</c:v>
                </c:pt>
                <c:pt idx="3">
                  <c:v>68.8</c:v>
                </c:pt>
                <c:pt idx="4">
                  <c:v>136.7</c:v>
                </c:pt>
                <c:pt idx="5">
                  <c:v>112.9</c:v>
                </c:pt>
                <c:pt idx="6">
                  <c:v>124.7</c:v>
                </c:pt>
                <c:pt idx="7">
                  <c:v>114.6</c:v>
                </c:pt>
                <c:pt idx="8">
                  <c:v>106.6</c:v>
                </c:pt>
                <c:pt idx="9">
                  <c:v>117.9</c:v>
                </c:pt>
                <c:pt idx="10">
                  <c:v>145.6</c:v>
                </c:pt>
                <c:pt idx="11">
                  <c:v>158.3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93.7</c:v>
                </c:pt>
                <c:pt idx="1">
                  <c:v>111.6</c:v>
                </c:pt>
                <c:pt idx="2">
                  <c:v>95.2</c:v>
                </c:pt>
                <c:pt idx="3">
                  <c:v>124</c:v>
                </c:pt>
                <c:pt idx="4">
                  <c:v>102.1</c:v>
                </c:pt>
                <c:pt idx="5">
                  <c:v>126.3</c:v>
                </c:pt>
                <c:pt idx="6">
                  <c:v>146.1</c:v>
                </c:pt>
                <c:pt idx="7">
                  <c:v>116.3</c:v>
                </c:pt>
                <c:pt idx="8">
                  <c:v>131.9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86.1</c:v>
                </c:pt>
                <c:pt idx="1">
                  <c:v>90.7</c:v>
                </c:pt>
                <c:pt idx="2">
                  <c:v>88.1</c:v>
                </c:pt>
                <c:pt idx="3">
                  <c:v>77</c:v>
                </c:pt>
                <c:pt idx="4">
                  <c:v>90.2</c:v>
                </c:pt>
                <c:pt idx="5">
                  <c:v>86.7</c:v>
                </c:pt>
                <c:pt idx="6">
                  <c:v>104.1</c:v>
                </c:pt>
                <c:pt idx="7">
                  <c:v>99.4</c:v>
                </c:pt>
                <c:pt idx="8">
                  <c:v>92.7</c:v>
                </c:pt>
                <c:pt idx="9">
                  <c:v>92.2</c:v>
                </c:pt>
                <c:pt idx="10">
                  <c:v>84.9</c:v>
                </c:pt>
                <c:pt idx="11">
                  <c:v>105.2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22.3</c:v>
                </c:pt>
                <c:pt idx="1">
                  <c:v>24.3</c:v>
                </c:pt>
                <c:pt idx="2">
                  <c:v>21.8</c:v>
                </c:pt>
                <c:pt idx="3">
                  <c:v>10.9</c:v>
                </c:pt>
                <c:pt idx="4">
                  <c:v>11</c:v>
                </c:pt>
                <c:pt idx="5">
                  <c:v>13</c:v>
                </c:pt>
                <c:pt idx="6">
                  <c:v>11.8</c:v>
                </c:pt>
                <c:pt idx="7">
                  <c:v>12.5</c:v>
                </c:pt>
                <c:pt idx="8">
                  <c:v>13.4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26.1</c:v>
                </c:pt>
                <c:pt idx="1">
                  <c:v>28.2</c:v>
                </c:pt>
                <c:pt idx="2">
                  <c:v>28.3</c:v>
                </c:pt>
                <c:pt idx="3">
                  <c:v>18.4</c:v>
                </c:pt>
                <c:pt idx="4">
                  <c:v>16.7</c:v>
                </c:pt>
                <c:pt idx="5">
                  <c:v>22.5</c:v>
                </c:pt>
                <c:pt idx="6">
                  <c:v>13.1</c:v>
                </c:pt>
                <c:pt idx="7">
                  <c:v>19.4</c:v>
                </c:pt>
                <c:pt idx="8">
                  <c:v>24.9</c:v>
                </c:pt>
                <c:pt idx="9">
                  <c:v>26.8</c:v>
                </c:pt>
                <c:pt idx="10">
                  <c:v>30.1</c:v>
                </c:pt>
                <c:pt idx="11">
                  <c:v>33.1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10.1</c:v>
                </c:pt>
                <c:pt idx="1">
                  <c:v>9.6</c:v>
                </c:pt>
                <c:pt idx="2">
                  <c:v>8.5</c:v>
                </c:pt>
                <c:pt idx="3">
                  <c:v>10</c:v>
                </c:pt>
                <c:pt idx="4">
                  <c:v>9.6</c:v>
                </c:pt>
                <c:pt idx="5">
                  <c:v>10.9</c:v>
                </c:pt>
                <c:pt idx="6">
                  <c:v>9.4</c:v>
                </c:pt>
                <c:pt idx="7">
                  <c:v>9</c:v>
                </c:pt>
                <c:pt idx="8">
                  <c:v>9.9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16.1</c:v>
                </c:pt>
                <c:pt idx="1">
                  <c:v>10.5</c:v>
                </c:pt>
                <c:pt idx="2">
                  <c:v>10.2</c:v>
                </c:pt>
                <c:pt idx="3">
                  <c:v>10.1</c:v>
                </c:pt>
                <c:pt idx="4">
                  <c:v>19</c:v>
                </c:pt>
                <c:pt idx="5">
                  <c:v>20.9</c:v>
                </c:pt>
                <c:pt idx="6">
                  <c:v>20.7</c:v>
                </c:pt>
                <c:pt idx="7">
                  <c:v>20</c:v>
                </c:pt>
                <c:pt idx="8">
                  <c:v>37.1</c:v>
                </c:pt>
                <c:pt idx="9">
                  <c:v>19.8</c:v>
                </c:pt>
                <c:pt idx="10">
                  <c:v>18.5</c:v>
                </c:pt>
                <c:pt idx="11">
                  <c:v>19.7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مفوتر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228.9</c:v>
                </c:pt>
                <c:pt idx="1">
                  <c:v>2.2</c:v>
                </c:pt>
                <c:pt idx="2">
                  <c:v>17.2</c:v>
                </c:pt>
                <c:pt idx="3">
                  <c:v>38.5</c:v>
                </c:pt>
                <c:pt idx="4">
                  <c:v>2.6</c:v>
                </c:pt>
                <c:pt idx="5">
                  <c:v>57.4</c:v>
                </c:pt>
                <c:pt idx="6">
                  <c:v>67.4</c:v>
                </c:pt>
                <c:pt idx="7">
                  <c:v>2.5</c:v>
                </c:pt>
                <c:pt idx="8">
                  <c:v>48.9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مستهدف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مايو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أغسطس</c:v>
                  </c:pt>
                  <c:pt idx="8">
                    <c:v>سبتمبر</c:v>
                  </c:pt>
                  <c:pt idx="9">
                    <c:v>أكتوبر</c:v>
                  </c:pt>
                  <c:pt idx="10">
                    <c:v>نوفمبر</c:v>
                  </c:pt>
                  <c:pt idx="11">
                    <c:v>ديسمبر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</c:v>
                </c:pt>
                <c:pt idx="1">
                  <c:v>5</c:v>
                </c:pt>
                <c:pt idx="2">
                  <c:v>3.8</c:v>
                </c:pt>
                <c:pt idx="3">
                  <c:v>9.6</c:v>
                </c:pt>
                <c:pt idx="4">
                  <c:v>5.1</c:v>
                </c:pt>
                <c:pt idx="5">
                  <c:v>10.5</c:v>
                </c:pt>
                <c:pt idx="6">
                  <c:v>8.1</c:v>
                </c:pt>
                <c:pt idx="7">
                  <c:v>9</c:v>
                </c:pt>
                <c:pt idx="8">
                  <c:v>5.4</c:v>
                </c:pt>
                <c:pt idx="9">
                  <c:v>9.5</c:v>
                </c:pt>
                <c:pt idx="10">
                  <c:v>5</c:v>
                </c:pt>
                <c:pt idx="11">
                  <c:v>10.9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المتبقي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إيرادات استثمارية</c:v>
                  </c:pt>
                  <c:pt idx="1">
                    <c:v>جزاءات وغرامات</c:v>
                  </c:pt>
                  <c:pt idx="2">
                    <c:v>التبغ والإيواء</c:v>
                  </c:pt>
                  <c:pt idx="3">
                    <c:v>أخرى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373.1</c:v>
                </c:pt>
                <c:pt idx="1">
                  <c:v>1672</c:v>
                </c:pt>
                <c:pt idx="2">
                  <c:v>195.7</c:v>
                </c:pt>
                <c:pt idx="3">
                  <c:v>85.7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إيرادات استثمارية</c:v>
                  </c:pt>
                  <c:pt idx="1">
                    <c:v>جزاءات وغرامات</c:v>
                  </c:pt>
                  <c:pt idx="2">
                    <c:v>التبغ والإيواء</c:v>
                  </c:pt>
                  <c:pt idx="3">
                    <c:v>أخرى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172.1</c:v>
                </c:pt>
                <c:pt idx="1">
                  <c:v>166.1</c:v>
                </c:pt>
                <c:pt idx="2">
                  <c:v>10.8</c:v>
                </c:pt>
                <c:pt idx="3">
                  <c:v>19.3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الملغي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إيرادات استثمارية</c:v>
                  </c:pt>
                  <c:pt idx="1">
                    <c:v>جزاءات وغرامات</c:v>
                  </c:pt>
                  <c:pt idx="2">
                    <c:v>التبغ والإيواء</c:v>
                  </c:pt>
                  <c:pt idx="3">
                    <c:v>أخرى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15.6</c:v>
                </c:pt>
                <c:pt idx="1">
                  <c:v>28.6</c:v>
                </c:pt>
                <c:pt idx="2">
                  <c:v>5.2</c:v>
                </c:pt>
                <c:pt idx="3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المتبقي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0.1</c:v>
                </c:pt>
                <c:pt idx="1">
                  <c:v>0.2</c:v>
                </c:pt>
                <c:pt idx="2">
                  <c:v>5</c:v>
                </c:pt>
                <c:pt idx="3">
                  <c:v>0.3</c:v>
                </c:pt>
                <c:pt idx="4">
                  <c:v>1.2</c:v>
                </c:pt>
                <c:pt idx="5">
                  <c:v>3.8</c:v>
                </c:pt>
                <c:pt idx="6">
                  <c:v>6.9</c:v>
                </c:pt>
                <c:pt idx="7">
                  <c:v>5.5</c:v>
                </c:pt>
                <c:pt idx="8">
                  <c:v>26.6</c:v>
                </c:pt>
                <c:pt idx="9">
                  <c:v>10.7</c:v>
                </c:pt>
                <c:pt idx="10">
                  <c:v>20.9</c:v>
                </c:pt>
                <c:pt idx="11">
                  <c:v>14.3</c:v>
                </c:pt>
                <c:pt idx="12">
                  <c:v>66.5</c:v>
                </c:pt>
                <c:pt idx="13">
                  <c:v>36.9</c:v>
                </c:pt>
                <c:pt idx="14">
                  <c:v>31.3</c:v>
                </c:pt>
                <c:pt idx="15">
                  <c:v>57</c:v>
                </c:pt>
                <c:pt idx="16">
                  <c:v>85.9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0.7</c:v>
                </c:pt>
                <c:pt idx="7">
                  <c:v>0.6</c:v>
                </c:pt>
                <c:pt idx="8">
                  <c:v>1.2</c:v>
                </c:pt>
                <c:pt idx="9">
                  <c:v>2.8</c:v>
                </c:pt>
                <c:pt idx="10">
                  <c:v>1.7</c:v>
                </c:pt>
                <c:pt idx="11">
                  <c:v>1.7</c:v>
                </c:pt>
                <c:pt idx="12">
                  <c:v>1.9</c:v>
                </c:pt>
                <c:pt idx="13">
                  <c:v>14.6</c:v>
                </c:pt>
                <c:pt idx="14">
                  <c:v>5.4</c:v>
                </c:pt>
                <c:pt idx="15">
                  <c:v>21.3</c:v>
                </c:pt>
                <c:pt idx="16">
                  <c:v>115.8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الملغي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0.1</c:v>
                </c:pt>
                <c:pt idx="3">
                  <c:v>0.2</c:v>
                </c:pt>
                <c:pt idx="4">
                  <c:v>0</c:v>
                </c:pt>
                <c:pt idx="5">
                  <c:v>0.1</c:v>
                </c:pt>
                <c:pt idx="6">
                  <c:v>0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</c:v>
                </c:pt>
                <c:pt idx="11">
                  <c:v>0</c:v>
                </c:pt>
                <c:pt idx="12">
                  <c:v>0.1</c:v>
                </c:pt>
                <c:pt idx="13">
                  <c:v>0.5</c:v>
                </c:pt>
                <c:pt idx="14">
                  <c:v>1.4</c:v>
                </c:pt>
                <c:pt idx="15">
                  <c:v>2.3</c:v>
                </c:pt>
                <c:pt idx="16">
                  <c:v>10.3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المتبقي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0.1</c:v>
                </c:pt>
                <c:pt idx="1">
                  <c:v>1.1</c:v>
                </c:pt>
                <c:pt idx="2">
                  <c:v>1.2</c:v>
                </c:pt>
                <c:pt idx="3">
                  <c:v>1.3</c:v>
                </c:pt>
                <c:pt idx="4">
                  <c:v>1.1</c:v>
                </c:pt>
                <c:pt idx="5">
                  <c:v>1.3</c:v>
                </c:pt>
                <c:pt idx="6">
                  <c:v>1.8</c:v>
                </c:pt>
                <c:pt idx="7">
                  <c:v>2.5</c:v>
                </c:pt>
                <c:pt idx="8">
                  <c:v>2.5</c:v>
                </c:pt>
                <c:pt idx="9">
                  <c:v>6.4</c:v>
                </c:pt>
                <c:pt idx="10">
                  <c:v>7.9</c:v>
                </c:pt>
                <c:pt idx="11">
                  <c:v>24.4</c:v>
                </c:pt>
                <c:pt idx="12">
                  <c:v>40</c:v>
                </c:pt>
                <c:pt idx="13">
                  <c:v>47.5</c:v>
                </c:pt>
                <c:pt idx="14">
                  <c:v>88.2</c:v>
                </c:pt>
                <c:pt idx="15">
                  <c:v>164.6</c:v>
                </c:pt>
                <c:pt idx="16">
                  <c:v>254.2</c:v>
                </c:pt>
                <c:pt idx="17">
                  <c:v>443.2</c:v>
                </c:pt>
                <c:pt idx="18">
                  <c:v>582.9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0.1</c:v>
                </c:pt>
                <c:pt idx="13">
                  <c:v>0.4</c:v>
                </c:pt>
                <c:pt idx="14">
                  <c:v>2</c:v>
                </c:pt>
                <c:pt idx="15">
                  <c:v>4.1</c:v>
                </c:pt>
                <c:pt idx="16">
                  <c:v>4.1</c:v>
                </c:pt>
                <c:pt idx="17">
                  <c:v>41</c:v>
                </c:pt>
                <c:pt idx="18">
                  <c:v>114.4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الملغي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2007</c:v>
                  </c:pt>
                  <c:pt idx="1">
                    <c:v>2008</c:v>
                  </c:pt>
                  <c:pt idx="2">
                    <c:v>2009</c:v>
                  </c:pt>
                  <c:pt idx="3">
                    <c:v>2010</c:v>
                  </c:pt>
                  <c:pt idx="4">
                    <c:v>2011</c:v>
                  </c:pt>
                  <c:pt idx="5">
                    <c:v>2012</c:v>
                  </c:pt>
                  <c:pt idx="6">
                    <c:v>2013</c:v>
                  </c:pt>
                  <c:pt idx="7">
                    <c:v>2014</c:v>
                  </c:pt>
                  <c:pt idx="8">
                    <c:v>2015</c:v>
                  </c:pt>
                  <c:pt idx="9">
                    <c:v>2016</c:v>
                  </c:pt>
                  <c:pt idx="10">
                    <c:v>2017</c:v>
                  </c:pt>
                  <c:pt idx="11">
                    <c:v>2018</c:v>
                  </c:pt>
                  <c:pt idx="12">
                    <c:v>2019</c:v>
                  </c:pt>
                  <c:pt idx="13">
                    <c:v>2020</c:v>
                  </c:pt>
                  <c:pt idx="14">
                    <c:v>2021</c:v>
                  </c:pt>
                  <c:pt idx="15">
                    <c:v>2022</c:v>
                  </c:pt>
                  <c:pt idx="16">
                    <c:v>2023</c:v>
                  </c:pt>
                  <c:pt idx="17">
                    <c:v>2024</c:v>
                  </c:pt>
                  <c:pt idx="18">
                    <c:v>2025</c:v>
                  </c:pt>
                </c:lvl>
              </c:multiLvlStrCache>
            </c:multiLvl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0.7</c:v>
                </c:pt>
                <c:pt idx="16">
                  <c:v>0.8</c:v>
                </c:pt>
                <c:pt idx="17">
                  <c:v>2.7</c:v>
                </c:pt>
                <c:pt idx="18">
                  <c:v>24.3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المتبقي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0.5</c:v>
                </c:pt>
                <c:pt idx="2">
                  <c:v>4.7</c:v>
                </c:pt>
                <c:pt idx="3">
                  <c:v>8.8</c:v>
                </c:pt>
                <c:pt idx="4">
                  <c:v>5.4</c:v>
                </c:pt>
                <c:pt idx="5">
                  <c:v>16.7</c:v>
                </c:pt>
                <c:pt idx="6">
                  <c:v>13.6</c:v>
                </c:pt>
                <c:pt idx="7">
                  <c:v>83.3</c:v>
                </c:pt>
                <c:pt idx="8">
                  <c:v>62.7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</c:v>
                </c:pt>
                <c:pt idx="4">
                  <c:v>0.2</c:v>
                </c:pt>
                <c:pt idx="5">
                  <c:v>0.1</c:v>
                </c:pt>
                <c:pt idx="6">
                  <c:v>0.1</c:v>
                </c:pt>
                <c:pt idx="7">
                  <c:v>2.1</c:v>
                </c:pt>
                <c:pt idx="8">
                  <c:v>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الملغي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2015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  <c:pt idx="7">
                    <c:v>2024</c:v>
                  </c:pt>
                  <c:pt idx="8">
                    <c:v>2025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0.8</c:v>
                </c:pt>
                <c:pt idx="8">
                  <c:v>4.3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المتبقي</c:v>
                </c:pt>
              </c:strCache>
            </c:strRef>
          </c:tx>
          <c:spPr>
            <a:solidFill>
              <a:srgbClr val="0F4A3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1.6</c:v>
                </c:pt>
                <c:pt idx="7">
                  <c:v>0</c:v>
                </c:pt>
                <c:pt idx="8">
                  <c:v>0.5</c:v>
                </c:pt>
                <c:pt idx="9">
                  <c:v>0.2</c:v>
                </c:pt>
                <c:pt idx="10">
                  <c:v>0.1</c:v>
                </c:pt>
                <c:pt idx="11">
                  <c:v>0</c:v>
                </c:pt>
                <c:pt idx="12">
                  <c:v>0.2</c:v>
                </c:pt>
                <c:pt idx="13">
                  <c:v>0.4</c:v>
                </c:pt>
                <c:pt idx="14">
                  <c:v>0.4</c:v>
                </c:pt>
                <c:pt idx="15">
                  <c:v>4</c:v>
                </c:pt>
                <c:pt idx="16">
                  <c:v>78.2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1E9E4A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19.3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الملغي</c:v>
                </c:pt>
              </c:strCache>
            </c:strRef>
          </c:tx>
          <c:spPr>
            <a:solidFill>
              <a:srgbClr val="F2B134"/>
            </a:solidFill>
            <a:effectLst/>
          </c:spPr>
          <c:invertIfNegative val="0"/>
          <c:dLbls>
            <c:numFmt formatCode="#,##0.0;-#,##0.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B24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2020</c:v>
                  </c:pt>
                  <c:pt idx="12">
                    <c:v>2021</c:v>
                  </c:pt>
                  <c:pt idx="13">
                    <c:v>2022</c:v>
                  </c:pt>
                  <c:pt idx="14">
                    <c:v>2023</c:v>
                  </c:pt>
                  <c:pt idx="15">
                    <c:v>2024</c:v>
                  </c:pt>
                  <c:pt idx="16">
                    <c:v>2025</c:v>
                  </c:pt>
                </c:lvl>
              </c:multiLvlStrCache>
            </c:multiLvl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numFmt formatCode="#,##0.0;-#,##0.0;" sourceLinked="0"/>
          <c:txPr>
            <a:bodyPr/>
            <a:lstStyle/>
            <a:p>
              <a:pPr>
                <a:defRPr b="0" i="0" strike="noStrike" sz="1000" u="none">
                  <a:solidFill>
                    <a:srgbClr val="0B2B24"/>
                  </a:solidFill>
                  <a:latin typeface="+mn-lt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6E1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est4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178308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6419088"/>
            <a:ext cx="8805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تقرير الإيرادات 2026  |  المبالغ بالمليون ريال، والأرقام مقرّبة وقد لا تتطابق المجاميع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783080" cy="6858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pic>
        <p:nvPicPr>
          <p:cNvPr id="3" name="Image 0" descr="/home/user/test4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6032"/>
            <a:ext cx="178308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6080" y="6419088"/>
            <a:ext cx="8805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8AE"/>
                </a:solidFill>
              </a:rPr>
              <a:t>تقرير الإيرادات 2026  |  المبالغ بالمليون ريال، والأرقام مقرّبة وقد لا تتطابق المجاميع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10.xml"/><Relationship Id="rId4" Type="http://schemas.openxmlformats.org/officeDocument/2006/relationships/slide" Target="slide16.xml"/><Relationship Id="rId5" Type="http://schemas.openxmlformats.org/officeDocument/2006/relationships/slide" Target="slide22.xml"/><Relationship Id="rId6" Type="http://schemas.openxmlformats.org/officeDocument/2006/relationships/slide" Target="slide27.xml"/><Relationship Id="rId7" Type="http://schemas.openxmlformats.org/officeDocument/2006/relationships/slide" Target="slide31.xml"/><Relationship Id="rId8" Type="http://schemas.openxmlformats.org/officeDocument/2006/relationships/slide" Target="slide32.xml"/><Relationship Id="rId9" Type="http://schemas.openxmlformats.org/officeDocument/2006/relationships/slide" Target="slide37.xml"/><Relationship Id="rId10" Type="http://schemas.openxmlformats.org/officeDocument/2006/relationships/slide" Target="slide38.xml"/><Relationship Id="rId11" Type="http://schemas.openxmlformats.org/officeDocument/2006/relationships/slide" Target="slide41.xml"/><Relationship Id="rId12" Type="http://schemas.openxmlformats.org/officeDocument/2006/relationships/slide" Target="slide43.xml"/><Relationship Id="rId13" Type="http://schemas.openxmlformats.org/officeDocument/2006/relationships/slide" Target="slide50.xml"/><Relationship Id="rId14" Type="http://schemas.openxmlformats.org/officeDocument/2006/relationships/slide" Target="slide55.xml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chart" Target="/ppt/charts/chart1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chart" Target="/ppt/charts/chart2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chart" Target="/ppt/charts/chart3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chart" Target="/ppt/charts/chart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chart" Target="/ppt/charts/chart5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chart" Target="/ppt/charts/chart6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chart" Target="/ppt/charts/chart7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chart" Target="/ppt/charts/chart8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chart" Target="/ppt/charts/chart9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chart" Target="/ppt/charts/chart10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3.xml"/><Relationship Id="rId5" Type="http://schemas.openxmlformats.org/officeDocument/2006/relationships/slide" Target="slide15.xml"/><Relationship Id="rId6" Type="http://schemas.openxmlformats.org/officeDocument/2006/relationships/chart" Target="/ppt/charts/chart11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chart" Target="/ppt/charts/chart12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chart" Target="/ppt/charts/chart13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chart" Target="/ppt/charts/chart1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7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chart" Target="/ppt/charts/chart15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chart" Target="/ppt/charts/chart16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1.xml"/><Relationship Id="rId6" Type="http://schemas.openxmlformats.org/officeDocument/2006/relationships/chart" Target="/ppt/charts/chart17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chart" Target="/ppt/charts/chart18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chart" Target="/ppt/charts/chart1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chart" Target="/ppt/charts/chart2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3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chart" Target="/ppt/charts/chart2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3.xml"/><Relationship Id="rId3" Type="http://schemas.openxmlformats.org/officeDocument/2006/relationships/slide" Target="slide24.xml"/><Relationship Id="rId4" Type="http://schemas.openxmlformats.org/officeDocument/2006/relationships/slide" Target="slide26.xml"/><Relationship Id="rId5" Type="http://schemas.openxmlformats.org/officeDocument/2006/relationships/chart" Target="/ppt/charts/chart2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2.xml"/><Relationship Id="rId2" Type="http://schemas.openxmlformats.org/officeDocument/2006/relationships/slide" Target="slide23.xml"/><Relationship Id="rId3" Type="http://schemas.openxmlformats.org/officeDocument/2006/relationships/slide" Target="slide24.xml"/><Relationship Id="rId4" Type="http://schemas.openxmlformats.org/officeDocument/2006/relationships/slide" Target="slide25.xml"/><Relationship Id="rId5" Type="http://schemas.openxmlformats.org/officeDocument/2006/relationships/chart" Target="/ppt/charts/chart23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29.xml"/><Relationship Id="rId3" Type="http://schemas.openxmlformats.org/officeDocument/2006/relationships/chart" Target="/ppt/charts/chart24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9.xml"/><Relationship Id="rId3" Type="http://schemas.openxmlformats.org/officeDocument/2006/relationships/chart" Target="/ppt/charts/chart2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8.xml"/><Relationship Id="rId3" Type="http://schemas.openxmlformats.org/officeDocument/2006/relationships/chart" Target="/ppt/charts/chart2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chart" Target="/ppt/charts/chart2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chart" Target="/ppt/charts/chart2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chart" Target="/ppt/charts/chart3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chart" Target="/ppt/charts/chart3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chart" Target="/ppt/charts/chart3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35.xml"/><Relationship Id="rId3" Type="http://schemas.openxmlformats.org/officeDocument/2006/relationships/slide" Target="slide37.xml"/><Relationship Id="rId4" Type="http://schemas.openxmlformats.org/officeDocument/2006/relationships/chart" Target="/ppt/charts/chart3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34.xml"/><Relationship Id="rId2" Type="http://schemas.openxmlformats.org/officeDocument/2006/relationships/slide" Target="slide35.xml"/><Relationship Id="rId3" Type="http://schemas.openxmlformats.org/officeDocument/2006/relationships/slide" Target="slide36.xml"/><Relationship Id="rId4" Type="http://schemas.openxmlformats.org/officeDocument/2006/relationships/chart" Target="/ppt/charts/chart3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9.xml"/><Relationship Id="rId2" Type="http://schemas.openxmlformats.org/officeDocument/2006/relationships/slide" Target="slide40.xml"/><Relationship Id="rId3" Type="http://schemas.openxmlformats.org/officeDocument/2006/relationships/chart" Target="/ppt/charts/chart3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40.xml"/><Relationship Id="rId3" Type="http://schemas.openxmlformats.org/officeDocument/2006/relationships/chart" Target="/ppt/charts/chart3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38.xml"/><Relationship Id="rId2" Type="http://schemas.openxmlformats.org/officeDocument/2006/relationships/slide" Target="slide39.xml"/><Relationship Id="rId3" Type="http://schemas.openxmlformats.org/officeDocument/2006/relationships/chart" Target="/ppt/charts/chart37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42.xml"/><Relationship Id="rId2" Type="http://schemas.openxmlformats.org/officeDocument/2006/relationships/chart" Target="/ppt/charts/chart38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41.xml"/><Relationship Id="rId2" Type="http://schemas.openxmlformats.org/officeDocument/2006/relationships/chart" Target="/ppt/charts/chart39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44.xml"/><Relationship Id="rId2" Type="http://schemas.openxmlformats.org/officeDocument/2006/relationships/slide" Target="slide45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chart" Target="/ppt/charts/chart40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5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chart" Target="/ppt/charts/chart41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6.xml"/><Relationship Id="rId4" Type="http://schemas.openxmlformats.org/officeDocument/2006/relationships/slide" Target="slide47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chart" Target="/ppt/charts/chart42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5.xml"/><Relationship Id="rId4" Type="http://schemas.openxmlformats.org/officeDocument/2006/relationships/slide" Target="slide47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chart" Target="/ppt/charts/chart43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chart" Target="/ppt/charts/chart44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9.xml"/><Relationship Id="rId7" Type="http://schemas.openxmlformats.org/officeDocument/2006/relationships/chart" Target="/ppt/charts/chart45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43.xml"/><Relationship Id="rId2" Type="http://schemas.openxmlformats.org/officeDocument/2006/relationships/slide" Target="slide4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chart" Target="/ppt/charts/chart46.xml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51.xml"/><Relationship Id="rId2" Type="http://schemas.openxmlformats.org/officeDocument/2006/relationships/slide" Target="slide52.xml"/><Relationship Id="rId3" Type="http://schemas.openxmlformats.org/officeDocument/2006/relationships/slide" Target="slide53.xml"/><Relationship Id="rId4" Type="http://schemas.openxmlformats.org/officeDocument/2006/relationships/slide" Target="slide54.xml"/><Relationship Id="rId5" Type="http://schemas.openxmlformats.org/officeDocument/2006/relationships/chart" Target="/ppt/charts/chart47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2.xml"/><Relationship Id="rId3" Type="http://schemas.openxmlformats.org/officeDocument/2006/relationships/slide" Target="slide53.xml"/><Relationship Id="rId4" Type="http://schemas.openxmlformats.org/officeDocument/2006/relationships/slide" Target="slide54.xml"/><Relationship Id="rId5" Type="http://schemas.openxmlformats.org/officeDocument/2006/relationships/chart" Target="/ppt/charts/chart48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1.xml"/><Relationship Id="rId3" Type="http://schemas.openxmlformats.org/officeDocument/2006/relationships/slide" Target="slide53.xml"/><Relationship Id="rId4" Type="http://schemas.openxmlformats.org/officeDocument/2006/relationships/slide" Target="slide54.xml"/><Relationship Id="rId5" Type="http://schemas.openxmlformats.org/officeDocument/2006/relationships/chart" Target="/ppt/charts/chart4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1.xml"/><Relationship Id="rId3" Type="http://schemas.openxmlformats.org/officeDocument/2006/relationships/slide" Target="slide52.xml"/><Relationship Id="rId4" Type="http://schemas.openxmlformats.org/officeDocument/2006/relationships/slide" Target="slide54.xml"/><Relationship Id="rId5" Type="http://schemas.openxmlformats.org/officeDocument/2006/relationships/chart" Target="/ppt/charts/chart50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50.xml"/><Relationship Id="rId2" Type="http://schemas.openxmlformats.org/officeDocument/2006/relationships/slide" Target="slide51.xml"/><Relationship Id="rId3" Type="http://schemas.openxmlformats.org/officeDocument/2006/relationships/slide" Target="slide52.xml"/><Relationship Id="rId4" Type="http://schemas.openxmlformats.org/officeDocument/2006/relationships/slide" Target="slide53.xml"/><Relationship Id="rId5" Type="http://schemas.openxmlformats.org/officeDocument/2006/relationships/chart" Target="/ppt/charts/chart51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1274552" cy="45720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تقرير الإيرادات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الإيرادات حسب السنة والتبويب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CFE3DA"/>
                </a:solidFill>
              </a:rPr>
              <a:t>المؤشرات السنوية والشهرية  •  الأداء الفعلي مقابل المقدر والمستهدف  •  التحصيل والمديونية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378440" y="493776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4891" y="4937760"/>
            <a:ext cx="2223821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التقرير الشهري: أغسطس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FE3DA"/>
                </a:solidFill>
              </a:rPr>
              <a:t>وزارة السياحة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الفهرس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الفهرس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50274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4824" y="2441448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60002" y="2286000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المؤشرات الرئيسة</a:t>
            </a:r>
            <a:endParaRPr lang="en-US" sz="1300" dirty="0"/>
          </a:p>
        </p:txBody>
      </p:sp>
      <p:sp>
        <p:nvSpPr>
          <p:cNvPr id="7" name="Shape 5">
            <a:hlinkClick r:id="rId1" tooltip="المؤشرات الرئيسة" action="ppaction://hlinksldjump"/>
          </p:cNvPr>
          <p:cNvSpPr/>
          <p:nvPr/>
        </p:nvSpPr>
        <p:spPr>
          <a:xfrm>
            <a:off x="9050274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85916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00466" y="2441448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95644" y="2286000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11" name="Shape 9">
            <a:hlinkClick r:id="rId2" tooltip="الإيراد حتى تاريخه" action="ppaction://hlinksldjump"/>
          </p:cNvPr>
          <p:cNvSpPr/>
          <p:nvPr/>
        </p:nvSpPr>
        <p:spPr>
          <a:xfrm>
            <a:off x="6185916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21558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36108" y="2441448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31286" y="2286000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15" name="Shape 13">
            <a:hlinkClick r:id="rId3" tooltip="الإيراد لنهاية السنة" action="ppaction://hlinksldjump"/>
          </p:cNvPr>
          <p:cNvSpPr/>
          <p:nvPr/>
        </p:nvSpPr>
        <p:spPr>
          <a:xfrm>
            <a:off x="3321558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71750" y="2441448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2286000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19" name="Shape 17">
            <a:hlinkClick r:id="rId4" tooltip="الإيراد للشهر الحالي" action="ppaction://hlinksldjump"/>
          </p:cNvPr>
          <p:cNvSpPr/>
          <p:nvPr/>
        </p:nvSpPr>
        <p:spPr>
          <a:xfrm>
            <a:off x="457200" y="2194560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50274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164824" y="35661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60002" y="3410712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23" name="Shape 21">
            <a:hlinkClick r:id="rId5" tooltip="الإيراد حسب القطاع" action="ppaction://hlinksldjump"/>
          </p:cNvPr>
          <p:cNvSpPr/>
          <p:nvPr/>
        </p:nvSpPr>
        <p:spPr>
          <a:xfrm>
            <a:off x="9050274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85916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00466" y="35661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95644" y="3410712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ملخص التبويبات: الاستثمارية والجزاءات والتبغ</a:t>
            </a:r>
            <a:endParaRPr lang="en-US" sz="1300" dirty="0"/>
          </a:p>
        </p:txBody>
      </p:sp>
      <p:sp>
        <p:nvSpPr>
          <p:cNvPr id="27" name="Shape 25">
            <a:hlinkClick r:id="rId6" tooltip="ملخص التبويبات: الاستثمارية والجزاءات والتبغ" action="ppaction://hlinksldjump"/>
          </p:cNvPr>
          <p:cNvSpPr/>
          <p:nvPr/>
        </p:nvSpPr>
        <p:spPr>
          <a:xfrm>
            <a:off x="6185916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21558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36108" y="35661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431286" y="3410712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الاستقطاع</a:t>
            </a:r>
            <a:endParaRPr lang="en-US" sz="1300" dirty="0"/>
          </a:p>
        </p:txBody>
      </p:sp>
      <p:sp>
        <p:nvSpPr>
          <p:cNvPr id="31" name="Shape 29">
            <a:hlinkClick r:id="rId7" tooltip="الاستقطاع" action="ppaction://hlinksldjump"/>
          </p:cNvPr>
          <p:cNvSpPr/>
          <p:nvPr/>
        </p:nvSpPr>
        <p:spPr>
          <a:xfrm>
            <a:off x="3321558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571750" y="3566160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3410712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سيناريوهات الإقفال</a:t>
            </a:r>
            <a:endParaRPr lang="en-US" sz="1300" dirty="0"/>
          </a:p>
        </p:txBody>
      </p:sp>
      <p:sp>
        <p:nvSpPr>
          <p:cNvPr id="35" name="Shape 33">
            <a:hlinkClick r:id="rId8" tooltip="سيناريوهات الإقفال" action="ppaction://hlinksldjump"/>
          </p:cNvPr>
          <p:cNvSpPr/>
          <p:nvPr/>
        </p:nvSpPr>
        <p:spPr>
          <a:xfrm>
            <a:off x="457200" y="3319272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050274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1164824" y="4690872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160002" y="4535424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الجزاءات والغرامات الشهرية</a:t>
            </a:r>
            <a:endParaRPr lang="en-US" sz="1300" dirty="0"/>
          </a:p>
        </p:txBody>
      </p:sp>
      <p:sp>
        <p:nvSpPr>
          <p:cNvPr id="39" name="Shape 37">
            <a:hlinkClick r:id="rId9" tooltip="الجزاءات والغرامات الشهرية" action="ppaction://hlinksldjump"/>
          </p:cNvPr>
          <p:cNvSpPr/>
          <p:nvPr/>
        </p:nvSpPr>
        <p:spPr>
          <a:xfrm>
            <a:off x="9050274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85916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00466" y="4690872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6295644" y="4535424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التنفيذ والاسترداد</a:t>
            </a:r>
            <a:endParaRPr lang="en-US" sz="1300" dirty="0"/>
          </a:p>
        </p:txBody>
      </p:sp>
      <p:sp>
        <p:nvSpPr>
          <p:cNvPr id="43" name="Shape 41">
            <a:hlinkClick r:id="rId10" tooltip="التنفيذ والاسترداد" action="ppaction://hlinksldjump"/>
          </p:cNvPr>
          <p:cNvSpPr/>
          <p:nvPr/>
        </p:nvSpPr>
        <p:spPr>
          <a:xfrm>
            <a:off x="6185916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21558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436108" y="4690872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11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3431286" y="4535424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المفوتر والميزانية والمستهدف</a:t>
            </a:r>
            <a:endParaRPr lang="en-US" sz="1300" dirty="0"/>
          </a:p>
        </p:txBody>
      </p:sp>
      <p:sp>
        <p:nvSpPr>
          <p:cNvPr id="47" name="Shape 45">
            <a:hlinkClick r:id="rId11" tooltip="المفوتر والميزانية والمستهدف" action="ppaction://hlinksldjump"/>
          </p:cNvPr>
          <p:cNvSpPr/>
          <p:nvPr/>
        </p:nvSpPr>
        <p:spPr>
          <a:xfrm>
            <a:off x="3321558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2571750" y="4690872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12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4535424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تبويبات الوزارة: المفوتر والمستهدف</a:t>
            </a:r>
            <a:endParaRPr lang="en-US" sz="1300" dirty="0"/>
          </a:p>
        </p:txBody>
      </p:sp>
      <p:sp>
        <p:nvSpPr>
          <p:cNvPr id="51" name="Shape 49">
            <a:hlinkClick r:id="rId12" tooltip="تبويبات الوزارة: المفوتر والمستهدف" action="ppaction://hlinksldjump"/>
          </p:cNvPr>
          <p:cNvSpPr/>
          <p:nvPr/>
        </p:nvSpPr>
        <p:spPr>
          <a:xfrm>
            <a:off x="457200" y="4443984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50274" y="5568696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1164824" y="5815584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13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9160002" y="5660136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55" name="Shape 53">
            <a:hlinkClick r:id="rId13" tooltip="المديونية" action="ppaction://hlinksldjump"/>
          </p:cNvPr>
          <p:cNvSpPr/>
          <p:nvPr/>
        </p:nvSpPr>
        <p:spPr>
          <a:xfrm>
            <a:off x="9050274" y="5568696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185916" y="5568696"/>
            <a:ext cx="2681478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300466" y="5815584"/>
            <a:ext cx="4572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14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6295644" y="5660136"/>
            <a:ext cx="18585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ملاحظات منهجية</a:t>
            </a:r>
            <a:endParaRPr lang="en-US" sz="1300" dirty="0"/>
          </a:p>
        </p:txBody>
      </p:sp>
      <p:sp>
        <p:nvSpPr>
          <p:cNvPr id="59" name="Shape 57">
            <a:hlinkClick r:id="rId14" tooltip="ملاحظات منهجية" action="ppaction://hlinksldjump"/>
          </p:cNvPr>
          <p:cNvSpPr/>
          <p:nvPr/>
        </p:nvSpPr>
        <p:spPr>
          <a:xfrm>
            <a:off x="6185916" y="5568696"/>
            <a:ext cx="2681478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8AE"/>
                </a:solidFill>
              </a:rPr>
              <a:t>المؤشرات الرئيسة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أبرز مؤشرات الإيراد للعام 2026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FB8AE"/>
                </a:solidFill>
              </a:rPr>
              <a:t>إجمالي منطقة الرياض (مدينة الرياض + بلديات المنطقة) حتى تاريخه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50274" y="246888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87434" y="254203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إجمالي الفعلي حتى تاريخه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87434" y="285292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2,986.3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391013" y="37490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E0A8"/>
                </a:solidFill>
              </a:rPr>
              <a:t>▲ +29.9%</a:t>
            </a:r>
            <a:pPr algn="r" indent="0" marL="0">
              <a:buNone/>
            </a:pPr>
            <a:r>
              <a:rPr lang="en-US" sz="1100" dirty="0">
                <a:solidFill>
                  <a:srgbClr val="CFE3DA"/>
                </a:solidFill>
              </a:rPr>
              <a:t>  عن المقدر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87434" y="37490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E0A8"/>
                </a:solidFill>
              </a:rPr>
              <a:t>▲ +20.9%</a:t>
            </a:r>
            <a:pPr algn="r" indent="0" marL="0">
              <a:buNone/>
            </a:pPr>
            <a:r>
              <a:rPr lang="en-US" sz="1100" dirty="0">
                <a:solidFill>
                  <a:srgbClr val="CFE3DA"/>
                </a:solidFill>
              </a:rPr>
              <a:t>  عن المستهدف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5916" y="246888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3076" y="254203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إجمالي المفوتر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23076" y="285292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3,819.9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323076" y="3749040"/>
            <a:ext cx="2407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E0A8"/>
                </a:solidFill>
              </a:rPr>
              <a:t>▲ +50.2%</a:t>
            </a:r>
            <a:pPr algn="r" indent="0" marL="0">
              <a:buNone/>
            </a:pPr>
            <a:r>
              <a:rPr lang="en-US" sz="1100" dirty="0">
                <a:solidFill>
                  <a:srgbClr val="CFE3DA"/>
                </a:solidFill>
              </a:rPr>
              <a:t>  الفعلي عن السنة الماضية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21558" y="246888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58718" y="254203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محصل سنوات سابقة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58718" y="285292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430.3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54203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محصل السنة الماضية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85292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1,987.7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9050274" y="443484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7434" y="450799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المديونية المتبقية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87434" y="481888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2,326.4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185916" y="443484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3076" y="450799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استرداد فعلي (التنفيذ)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23076" y="4818888"/>
            <a:ext cx="24071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59.0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321558" y="443484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58718" y="450799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الاستقطاع 2026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58718" y="481888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111.0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3458718" y="5715000"/>
            <a:ext cx="2407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E0A8"/>
                </a:solidFill>
              </a:rPr>
              <a:t>▲ +16.9%</a:t>
            </a:r>
            <a:pPr algn="r" indent="0" marL="0">
              <a:buNone/>
            </a:pPr>
            <a:r>
              <a:rPr lang="en-US" sz="1100" dirty="0">
                <a:solidFill>
                  <a:srgbClr val="CFE3DA"/>
                </a:solidFill>
              </a:rPr>
              <a:t>  من الإيراد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2681478" cy="1737360"/>
          </a:xfrm>
          <a:prstGeom prst="roundRect">
            <a:avLst>
              <a:gd name="adj" fmla="val 7368"/>
            </a:avLst>
          </a:prstGeom>
          <a:solidFill>
            <a:schemeClr val="tx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450799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CFE3DA"/>
                </a:solidFill>
              </a:rPr>
              <a:t>المستهدف حتى تاريخه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81888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2,469.5</a:t>
            </a:r>
            <a:pPr algn="r" indent="0" marL="0">
              <a:buNone/>
            </a:pPr>
            <a:r>
              <a:rPr lang="en-US" sz="1200" dirty="0">
                <a:solidFill>
                  <a:srgbClr val="CFE3DA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715000"/>
            <a:ext cx="24071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6.9%</a:t>
            </a:r>
            <a:pPr algn="r" indent="0" marL="0">
              <a:buNone/>
            </a:pPr>
            <a:r>
              <a:rPr lang="en-US" sz="1100" dirty="0">
                <a:solidFill>
                  <a:srgbClr val="CFE3DA"/>
                </a:solidFill>
              </a:rPr>
              <a:t>  المقدر عن المستهدف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8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6" name="Shape 4">
            <a:hlinkClick r:id="rId1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الإيراد حتى تاريخه — نظرة عامة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الفترة: يناير – أغسطس 2026 — منطقة الرياض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23146" y="2423160"/>
            <a:ext cx="2108606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60306" y="2496312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مفوتر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60306" y="2807208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3,819.9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7331659" y="2423160"/>
            <a:ext cx="2108606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68819" y="2496312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فعلي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68819" y="2807208"/>
            <a:ext cx="1834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2,986.3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8385962" y="3291840"/>
            <a:ext cx="9171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+29.9%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المقدر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68819" y="3291840"/>
            <a:ext cx="9171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+20.9%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المستهدف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40173" y="2423160"/>
            <a:ext cx="2108606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77333" y="2496312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مقدر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77333" y="2807208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2,298.9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2748686" y="2423160"/>
            <a:ext cx="2108606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85846" y="2496312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مستهدف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885846" y="2807208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2,469.5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457200" y="2423160"/>
            <a:ext cx="2108606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94360" y="2496312"/>
            <a:ext cx="18342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السنة الماضية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2807208"/>
            <a:ext cx="1834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1,987.7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7673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الإيراد حسب التبويب — منطقة الرياض (مليون ريال)</a:t>
            </a:r>
            <a:endParaRPr lang="en-US" sz="1500" dirty="0"/>
          </a:p>
        </p:txBody>
      </p:sp>
      <p:graphicFrame>
        <p:nvGraphicFramePr>
          <p:cNvPr id="35" name="Chart 0" descr=""/>
          <p:cNvGraphicFramePr/>
          <p:nvPr/>
        </p:nvGraphicFramePr>
        <p:xfrm>
          <a:off x="457200" y="4114800"/>
          <a:ext cx="1127455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إستثمارية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حتى تاريخه — الفترة: يناير –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1,052.1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+13.4%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+9.4%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909.0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+13.8%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+14.5%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143.1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+11.4%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14.7%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الرسوم والتراخيص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حتى تاريخه — الفترة: يناير –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892.8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+12.1%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+5.2%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777.3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+10.4%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+3.2%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115.5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+25.4%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+20.5%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حتى تاريخه — الفترة: يناير –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638.9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+108.2%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+69.9%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605.7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+106.1%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+68.1%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33.2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+155.0%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+111.9%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حتى تاريخه — الفترة: يناير –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209.1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18.1%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24.1%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20.1%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26.0%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+91.6%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+74.8%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حتى تاريخه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Shape 11">
            <a:hlinkClick r:id="rId5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أخرى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أخرى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حتى تاريخه — الفترة: يناير –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193.3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+1407.3%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+2362.2%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+4025.1%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+2495.6%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83.3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+720.2%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+2205.7%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6" name="Shape 4">
            <a:hlinkClick r:id="rId1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الإيراد لنهاية السنة — نظرة عامة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تقدير نهاية السنة 2026 — منطقة الرياض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0274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فعلي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7434" y="2807208"/>
            <a:ext cx="2407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2,454.9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0391013" y="32918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+27.3%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32918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+13.6%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مقدر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1,928.7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2,161.0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السنة الماضية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1,759.7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7673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الإيراد حسب التبويب — منطقة الرياض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114800"/>
          <a:ext cx="1127455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إستثمارية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لنهاية السنة — تقدير نهاية السنة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875.5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+15.1%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783.1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+20.4%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+9.2%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92.5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16.0%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36.2%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الرسوم والتراخيص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لنهاية السنة — تقدير نهاية السنة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793.1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+17.6%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+8.6%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697.9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+17.4%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95.3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+19.7%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+17.6%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لنهاية السنة — تقدير نهاية السنة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552.3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+115.7%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+73.7%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530.9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+116.8%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+74.4%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21.3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+90.4%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+59.4%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لنهاية السنة — تقدير نهاية السنة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171.8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24.2%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29.7%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164.0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26.3%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31.6%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+87.8%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+74.1%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لنهاية السنة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Shape 11">
            <a:hlinkClick r:id="rId5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أخرى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أخرى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لنهاية السنة — تقدير نهاية السنة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+454.6%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+805.6%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+2561.6%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+1580.1%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99.9%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99.7%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6" name="Shape 4">
            <a:hlinkClick r:id="rId1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الإيراد للشهر الحالي — نظرة عامة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شهر أغسطس 2026 — منطقة الرياض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0274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فعلي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7434" y="2807208"/>
            <a:ext cx="2407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175.8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10391013" y="32918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25.0%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3291840"/>
            <a:ext cx="1203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34.1%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عن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مقدر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234.4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266.8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السنة الماضية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21.2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7673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الإيراد حسب التبويب — منطقة الرياض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114800"/>
          <a:ext cx="1127455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إستثمارية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للشهر الحالي — شهر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23.0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58.1%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67.2%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95.8%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95.9%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101.4%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101.5%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الرسوم والتراخيص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للشهر الحالي — شهر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122.6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+25.5%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+22.9%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78.8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+29.9%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+8.7%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43.8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+18.2%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+60.8%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للشهر الحالي — شهر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75.4%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80.6%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59.6%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66.1%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97.9%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98.4%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4" name="Shape 12">
            <a:hlinkClick r:id="rId5" tooltip="أخرى" action="ppaction://hlinksldjump"/>
          </p:cNvPr>
          <p:cNvSpPr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للشهر الحالي — شهر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39.6%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43.8%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33.7%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38.5%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99.4%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99.4%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للشهر الحالي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Shape 11">
            <a:hlinkClick r:id="rId5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39696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أخرى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أخرى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الإيراد للشهر الحالي — شهر أغسطس 2026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منطقة الرياض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28072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26871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83.5%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3154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72.9%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مدينة الرياض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4133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026871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41.1%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942832" y="448056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63.8%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بلديات المنطقة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4589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6871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94.4%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42832" y="580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83.9%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الفعلي مقابل المقدر والمستهدف حسب التنظيم الإداري (مليون ريال)</a:t>
            </a:r>
            <a:endParaRPr lang="en-US" sz="15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6" name="Shape 4">
            <a:hlinkClick r:id="rId1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الإيراد حسب القطاع — نظرة عامة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إجمالي المحصل لكل قطاع موزعاً على التبويبات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إجمالي المحصل حسب القطاع والتبويب (مليون ريال)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743200"/>
          <a:ext cx="112745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8" name="Shape 6">
            <a:hlinkClick r:id="rId2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إستثمارية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الفواتير والفعلي والمحصل حسب القطاع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إجمالي الفواتير والفعلي والمحصل (مليون ريال)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743200"/>
          <a:ext cx="112745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0" name="Shape 8">
            <a:hlinkClick r:id="rId3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الرسوم والتراخيص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الفواتير والفعلي والمحصل حسب القطاع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إجمالي الفواتير والفعلي والمحصل (مليون ريال)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743200"/>
          <a:ext cx="112745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2" name="Shape 10">
            <a:hlinkClick r:id="rId4" tooltip="التبغ والإيواء" action="ppaction://hlinksldjump"/>
          </p:cNvPr>
          <p:cNvSpPr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الفواتير والفعلي والمحصل حسب القطاع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إجمالي الفواتير والفعلي والمحصل (مليون ريال)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743200"/>
          <a:ext cx="112745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 حسب القطاع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إستثمارية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إ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الرسوم والتراخيص</a:t>
            </a:r>
            <a:endParaRPr lang="en-US" sz="1200" dirty="0"/>
          </a:p>
        </p:txBody>
      </p:sp>
      <p:sp>
        <p:nvSpPr>
          <p:cNvPr id="9" name="Shape 7">
            <a:hlinkClick r:id="rId3" tooltip="الرسوم والتراخيص" action="ppaction://hlinksldjump"/>
          </p:cNvPr>
          <p:cNvSpPr/>
          <p:nvPr/>
        </p:nvSpPr>
        <p:spPr>
          <a:xfrm>
            <a:off x="6607454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11" name="Shape 9">
            <a:hlinkClick r:id="rId4" tooltip="جزاءات وغرامات" action="ppaction://hlinksldjump"/>
          </p:cNvPr>
          <p:cNvSpPr/>
          <p:nvPr/>
        </p:nvSpPr>
        <p:spPr>
          <a:xfrm>
            <a:off x="486277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181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الفواتير والفعلي والمحصل حسب القطاع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39572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إجمالي الفواتير والفعلي والمحصل (مليون ريال)</a:t>
            </a:r>
            <a:endParaRPr lang="en-US" sz="15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743200"/>
          <a:ext cx="112745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ملخص التبويبات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844430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99755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6" name="Shape 4">
            <a:hlinkClick r:id="rId1" tooltip="جزاءات وغرامات" action="ppaction://hlinksldjump"/>
          </p:cNvPr>
          <p:cNvSpPr/>
          <p:nvPr/>
        </p:nvSpPr>
        <p:spPr>
          <a:xfrm>
            <a:off x="8099755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8" name="Shape 6">
            <a:hlinkClick r:id="rId2" tooltip="التبغ والإيواء" action="ppaction://hlinksldjump"/>
          </p:cNvPr>
          <p:cNvSpPr/>
          <p:nvPr/>
        </p:nvSpPr>
        <p:spPr>
          <a:xfrm>
            <a:off x="6355080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استثمارية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ملخص التبويب حتى تاريخه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05672" y="2423160"/>
            <a:ext cx="2926080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1,052.1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26871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+13.4%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+9.4%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05672" y="3931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42832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السنة الحالية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4315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880.1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805672" y="5257800"/>
            <a:ext cx="292608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2832" y="5330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 عن السنة الماضية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5641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▲ +48.1%</a:t>
            </a:r>
            <a:pPr algn="r" indent="0" marL="0">
              <a:buNone/>
            </a:pP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مؤشرات التبويب (مليون ريال)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ملخص التبويبات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844430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5" name="Shape 3">
            <a:hlinkClick r:id="rId1" tooltip="إيرادات استثمارية" action="ppaction://hlinksldjump"/>
          </p:cNvPr>
          <p:cNvSpPr/>
          <p:nvPr/>
        </p:nvSpPr>
        <p:spPr>
          <a:xfrm>
            <a:off x="9844430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99755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8" name="Shape 6">
            <a:hlinkClick r:id="rId2" tooltip="التبغ والإيواء" action="ppaction://hlinksldjump"/>
          </p:cNvPr>
          <p:cNvSpPr/>
          <p:nvPr/>
        </p:nvSpPr>
        <p:spPr>
          <a:xfrm>
            <a:off x="6355080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ملخص التبويب حتى تاريخه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05672" y="2423160"/>
            <a:ext cx="2926080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635.4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26871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+82.0%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▲ +48.9%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05672" y="3931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42832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4315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1,178.0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805672" y="5257800"/>
            <a:ext cx="292608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2832" y="5330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 عن السنة الماضية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5641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▲ +133.2%</a:t>
            </a:r>
            <a:pPr algn="r" indent="0" marL="0">
              <a:buNone/>
            </a:pP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مؤشرات التبويب (مليون ريال)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ملخص التبويبات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9844430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5" name="Shape 3">
            <a:hlinkClick r:id="rId1" tooltip="إيرادات استثمارية" action="ppaction://hlinksldjump"/>
          </p:cNvPr>
          <p:cNvSpPr/>
          <p:nvPr/>
        </p:nvSpPr>
        <p:spPr>
          <a:xfrm>
            <a:off x="9844430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99755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7" name="Shape 5">
            <a:hlinkClick r:id="rId2" tooltip="جزاءات وغرامات" action="ppaction://hlinksldjump"/>
          </p:cNvPr>
          <p:cNvSpPr/>
          <p:nvPr/>
        </p:nvSpPr>
        <p:spPr>
          <a:xfrm>
            <a:off x="8099755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ملخص التبويب حتى تاريخه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05672" y="2423160"/>
            <a:ext cx="2926080" cy="1325880"/>
          </a:xfrm>
          <a:prstGeom prst="roundRect">
            <a:avLst>
              <a:gd name="adj" fmla="val 965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209.1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1026871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26.9%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المقدر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32918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▼ 32.2%</a:t>
            </a:r>
            <a:pPr algn="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  المستهدف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05672" y="3931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42832" y="4005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4315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234.1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805672" y="5257800"/>
            <a:ext cx="2926080" cy="1051560"/>
          </a:xfrm>
          <a:prstGeom prst="roundRect">
            <a:avLst>
              <a:gd name="adj" fmla="val 1217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42832" y="5330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الفعلي عن السنة الماضية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942832" y="56418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▼ 13.1%</a:t>
            </a:r>
            <a:pPr algn="r" indent="0" marL="0">
              <a:buNone/>
            </a:pP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مؤشرات التبويب (مليون ريال)</a:t>
            </a:r>
            <a:endParaRPr lang="en-US" sz="15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الاستقطاع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880714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2026</a:t>
            </a:r>
            <a:endParaRPr lang="en-US" sz="1200" dirty="0"/>
          </a:p>
        </p:txBody>
      </p:sp>
      <p:sp>
        <p:nvSpPr>
          <p:cNvPr id="5" name="Shape 3">
            <a:hlinkClick r:id="rId1" tooltip="2026" action="ppaction://hlinksldjump"/>
          </p:cNvPr>
          <p:cNvSpPr/>
          <p:nvPr/>
        </p:nvSpPr>
        <p:spPr>
          <a:xfrm>
            <a:off x="3880714" y="384048"/>
            <a:ext cx="7936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الاستقطاع من الإيراد — 2025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حسب التنظيم الإداري والتبويب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05672" y="242316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إيرادات كافة الأمانات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2807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3,966.5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805672" y="347472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2832" y="3547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الإيرادات الفعلية للأمانة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3858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1,016.8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05672" y="452628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42832" y="4599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الاستقطاع لكافة الأمانات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42832" y="4910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595.0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05672" y="5577840"/>
            <a:ext cx="2926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5650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استقطاع الأمانة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5961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152.5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الإيراد والمستقطع (مليون ريال)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الاستقطاع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2025</a:t>
            </a:r>
            <a:endParaRPr lang="en-US" sz="1200" dirty="0"/>
          </a:p>
        </p:txBody>
      </p:sp>
      <p:sp>
        <p:nvSpPr>
          <p:cNvPr id="4" name="Shape 2">
            <a:hlinkClick r:id="rId1" tooltip="2025" action="ppaction://hlinksldjump"/>
          </p:cNvPr>
          <p:cNvSpPr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80714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الاستقطاع من الإيراد — 2026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حسب التنظيم الإداري والتبويب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05672" y="242316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إيرادات كافة الأمانات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42832" y="2807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2,972.4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805672" y="347472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42832" y="3547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الإيرادات الفعلية للأمانة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42832" y="3858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657.1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05672" y="452628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42832" y="45994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الاستقطاع لكافة الأمانات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42832" y="4910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468.2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805672" y="5577840"/>
            <a:ext cx="2926080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42832" y="5650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استقطاع الأمانة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42832" y="5961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111.0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الإيراد والمستقطع (مليون ريال)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سيناريوهات الإقفال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السيناريو الأول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099755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السيناريو الثاني</a:t>
            </a:r>
            <a:endParaRPr lang="en-US" sz="1200" dirty="0"/>
          </a:p>
        </p:txBody>
      </p:sp>
      <p:sp>
        <p:nvSpPr>
          <p:cNvPr id="6" name="Shape 4">
            <a:hlinkClick r:id="rId1" tooltip="السيناريو الثاني" action="ppaction://hlinksldjump"/>
          </p:cNvPr>
          <p:cNvSpPr/>
          <p:nvPr/>
        </p:nvSpPr>
        <p:spPr>
          <a:xfrm>
            <a:off x="8099755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السيناريو الأول للإقفال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المحصل المتوقع مقابل المستهدف للأشهر المتبقية من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05672" y="2423160"/>
            <a:ext cx="292608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المحصل المتوقع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2,462.7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05672" y="3520440"/>
            <a:ext cx="292608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35935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3,076.9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461772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4690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المحصل مقابل المستهدف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5001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▼ 20.0%</a:t>
            </a:r>
            <a:pPr algn="r"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المحصل والمستهدف الشهري (مليون ريال)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743200"/>
          <a:ext cx="8046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377440"/>
              </a:tblGrid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المحصل عن المستهدف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مستهدف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محصل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التبويب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18.0%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562.3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461.3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إيرادات إستثمارية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25.0%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590.8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443.1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الرسوم والتراخيص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21.7%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536.5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420.3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جزاءات وغرامات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18.0%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451.3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370.2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التبغ والإيواء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20.3%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499.1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397.5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أخرى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15.2%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436.8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370.2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نقل الملكية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سيناريوهات الإقفال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السيناريو الأول</a:t>
            </a:r>
            <a:endParaRPr lang="en-US" sz="1200" dirty="0"/>
          </a:p>
        </p:txBody>
      </p:sp>
      <p:sp>
        <p:nvSpPr>
          <p:cNvPr id="5" name="Shape 3">
            <a:hlinkClick r:id="rId1" tooltip="السيناريو الأول" action="ppaction://hlinksldjump"/>
          </p:cNvPr>
          <p:cNvSpPr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99755" y="960120"/>
            <a:ext cx="18031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السيناريو الثاني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السيناريو الثاني للإقفال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المحصل المتوقع مقابل المستهدف للأشهر المتبقية من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05672" y="2423160"/>
            <a:ext cx="292608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المحصل المتوقع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42832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2,462.7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805672" y="3520440"/>
            <a:ext cx="2926080" cy="96012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35935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3904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3,076.9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4617720"/>
            <a:ext cx="2926080" cy="914400"/>
          </a:xfrm>
          <a:prstGeom prst="roundRect">
            <a:avLst>
              <a:gd name="adj" fmla="val 1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46908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المحصل مقابل المستهدف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5001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▼ 20.0%</a:t>
            </a:r>
            <a:pPr algn="r"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المحصل والمستهدف الشهري (مليون ريال)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743200"/>
          <a:ext cx="80467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2377440"/>
              </a:tblGrid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المحصل عن المستهدف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مستهدف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محصل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التبويب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18.0%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562.3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461.3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إيرادات إستثمارية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25.0%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590.8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443.1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الرسوم والتراخيص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21.7%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536.5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420.3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جزاءات وغرامات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18.0%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451.3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370.2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التبغ والإيواء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20.3%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499.1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397.5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أخرى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▼ 15.2%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436.8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370.2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chemeClr val="tx2"/>
                          </a:solidFill>
                        </a:rPr>
                        <a:t>نقل الملكية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الجزاءات والغرامات الشهرية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2024</a:t>
            </a:r>
            <a:endParaRPr lang="en-US" sz="1100" dirty="0"/>
          </a:p>
        </p:txBody>
      </p:sp>
      <p:sp>
        <p:nvSpPr>
          <p:cNvPr id="5" name="Shape 3">
            <a:hlinkClick r:id="rId1" tooltip="2024" action="ppaction://hlinksldjump"/>
          </p:cNvPr>
          <p:cNvSpPr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2025</a:t>
            </a:r>
            <a:endParaRPr lang="en-US" sz="1100" dirty="0"/>
          </a:p>
        </p:txBody>
      </p:sp>
      <p:sp>
        <p:nvSpPr>
          <p:cNvPr id="7" name="Shape 5">
            <a:hlinkClick r:id="rId2" tooltip="2025" action="ppaction://hlinksldjump"/>
          </p:cNvPr>
          <p:cNvSpPr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</a:t>
            </a:r>
            <a:endParaRPr lang="en-US" sz="1100" dirty="0"/>
          </a:p>
        </p:txBody>
      </p:sp>
      <p:sp>
        <p:nvSpPr>
          <p:cNvPr id="9" name="Shape 7">
            <a:hlinkClick r:id="rId3" tooltip="2026" action="ppaction://hlinksldjump"/>
          </p:cNvPr>
          <p:cNvSpPr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الجزاءات والغرامات — 2023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والمحصل شهرياً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مفوتر السنة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2807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837.0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الفترة الماضية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41330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ذات الشهر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5458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128.4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الجزاءات والغرامات الشهرية (مليون ريال)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الجزاءات والغرامات الشهرية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2023</a:t>
            </a:r>
            <a:endParaRPr lang="en-US" sz="1100" dirty="0"/>
          </a:p>
        </p:txBody>
      </p:sp>
      <p:sp>
        <p:nvSpPr>
          <p:cNvPr id="4" name="Shape 2">
            <a:hlinkClick r:id="rId1" tooltip="2023" action="ppaction://hlinksldjump"/>
          </p:cNvPr>
          <p:cNvSpPr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2025</a:t>
            </a:r>
            <a:endParaRPr lang="en-US" sz="1100" dirty="0"/>
          </a:p>
        </p:txBody>
      </p:sp>
      <p:sp>
        <p:nvSpPr>
          <p:cNvPr id="7" name="Shape 5">
            <a:hlinkClick r:id="rId2" tooltip="2025" action="ppaction://hlinksldjump"/>
          </p:cNvPr>
          <p:cNvSpPr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</a:t>
            </a:r>
            <a:endParaRPr lang="en-US" sz="1100" dirty="0"/>
          </a:p>
        </p:txBody>
      </p:sp>
      <p:sp>
        <p:nvSpPr>
          <p:cNvPr id="9" name="Shape 7">
            <a:hlinkClick r:id="rId3" tooltip="2026" action="ppaction://hlinksldjump"/>
          </p:cNvPr>
          <p:cNvSpPr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الجزاءات والغرامات — 2024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والمحصل شهرياً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مفوتر السنة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2807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837.0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الفترة الماضية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41330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ذات الشهر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5458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128.4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الجزاءات والغرامات الشهرية (مليون ريال)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الجزاءات والغرامات الشهرية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2023</a:t>
            </a:r>
            <a:endParaRPr lang="en-US" sz="1100" dirty="0"/>
          </a:p>
        </p:txBody>
      </p:sp>
      <p:sp>
        <p:nvSpPr>
          <p:cNvPr id="4" name="Shape 2">
            <a:hlinkClick r:id="rId1" tooltip="2023" action="ppaction://hlinksldjump"/>
          </p:cNvPr>
          <p:cNvSpPr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2024</a:t>
            </a:r>
            <a:endParaRPr lang="en-US" sz="1100" dirty="0"/>
          </a:p>
        </p:txBody>
      </p:sp>
      <p:sp>
        <p:nvSpPr>
          <p:cNvPr id="6" name="Shape 4">
            <a:hlinkClick r:id="rId2" tooltip="2024" action="ppaction://hlinksldjump"/>
          </p:cNvPr>
          <p:cNvSpPr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</a:t>
            </a:r>
            <a:endParaRPr lang="en-US" sz="1100" dirty="0"/>
          </a:p>
        </p:txBody>
      </p:sp>
      <p:sp>
        <p:nvSpPr>
          <p:cNvPr id="9" name="Shape 7">
            <a:hlinkClick r:id="rId3" tooltip="2026" action="ppaction://hlinksldjump"/>
          </p:cNvPr>
          <p:cNvSpPr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الجزاءات والغرامات — 2025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والمحصل شهرياً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مفوتر السنة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2807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837.0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الفترة الماضية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41330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ذات الشهر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5458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128.4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الجزاءات والغرامات الشهرية (مليون ريال)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الجزاءات والغرامات الشهرية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2023</a:t>
            </a:r>
            <a:endParaRPr lang="en-US" sz="1100" dirty="0"/>
          </a:p>
        </p:txBody>
      </p:sp>
      <p:sp>
        <p:nvSpPr>
          <p:cNvPr id="4" name="Shape 2">
            <a:hlinkClick r:id="rId1" tooltip="2023" action="ppaction://hlinksldjump"/>
          </p:cNvPr>
          <p:cNvSpPr/>
          <p:nvPr/>
        </p:nvSpPr>
        <p:spPr>
          <a:xfrm>
            <a:off x="4832194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2024</a:t>
            </a:r>
            <a:endParaRPr lang="en-US" sz="1100" dirty="0"/>
          </a:p>
        </p:txBody>
      </p:sp>
      <p:sp>
        <p:nvSpPr>
          <p:cNvPr id="6" name="Shape 4">
            <a:hlinkClick r:id="rId2" tooltip="2024" action="ppaction://hlinksldjump"/>
          </p:cNvPr>
          <p:cNvSpPr/>
          <p:nvPr/>
        </p:nvSpPr>
        <p:spPr>
          <a:xfrm>
            <a:off x="3976819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2025</a:t>
            </a:r>
            <a:endParaRPr lang="en-US" sz="1100" dirty="0"/>
          </a:p>
        </p:txBody>
      </p:sp>
      <p:sp>
        <p:nvSpPr>
          <p:cNvPr id="8" name="Shape 6">
            <a:hlinkClick r:id="rId3" tooltip="2025" action="ppaction://hlinksldjump"/>
          </p:cNvPr>
          <p:cNvSpPr/>
          <p:nvPr/>
        </p:nvSpPr>
        <p:spPr>
          <a:xfrm>
            <a:off x="3121445" y="384048"/>
            <a:ext cx="7456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66070" y="384048"/>
            <a:ext cx="745646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2026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الجزاءات والغرامات — 2026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والمحصل شهرياً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05672" y="242316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42832" y="24963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مفوتر السنة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42832" y="28072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837.0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805672" y="374904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42832" y="3822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الفترة الماضية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942832" y="413308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805672" y="5074920"/>
            <a:ext cx="2926080" cy="1188720"/>
          </a:xfrm>
          <a:prstGeom prst="roundRect">
            <a:avLst>
              <a:gd name="adj" fmla="val 1076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42832" y="51480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عن ذات الشهر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42832" y="54589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128.4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95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الجزاءات والغرامات الشهرية (مليون ريال)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2743200"/>
          <a:ext cx="8046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التنفيذ والاسترداد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1554" y="960120"/>
            <a:ext cx="113019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الإجمالي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025128" y="960120"/>
            <a:ext cx="146669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مدينة الرياض</a:t>
            </a:r>
            <a:endParaRPr lang="en-US" sz="1200" dirty="0"/>
          </a:p>
        </p:txBody>
      </p:sp>
      <p:sp>
        <p:nvSpPr>
          <p:cNvPr id="6" name="Shape 4">
            <a:hlinkClick r:id="rId1" tooltip="مدينة الرياض" action="ppaction://hlinksldjump"/>
          </p:cNvPr>
          <p:cNvSpPr/>
          <p:nvPr/>
        </p:nvSpPr>
        <p:spPr>
          <a:xfrm>
            <a:off x="9025128" y="960120"/>
            <a:ext cx="146669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80453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بلديات المنطقة</a:t>
            </a:r>
            <a:endParaRPr lang="en-US" sz="1200" dirty="0"/>
          </a:p>
        </p:txBody>
      </p:sp>
      <p:sp>
        <p:nvSpPr>
          <p:cNvPr id="8" name="Shape 6">
            <a:hlinkClick r:id="rId2" tooltip="بلديات المنطقة" action="ppaction://hlinksldjump"/>
          </p:cNvPr>
          <p:cNvSpPr/>
          <p:nvPr/>
        </p:nvSpPr>
        <p:spPr>
          <a:xfrm>
            <a:off x="7280453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التنفيذ والاسترداد — الإجمالي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حسب التبويب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قيمة الفواتير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1,309.5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المنفذ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409.3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الاسترداد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استرداد فعلي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59.0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قيمة الفواتير والمنفذ والاسترداد حسب التبويب (مليون ريال)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التنفيذ والاسترداد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1554" y="960120"/>
            <a:ext cx="113019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الإجمالي</a:t>
            </a:r>
            <a:endParaRPr lang="en-US" sz="1200" dirty="0"/>
          </a:p>
        </p:txBody>
      </p:sp>
      <p:sp>
        <p:nvSpPr>
          <p:cNvPr id="5" name="Shape 3">
            <a:hlinkClick r:id="rId1" tooltip="الإجمالي" action="ppaction://hlinksldjump"/>
          </p:cNvPr>
          <p:cNvSpPr/>
          <p:nvPr/>
        </p:nvSpPr>
        <p:spPr>
          <a:xfrm>
            <a:off x="10601554" y="960120"/>
            <a:ext cx="113019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25128" y="960120"/>
            <a:ext cx="1466698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مدينة الرياض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280453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بلديات المنطقة</a:t>
            </a:r>
            <a:endParaRPr lang="en-US" sz="1200" dirty="0"/>
          </a:p>
        </p:txBody>
      </p:sp>
      <p:sp>
        <p:nvSpPr>
          <p:cNvPr id="8" name="Shape 6">
            <a:hlinkClick r:id="rId2" tooltip="بلديات المنطقة" action="ppaction://hlinksldjump"/>
          </p:cNvPr>
          <p:cNvSpPr/>
          <p:nvPr/>
        </p:nvSpPr>
        <p:spPr>
          <a:xfrm>
            <a:off x="7280453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التنفيذ والاسترداد — مدينة الرياض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حسب التبويب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قيمة الفواتير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1,186.9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المنفذ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335.2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الاسترداد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67.3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استرداد فعلي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52.8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قيمة الفواتير والمنفذ والاسترداد حسب التبويب (مليون ريال)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التنفيذ والاسترداد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1554" y="960120"/>
            <a:ext cx="113019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الإجمالي</a:t>
            </a:r>
            <a:endParaRPr lang="en-US" sz="1200" dirty="0"/>
          </a:p>
        </p:txBody>
      </p:sp>
      <p:sp>
        <p:nvSpPr>
          <p:cNvPr id="5" name="Shape 3">
            <a:hlinkClick r:id="rId1" tooltip="الإجمالي" action="ppaction://hlinksldjump"/>
          </p:cNvPr>
          <p:cNvSpPr/>
          <p:nvPr/>
        </p:nvSpPr>
        <p:spPr>
          <a:xfrm>
            <a:off x="10601554" y="960120"/>
            <a:ext cx="113019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25128" y="960120"/>
            <a:ext cx="146669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مدينة الرياض</a:t>
            </a:r>
            <a:endParaRPr lang="en-US" sz="1200" dirty="0"/>
          </a:p>
        </p:txBody>
      </p:sp>
      <p:sp>
        <p:nvSpPr>
          <p:cNvPr id="7" name="Shape 5">
            <a:hlinkClick r:id="rId2" tooltip="مدينة الرياض" action="ppaction://hlinksldjump"/>
          </p:cNvPr>
          <p:cNvSpPr/>
          <p:nvPr/>
        </p:nvSpPr>
        <p:spPr>
          <a:xfrm>
            <a:off x="9025128" y="960120"/>
            <a:ext cx="146669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80453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بلديات المنطقة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التنفيذ والاسترداد — بلديات المنطقة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حسب التبويب —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قيمة الفواتير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122.5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المنفذ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74.1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الاسترداد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استرداد فعلي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قيمة الفواتير والمنفذ والاسترداد حسب التبويب (مليون ريال)</a:t>
            </a:r>
            <a:endParaRPr lang="en-US" sz="15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والميزانية والمستهدف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المفوتر والمحصل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847381" y="960120"/>
            <a:ext cx="20555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الميزانية والمستهدف</a:t>
            </a:r>
            <a:endParaRPr lang="en-US" sz="1200" dirty="0"/>
          </a:p>
        </p:txBody>
      </p:sp>
      <p:sp>
        <p:nvSpPr>
          <p:cNvPr id="6" name="Shape 4">
            <a:hlinkClick r:id="rId1" tooltip="الميزانية والمستهدف" action="ppaction://hlinksldjump"/>
          </p:cNvPr>
          <p:cNvSpPr/>
          <p:nvPr/>
        </p:nvSpPr>
        <p:spPr>
          <a:xfrm>
            <a:off x="7847381" y="960120"/>
            <a:ext cx="20555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المفوتر والمحصل الشهري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الفترة: يناير – أغسطس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المفوتر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3,898.7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صافي المفوتر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3,464.9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السنة الحالية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2,327.2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محصل السنوات السابقة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453.2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والمحصل مقابل مستهدف المفوتر (مليون ريال)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والميزانية والمستهدف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المفوتر والمحصل</a:t>
            </a:r>
            <a:endParaRPr lang="en-US" sz="1200" dirty="0"/>
          </a:p>
        </p:txBody>
      </p:sp>
      <p:sp>
        <p:nvSpPr>
          <p:cNvPr id="5" name="Shape 3">
            <a:hlinkClick r:id="rId1" tooltip="المفوتر والمحصل" action="ppaction://hlinksldjump"/>
          </p:cNvPr>
          <p:cNvSpPr/>
          <p:nvPr/>
        </p:nvSpPr>
        <p:spPr>
          <a:xfrm>
            <a:off x="10012680" y="960120"/>
            <a:ext cx="171907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47381" y="960120"/>
            <a:ext cx="2055571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الميزانية والمستهدف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الميزانية ومستهدف المفوتر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الاعتماد الأصلي وبعد الاعتماد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95488" y="2423160"/>
            <a:ext cx="3636264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32648" y="2496312"/>
            <a:ext cx="3361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الاعتماد الأصلي (سنوي)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32648" y="2807208"/>
            <a:ext cx="3361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6,284.6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276344" y="2423160"/>
            <a:ext cx="3636264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3504" y="2496312"/>
            <a:ext cx="3361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بعد الاعتماد (سنوي)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13504" y="2807208"/>
            <a:ext cx="3361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6,285.0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36264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496312"/>
            <a:ext cx="3361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مستهدف المفوتر (سنوي)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07208"/>
            <a:ext cx="3361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5,044.6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الميزانية الشهرية ومستهدف المفوتر (مليون ريال)</a:t>
            </a:r>
            <a:endParaRPr lang="en-US" sz="15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6" name="Shape 4">
            <a:hlinkClick r:id="rId1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8" name="Shape 6">
            <a:hlinkClick r:id="rId2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0" name="Shape 8">
            <a:hlinkClick r:id="rId3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2" name="Shape 10">
            <a:hlinkClick r:id="rId4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4" name="Shape 12">
            <a:hlinkClick r:id="rId5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تبويبات الوزارة — نظرة عامة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حتى أغسطس مقابل المستهدف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إجمالي 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3,523.4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3,021.6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▲ +16.6%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5,044.6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حسب التبويب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8" name="Shape 6">
            <a:hlinkClick r:id="rId2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0" name="Shape 8">
            <a:hlinkClick r:id="rId3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2" name="Shape 10">
            <a:hlinkClick r:id="rId4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4" name="Shape 12">
            <a:hlinkClick r:id="rId5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استثمار العقارات البلدية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1,171.5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1,042.0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▲ +12.4%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1,920.7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Shape 5">
            <a:hlinkClick r:id="rId2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0" name="Shape 8">
            <a:hlinkClick r:id="rId3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2" name="Shape 10">
            <a:hlinkClick r:id="rId4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4" name="Shape 12">
            <a:hlinkClick r:id="rId5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الرسوم والمقابلات المالية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815.1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882.1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▼ 7.6%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1,410.5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Shape 5">
            <a:hlinkClick r:id="rId2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9" name="Shape 7">
            <a:hlinkClick r:id="rId3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2" name="Shape 10">
            <a:hlinkClick r:id="rId4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4" name="Shape 12">
            <a:hlinkClick r:id="rId5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الجزاءات والغرامات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915.4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722.2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▲ +26.7%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1,097.2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Shape 5">
            <a:hlinkClick r:id="rId2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9" name="Shape 7">
            <a:hlinkClick r:id="rId3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1" name="Shape 9">
            <a:hlinkClick r:id="rId4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4" name="Shape 12">
            <a:hlinkClick r:id="rId5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رسم إشغال مرافق الإيواء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127.6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172.6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▼ 26.1%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287.5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Shape 5">
            <a:hlinkClick r:id="rId2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9" name="Shape 7">
            <a:hlinkClick r:id="rId3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1" name="Shape 9">
            <a:hlinkClick r:id="rId4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3" name="Shape 11">
            <a:hlinkClick r:id="rId5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6" name="Shape 14">
            <a:hlinkClick r:id="rId6" tooltip="إيرادات مختلفة" action="ppaction://hlinksldjump"/>
          </p:cNvPr>
          <p:cNvSpPr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رسم تقديم منتجات التبغ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77.0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127.5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▼ 39.6%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222.6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تبويبات الوزارة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نظرة عامة</a:t>
            </a:r>
            <a:endParaRPr lang="en-US" sz="11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608357" y="960120"/>
            <a:ext cx="112339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استثمار العقارات</a:t>
            </a:r>
            <a:endParaRPr lang="en-US" sz="1100" dirty="0"/>
          </a:p>
        </p:txBody>
      </p:sp>
      <p:sp>
        <p:nvSpPr>
          <p:cNvPr id="7" name="Shape 5">
            <a:hlinkClick r:id="rId2" tooltip="استثمار العقارات" action="ppaction://hlinksldjump"/>
          </p:cNvPr>
          <p:cNvSpPr/>
          <p:nvPr/>
        </p:nvSpPr>
        <p:spPr>
          <a:xfrm>
            <a:off x="8830456" y="960120"/>
            <a:ext cx="166817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الرسوم والمقابلات</a:t>
            </a:r>
            <a:endParaRPr lang="en-US" sz="1100" dirty="0"/>
          </a:p>
        </p:txBody>
      </p:sp>
      <p:sp>
        <p:nvSpPr>
          <p:cNvPr id="9" name="Shape 7">
            <a:hlinkClick r:id="rId3" tooltip="الرسوم والمقابلات" action="ppaction://hlinksldjump"/>
          </p:cNvPr>
          <p:cNvSpPr/>
          <p:nvPr/>
        </p:nvSpPr>
        <p:spPr>
          <a:xfrm>
            <a:off x="6974729" y="960120"/>
            <a:ext cx="1745999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الجزاءات والغرامات</a:t>
            </a:r>
            <a:endParaRPr lang="en-US" sz="1100" dirty="0"/>
          </a:p>
        </p:txBody>
      </p:sp>
      <p:sp>
        <p:nvSpPr>
          <p:cNvPr id="11" name="Shape 9">
            <a:hlinkClick r:id="rId4" tooltip="الجزاءات والغرامات" action="ppaction://hlinksldjump"/>
          </p:cNvPr>
          <p:cNvSpPr/>
          <p:nvPr/>
        </p:nvSpPr>
        <p:spPr>
          <a:xfrm>
            <a:off x="5041176" y="960120"/>
            <a:ext cx="1823825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إشغال الإيواء</a:t>
            </a:r>
            <a:endParaRPr lang="en-US" sz="1100" dirty="0"/>
          </a:p>
        </p:txBody>
      </p:sp>
      <p:sp>
        <p:nvSpPr>
          <p:cNvPr id="13" name="Shape 11">
            <a:hlinkClick r:id="rId5" tooltip="إشغال الإيواء" action="ppaction://hlinksldjump"/>
          </p:cNvPr>
          <p:cNvSpPr/>
          <p:nvPr/>
        </p:nvSpPr>
        <p:spPr>
          <a:xfrm>
            <a:off x="3496751" y="960120"/>
            <a:ext cx="143469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منتجات التبغ</a:t>
            </a:r>
            <a:endParaRPr lang="en-US" sz="1100" dirty="0"/>
          </a:p>
        </p:txBody>
      </p:sp>
      <p:sp>
        <p:nvSpPr>
          <p:cNvPr id="15" name="Shape 13">
            <a:hlinkClick r:id="rId6" tooltip="منتجات التبغ" action="ppaction://hlinksldjump"/>
          </p:cNvPr>
          <p:cNvSpPr/>
          <p:nvPr/>
        </p:nvSpPr>
        <p:spPr>
          <a:xfrm>
            <a:off x="2030152" y="960120"/>
            <a:ext cx="1356871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07901" y="960120"/>
            <a:ext cx="15125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إيرادات مختلفة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الإيرادات المختلفة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المفوتر والمستهدف الشهري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(يناير–أغسطس)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416.8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(يناير–أغسطس)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75.2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المفوتر عن المستهدف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▲ +454.4%</a:t>
            </a:r>
            <a:pPr algn="r" indent="0" marL="0">
              <a:buNone/>
            </a:pP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المستهدف السنوي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106.0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المفوتر والمستهدف الشهري (مليون ريال)</a:t>
            </a:r>
            <a:endParaRPr lang="en-US" sz="15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6" name="Shape 4">
            <a:hlinkClick r:id="rId1" tooltip="إيرادات ا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8" name="Shape 6">
            <a:hlinkClick r:id="rId2" tooltip="جزاءات وغرامات" action="ppaction://hlinksldjump"/>
          </p:cNvPr>
          <p:cNvSpPr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0" name="Shape 8">
            <a:hlinkClick r:id="rId3" tooltip="التبغ والإيواء" action="ppaction://hlinksldjump"/>
          </p:cNvPr>
          <p:cNvSpPr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2" name="Shape 10">
            <a:hlinkClick r:id="rId4" tooltip="أخرى" action="ppaction://hlinksldjump"/>
          </p:cNvPr>
          <p:cNvSpPr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المديونية — نظرة عامة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رصيد المديونية حسب التبويب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رصيد المديونية الإجمالي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2,720.2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المتبقي حتى تاريخه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2,326.4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ما تم سداده السنة الحالية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368.3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الملغي من المديونية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49.4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المديونية حسب التبويب (مليون ريال)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8" name="Shape 6">
            <a:hlinkClick r:id="rId2" tooltip="جزاءات وغرامات" action="ppaction://hlinksldjump"/>
          </p:cNvPr>
          <p:cNvSpPr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0" name="Shape 8">
            <a:hlinkClick r:id="rId3" tooltip="التبغ والإيواء" action="ppaction://hlinksldjump"/>
          </p:cNvPr>
          <p:cNvSpPr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2" name="Shape 10">
            <a:hlinkClick r:id="rId4" tooltip="أخرى" action="ppaction://hlinksldjump"/>
          </p:cNvPr>
          <p:cNvSpPr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إيرادات استثمارية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المديونية حسب سنة النشوء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رصيد المديونية الإجمالي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560.8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المتبقي حتى تاريخه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373.1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ما تم سداده السنة الحالية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172.1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الملغي من المديونية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15.6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المديونية حسب سنة النشوء (مليون ريال)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ا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0" name="Shape 8">
            <a:hlinkClick r:id="rId3" tooltip="التبغ والإيواء" action="ppaction://hlinksldjump"/>
          </p:cNvPr>
          <p:cNvSpPr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2" name="Shape 10">
            <a:hlinkClick r:id="rId4" tooltip="أخرى" action="ppaction://hlinksldjump"/>
          </p:cNvPr>
          <p:cNvSpPr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جزاءات وغرامات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المديونية حسب سنة النشوء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رصيد المديونية الإجمالي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1,851.7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المتبقي حتى تاريخه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1,672.0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ما تم سداده السنة الحالية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166.1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الملغي من المديونية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28.6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المديونية حسب سنة النشوء (مليون ريال)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ا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9" name="Shape 7">
            <a:hlinkClick r:id="rId3" tooltip="جزاءات وغرامات" action="ppaction://hlinksldjump"/>
          </p:cNvPr>
          <p:cNvSpPr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أخرى</a:t>
            </a:r>
            <a:endParaRPr lang="en-US" sz="1200" dirty="0"/>
          </a:p>
        </p:txBody>
      </p:sp>
      <p:sp>
        <p:nvSpPr>
          <p:cNvPr id="12" name="Shape 10">
            <a:hlinkClick r:id="rId4" tooltip="أخرى" action="ppaction://hlinksldjump"/>
          </p:cNvPr>
          <p:cNvSpPr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التبغ والإيواء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المديونية حسب سنة النشوء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رصيد المديونية الإجمالي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202.6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المتبقي حتى تاريخه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195.7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ما تم سداده السنة الحالية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10.8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الملغي من المديونية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5.2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المديونية حسب سنة النشوء (مليون ريال)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المديونية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784141" y="384048"/>
            <a:ext cx="793699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نظرة عامة</a:t>
            </a:r>
            <a:endParaRPr lang="en-US" sz="1200" dirty="0"/>
          </a:p>
        </p:txBody>
      </p:sp>
      <p:sp>
        <p:nvSpPr>
          <p:cNvPr id="5" name="Shape 3">
            <a:hlinkClick r:id="rId1" tooltip="نظرة عامة" action="ppaction://hlinksldjump"/>
          </p:cNvPr>
          <p:cNvSpPr/>
          <p:nvPr/>
        </p:nvSpPr>
        <p:spPr>
          <a:xfrm>
            <a:off x="10517429" y="960120"/>
            <a:ext cx="1214323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إيرادات استثمارية</a:t>
            </a:r>
            <a:endParaRPr lang="en-US" sz="1200" dirty="0"/>
          </a:p>
        </p:txBody>
      </p:sp>
      <p:sp>
        <p:nvSpPr>
          <p:cNvPr id="7" name="Shape 5">
            <a:hlinkClick r:id="rId2" tooltip="إيرادات استثمارية" action="ppaction://hlinksldjump"/>
          </p:cNvPr>
          <p:cNvSpPr/>
          <p:nvPr/>
        </p:nvSpPr>
        <p:spPr>
          <a:xfrm>
            <a:off x="8520379" y="960120"/>
            <a:ext cx="18873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جزاءات وغرامات</a:t>
            </a:r>
            <a:endParaRPr lang="en-US" sz="1200" dirty="0"/>
          </a:p>
        </p:txBody>
      </p:sp>
      <p:sp>
        <p:nvSpPr>
          <p:cNvPr id="9" name="Shape 7">
            <a:hlinkClick r:id="rId3" tooltip="جزاءات وغرامات" action="ppaction://hlinksldjump"/>
          </p:cNvPr>
          <p:cNvSpPr/>
          <p:nvPr/>
        </p:nvSpPr>
        <p:spPr>
          <a:xfrm>
            <a:off x="6775704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التبغ والإيواء</a:t>
            </a:r>
            <a:endParaRPr lang="en-US" sz="1200" dirty="0"/>
          </a:p>
        </p:txBody>
      </p:sp>
      <p:sp>
        <p:nvSpPr>
          <p:cNvPr id="11" name="Shape 9">
            <a:hlinkClick r:id="rId4" tooltip="التبغ والإيواء" action="ppaction://hlinksldjump"/>
          </p:cNvPr>
          <p:cNvSpPr/>
          <p:nvPr/>
        </p:nvSpPr>
        <p:spPr>
          <a:xfrm>
            <a:off x="5031029" y="960120"/>
            <a:ext cx="1634947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52621" y="960120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أخرى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أخرى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01168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المديونية حسب سنة النشوء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0274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7434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رصيد المديونية الإجمالي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87434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105.1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185916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23076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المتبقي حتى تاريخه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23076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85.7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21558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58718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ما تم سداده السنة الحالية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58718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19.3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2681478" cy="1097280"/>
          </a:xfrm>
          <a:prstGeom prst="roundRect">
            <a:avLst>
              <a:gd name="adj" fmla="val 11667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2496312"/>
            <a:ext cx="24071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الملغي من المديونية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2807208"/>
            <a:ext cx="24071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0.0</a:t>
            </a:r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  م.ر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675888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المديونية حسب سنة النشوء (مليون ريال)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4023360"/>
          <a:ext cx="1127455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0" y="384048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ملاحظات منهجية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4475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ملاحظات منهجية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45352" y="228600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91672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82512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التنظيم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82512" y="26791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جميع البيانات مسجّلة حسب السنة والتبويب؛ البنود التفصيلية (الحسابات) مجمّعة على مستوى التبويب.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3035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77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السنة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7919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الشيتات التي لا تحتوي عمود سنة نُسبت إلى 2026 (الإيراد للشهر الحالي، القطاع، التنفيذ والاسترداد، الاستثمارية).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361188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091672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703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النسب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4005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نسب الفعلي عن المقدر والمستهدف والسنة الماضية محسوبة من الأرقام الخام (الفعلي ÷ القاعدة − 1).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3931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703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المجاميع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005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إجمالي منطقة الرياض = مدينة الرياض + بلديات المنطقة، ولا تُجمع الثلاثة معاً تفادياً للتكرار.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493776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091672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السيناريوهات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53309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بيانات سيناريو الإقفال الأول والثاني متطابقة في الملف المصدر.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5486400" cy="1143000"/>
          </a:xfrm>
          <a:prstGeom prst="roundRect">
            <a:avLst>
              <a:gd name="adj" fmla="val 112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03520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029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الوحدة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3309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المبالغ بالمليون ريال سعودي، والأرقام مقرّبة لأقرب خانة عشرية وقد لا تتطابق المجاميع.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stry of Tourism Revenue">
  <a:themeElements>
    <a:clrScheme name="Ministry of Tourism Revenue">
      <a:dk1>
        <a:srgbClr val="0B2B24"/>
      </a:dk1>
      <a:lt1>
        <a:srgbClr val="FFFFFF"/>
      </a:lt1>
      <a:dk2>
        <a:srgbClr val="0F4A3A"/>
      </a:dk2>
      <a:lt2>
        <a:srgbClr val="EEF4F1"/>
      </a:lt2>
      <a:accent1>
        <a:srgbClr val="1E9E4A"/>
      </a:accent1>
      <a:accent2>
        <a:srgbClr val="0E7C66"/>
      </a:accent2>
      <a:accent3>
        <a:srgbClr val="6C5CE7"/>
      </a:accent3>
      <a:accent4>
        <a:srgbClr val="F2B134"/>
      </a:accent4>
      <a:accent5>
        <a:srgbClr val="E5547B"/>
      </a:accent5>
      <a:accent6>
        <a:srgbClr val="5B6B7B"/>
      </a:accent6>
      <a:hlink>
        <a:srgbClr val="0E7C66"/>
      </a:hlink>
      <a:folHlink>
        <a:srgbClr val="5B6B7B"/>
      </a:folHlink>
    </a:clrScheme>
    <a:fontScheme name="Ministry of Tourism Reven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الإيرادات 2026</dc:title>
  <dc:subject>PptxGenJS Presentation</dc:subject>
  <dc:creator>وزارة السياحة</dc:creator>
  <cp:lastModifiedBy>وزارة السياحة</cp:lastModifiedBy>
  <cp:revision>1</cp:revision>
  <dcterms:created xsi:type="dcterms:W3CDTF">2026-10-14T03:25:20Z</dcterms:created>
  <dcterms:modified xsi:type="dcterms:W3CDTF">2026-10-14T03:25:20Z</dcterms:modified>
</cp:coreProperties>
</file>