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مستهدفات الإيرادات" id="{baa06045-e3e3-719b-111b-cbefb92cc6fd}">
          <p14:sldIdLst>
            <p14:sldId id="256"/>
          </p14:sldIdLst>
        </p14:section>
        <p14:section name="المديونيات" id="{85134e2e-89ed-ce26-7623-c659c09e8d1c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نسبة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A66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4E9E8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المنجز</c:v>
                </c:pt>
                <c:pt idx="1">
                  <c:v>المتبقي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55</c:v>
                </c:pt>
                <c:pt idx="1">
                  <c:v>45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نسبة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6B19A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4E9E8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المنجز</c:v>
                </c:pt>
                <c:pt idx="1">
                  <c:v>المتبقي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45</c:v>
                </c:pt>
                <c:pt idx="1">
                  <c:v>55</c:v>
                </c:pt>
              </c:numCache>
            </c:numRef>
          </c:val>
        </c:ser>
        <c:firstSliceAng val="0"/>
        <c:holeSize val="74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نسبة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D6A66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4E9E8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FFFF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المنجز</c:v>
                </c:pt>
                <c:pt idx="1">
                  <c:v>المتبقي</c:v>
                </c:pt>
                <c:pt idx="2">
                  <c:v>-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78</c:v>
                </c:pt>
                <c:pt idx="1">
                  <c:v>22</c:v>
                </c:pt>
                <c:pt idx="2">
                  <c:v>100</c:v>
                </c:pt>
              </c:numCache>
            </c:numRef>
          </c:val>
        </c:ser>
        <c:firstSliceAng val="27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نسبة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A8F8E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4E9E8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FFFFFF"/>
              </a:solidFill>
              <a:ln w="6350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المنجز</c:v>
                </c:pt>
                <c:pt idx="1">
                  <c:v>المتبقي</c:v>
                </c:pt>
                <c:pt idx="2">
                  <c:v>-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76</c:v>
                </c:pt>
                <c:pt idx="1">
                  <c:v>24</c:v>
                </c:pt>
                <c:pt idx="2">
                  <c:v>100</c:v>
                </c:pt>
              </c:numCache>
            </c:numRef>
          </c:val>
        </c:ser>
        <c:firstSliceAng val="27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رصيد المديونية</c:v>
                </c:pt>
              </c:strCache>
            </c:strRef>
          </c:tx>
          <c:spPr>
            <a:solidFill>
              <a:srgbClr val="2D6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الإيرادات الإستثمارية</c:v>
                  </c:pt>
                  <c:pt idx="1">
                    <c:v>رسوم وتراخيص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116</c:v>
                </c:pt>
                <c:pt idx="1">
                  <c:v>116</c:v>
                </c:pt>
                <c:pt idx="2">
                  <c:v>128</c:v>
                </c:pt>
                <c:pt idx="3">
                  <c:v>110</c:v>
                </c:pt>
                <c:pt idx="4">
                  <c:v>117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ما تم سداده</c:v>
                </c:pt>
              </c:strCache>
            </c:strRef>
          </c:tx>
          <c:spPr>
            <a:solidFill>
              <a:srgbClr val="86B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الإيرادات الإستثمارية</c:v>
                  </c:pt>
                  <c:pt idx="1">
                    <c:v>رسوم وتراخيص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318</c:v>
                </c:pt>
                <c:pt idx="1">
                  <c:v>276</c:v>
                </c:pt>
                <c:pt idx="2">
                  <c:v>295</c:v>
                </c:pt>
                <c:pt idx="3">
                  <c:v>302</c:v>
                </c:pt>
                <c:pt idx="4">
                  <c:v>334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B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-8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B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axMin"/>
          <c:max val="4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رصيد المديونية</c:v>
                </c:pt>
              </c:strCache>
            </c:strRef>
          </c:tx>
          <c:spPr>
            <a:solidFill>
              <a:srgbClr val="2D6A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الإيرادات الإستثمارية</c:v>
                  </c:pt>
                  <c:pt idx="1">
                    <c:v>رسوم وتراخيص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</c:v>
                </c:pt>
                <c:pt idx="1">
                  <c:v>121</c:v>
                </c:pt>
                <c:pt idx="2">
                  <c:v>124</c:v>
                </c:pt>
                <c:pt idx="3">
                  <c:v>130</c:v>
                </c:pt>
                <c:pt idx="4">
                  <c:v>108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ما تم سداده</c:v>
                </c:pt>
              </c:strCache>
            </c:strRef>
          </c:tx>
          <c:spPr>
            <a:solidFill>
              <a:srgbClr val="86B1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B2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الإيرادات الإستثمارية</c:v>
                  </c:pt>
                  <c:pt idx="1">
                    <c:v>رسوم وتراخيص</c:v>
                  </c:pt>
                  <c:pt idx="2">
                    <c:v>جزاءات وغرامات</c:v>
                  </c:pt>
                  <c:pt idx="3">
                    <c:v>التبغ والإيواء</c:v>
                  </c:pt>
                  <c:pt idx="4">
                    <c:v>أخرى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277</c:v>
                </c:pt>
                <c:pt idx="1">
                  <c:v>273</c:v>
                </c:pt>
                <c:pt idx="2">
                  <c:v>279</c:v>
                </c:pt>
                <c:pt idx="3">
                  <c:v>283</c:v>
                </c:pt>
                <c:pt idx="4">
                  <c:v>279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B2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-8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B2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axMin"/>
          <c:max val="4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مؤشرات الإستدامة المالية — جميع القيم بالمليون ريال.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حالة المديونيات — جميع القيم بالمليون ريال. الرسم يقارن رصيد المديونية بما تم سداده لكل تبويب في كل فترة.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SH_T">
    <p:bg>
      <p:bgPr>
        <a:solidFill>
          <a:srgbClr val="F2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test4/revenue-targets-dashboar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01168"/>
            <a:ext cx="621792" cy="7315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840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675"/>
                </a:solidFill>
              </a:rPr>
              <a:t>إدارة تخطيط و مراقبة الإيرادات</a:t>
            </a:r>
            <a:endParaRPr lang="en-US" sz="11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0" y="274320"/>
            <a:ext cx="6245352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5" Type="http://schemas.openxmlformats.org/officeDocument/2006/relationships/chart" Target="/ppt/charts/chart3.xml"/><Relationship Id="rId6" Type="http://schemas.openxmlformats.org/officeDocument/2006/relationships/chart" Target="/ppt/charts/chart4.xml"/><Relationship Id="rId1" Type="http://schemas.openxmlformats.org/officeDocument/2006/relationships/image" Target="../media/image-1-1.png"/><Relationship Id="rId4" Type="http://schemas.openxmlformats.org/officeDocument/2006/relationships/image" Target="../media/image-1-2.png"/><Relationship Id="rId7" Type="http://schemas.openxmlformats.org/officeDocument/2006/relationships/image" Target="../media/image-1-3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chart" Target="/ppt/charts/chart5.xml"/><Relationship Id="rId7" Type="http://schemas.openxmlformats.org/officeDocument/2006/relationships/chart" Target="/ppt/charts/chart6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0" y="274320"/>
            <a:ext cx="6245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مؤشرات الإستدامة المالية</a:t>
            </a:r>
            <a:endParaRPr lang="en-US" sz="3000" dirty="0"/>
          </a:p>
        </p:txBody>
      </p:sp>
      <p:sp>
        <p:nvSpPr>
          <p:cNvPr id="3" name="card-billed"/>
          <p:cNvSpPr/>
          <p:nvPr/>
        </p:nvSpPr>
        <p:spPr>
          <a:xfrm>
            <a:off x="7525512" y="1051560"/>
            <a:ext cx="4206240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119104" y="1234440"/>
            <a:ext cx="384048" cy="384048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797" y="1338133"/>
            <a:ext cx="176662" cy="1766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66176" y="12344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D6A66"/>
                </a:solidFill>
              </a:rPr>
              <a:t>الإيرادات المفوترة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0222992" y="165506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7675"/>
                </a:solidFill>
              </a:rPr>
              <a:t>قيمة المفوتر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754112" y="160934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1E2B2A"/>
                </a:solidFill>
              </a:rPr>
              <a:t>3,399</a:t>
            </a:r>
            <a:pPr algn="r" indent="0" marL="0">
              <a:buNone/>
            </a:pPr>
            <a:r>
              <a:rPr lang="en-US" sz="12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725912" y="2130552"/>
            <a:ext cx="777240" cy="7772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4E9E8"/>
            </a:solidFill>
            <a:prstDash val="solid"/>
          </a:ln>
        </p:spPr>
      </p:sp>
      <p:graphicFrame>
        <p:nvGraphicFramePr>
          <p:cNvPr id="10" name="Chart 0" descr=""/>
          <p:cNvGraphicFramePr/>
          <p:nvPr/>
        </p:nvGraphicFramePr>
        <p:xfrm>
          <a:off x="10725912" y="2130552"/>
          <a:ext cx="77724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10725912" y="2331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2D6A66"/>
                </a:solidFill>
              </a:rPr>
              <a:t>55%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9628632" y="2953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المستهدف (الفترة الحالية)</a:t>
            </a:r>
            <a:endParaRPr lang="en-US" sz="1000" dirty="0"/>
          </a:p>
        </p:txBody>
      </p:sp>
      <p:sp>
        <p:nvSpPr>
          <p:cNvPr id="13" name="Text 9"/>
          <p:cNvSpPr txBox="1"/>
          <p:nvPr/>
        </p:nvSpPr>
        <p:spPr>
          <a:xfrm>
            <a:off x="9628632" y="3154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B2A"/>
                </a:solidFill>
              </a:rPr>
              <a:t>3,368</a:t>
            </a:r>
            <a:pPr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851392" y="2130552"/>
            <a:ext cx="777240" cy="777240"/>
          </a:xfrm>
          <a:prstGeom prst="ellipse">
            <a:avLst/>
          </a:prstGeom>
          <a:solidFill>
            <a:srgbClr val="FFFFFF"/>
          </a:solidFill>
          <a:ln w="6350">
            <a:solidFill>
              <a:srgbClr val="E4E9E8"/>
            </a:solidFill>
            <a:prstDash val="solid"/>
          </a:ln>
        </p:spPr>
      </p:sp>
      <p:graphicFrame>
        <p:nvGraphicFramePr>
          <p:cNvPr id="15" name="Chart 1" descr=""/>
          <p:cNvGraphicFramePr/>
          <p:nvPr/>
        </p:nvGraphicFramePr>
        <p:xfrm>
          <a:off x="8851392" y="2130552"/>
          <a:ext cx="77724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8851392" y="233172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4E7F64"/>
                </a:solidFill>
              </a:rPr>
              <a:t>45%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54112" y="2953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المستهدف (الإجمالي)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7754112" y="31546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E2B2A"/>
                </a:solidFill>
              </a:rPr>
              <a:t>3,364</a:t>
            </a:r>
            <a:pPr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7754112" y="351129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يقيس المؤشر إجمالي الإيرادات المفوترة من قبل الأمانة خلال فترة زمنية محددة، لدعم متابعة الأداء المالي وتعزيز مصادر دخل الوزارة</a:t>
            </a:r>
            <a:endParaRPr lang="en-US" sz="1000" dirty="0"/>
          </a:p>
        </p:txBody>
      </p:sp>
      <p:sp>
        <p:nvSpPr>
          <p:cNvPr id="20" name="card-collection"/>
          <p:cNvSpPr/>
          <p:nvPr/>
        </p:nvSpPr>
        <p:spPr>
          <a:xfrm>
            <a:off x="457200" y="1051560"/>
            <a:ext cx="6839712" cy="2971800"/>
          </a:xfrm>
          <a:prstGeom prst="roundRect">
            <a:avLst>
              <a:gd name="adj" fmla="val 4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684264" y="1234440"/>
            <a:ext cx="384048" cy="384048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957" y="1338133"/>
            <a:ext cx="176662" cy="17666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916936" y="12344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D6A66"/>
                </a:solidFill>
              </a:rPr>
              <a:t>مؤشر معدل التحصيل</a:t>
            </a:r>
            <a:endParaRPr lang="en-US" sz="1500" dirty="0"/>
          </a:p>
        </p:txBody>
      </p:sp>
      <p:graphicFrame>
        <p:nvGraphicFramePr>
          <p:cNvPr id="24" name="Chart 2" descr=""/>
          <p:cNvGraphicFramePr/>
          <p:nvPr/>
        </p:nvGraphicFramePr>
        <p:xfrm>
          <a:off x="4965192" y="1737360"/>
          <a:ext cx="1828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Text 18"/>
          <p:cNvSpPr txBox="1"/>
          <p:nvPr/>
        </p:nvSpPr>
        <p:spPr>
          <a:xfrm>
            <a:off x="4965192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2D6A66"/>
                </a:solidFill>
              </a:rPr>
              <a:t>78%</a:t>
            </a:r>
            <a:endParaRPr lang="en-US" sz="2400" dirty="0"/>
          </a:p>
        </p:txBody>
      </p:sp>
      <p:sp>
        <p:nvSpPr>
          <p:cNvPr id="26" name="Text 19"/>
          <p:cNvSpPr txBox="1"/>
          <p:nvPr/>
        </p:nvSpPr>
        <p:spPr>
          <a:xfrm>
            <a:off x="4690872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نسبة محصل السنة الحالية من اجمالي المفوتر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690872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2B2A"/>
                </a:solidFill>
              </a:rPr>
              <a:t>إجمالي المحصل (السنة الحالية)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4690872" y="31455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B2A"/>
                </a:solidFill>
              </a:rPr>
              <a:t>3,305</a:t>
            </a:r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graphicFrame>
        <p:nvGraphicFramePr>
          <p:cNvPr id="29" name="Chart 3" descr=""/>
          <p:cNvGraphicFramePr/>
          <p:nvPr/>
        </p:nvGraphicFramePr>
        <p:xfrm>
          <a:off x="960120" y="1737360"/>
          <a:ext cx="1828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30" name="Text 22"/>
          <p:cNvSpPr txBox="1"/>
          <p:nvPr/>
        </p:nvSpPr>
        <p:spPr>
          <a:xfrm>
            <a:off x="960120" y="224028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5E6463"/>
                </a:solidFill>
              </a:rPr>
              <a:t>76%</a:t>
            </a:r>
            <a:endParaRPr lang="en-US" sz="2400" dirty="0"/>
          </a:p>
        </p:txBody>
      </p:sp>
      <p:sp>
        <p:nvSpPr>
          <p:cNvPr id="31" name="Text 23"/>
          <p:cNvSpPr txBox="1"/>
          <p:nvPr/>
        </p:nvSpPr>
        <p:spPr>
          <a:xfrm>
            <a:off x="685800" y="267004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نسبة محصل السنوات السابقة من اجمالي المحصل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68580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E2B2A"/>
                </a:solidFill>
              </a:rPr>
              <a:t>إجمالي المحصل (السنوات السابقة)</a:t>
            </a:r>
            <a:endParaRPr lang="en-US" sz="1100" dirty="0"/>
          </a:p>
        </p:txBody>
      </p:sp>
      <p:sp>
        <p:nvSpPr>
          <p:cNvPr id="33" name="Text 25"/>
          <p:cNvSpPr txBox="1"/>
          <p:nvPr/>
        </p:nvSpPr>
        <p:spPr>
          <a:xfrm>
            <a:off x="685800" y="3145536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B2A"/>
                </a:solidFill>
              </a:rPr>
              <a:t>466</a:t>
            </a:r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3246120" y="1828800"/>
            <a:ext cx="1261872" cy="841248"/>
          </a:xfrm>
          <a:prstGeom prst="roundRect">
            <a:avLst>
              <a:gd name="adj" fmla="val 13043"/>
            </a:avLst>
          </a:prstGeom>
          <a:solidFill>
            <a:srgbClr val="F2F5F4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3246120" y="1901952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B2A"/>
                </a:solidFill>
              </a:rPr>
              <a:t>2,955</a:t>
            </a:r>
            <a:pPr algn="ctr" indent="0" marL="0">
              <a:buNone/>
            </a:pPr>
            <a:r>
              <a:rPr lang="en-US" sz="900" b="1" dirty="0">
                <a:solidFill>
                  <a:srgbClr val="6B7675"/>
                </a:solidFill>
              </a:rPr>
              <a:t>  مليون ريال</a:t>
            </a:r>
            <a:endParaRPr lang="en-US" sz="2400" dirty="0"/>
          </a:p>
        </p:txBody>
      </p:sp>
      <p:sp>
        <p:nvSpPr>
          <p:cNvPr id="36" name="Text 28"/>
          <p:cNvSpPr txBox="1"/>
          <p:nvPr/>
        </p:nvSpPr>
        <p:spPr>
          <a:xfrm>
            <a:off x="3246120" y="2340864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6B7675"/>
                </a:solidFill>
              </a:rPr>
              <a:t>إجمالي المحصل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3246120" y="2816352"/>
            <a:ext cx="1261872" cy="841248"/>
          </a:xfrm>
          <a:prstGeom prst="roundRect">
            <a:avLst>
              <a:gd name="adj" fmla="val 13043"/>
            </a:avLst>
          </a:prstGeom>
          <a:solidFill>
            <a:srgbClr val="2D6A66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3246120" y="2889504"/>
            <a:ext cx="12618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13%</a:t>
            </a:r>
            <a:endParaRPr lang="en-US" sz="2400" dirty="0"/>
          </a:p>
        </p:txBody>
      </p:sp>
      <p:sp>
        <p:nvSpPr>
          <p:cNvPr id="39" name="Text 31"/>
          <p:cNvSpPr txBox="1"/>
          <p:nvPr/>
        </p:nvSpPr>
        <p:spPr>
          <a:xfrm>
            <a:off x="3246120" y="3328416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DCEBE8"/>
                </a:solidFill>
              </a:rPr>
              <a:t>نسبة التحصيل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685800" y="3639312"/>
            <a:ext cx="6382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يقيس المؤشر نسبة الإيرادات المفوترة التي تم تحصيلها خلال فترة زمنية محددة، بما يعكس كفاءة الوزارة في إدارة المستحقات ومنظومة التحصيل</a:t>
            </a:r>
            <a:endParaRPr lang="en-US" sz="1000" dirty="0"/>
          </a:p>
        </p:txBody>
      </p:sp>
      <p:sp>
        <p:nvSpPr>
          <p:cNvPr id="41" name="card-opex"/>
          <p:cNvSpPr/>
          <p:nvPr/>
        </p:nvSpPr>
        <p:spPr>
          <a:xfrm>
            <a:off x="457200" y="4206240"/>
            <a:ext cx="11274552" cy="2395728"/>
          </a:xfrm>
          <a:prstGeom prst="roundRect">
            <a:avLst>
              <a:gd name="adj" fmla="val 53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11119104" y="4370832"/>
            <a:ext cx="384048" cy="384048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22797" y="4474525"/>
            <a:ext cx="176662" cy="17666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6437376" y="43708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2D6A66"/>
                </a:solidFill>
              </a:rPr>
              <a:t>مؤشر تغطية النفقات التشغيلية</a:t>
            </a:r>
            <a:endParaRPr lang="en-US" sz="1500" dirty="0"/>
          </a:p>
        </p:txBody>
      </p:sp>
      <p:sp>
        <p:nvSpPr>
          <p:cNvPr id="45" name="Text 36"/>
          <p:cNvSpPr txBox="1"/>
          <p:nvPr/>
        </p:nvSpPr>
        <p:spPr>
          <a:xfrm>
            <a:off x="8098536" y="4864608"/>
            <a:ext cx="3203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2B2A"/>
                </a:solidFill>
              </a:rPr>
              <a:t>الإيرادات المفوترة (الإعتماد الأصلي)</a:t>
            </a:r>
            <a:endParaRPr lang="en-US" sz="1200" dirty="0"/>
          </a:p>
        </p:txBody>
      </p:sp>
      <p:sp>
        <p:nvSpPr>
          <p:cNvPr id="46" name="Text 37"/>
          <p:cNvSpPr txBox="1"/>
          <p:nvPr/>
        </p:nvSpPr>
        <p:spPr>
          <a:xfrm>
            <a:off x="8098536" y="5111496"/>
            <a:ext cx="320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تغطية النفقات التشغيلية باستخدام الإيرادات المفوترة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10204704" y="5367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675"/>
                </a:solidFill>
              </a:rPr>
              <a:t>قيمة المفوتر</a:t>
            </a:r>
            <a:endParaRPr lang="en-US" sz="1100" dirty="0"/>
          </a:p>
        </p:txBody>
      </p:sp>
      <p:sp>
        <p:nvSpPr>
          <p:cNvPr id="48" name="Text 39"/>
          <p:cNvSpPr txBox="1"/>
          <p:nvPr/>
        </p:nvSpPr>
        <p:spPr>
          <a:xfrm>
            <a:off x="8098536" y="5367528"/>
            <a:ext cx="206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B2A"/>
                </a:solidFill>
              </a:rPr>
              <a:t>3,399</a:t>
            </a:r>
            <a:pPr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10296144" y="5815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D6A66"/>
                </a:solidFill>
              </a:rPr>
              <a:t>الفترة الحالية</a:t>
            </a:r>
            <a:endParaRPr lang="en-US" sz="1100" dirty="0"/>
          </a:p>
        </p:txBody>
      </p:sp>
      <p:sp>
        <p:nvSpPr>
          <p:cNvPr id="50" name="Text 41"/>
          <p:cNvSpPr txBox="1"/>
          <p:nvPr/>
        </p:nvSpPr>
        <p:spPr>
          <a:xfrm>
            <a:off x="8601456" y="5815584"/>
            <a:ext cx="1648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المستهدف  </a:t>
            </a:r>
            <a:pPr algn="ctr" indent="0" marL="0">
              <a:buNone/>
            </a:pPr>
            <a:r>
              <a:rPr lang="en-US" sz="1000" b="1" dirty="0">
                <a:solidFill>
                  <a:srgbClr val="1E2B2A"/>
                </a:solidFill>
              </a:rPr>
              <a:t>3,993</a:t>
            </a:r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مليون ريال</a:t>
            </a:r>
            <a:endParaRPr lang="en-US" sz="1000" dirty="0"/>
          </a:p>
        </p:txBody>
      </p:sp>
      <p:sp>
        <p:nvSpPr>
          <p:cNvPr id="51" name="Text 42"/>
          <p:cNvSpPr txBox="1"/>
          <p:nvPr/>
        </p:nvSpPr>
        <p:spPr>
          <a:xfrm>
            <a:off x="8098536" y="5815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2D6A66"/>
                </a:solidFill>
              </a:rPr>
              <a:t>49%</a:t>
            </a:r>
            <a:endParaRPr lang="en-US" sz="1300" dirty="0"/>
          </a:p>
        </p:txBody>
      </p:sp>
      <p:sp>
        <p:nvSpPr>
          <p:cNvPr id="52" name="Shape 43"/>
          <p:cNvSpPr/>
          <p:nvPr/>
        </p:nvSpPr>
        <p:spPr>
          <a:xfrm>
            <a:off x="8098536" y="6044184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53" name="Shape 44"/>
          <p:cNvSpPr/>
          <p:nvPr/>
        </p:nvSpPr>
        <p:spPr>
          <a:xfrm>
            <a:off x="9732294" y="6044184"/>
            <a:ext cx="1569690" cy="118872"/>
          </a:xfrm>
          <a:prstGeom prst="roundRect">
            <a:avLst>
              <a:gd name="adj" fmla="val 50000"/>
            </a:avLst>
          </a:prstGeom>
          <a:solidFill>
            <a:srgbClr val="3B7F7C"/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10296144" y="6199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4E7F64"/>
                </a:solidFill>
              </a:rPr>
              <a:t>الإجمالي</a:t>
            </a:r>
            <a:endParaRPr lang="en-US" sz="1100" dirty="0"/>
          </a:p>
        </p:txBody>
      </p:sp>
      <p:sp>
        <p:nvSpPr>
          <p:cNvPr id="55" name="Text 46"/>
          <p:cNvSpPr txBox="1"/>
          <p:nvPr/>
        </p:nvSpPr>
        <p:spPr>
          <a:xfrm>
            <a:off x="8601456" y="6199632"/>
            <a:ext cx="1648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المستهدف  </a:t>
            </a:r>
            <a:pPr algn="ctr" indent="0" marL="0">
              <a:buNone/>
            </a:pPr>
            <a:r>
              <a:rPr lang="en-US" sz="1000" b="1" dirty="0">
                <a:solidFill>
                  <a:srgbClr val="1E2B2A"/>
                </a:solidFill>
              </a:rPr>
              <a:t>3,593</a:t>
            </a:r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مليون ريال</a:t>
            </a:r>
            <a:endParaRPr lang="en-US" sz="1000" dirty="0"/>
          </a:p>
        </p:txBody>
      </p:sp>
      <p:sp>
        <p:nvSpPr>
          <p:cNvPr id="56" name="Text 47"/>
          <p:cNvSpPr txBox="1"/>
          <p:nvPr/>
        </p:nvSpPr>
        <p:spPr>
          <a:xfrm>
            <a:off x="8098536" y="61996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4E7F64"/>
                </a:solidFill>
              </a:rPr>
              <a:t>70%</a:t>
            </a:r>
            <a:endParaRPr lang="en-US" sz="1300" dirty="0"/>
          </a:p>
        </p:txBody>
      </p:sp>
      <p:sp>
        <p:nvSpPr>
          <p:cNvPr id="57" name="Shape 48"/>
          <p:cNvSpPr/>
          <p:nvPr/>
        </p:nvSpPr>
        <p:spPr>
          <a:xfrm>
            <a:off x="8098536" y="6428232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58" name="Shape 49"/>
          <p:cNvSpPr/>
          <p:nvPr/>
        </p:nvSpPr>
        <p:spPr>
          <a:xfrm>
            <a:off x="9059570" y="6428232"/>
            <a:ext cx="2242414" cy="118872"/>
          </a:xfrm>
          <a:prstGeom prst="roundRect">
            <a:avLst>
              <a:gd name="adj" fmla="val 50000"/>
            </a:avLst>
          </a:prstGeom>
          <a:solidFill>
            <a:srgbClr val="86B19A"/>
          </a:solidFill>
          <a:ln/>
        </p:spPr>
      </p:sp>
      <p:sp>
        <p:nvSpPr>
          <p:cNvPr id="59" name="Shape 50"/>
          <p:cNvSpPr/>
          <p:nvPr/>
        </p:nvSpPr>
        <p:spPr>
          <a:xfrm>
            <a:off x="7897368" y="4910328"/>
            <a:ext cx="0" cy="1527048"/>
          </a:xfrm>
          <a:prstGeom prst="line">
            <a:avLst/>
          </a:prstGeom>
          <a:noFill/>
          <a:ln w="9525">
            <a:solidFill>
              <a:srgbClr val="DCE3E1"/>
            </a:solidFill>
            <a:prstDash val="solid"/>
          </a:ln>
        </p:spPr>
      </p:sp>
      <p:sp>
        <p:nvSpPr>
          <p:cNvPr id="60" name="Text 51"/>
          <p:cNvSpPr txBox="1"/>
          <p:nvPr/>
        </p:nvSpPr>
        <p:spPr>
          <a:xfrm>
            <a:off x="4492752" y="4864608"/>
            <a:ext cx="3203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2B2A"/>
                </a:solidFill>
              </a:rPr>
              <a:t>الإيرادات المفوترة (الإعتماد بعد التعديل)</a:t>
            </a:r>
            <a:endParaRPr lang="en-US" sz="1200" dirty="0"/>
          </a:p>
        </p:txBody>
      </p:sp>
      <p:sp>
        <p:nvSpPr>
          <p:cNvPr id="61" name="Text 52"/>
          <p:cNvSpPr txBox="1"/>
          <p:nvPr/>
        </p:nvSpPr>
        <p:spPr>
          <a:xfrm>
            <a:off x="4492752" y="5111496"/>
            <a:ext cx="320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تغطية النفقات التشغيلية المعدلة باستخدام الإيرادات المفوترة (بعد التعزيز)</a:t>
            </a:r>
            <a:endParaRPr lang="en-US" sz="1000" dirty="0"/>
          </a:p>
        </p:txBody>
      </p:sp>
      <p:sp>
        <p:nvSpPr>
          <p:cNvPr id="62" name="Text 53"/>
          <p:cNvSpPr txBox="1"/>
          <p:nvPr/>
        </p:nvSpPr>
        <p:spPr>
          <a:xfrm>
            <a:off x="6598920" y="5367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675"/>
                </a:solidFill>
              </a:rPr>
              <a:t>قيمة المفوتر</a:t>
            </a:r>
            <a:endParaRPr lang="en-US" sz="1100" dirty="0"/>
          </a:p>
        </p:txBody>
      </p:sp>
      <p:sp>
        <p:nvSpPr>
          <p:cNvPr id="63" name="Text 54"/>
          <p:cNvSpPr txBox="1"/>
          <p:nvPr/>
        </p:nvSpPr>
        <p:spPr>
          <a:xfrm>
            <a:off x="4492752" y="5367528"/>
            <a:ext cx="206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B2A"/>
                </a:solidFill>
              </a:rPr>
              <a:t>3,399</a:t>
            </a:r>
            <a:pPr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64" name="Text 55"/>
          <p:cNvSpPr txBox="1"/>
          <p:nvPr/>
        </p:nvSpPr>
        <p:spPr>
          <a:xfrm>
            <a:off x="6690360" y="5815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D6A66"/>
                </a:solidFill>
              </a:rPr>
              <a:t>الفترة الحالية</a:t>
            </a:r>
            <a:endParaRPr lang="en-US" sz="1100" dirty="0"/>
          </a:p>
        </p:txBody>
      </p:sp>
      <p:sp>
        <p:nvSpPr>
          <p:cNvPr id="65" name="Text 56"/>
          <p:cNvSpPr txBox="1"/>
          <p:nvPr/>
        </p:nvSpPr>
        <p:spPr>
          <a:xfrm>
            <a:off x="4995672" y="5815584"/>
            <a:ext cx="1648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المستهدف  </a:t>
            </a:r>
            <a:pPr algn="ctr" indent="0" marL="0">
              <a:buNone/>
            </a:pPr>
            <a:r>
              <a:rPr lang="en-US" sz="1000" b="1" dirty="0">
                <a:solidFill>
                  <a:srgbClr val="1E2B2A"/>
                </a:solidFill>
              </a:rPr>
              <a:t>3,911</a:t>
            </a:r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مليون ريال</a:t>
            </a:r>
            <a:endParaRPr lang="en-US" sz="1000" dirty="0"/>
          </a:p>
        </p:txBody>
      </p:sp>
      <p:sp>
        <p:nvSpPr>
          <p:cNvPr id="66" name="Text 57"/>
          <p:cNvSpPr txBox="1"/>
          <p:nvPr/>
        </p:nvSpPr>
        <p:spPr>
          <a:xfrm>
            <a:off x="4492752" y="5815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2D6A66"/>
                </a:solidFill>
              </a:rPr>
              <a:t>52%</a:t>
            </a:r>
            <a:endParaRPr lang="en-US" sz="1300" dirty="0"/>
          </a:p>
        </p:txBody>
      </p:sp>
      <p:sp>
        <p:nvSpPr>
          <p:cNvPr id="67" name="Shape 58"/>
          <p:cNvSpPr/>
          <p:nvPr/>
        </p:nvSpPr>
        <p:spPr>
          <a:xfrm>
            <a:off x="4492752" y="6044184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68" name="Shape 59"/>
          <p:cNvSpPr/>
          <p:nvPr/>
        </p:nvSpPr>
        <p:spPr>
          <a:xfrm>
            <a:off x="6030407" y="6044184"/>
            <a:ext cx="1665793" cy="118872"/>
          </a:xfrm>
          <a:prstGeom prst="roundRect">
            <a:avLst>
              <a:gd name="adj" fmla="val 50000"/>
            </a:avLst>
          </a:prstGeom>
          <a:solidFill>
            <a:srgbClr val="3B7F7C"/>
          </a:solidFill>
          <a:ln/>
        </p:spPr>
      </p:sp>
      <p:sp>
        <p:nvSpPr>
          <p:cNvPr id="69" name="Text 60"/>
          <p:cNvSpPr txBox="1"/>
          <p:nvPr/>
        </p:nvSpPr>
        <p:spPr>
          <a:xfrm>
            <a:off x="6690360" y="6199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4E7F64"/>
                </a:solidFill>
              </a:rPr>
              <a:t>الإجمالي</a:t>
            </a:r>
            <a:endParaRPr lang="en-US" sz="1100" dirty="0"/>
          </a:p>
        </p:txBody>
      </p:sp>
      <p:sp>
        <p:nvSpPr>
          <p:cNvPr id="70" name="Text 61"/>
          <p:cNvSpPr txBox="1"/>
          <p:nvPr/>
        </p:nvSpPr>
        <p:spPr>
          <a:xfrm>
            <a:off x="4995672" y="6199632"/>
            <a:ext cx="1648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المستهدف  </a:t>
            </a:r>
            <a:pPr algn="ctr" indent="0" marL="0">
              <a:buNone/>
            </a:pPr>
            <a:r>
              <a:rPr lang="en-US" sz="1000" b="1" dirty="0">
                <a:solidFill>
                  <a:srgbClr val="1E2B2A"/>
                </a:solidFill>
              </a:rPr>
              <a:t>3,259</a:t>
            </a:r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مليون ريال</a:t>
            </a:r>
            <a:endParaRPr lang="en-US" sz="1000" dirty="0"/>
          </a:p>
        </p:txBody>
      </p:sp>
      <p:sp>
        <p:nvSpPr>
          <p:cNvPr id="71" name="Text 62"/>
          <p:cNvSpPr txBox="1"/>
          <p:nvPr/>
        </p:nvSpPr>
        <p:spPr>
          <a:xfrm>
            <a:off x="4492752" y="61996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4E7F64"/>
                </a:solidFill>
              </a:rPr>
              <a:t>50%</a:t>
            </a:r>
            <a:endParaRPr lang="en-US" sz="1300" dirty="0"/>
          </a:p>
        </p:txBody>
      </p:sp>
      <p:sp>
        <p:nvSpPr>
          <p:cNvPr id="72" name="Shape 63"/>
          <p:cNvSpPr/>
          <p:nvPr/>
        </p:nvSpPr>
        <p:spPr>
          <a:xfrm>
            <a:off x="4492752" y="6428232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73" name="Shape 64"/>
          <p:cNvSpPr/>
          <p:nvPr/>
        </p:nvSpPr>
        <p:spPr>
          <a:xfrm>
            <a:off x="6094476" y="6428232"/>
            <a:ext cx="1601724" cy="118872"/>
          </a:xfrm>
          <a:prstGeom prst="roundRect">
            <a:avLst>
              <a:gd name="adj" fmla="val 50000"/>
            </a:avLst>
          </a:prstGeom>
          <a:solidFill>
            <a:srgbClr val="86B19A"/>
          </a:solidFill>
          <a:ln/>
        </p:spPr>
      </p:sp>
      <p:sp>
        <p:nvSpPr>
          <p:cNvPr id="74" name="Shape 65"/>
          <p:cNvSpPr/>
          <p:nvPr/>
        </p:nvSpPr>
        <p:spPr>
          <a:xfrm>
            <a:off x="4291584" y="4910328"/>
            <a:ext cx="0" cy="1527048"/>
          </a:xfrm>
          <a:prstGeom prst="line">
            <a:avLst/>
          </a:prstGeom>
          <a:noFill/>
          <a:ln w="9525">
            <a:solidFill>
              <a:srgbClr val="DCE3E1"/>
            </a:solidFill>
            <a:prstDash val="solid"/>
          </a:ln>
        </p:spPr>
      </p:sp>
      <p:sp>
        <p:nvSpPr>
          <p:cNvPr id="75" name="Text 66"/>
          <p:cNvSpPr txBox="1"/>
          <p:nvPr/>
        </p:nvSpPr>
        <p:spPr>
          <a:xfrm>
            <a:off x="886968" y="4864608"/>
            <a:ext cx="3203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b="1" dirty="0">
                <a:solidFill>
                  <a:srgbClr val="1E2B2A"/>
                </a:solidFill>
              </a:rPr>
              <a:t>الإيرادات المحصلة (الإعتماد بعد التعديل)</a:t>
            </a:r>
            <a:endParaRPr lang="en-US" sz="1200" dirty="0"/>
          </a:p>
        </p:txBody>
      </p:sp>
      <p:sp>
        <p:nvSpPr>
          <p:cNvPr id="76" name="Text 67"/>
          <p:cNvSpPr txBox="1"/>
          <p:nvPr/>
        </p:nvSpPr>
        <p:spPr>
          <a:xfrm>
            <a:off x="886968" y="5111496"/>
            <a:ext cx="320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تغطية النفقات التشغيلية المعدلة باستخدام الإيرادات المحصلة</a:t>
            </a:r>
            <a:endParaRPr lang="en-US" sz="1000" dirty="0"/>
          </a:p>
        </p:txBody>
      </p:sp>
      <p:sp>
        <p:nvSpPr>
          <p:cNvPr id="77" name="Text 68"/>
          <p:cNvSpPr txBox="1"/>
          <p:nvPr/>
        </p:nvSpPr>
        <p:spPr>
          <a:xfrm>
            <a:off x="2993136" y="536752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6B7675"/>
                </a:solidFill>
              </a:rPr>
              <a:t>قيمة المحصل</a:t>
            </a:r>
            <a:endParaRPr lang="en-US" sz="1100" dirty="0"/>
          </a:p>
        </p:txBody>
      </p:sp>
      <p:sp>
        <p:nvSpPr>
          <p:cNvPr id="78" name="Text 69"/>
          <p:cNvSpPr txBox="1"/>
          <p:nvPr/>
        </p:nvSpPr>
        <p:spPr>
          <a:xfrm>
            <a:off x="886968" y="5367528"/>
            <a:ext cx="2060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E2B2A"/>
                </a:solidFill>
              </a:rPr>
              <a:t>2,955</a:t>
            </a:r>
            <a:pPr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79" name="Text 70"/>
          <p:cNvSpPr txBox="1"/>
          <p:nvPr/>
        </p:nvSpPr>
        <p:spPr>
          <a:xfrm>
            <a:off x="3084576" y="58155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2D6A66"/>
                </a:solidFill>
              </a:rPr>
              <a:t>الفترة الحالية</a:t>
            </a:r>
            <a:endParaRPr lang="en-US" sz="1100" dirty="0"/>
          </a:p>
        </p:txBody>
      </p:sp>
      <p:sp>
        <p:nvSpPr>
          <p:cNvPr id="80" name="Text 71"/>
          <p:cNvSpPr txBox="1"/>
          <p:nvPr/>
        </p:nvSpPr>
        <p:spPr>
          <a:xfrm>
            <a:off x="1389888" y="5815584"/>
            <a:ext cx="1648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المستهدف  </a:t>
            </a:r>
            <a:pPr algn="ctr" indent="0" marL="0">
              <a:buNone/>
            </a:pPr>
            <a:r>
              <a:rPr lang="en-US" sz="1000" b="1" dirty="0">
                <a:solidFill>
                  <a:srgbClr val="1E2B2A"/>
                </a:solidFill>
              </a:rPr>
              <a:t>3,911</a:t>
            </a:r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مليون ريال</a:t>
            </a:r>
            <a:endParaRPr lang="en-US" sz="1000" dirty="0"/>
          </a:p>
        </p:txBody>
      </p:sp>
      <p:sp>
        <p:nvSpPr>
          <p:cNvPr id="81" name="Text 72"/>
          <p:cNvSpPr txBox="1"/>
          <p:nvPr/>
        </p:nvSpPr>
        <p:spPr>
          <a:xfrm>
            <a:off x="886968" y="58155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2D6A66"/>
                </a:solidFill>
              </a:rPr>
              <a:t>71%</a:t>
            </a:r>
            <a:endParaRPr lang="en-US" sz="1300" dirty="0"/>
          </a:p>
        </p:txBody>
      </p:sp>
      <p:sp>
        <p:nvSpPr>
          <p:cNvPr id="82" name="Shape 73"/>
          <p:cNvSpPr/>
          <p:nvPr/>
        </p:nvSpPr>
        <p:spPr>
          <a:xfrm>
            <a:off x="886968" y="6044184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83" name="Shape 74"/>
          <p:cNvSpPr/>
          <p:nvPr/>
        </p:nvSpPr>
        <p:spPr>
          <a:xfrm>
            <a:off x="1815968" y="6044184"/>
            <a:ext cx="2274448" cy="118872"/>
          </a:xfrm>
          <a:prstGeom prst="roundRect">
            <a:avLst>
              <a:gd name="adj" fmla="val 50000"/>
            </a:avLst>
          </a:prstGeom>
          <a:solidFill>
            <a:srgbClr val="3B7F7C"/>
          </a:solidFill>
          <a:ln/>
        </p:spPr>
      </p:sp>
      <p:sp>
        <p:nvSpPr>
          <p:cNvPr id="84" name="Text 75"/>
          <p:cNvSpPr txBox="1"/>
          <p:nvPr/>
        </p:nvSpPr>
        <p:spPr>
          <a:xfrm>
            <a:off x="3084576" y="6199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100" b="1" dirty="0">
                <a:solidFill>
                  <a:srgbClr val="4E7F64"/>
                </a:solidFill>
              </a:rPr>
              <a:t>الإجمالي</a:t>
            </a:r>
            <a:endParaRPr lang="en-US" sz="1100" dirty="0"/>
          </a:p>
        </p:txBody>
      </p:sp>
      <p:sp>
        <p:nvSpPr>
          <p:cNvPr id="85" name="Text 76"/>
          <p:cNvSpPr txBox="1"/>
          <p:nvPr/>
        </p:nvSpPr>
        <p:spPr>
          <a:xfrm>
            <a:off x="1389888" y="6199632"/>
            <a:ext cx="1648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المستهدف  </a:t>
            </a:r>
            <a:pPr algn="ctr" indent="0" marL="0">
              <a:buNone/>
            </a:pPr>
            <a:r>
              <a:rPr lang="en-US" sz="1000" b="1" dirty="0">
                <a:solidFill>
                  <a:srgbClr val="1E2B2A"/>
                </a:solidFill>
              </a:rPr>
              <a:t>3,259</a:t>
            </a:r>
            <a:pPr algn="ct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 مليون ريال</a:t>
            </a:r>
            <a:endParaRPr lang="en-US" sz="1000" dirty="0"/>
          </a:p>
        </p:txBody>
      </p:sp>
      <p:sp>
        <p:nvSpPr>
          <p:cNvPr id="86" name="Text 77"/>
          <p:cNvSpPr txBox="1"/>
          <p:nvPr/>
        </p:nvSpPr>
        <p:spPr>
          <a:xfrm>
            <a:off x="886968" y="61996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en-US" sz="1300" b="1" dirty="0">
                <a:solidFill>
                  <a:srgbClr val="4E7F64"/>
                </a:solidFill>
              </a:rPr>
              <a:t>76%</a:t>
            </a:r>
            <a:endParaRPr lang="en-US" sz="1300" dirty="0"/>
          </a:p>
        </p:txBody>
      </p:sp>
      <p:sp>
        <p:nvSpPr>
          <p:cNvPr id="87" name="Shape 78"/>
          <p:cNvSpPr/>
          <p:nvPr/>
        </p:nvSpPr>
        <p:spPr>
          <a:xfrm>
            <a:off x="886968" y="6428232"/>
            <a:ext cx="3203448" cy="118872"/>
          </a:xfrm>
          <a:prstGeom prst="roundRect">
            <a:avLst>
              <a:gd name="adj" fmla="val 50000"/>
            </a:avLst>
          </a:prstGeom>
          <a:solidFill>
            <a:srgbClr val="E4E9E8"/>
          </a:solidFill>
          <a:ln/>
        </p:spPr>
      </p:sp>
      <p:sp>
        <p:nvSpPr>
          <p:cNvPr id="88" name="Shape 79"/>
          <p:cNvSpPr/>
          <p:nvPr/>
        </p:nvSpPr>
        <p:spPr>
          <a:xfrm>
            <a:off x="1655796" y="6428232"/>
            <a:ext cx="2434620" cy="118872"/>
          </a:xfrm>
          <a:prstGeom prst="roundRect">
            <a:avLst>
              <a:gd name="adj" fmla="val 50000"/>
            </a:avLst>
          </a:prstGeom>
          <a:solidFill>
            <a:srgbClr val="86B19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0" y="274320"/>
            <a:ext cx="6245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حالة المديونيات</a:t>
            </a:r>
            <a:endParaRPr lang="en-US" sz="3000" dirty="0"/>
          </a:p>
        </p:txBody>
      </p:sp>
      <p:sp>
        <p:nvSpPr>
          <p:cNvPr id="3" name="kpi-1"/>
          <p:cNvSpPr/>
          <p:nvPr/>
        </p:nvSpPr>
        <p:spPr>
          <a:xfrm>
            <a:off x="9623146" y="1051560"/>
            <a:ext cx="2108606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128248" y="1234440"/>
            <a:ext cx="420624" cy="420624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1816" y="1348008"/>
            <a:ext cx="193487" cy="19348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787738" y="1179576"/>
            <a:ext cx="128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رصيد المديونية بداية السنة الحالية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9787738" y="1673352"/>
            <a:ext cx="17794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B2A"/>
                </a:solidFill>
              </a:rPr>
              <a:t>121</a:t>
            </a:r>
            <a:pPr algn="r" indent="0" marL="0">
              <a:buNone/>
            </a:pPr>
            <a:r>
              <a:rPr lang="en-US" sz="1000" b="1" dirty="0">
                <a:solidFill>
                  <a:srgbClr val="6B7675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8" name="kpi-2"/>
          <p:cNvSpPr/>
          <p:nvPr/>
        </p:nvSpPr>
        <p:spPr>
          <a:xfrm>
            <a:off x="7331659" y="1051560"/>
            <a:ext cx="2108606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836762" y="1234440"/>
            <a:ext cx="420624" cy="420624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330" y="1348008"/>
            <a:ext cx="193487" cy="19348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6251" y="1179576"/>
            <a:ext cx="128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الملغي من المديونية في السنة الحالية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7496251" y="1673352"/>
            <a:ext cx="17794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B2A"/>
                </a:solidFill>
              </a:rPr>
              <a:t>119</a:t>
            </a:r>
            <a:pPr algn="r" indent="0" marL="0">
              <a:buNone/>
            </a:pPr>
            <a:r>
              <a:rPr lang="en-US" sz="1000" b="1" dirty="0">
                <a:solidFill>
                  <a:srgbClr val="6B7675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13" name="kpi-3"/>
          <p:cNvSpPr/>
          <p:nvPr/>
        </p:nvSpPr>
        <p:spPr>
          <a:xfrm>
            <a:off x="5040173" y="1051560"/>
            <a:ext cx="2108606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545275" y="1234440"/>
            <a:ext cx="420624" cy="420624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844" y="1348008"/>
            <a:ext cx="193487" cy="19348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04765" y="1179576"/>
            <a:ext cx="128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ما تم سداده من المديونية في السنة الحالية</a:t>
            </a:r>
            <a:endParaRPr lang="en-US" sz="1050" dirty="0"/>
          </a:p>
        </p:txBody>
      </p:sp>
      <p:sp>
        <p:nvSpPr>
          <p:cNvPr id="17" name="Text 12"/>
          <p:cNvSpPr txBox="1"/>
          <p:nvPr/>
        </p:nvSpPr>
        <p:spPr>
          <a:xfrm>
            <a:off x="5204765" y="1673352"/>
            <a:ext cx="17794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B2A"/>
                </a:solidFill>
              </a:rPr>
              <a:t>328</a:t>
            </a:r>
            <a:pPr algn="r" indent="0" marL="0">
              <a:buNone/>
            </a:pPr>
            <a:r>
              <a:rPr lang="en-US" sz="1000" b="1" dirty="0">
                <a:solidFill>
                  <a:srgbClr val="6B7675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18" name="kpi-4"/>
          <p:cNvSpPr/>
          <p:nvPr/>
        </p:nvSpPr>
        <p:spPr>
          <a:xfrm>
            <a:off x="2748686" y="1051560"/>
            <a:ext cx="2108606" cy="1097280"/>
          </a:xfrm>
          <a:prstGeom prst="roundRect">
            <a:avLst>
              <a:gd name="adj" fmla="val 11667"/>
            </a:avLst>
          </a:prstGeom>
          <a:solidFill>
            <a:srgbClr val="2D6A66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253789" y="1234440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357" y="1348008"/>
            <a:ext cx="193487" cy="19348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2913278" y="1179576"/>
            <a:ext cx="128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DCEBE8"/>
                </a:solidFill>
              </a:rPr>
              <a:t>نسبة السداد</a:t>
            </a:r>
            <a:endParaRPr lang="en-US" sz="1050" dirty="0"/>
          </a:p>
        </p:txBody>
      </p:sp>
      <p:sp>
        <p:nvSpPr>
          <p:cNvPr id="22" name="Text 16"/>
          <p:cNvSpPr txBox="1"/>
          <p:nvPr/>
        </p:nvSpPr>
        <p:spPr>
          <a:xfrm>
            <a:off x="2913278" y="1673352"/>
            <a:ext cx="17794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62%</a:t>
            </a:r>
            <a:endParaRPr lang="en-US" sz="2800" dirty="0"/>
          </a:p>
        </p:txBody>
      </p:sp>
      <p:sp>
        <p:nvSpPr>
          <p:cNvPr id="23" name="kpi-5"/>
          <p:cNvSpPr/>
          <p:nvPr/>
        </p:nvSpPr>
        <p:spPr>
          <a:xfrm>
            <a:off x="457200" y="1051560"/>
            <a:ext cx="2108606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962302" y="1234440"/>
            <a:ext cx="420624" cy="420624"/>
          </a:xfrm>
          <a:prstGeom prst="ellipse">
            <a:avLst/>
          </a:prstGeom>
          <a:solidFill>
            <a:srgbClr val="2D6A6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5871" y="1348008"/>
            <a:ext cx="193487" cy="19348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21792" y="1179576"/>
            <a:ext cx="128564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المتبقي من المديونية</a:t>
            </a:r>
            <a:endParaRPr lang="en-US" sz="1050" dirty="0"/>
          </a:p>
        </p:txBody>
      </p:sp>
      <p:sp>
        <p:nvSpPr>
          <p:cNvPr id="27" name="Text 20"/>
          <p:cNvSpPr txBox="1"/>
          <p:nvPr/>
        </p:nvSpPr>
        <p:spPr>
          <a:xfrm>
            <a:off x="621792" y="1673352"/>
            <a:ext cx="17794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B2A"/>
                </a:solidFill>
              </a:rPr>
              <a:t>125</a:t>
            </a:r>
            <a:pPr algn="r" indent="0" marL="0">
              <a:buNone/>
            </a:pPr>
            <a:r>
              <a:rPr lang="en-US" sz="1000" b="1" dirty="0">
                <a:solidFill>
                  <a:srgbClr val="6B7675"/>
                </a:solidFill>
              </a:rPr>
              <a:t>  مليون ريال</a:t>
            </a:r>
            <a:endParaRPr lang="en-US" sz="2800" dirty="0"/>
          </a:p>
        </p:txBody>
      </p:sp>
      <p:sp>
        <p:nvSpPr>
          <p:cNvPr id="28" name="period-2007 - 2016"/>
          <p:cNvSpPr/>
          <p:nvPr/>
        </p:nvSpPr>
        <p:spPr>
          <a:xfrm>
            <a:off x="6208776" y="2377440"/>
            <a:ext cx="5522976" cy="422452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902952" y="256032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D6A66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9902952" y="25603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2007 - 2016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951976" y="2706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6A66"/>
          </a:solidFill>
          <a:ln/>
        </p:spPr>
      </p:sp>
      <p:sp>
        <p:nvSpPr>
          <p:cNvPr id="32" name="Text 25"/>
          <p:cNvSpPr txBox="1"/>
          <p:nvPr/>
        </p:nvSpPr>
        <p:spPr>
          <a:xfrm>
            <a:off x="7854696" y="265176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رصيد المديونية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7534656" y="2706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6B19A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437376" y="265176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ما تم سداده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9906000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10015728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إجمالي رصيد المديونية</a:t>
            </a:r>
            <a:endParaRPr lang="en-US" sz="1050" dirty="0"/>
          </a:p>
        </p:txBody>
      </p:sp>
      <p:sp>
        <p:nvSpPr>
          <p:cNvPr id="37" name="Text 30"/>
          <p:cNvSpPr txBox="1"/>
          <p:nvPr/>
        </p:nvSpPr>
        <p:spPr>
          <a:xfrm>
            <a:off x="10015728" y="3456432"/>
            <a:ext cx="1377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B2A"/>
                </a:solidFill>
              </a:rPr>
              <a:t>116</a:t>
            </a:r>
            <a:pPr algn="r" indent="0" marL="0">
              <a:buNone/>
            </a:pPr>
            <a:r>
              <a:rPr lang="en-US" sz="9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8171688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8281416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E7F64"/>
                </a:solidFill>
              </a:rPr>
              <a:t>إجمالي ما تم سداده</a:t>
            </a:r>
            <a:endParaRPr lang="en-US" sz="1050" dirty="0"/>
          </a:p>
        </p:txBody>
      </p:sp>
      <p:sp>
        <p:nvSpPr>
          <p:cNvPr id="40" name="Text 33"/>
          <p:cNvSpPr txBox="1"/>
          <p:nvPr/>
        </p:nvSpPr>
        <p:spPr>
          <a:xfrm>
            <a:off x="8281416" y="3456432"/>
            <a:ext cx="1377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E7F64"/>
                </a:solidFill>
              </a:rPr>
              <a:t>299</a:t>
            </a:r>
            <a:pPr algn="r" indent="0" marL="0">
              <a:buNone/>
            </a:pPr>
            <a:r>
              <a:rPr lang="en-US" sz="9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41" name="Shape 34"/>
          <p:cNvSpPr/>
          <p:nvPr/>
        </p:nvSpPr>
        <p:spPr>
          <a:xfrm>
            <a:off x="6437376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42" name="Text 35"/>
          <p:cNvSpPr txBox="1"/>
          <p:nvPr/>
        </p:nvSpPr>
        <p:spPr>
          <a:xfrm>
            <a:off x="6547104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إجمالي المتبقي</a:t>
            </a:r>
            <a:endParaRPr lang="en-US" sz="1050" dirty="0"/>
          </a:p>
        </p:txBody>
      </p:sp>
      <p:sp>
        <p:nvSpPr>
          <p:cNvPr id="43" name="Text 36"/>
          <p:cNvSpPr txBox="1"/>
          <p:nvPr/>
        </p:nvSpPr>
        <p:spPr>
          <a:xfrm>
            <a:off x="6547104" y="3456432"/>
            <a:ext cx="1377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B2A"/>
                </a:solidFill>
              </a:rPr>
              <a:t>122</a:t>
            </a:r>
            <a:pPr algn="r" indent="0" marL="0">
              <a:buNone/>
            </a:pPr>
            <a:r>
              <a:rPr lang="en-US" sz="9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6345936" y="4041648"/>
          <a:ext cx="5248656" cy="2441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5" name="period-2017 - 2025"/>
          <p:cNvSpPr/>
          <p:nvPr/>
        </p:nvSpPr>
        <p:spPr>
          <a:xfrm>
            <a:off x="457200" y="2377440"/>
            <a:ext cx="5522976" cy="4224528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1E2B2A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4151376" y="2560320"/>
            <a:ext cx="1600200" cy="402336"/>
          </a:xfrm>
          <a:prstGeom prst="roundRect">
            <a:avLst>
              <a:gd name="adj" fmla="val 50000"/>
            </a:avLst>
          </a:prstGeom>
          <a:solidFill>
            <a:srgbClr val="2D6A66"/>
          </a:solidFill>
          <a:ln/>
        </p:spPr>
      </p:sp>
      <p:sp>
        <p:nvSpPr>
          <p:cNvPr id="47" name="Text 39"/>
          <p:cNvSpPr txBox="1"/>
          <p:nvPr/>
        </p:nvSpPr>
        <p:spPr>
          <a:xfrm>
            <a:off x="4151376" y="256032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2017 - 2025</a:t>
            </a:r>
            <a:endParaRPr lang="en-US" sz="1500" dirty="0"/>
          </a:p>
        </p:txBody>
      </p:sp>
      <p:sp>
        <p:nvSpPr>
          <p:cNvPr id="48" name="Shape 40"/>
          <p:cNvSpPr/>
          <p:nvPr/>
        </p:nvSpPr>
        <p:spPr>
          <a:xfrm>
            <a:off x="3200400" y="2706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2D6A66"/>
          </a:solidFill>
          <a:ln/>
        </p:spPr>
      </p:sp>
      <p:sp>
        <p:nvSpPr>
          <p:cNvPr id="49" name="Text 41"/>
          <p:cNvSpPr txBox="1"/>
          <p:nvPr/>
        </p:nvSpPr>
        <p:spPr>
          <a:xfrm>
            <a:off x="2103120" y="265176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رصيد المديونية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1783080" y="27066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6B19A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685800" y="265176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B7675"/>
                </a:solidFill>
              </a:rPr>
              <a:t>ما تم سداده</a:t>
            </a:r>
            <a:endParaRPr lang="en-US" sz="1000" dirty="0"/>
          </a:p>
        </p:txBody>
      </p:sp>
      <p:sp>
        <p:nvSpPr>
          <p:cNvPr id="52" name="Shape 44"/>
          <p:cNvSpPr/>
          <p:nvPr/>
        </p:nvSpPr>
        <p:spPr>
          <a:xfrm>
            <a:off x="4154424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53" name="Text 45"/>
          <p:cNvSpPr txBox="1"/>
          <p:nvPr/>
        </p:nvSpPr>
        <p:spPr>
          <a:xfrm>
            <a:off x="4264152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إجمالي رصيد المديونية</a:t>
            </a:r>
            <a:endParaRPr lang="en-US" sz="1050" dirty="0"/>
          </a:p>
        </p:txBody>
      </p:sp>
      <p:sp>
        <p:nvSpPr>
          <p:cNvPr id="54" name="Text 46"/>
          <p:cNvSpPr txBox="1"/>
          <p:nvPr/>
        </p:nvSpPr>
        <p:spPr>
          <a:xfrm>
            <a:off x="4264152" y="3456432"/>
            <a:ext cx="1377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B2A"/>
                </a:solidFill>
              </a:rPr>
              <a:t>126</a:t>
            </a:r>
            <a:pPr algn="r" indent="0" marL="0">
              <a:buNone/>
            </a:pPr>
            <a:r>
              <a:rPr lang="en-US" sz="9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55" name="Shape 47"/>
          <p:cNvSpPr/>
          <p:nvPr/>
        </p:nvSpPr>
        <p:spPr>
          <a:xfrm>
            <a:off x="2420112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56" name="Text 48"/>
          <p:cNvSpPr txBox="1"/>
          <p:nvPr/>
        </p:nvSpPr>
        <p:spPr>
          <a:xfrm>
            <a:off x="2529840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E7F64"/>
                </a:solidFill>
              </a:rPr>
              <a:t>إجمالي ما تم سداده</a:t>
            </a:r>
            <a:endParaRPr lang="en-US" sz="1050" dirty="0"/>
          </a:p>
        </p:txBody>
      </p:sp>
      <p:sp>
        <p:nvSpPr>
          <p:cNvPr id="57" name="Text 49"/>
          <p:cNvSpPr txBox="1"/>
          <p:nvPr/>
        </p:nvSpPr>
        <p:spPr>
          <a:xfrm>
            <a:off x="2529840" y="3456432"/>
            <a:ext cx="1377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E7F64"/>
                </a:solidFill>
              </a:rPr>
              <a:t>327</a:t>
            </a:r>
            <a:pPr algn="r" indent="0" marL="0">
              <a:buNone/>
            </a:pPr>
            <a:r>
              <a:rPr lang="en-US" sz="9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sp>
        <p:nvSpPr>
          <p:cNvPr id="58" name="Shape 50"/>
          <p:cNvSpPr/>
          <p:nvPr/>
        </p:nvSpPr>
        <p:spPr>
          <a:xfrm>
            <a:off x="685800" y="3127248"/>
            <a:ext cx="1597152" cy="786384"/>
          </a:xfrm>
          <a:prstGeom prst="roundRect">
            <a:avLst>
              <a:gd name="adj" fmla="val 11628"/>
            </a:avLst>
          </a:prstGeom>
          <a:solidFill>
            <a:srgbClr val="F2F5F4"/>
          </a:solidFill>
          <a:ln/>
        </p:spPr>
      </p:sp>
      <p:sp>
        <p:nvSpPr>
          <p:cNvPr id="59" name="Text 51"/>
          <p:cNvSpPr txBox="1"/>
          <p:nvPr/>
        </p:nvSpPr>
        <p:spPr>
          <a:xfrm>
            <a:off x="795528" y="3200400"/>
            <a:ext cx="1377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6B7675"/>
                </a:solidFill>
              </a:rPr>
              <a:t>إجمالي المتبقي</a:t>
            </a:r>
            <a:endParaRPr lang="en-US" sz="1050" dirty="0"/>
          </a:p>
        </p:txBody>
      </p:sp>
      <p:sp>
        <p:nvSpPr>
          <p:cNvPr id="60" name="Text 52"/>
          <p:cNvSpPr txBox="1"/>
          <p:nvPr/>
        </p:nvSpPr>
        <p:spPr>
          <a:xfrm>
            <a:off x="795528" y="3456432"/>
            <a:ext cx="1377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E2B2A"/>
                </a:solidFill>
              </a:rPr>
              <a:t>112</a:t>
            </a:r>
            <a:pPr algn="r" indent="0" marL="0">
              <a:buNone/>
            </a:pPr>
            <a:r>
              <a:rPr lang="en-US" sz="900" dirty="0">
                <a:solidFill>
                  <a:srgbClr val="6B7675"/>
                </a:solidFill>
              </a:rPr>
              <a:t>  مليون ريال</a:t>
            </a:r>
            <a:endParaRPr lang="en-US" sz="1200" dirty="0"/>
          </a:p>
        </p:txBody>
      </p:sp>
      <p:graphicFrame>
        <p:nvGraphicFramePr>
          <p:cNvPr id="61" name="Chart 1" descr=""/>
          <p:cNvGraphicFramePr/>
          <p:nvPr/>
        </p:nvGraphicFramePr>
        <p:xfrm>
          <a:off x="594360" y="4041648"/>
          <a:ext cx="5248656" cy="2441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Amana Revenue Targets">
  <a:themeElements>
    <a:clrScheme name="Amana Revenue Targets">
      <a:dk1>
        <a:srgbClr val="1E2B2A"/>
      </a:dk1>
      <a:lt1>
        <a:srgbClr val="FFFFFF"/>
      </a:lt1>
      <a:dk2>
        <a:srgbClr val="2D6A66"/>
      </a:dk2>
      <a:lt2>
        <a:srgbClr val="F2F5F4"/>
      </a:lt2>
      <a:accent1>
        <a:srgbClr val="2D6A66"/>
      </a:accent1>
      <a:accent2>
        <a:srgbClr val="86B19A"/>
      </a:accent2>
      <a:accent3>
        <a:srgbClr val="8A8F8E"/>
      </a:accent3>
      <a:accent4>
        <a:srgbClr val="3B7F7C"/>
      </a:accent4>
      <a:accent5>
        <a:srgbClr val="2E3F7F"/>
      </a:accent5>
      <a:accent6>
        <a:srgbClr val="5E9467"/>
      </a:accent6>
      <a:hlink>
        <a:srgbClr val="2D6A66"/>
      </a:hlink>
      <a:folHlink>
        <a:srgbClr val="5E6B6A"/>
      </a:folHlink>
    </a:clrScheme>
    <a:fontScheme name="Amana Revenue Targets">
      <a:majorFont>
        <a:latin typeface="Vazirmat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Vazirmat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مؤشرات الإستدامة المالية</dc:title>
  <dc:subject>PptxGenJS Presentation</dc:subject>
  <dc:creator>أمانة منطقة الرياض — إدارة تخطيط و مراقبة الإيرادات</dc:creator>
  <cp:lastModifiedBy>أمانة منطقة الرياض — إدارة تخطيط و مراقبة الإيرادات</cp:lastModifiedBy>
  <cp:revision>1</cp:revision>
  <dcterms:created xsi:type="dcterms:W3CDTF">2026-10-28T16:30:54Z</dcterms:created>
  <dcterms:modified xsi:type="dcterms:W3CDTF">2026-10-28T16:30:54Z</dcterms:modified>
</cp:coreProperties>
</file>