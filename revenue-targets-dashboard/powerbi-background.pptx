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ستهدفات الإيرادات" id="{3da600de-d1a5-63bc-d065-f873d7dbc388}">
          <p14:sldIdLst>
            <p14:sldId id="256"/>
          </p14:sldIdLst>
        </p14:section>
        <p14:section name="المديونيات" id="{4beb5940-75c5-7439-7e75-0f365ce46585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مؤشرات الإستدامة المالية — جميع القيم بالمليون ريال.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حالة المديونيات — جميع القيم بالمليون ريال. الرسم يقارن رصيد المديونية بما تم سداده لكل تبويب في كل فترة.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SH_T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est4/revenue-targets-dashboar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621792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84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675"/>
                </a:solidFill>
              </a:rPr>
              <a:t>إدارة تخطيط و مراقبة الإيرادات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0" y="274320"/>
            <a:ext cx="6245352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0" y="274320"/>
            <a:ext cx="6245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مؤشرات الإستدامة المالية</a:t>
            </a:r>
            <a:endParaRPr lang="en-US" sz="3000" dirty="0"/>
          </a:p>
        </p:txBody>
      </p:sp>
      <p:sp>
        <p:nvSpPr>
          <p:cNvPr id="3" name="card-billed"/>
          <p:cNvSpPr/>
          <p:nvPr/>
        </p:nvSpPr>
        <p:spPr>
          <a:xfrm>
            <a:off x="7525512" y="1051560"/>
            <a:ext cx="420624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119104" y="1234440"/>
            <a:ext cx="384048" cy="384048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797" y="1338133"/>
            <a:ext cx="176662" cy="1766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66176" y="1234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D6A66"/>
                </a:solidFill>
              </a:rPr>
              <a:t>الإيرادات المفوترة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222992" y="16550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675"/>
                </a:solidFill>
              </a:rPr>
              <a:t>قيمة المفوتر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725912" y="2130552"/>
            <a:ext cx="777240" cy="77724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E4E9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28632" y="2953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المستهدف (الفترة الحالية)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851392" y="2130552"/>
            <a:ext cx="777240" cy="777240"/>
          </a:xfrm>
          <a:prstGeom prst="ellipse">
            <a:avLst/>
          </a:prstGeom>
          <a:solidFill>
            <a:srgbClr val="FFFFFF"/>
          </a:solidFill>
          <a:ln w="114300">
            <a:solidFill>
              <a:srgbClr val="E4E9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54112" y="2953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المستهدف (الإجمالي)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54112" y="351129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يقيس المؤشر إجمالي الإيرادات المفوترة من قبل الأمانة خلال فترة زمنية محددة، لدعم متابعة الأداء المالي وتعزيز مصادر دخل الوزارة</a:t>
            </a:r>
            <a:endParaRPr lang="en-US" sz="1000" dirty="0"/>
          </a:p>
        </p:txBody>
      </p:sp>
      <p:sp>
        <p:nvSpPr>
          <p:cNvPr id="13" name="card-collection"/>
          <p:cNvSpPr/>
          <p:nvPr/>
        </p:nvSpPr>
        <p:spPr>
          <a:xfrm>
            <a:off x="457200" y="1051560"/>
            <a:ext cx="6839712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84264" y="1234440"/>
            <a:ext cx="384048" cy="384048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957" y="1338133"/>
            <a:ext cx="176662" cy="17666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16936" y="1234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D6A66"/>
                </a:solidFill>
              </a:rPr>
              <a:t>مؤشر معدل التحصيل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056632" y="1828800"/>
            <a:ext cx="1645920" cy="1645920"/>
          </a:xfrm>
          <a:prstGeom prst="blockArc">
            <a:avLst>
              <a:gd name="adj1" fmla="val 10800000"/>
              <a:gd name="adj2" fmla="val 0"/>
              <a:gd name="adj3" fmla="val 10000"/>
            </a:avLst>
          </a:prstGeom>
          <a:solidFill>
            <a:srgbClr val="E4E9E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690872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نسبة محصل السنة الحالية من اجمالي المفوتر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690872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2B2A"/>
                </a:solidFill>
              </a:rPr>
              <a:t>إجمالي المحصل (السنة الحالية)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051560" y="1828800"/>
            <a:ext cx="1645920" cy="1645920"/>
          </a:xfrm>
          <a:prstGeom prst="blockArc">
            <a:avLst>
              <a:gd name="adj1" fmla="val 10800000"/>
              <a:gd name="adj2" fmla="val 0"/>
              <a:gd name="adj3" fmla="val 10000"/>
            </a:avLst>
          </a:prstGeom>
          <a:solidFill>
            <a:srgbClr val="E4E9E8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8580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نسبة محصل السنوات السابقة من اجمالي المحصل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68580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2B2A"/>
                </a:solidFill>
              </a:rPr>
              <a:t>إجمالي المحصل (السنوات السابقة)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246120" y="1828800"/>
            <a:ext cx="1261872" cy="841248"/>
          </a:xfrm>
          <a:prstGeom prst="roundRect">
            <a:avLst>
              <a:gd name="adj" fmla="val 13043"/>
            </a:avLst>
          </a:prstGeom>
          <a:solidFill>
            <a:srgbClr val="F2F5F4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246120" y="234086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B7675"/>
                </a:solidFill>
              </a:rPr>
              <a:t>إجمالي المحصل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246120" y="2816352"/>
            <a:ext cx="1261872" cy="841248"/>
          </a:xfrm>
          <a:prstGeom prst="roundRect">
            <a:avLst>
              <a:gd name="adj" fmla="val 13043"/>
            </a:avLst>
          </a:prstGeom>
          <a:solidFill>
            <a:srgbClr val="2D6A66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3246120" y="332841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DCEBE8"/>
                </a:solidFill>
              </a:rPr>
              <a:t>نسبة التحصيل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685800" y="3639312"/>
            <a:ext cx="6382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يقيس المؤشر نسبة الإيرادات المفوترة التي تم تحصيلها خلال فترة زمنية محددة، بما يعكس كفاءة الوزارة في إدارة المستحقات ومنظومة التحصيل</a:t>
            </a:r>
            <a:endParaRPr lang="en-US" sz="1000" dirty="0"/>
          </a:p>
        </p:txBody>
      </p:sp>
      <p:sp>
        <p:nvSpPr>
          <p:cNvPr id="28" name="card-opex"/>
          <p:cNvSpPr/>
          <p:nvPr/>
        </p:nvSpPr>
        <p:spPr>
          <a:xfrm>
            <a:off x="457200" y="4206240"/>
            <a:ext cx="11274552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11119104" y="4370832"/>
            <a:ext cx="384048" cy="384048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2797" y="4474525"/>
            <a:ext cx="176662" cy="17666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437376" y="43708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D6A66"/>
                </a:solidFill>
              </a:rPr>
              <a:t>مؤشر تغطية النفقات التشغيلية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8098536" y="4864608"/>
            <a:ext cx="3203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2B2A"/>
                </a:solidFill>
              </a:rPr>
              <a:t>الإيرادات المفوترة (الإعتماد الأصلي)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8098536" y="5111496"/>
            <a:ext cx="320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تغطية النفقات التشغيلية باستخدام الإيرادات المفوترة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10204704" y="5367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675"/>
                </a:solidFill>
              </a:rPr>
              <a:t>قيمة المفوتر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10296144" y="5815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2D6A66"/>
                </a:solidFill>
              </a:rPr>
              <a:t>الفترة الحالية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8098536" y="6044184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10296144" y="6199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4E7F64"/>
                </a:solidFill>
              </a:rPr>
              <a:t>الإجمالي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098536" y="6428232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  <p:sp>
        <p:nvSpPr>
          <p:cNvPr id="39" name="Shape 34"/>
          <p:cNvSpPr/>
          <p:nvPr/>
        </p:nvSpPr>
        <p:spPr>
          <a:xfrm>
            <a:off x="7897368" y="4910328"/>
            <a:ext cx="0" cy="1527048"/>
          </a:xfrm>
          <a:prstGeom prst="line">
            <a:avLst/>
          </a:prstGeom>
          <a:noFill/>
          <a:ln w="9525">
            <a:solidFill>
              <a:srgbClr val="DCE3E1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4492752" y="4864608"/>
            <a:ext cx="3203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2B2A"/>
                </a:solidFill>
              </a:rPr>
              <a:t>الإيرادات المفوترة (الإعتماد بعد التعديل)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4492752" y="5111496"/>
            <a:ext cx="320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تغطية النفقات التشغيلية المعدلة باستخدام الإيرادات المفوترة (بعد التعزيز)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6598920" y="5367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675"/>
                </a:solidFill>
              </a:rPr>
              <a:t>قيمة المفوتر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6690360" y="5815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2D6A66"/>
                </a:solidFill>
              </a:rPr>
              <a:t>الفترة الحالية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4492752" y="6044184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6690360" y="6199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4E7F64"/>
                </a:solidFill>
              </a:rPr>
              <a:t>الإجمالي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4492752" y="6428232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  <p:sp>
        <p:nvSpPr>
          <p:cNvPr id="47" name="Shape 42"/>
          <p:cNvSpPr/>
          <p:nvPr/>
        </p:nvSpPr>
        <p:spPr>
          <a:xfrm>
            <a:off x="4291584" y="4910328"/>
            <a:ext cx="0" cy="1527048"/>
          </a:xfrm>
          <a:prstGeom prst="line">
            <a:avLst/>
          </a:prstGeom>
          <a:noFill/>
          <a:ln w="9525">
            <a:solidFill>
              <a:srgbClr val="DCE3E1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886968" y="4864608"/>
            <a:ext cx="3203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2B2A"/>
                </a:solidFill>
              </a:rPr>
              <a:t>الإيرادات المحصلة (الإعتماد بعد التعديل)</a:t>
            </a:r>
            <a:endParaRPr lang="en-US" sz="1200" dirty="0"/>
          </a:p>
        </p:txBody>
      </p:sp>
      <p:sp>
        <p:nvSpPr>
          <p:cNvPr id="49" name="Text 44"/>
          <p:cNvSpPr txBox="1"/>
          <p:nvPr/>
        </p:nvSpPr>
        <p:spPr>
          <a:xfrm>
            <a:off x="886968" y="5111496"/>
            <a:ext cx="320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تغطية النفقات التشغيلية المعدلة باستخدام الإيرادات المحصلة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2993136" y="5367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675"/>
                </a:solidFill>
              </a:rPr>
              <a:t>قيمة المحصل</a:t>
            </a:r>
            <a:endParaRPr lang="en-US" sz="1100" dirty="0"/>
          </a:p>
        </p:txBody>
      </p:sp>
      <p:sp>
        <p:nvSpPr>
          <p:cNvPr id="51" name="Text 46"/>
          <p:cNvSpPr txBox="1"/>
          <p:nvPr/>
        </p:nvSpPr>
        <p:spPr>
          <a:xfrm>
            <a:off x="3084576" y="5815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2D6A66"/>
                </a:solidFill>
              </a:rPr>
              <a:t>الفترة الحالية</a:t>
            </a:r>
            <a:endParaRPr lang="en-US" sz="1100" dirty="0"/>
          </a:p>
        </p:txBody>
      </p:sp>
      <p:sp>
        <p:nvSpPr>
          <p:cNvPr id="52" name="Shape 47"/>
          <p:cNvSpPr/>
          <p:nvPr/>
        </p:nvSpPr>
        <p:spPr>
          <a:xfrm>
            <a:off x="886968" y="6044184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3084576" y="6199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4E7F64"/>
                </a:solidFill>
              </a:rPr>
              <a:t>الإجمالي</a:t>
            </a:r>
            <a:endParaRPr lang="en-US" sz="1100" dirty="0"/>
          </a:p>
        </p:txBody>
      </p:sp>
      <p:sp>
        <p:nvSpPr>
          <p:cNvPr id="54" name="Shape 49"/>
          <p:cNvSpPr/>
          <p:nvPr/>
        </p:nvSpPr>
        <p:spPr>
          <a:xfrm>
            <a:off x="886968" y="6428232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0" y="274320"/>
            <a:ext cx="6245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حالة المديونيات</a:t>
            </a:r>
            <a:endParaRPr lang="en-US" sz="3000" dirty="0"/>
          </a:p>
        </p:txBody>
      </p:sp>
      <p:sp>
        <p:nvSpPr>
          <p:cNvPr id="3" name="kpi-1"/>
          <p:cNvSpPr/>
          <p:nvPr/>
        </p:nvSpPr>
        <p:spPr>
          <a:xfrm>
            <a:off x="9623146" y="1051560"/>
            <a:ext cx="2108606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128248" y="1234440"/>
            <a:ext cx="420624" cy="420624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1816" y="1348008"/>
            <a:ext cx="193487" cy="1934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7738" y="1179576"/>
            <a:ext cx="128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رصيد المديونية بداية السنة الحالية</a:t>
            </a:r>
            <a:endParaRPr lang="en-US" sz="1050" dirty="0"/>
          </a:p>
        </p:txBody>
      </p:sp>
      <p:sp>
        <p:nvSpPr>
          <p:cNvPr id="7" name="kpi-2"/>
          <p:cNvSpPr/>
          <p:nvPr/>
        </p:nvSpPr>
        <p:spPr>
          <a:xfrm>
            <a:off x="7331659" y="1051560"/>
            <a:ext cx="2108606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836762" y="1234440"/>
            <a:ext cx="420624" cy="420624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330" y="1348008"/>
            <a:ext cx="193487" cy="19348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496251" y="1179576"/>
            <a:ext cx="128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الملغي من المديونية في السنة الحالية</a:t>
            </a:r>
            <a:endParaRPr lang="en-US" sz="1050" dirty="0"/>
          </a:p>
        </p:txBody>
      </p:sp>
      <p:sp>
        <p:nvSpPr>
          <p:cNvPr id="11" name="kpi-3"/>
          <p:cNvSpPr/>
          <p:nvPr/>
        </p:nvSpPr>
        <p:spPr>
          <a:xfrm>
            <a:off x="5040173" y="1051560"/>
            <a:ext cx="2108606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45275" y="1234440"/>
            <a:ext cx="420624" cy="420624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844" y="1348008"/>
            <a:ext cx="193487" cy="1934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04765" y="1179576"/>
            <a:ext cx="128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ما تم سداده من المديونية في السنة الحالية</a:t>
            </a:r>
            <a:endParaRPr lang="en-US" sz="1050" dirty="0"/>
          </a:p>
        </p:txBody>
      </p:sp>
      <p:sp>
        <p:nvSpPr>
          <p:cNvPr id="15" name="kpi-4"/>
          <p:cNvSpPr/>
          <p:nvPr/>
        </p:nvSpPr>
        <p:spPr>
          <a:xfrm>
            <a:off x="2748686" y="1051560"/>
            <a:ext cx="2108606" cy="1097280"/>
          </a:xfrm>
          <a:prstGeom prst="roundRect">
            <a:avLst>
              <a:gd name="adj" fmla="val 11667"/>
            </a:avLst>
          </a:prstGeom>
          <a:solidFill>
            <a:srgbClr val="2D6A66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253789" y="12344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357" y="1348008"/>
            <a:ext cx="193487" cy="19348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913278" y="1179576"/>
            <a:ext cx="128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DCEBE8"/>
                </a:solidFill>
              </a:rPr>
              <a:t>نسبة السداد</a:t>
            </a:r>
            <a:endParaRPr lang="en-US" sz="1050" dirty="0"/>
          </a:p>
        </p:txBody>
      </p:sp>
      <p:sp>
        <p:nvSpPr>
          <p:cNvPr id="19" name="kpi-5"/>
          <p:cNvSpPr/>
          <p:nvPr/>
        </p:nvSpPr>
        <p:spPr>
          <a:xfrm>
            <a:off x="457200" y="1051560"/>
            <a:ext cx="2108606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962302" y="1234440"/>
            <a:ext cx="420624" cy="420624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5871" y="1348008"/>
            <a:ext cx="193487" cy="19348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21792" y="1179576"/>
            <a:ext cx="128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المتبقي من المديونية</a:t>
            </a:r>
            <a:endParaRPr lang="en-US" sz="1050" dirty="0"/>
          </a:p>
        </p:txBody>
      </p:sp>
      <p:sp>
        <p:nvSpPr>
          <p:cNvPr id="23" name="period-2007 - 2016"/>
          <p:cNvSpPr/>
          <p:nvPr/>
        </p:nvSpPr>
        <p:spPr>
          <a:xfrm>
            <a:off x="6208776" y="2377440"/>
            <a:ext cx="5522976" cy="422452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9902952" y="256032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2D6A66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9902952" y="25603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2007 - 2016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8951976" y="27066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6A66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7854696" y="265176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رصيد المديونية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7534656" y="27066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6B19A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6437376" y="265176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ما تم سداده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9906000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10015728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إجمالي رصيد المديونية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171688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281416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E7F64"/>
                </a:solidFill>
              </a:rPr>
              <a:t>إجمالي ما تم سداده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437376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6547104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إجمالي المتبقي</a:t>
            </a:r>
            <a:endParaRPr lang="en-US" sz="1050" dirty="0"/>
          </a:p>
        </p:txBody>
      </p:sp>
      <p:sp>
        <p:nvSpPr>
          <p:cNvPr id="36" name="period-2017 - 2025"/>
          <p:cNvSpPr/>
          <p:nvPr/>
        </p:nvSpPr>
        <p:spPr>
          <a:xfrm>
            <a:off x="457200" y="2377440"/>
            <a:ext cx="5522976" cy="422452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151376" y="256032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2D6A66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4151376" y="25603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2017 - 2025</a:t>
            </a:r>
            <a:endParaRPr lang="en-US" sz="1500" dirty="0"/>
          </a:p>
        </p:txBody>
      </p:sp>
      <p:sp>
        <p:nvSpPr>
          <p:cNvPr id="39" name="Shape 32"/>
          <p:cNvSpPr/>
          <p:nvPr/>
        </p:nvSpPr>
        <p:spPr>
          <a:xfrm>
            <a:off x="3200400" y="27066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6A66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2103120" y="265176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رصيد المديونية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1783080" y="27066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6B19A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685800" y="265176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ما تم سداده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4154424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4264152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إجمالي رصيد المديونية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2420112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2529840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E7F64"/>
                </a:solidFill>
              </a:rPr>
              <a:t>إجمالي ما تم سداده</a:t>
            </a:r>
            <a:endParaRPr lang="en-US" sz="1050" dirty="0"/>
          </a:p>
        </p:txBody>
      </p:sp>
      <p:sp>
        <p:nvSpPr>
          <p:cNvPr id="47" name="Shape 40"/>
          <p:cNvSpPr/>
          <p:nvPr/>
        </p:nvSpPr>
        <p:spPr>
          <a:xfrm>
            <a:off x="685800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795528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إجمالي المتبقي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ana Revenue Targets">
  <a:themeElements>
    <a:clrScheme name="Amana Revenue Targets">
      <a:dk1>
        <a:srgbClr val="1E2B2A"/>
      </a:dk1>
      <a:lt1>
        <a:srgbClr val="FFFFFF"/>
      </a:lt1>
      <a:dk2>
        <a:srgbClr val="2D6A66"/>
      </a:dk2>
      <a:lt2>
        <a:srgbClr val="F2F5F4"/>
      </a:lt2>
      <a:accent1>
        <a:srgbClr val="2D6A66"/>
      </a:accent1>
      <a:accent2>
        <a:srgbClr val="86B19A"/>
      </a:accent2>
      <a:accent3>
        <a:srgbClr val="8A8F8E"/>
      </a:accent3>
      <a:accent4>
        <a:srgbClr val="3B7F7C"/>
      </a:accent4>
      <a:accent5>
        <a:srgbClr val="2E3F7F"/>
      </a:accent5>
      <a:accent6>
        <a:srgbClr val="5E9467"/>
      </a:accent6>
      <a:hlink>
        <a:srgbClr val="2D6A66"/>
      </a:hlink>
      <a:folHlink>
        <a:srgbClr val="5E6B6A"/>
      </a:folHlink>
    </a:clrScheme>
    <a:fontScheme name="Amana Revenue Targets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مؤشرات الإستدامة المالية</dc:title>
  <dc:subject>PptxGenJS Presentation</dc:subject>
  <dc:creator>أمانة منطقة الرياض — إدارة تخطيط و مراقبة الإيرادات</dc:creator>
  <cp:lastModifiedBy>أمانة منطقة الرياض — إدارة تخطيط و مراقبة الإيرادات</cp:lastModifiedBy>
  <cp:revision>1</cp:revision>
  <dcterms:created xsi:type="dcterms:W3CDTF">2026-10-28T16:30:54Z</dcterms:created>
  <dcterms:modified xsi:type="dcterms:W3CDTF">2026-10-28T16:30:54Z</dcterms:modified>
</cp:coreProperties>
</file>