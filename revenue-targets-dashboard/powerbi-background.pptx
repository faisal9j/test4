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ستهدفات الإيرادات" id="{a0712f68-1d78-4d39-87ed-ff797ffbc21b}">
          <p14:sldIdLst>
            <p14:sldId id="256"/>
            <p14:sldId id="257"/>
          </p14:sldIdLst>
        </p14:section>
        <p14:section name="المديونيات" id="{c865e6e5-cf02-e67c-546b-a5ba88c734a8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مؤشرات الإستدامة المالية — جميع القيم بالمليون ريال.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تحليل مستهدفات الإيرادات — القيم بالمليون ريال، ونسب التغطية بالنسبة المئوية.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حالة المديونيات — جميع القيم بالمليون ريال. الرسم يقارن رصيد المديونية بما تم سداده لكل تبويب في كل فترة.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تحليل المديونيات — جميع القيم بالمليون ريال.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SH_T">
    <p:bg>
      <p:bgPr>
        <a:solidFill>
          <a:srgbClr val="F2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revenue-targets-dashboar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621792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384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إدارة تخطيط و مراقبة الإيرادات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مؤشرات الإستدامة المالية</a:t>
            </a:r>
            <a:endParaRPr lang="en-US" sz="3000" dirty="0"/>
          </a:p>
        </p:txBody>
      </p:sp>
      <p:sp>
        <p:nvSpPr>
          <p:cNvPr id="3" name="card-billed"/>
          <p:cNvSpPr/>
          <p:nvPr/>
        </p:nvSpPr>
        <p:spPr>
          <a:xfrm>
            <a:off x="7525512" y="1051560"/>
            <a:ext cx="4206240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34440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38133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66176" y="1234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الإيرادات المفوترة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222992" y="165506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675"/>
                </a:solidFill>
              </a:rPr>
              <a:t>قيمة المفوتر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725912" y="2130552"/>
            <a:ext cx="777240" cy="77724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4E9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2863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(الفترة الحالية)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851392" y="2130552"/>
            <a:ext cx="777240" cy="77724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4E9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5411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(الإجمالي)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54112" y="35112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يقيس المؤشر إجمالي الإيرادات المفوترة من قبل الأمانة خلال فترة زمنية محددة، لدعم متابعة الأداء المالي وتعزيز مصادر دخل الوزارة</a:t>
            </a:r>
            <a:endParaRPr lang="en-US" sz="1000" dirty="0"/>
          </a:p>
        </p:txBody>
      </p:sp>
      <p:sp>
        <p:nvSpPr>
          <p:cNvPr id="13" name="card-collection"/>
          <p:cNvSpPr/>
          <p:nvPr/>
        </p:nvSpPr>
        <p:spPr>
          <a:xfrm>
            <a:off x="457200" y="1051560"/>
            <a:ext cx="6839712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84264" y="1234440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957" y="1338133"/>
            <a:ext cx="176662" cy="17666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16936" y="1234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مؤشر معدل التحصيل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5056632" y="1828800"/>
            <a:ext cx="1645920" cy="1645920"/>
          </a:xfrm>
          <a:prstGeom prst="blockArc">
            <a:avLst>
              <a:gd name="adj1" fmla="val 10800000"/>
              <a:gd name="adj2" fmla="val 0"/>
              <a:gd name="adj3" fmla="val 10000"/>
            </a:avLst>
          </a:prstGeom>
          <a:solidFill>
            <a:srgbClr val="E4E9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690872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نسبة محصل السنة الحالية من اجمالي المفوتر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690872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E2B2A"/>
                </a:solidFill>
              </a:rPr>
              <a:t>إجمالي المحصل (السنة الحالية)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51560" y="1828800"/>
            <a:ext cx="1645920" cy="1645920"/>
          </a:xfrm>
          <a:prstGeom prst="blockArc">
            <a:avLst>
              <a:gd name="adj1" fmla="val 10800000"/>
              <a:gd name="adj2" fmla="val 0"/>
              <a:gd name="adj3" fmla="val 10000"/>
            </a:avLst>
          </a:prstGeom>
          <a:solidFill>
            <a:srgbClr val="E4E9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580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نسبة محصل السنوات السابقة من اجمالي المحصل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E2B2A"/>
                </a:solidFill>
              </a:rPr>
              <a:t>إجمالي المحصل (السنوات السابقة)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246120" y="1828800"/>
            <a:ext cx="1261872" cy="841248"/>
          </a:xfrm>
          <a:prstGeom prst="roundRect">
            <a:avLst>
              <a:gd name="adj" fmla="val 13043"/>
            </a:avLst>
          </a:prstGeom>
          <a:solidFill>
            <a:srgbClr val="F2F5F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246120" y="2340864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إجمالي المحصل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246120" y="2816352"/>
            <a:ext cx="1261872" cy="841248"/>
          </a:xfrm>
          <a:prstGeom prst="roundRect">
            <a:avLst>
              <a:gd name="adj" fmla="val 13043"/>
            </a:avLst>
          </a:prstGeom>
          <a:solidFill>
            <a:srgbClr val="2D6A66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3246120" y="3328416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DCEBE8"/>
                </a:solidFill>
              </a:rPr>
              <a:t>نسبة التحصيل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685800" y="3639312"/>
            <a:ext cx="6382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يقيس المؤشر نسبة الإيرادات المفوترة التي تم تحصيلها خلال فترة زمنية محددة، بما يعكس كفاءة الوزارة في إدارة المستحقات ومنظومة التحصيل</a:t>
            </a:r>
            <a:endParaRPr lang="en-US" sz="1000" dirty="0"/>
          </a:p>
        </p:txBody>
      </p:sp>
      <p:sp>
        <p:nvSpPr>
          <p:cNvPr id="28" name="card-opex"/>
          <p:cNvSpPr/>
          <p:nvPr/>
        </p:nvSpPr>
        <p:spPr>
          <a:xfrm>
            <a:off x="457200" y="4206240"/>
            <a:ext cx="11274552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1119104" y="437083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2797" y="4474525"/>
            <a:ext cx="176662" cy="17666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37376" y="43708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مؤشر تغطية النفقات التشغيلية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8098536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المفوترة (الإعتماد الأصلي)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098536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باستخدام الإيرادات المفوترة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10204704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المفوتر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10296144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8098536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10296144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8098536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39" name="Shape 34"/>
          <p:cNvSpPr/>
          <p:nvPr/>
        </p:nvSpPr>
        <p:spPr>
          <a:xfrm>
            <a:off x="7897368" y="4910328"/>
            <a:ext cx="0" cy="1527048"/>
          </a:xfrm>
          <a:prstGeom prst="line">
            <a:avLst/>
          </a:prstGeom>
          <a:noFill/>
          <a:ln w="9525">
            <a:solidFill>
              <a:srgbClr val="DCE3E1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4492752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المفوترة (الإعتماد بعد التعديل)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4492752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المعدلة باستخدام الإيرادات المفوترة (بعد التعزيز)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598920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المفوتر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6690360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92752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6690360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4492752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47" name="Shape 42"/>
          <p:cNvSpPr/>
          <p:nvPr/>
        </p:nvSpPr>
        <p:spPr>
          <a:xfrm>
            <a:off x="4291584" y="4910328"/>
            <a:ext cx="0" cy="1527048"/>
          </a:xfrm>
          <a:prstGeom prst="line">
            <a:avLst/>
          </a:prstGeom>
          <a:noFill/>
          <a:ln w="9525">
            <a:solidFill>
              <a:srgbClr val="DCE3E1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86968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المحصلة (الإعتماد بعد التعديل)</a:t>
            </a:r>
            <a:endParaRPr lang="en-US" sz="1200" dirty="0"/>
          </a:p>
        </p:txBody>
      </p:sp>
      <p:sp>
        <p:nvSpPr>
          <p:cNvPr id="49" name="Text 44"/>
          <p:cNvSpPr txBox="1"/>
          <p:nvPr/>
        </p:nvSpPr>
        <p:spPr>
          <a:xfrm>
            <a:off x="886968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المعدلة باستخدام الإيرادات المحصلة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2993136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المحصل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3084576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886968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084576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886968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تحليل مستهدفات الإيرادات</a:t>
            </a:r>
            <a:endParaRPr lang="en-US" sz="3000" dirty="0"/>
          </a:p>
        </p:txBody>
      </p:sp>
      <p:sp>
        <p:nvSpPr>
          <p:cNvPr id="3" name="chart-billed"/>
          <p:cNvSpPr/>
          <p:nvPr/>
        </p:nvSpPr>
        <p:spPr>
          <a:xfrm>
            <a:off x="6208776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19845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الإيرادات المفوترة مقابل المستهدف</a:t>
            </a:r>
            <a:endParaRPr lang="en-US" sz="1500" dirty="0"/>
          </a:p>
        </p:txBody>
      </p:sp>
      <p:sp>
        <p:nvSpPr>
          <p:cNvPr id="7" name="chart-collected"/>
          <p:cNvSpPr/>
          <p:nvPr/>
        </p:nvSpPr>
        <p:spPr>
          <a:xfrm>
            <a:off x="457200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67528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21" y="1319845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إجمالي المحصل</a:t>
            </a:r>
            <a:endParaRPr lang="en-US" sz="1500" dirty="0"/>
          </a:p>
        </p:txBody>
      </p:sp>
      <p:sp>
        <p:nvSpPr>
          <p:cNvPr id="11" name="chart-coverage"/>
          <p:cNvSpPr/>
          <p:nvPr/>
        </p:nvSpPr>
        <p:spPr>
          <a:xfrm>
            <a:off x="6208776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119104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2797" y="4154485"/>
            <a:ext cx="176662" cy="1766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0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نسبة تغطية النفقات التشغيلية</a:t>
            </a:r>
            <a:endParaRPr lang="en-US" sz="1500" dirty="0"/>
          </a:p>
        </p:txBody>
      </p:sp>
      <p:sp>
        <p:nvSpPr>
          <p:cNvPr id="15" name="chart-opex-targets"/>
          <p:cNvSpPr/>
          <p:nvPr/>
        </p:nvSpPr>
        <p:spPr>
          <a:xfrm>
            <a:off x="457200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5367528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221" y="4154485"/>
            <a:ext cx="176662" cy="1766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9224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القيمة مقابل مستهدف النفقات التشغيلية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حالة المديونيات</a:t>
            </a:r>
            <a:endParaRPr lang="en-US" sz="3000" dirty="0"/>
          </a:p>
        </p:txBody>
      </p:sp>
      <p:sp>
        <p:nvSpPr>
          <p:cNvPr id="3" name="kpi-1"/>
          <p:cNvSpPr/>
          <p:nvPr/>
        </p:nvSpPr>
        <p:spPr>
          <a:xfrm>
            <a:off x="9623146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28248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1816" y="1348008"/>
            <a:ext cx="193487" cy="1934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787738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رصيد المديونية بداية السنة الحالية</a:t>
            </a:r>
            <a:endParaRPr lang="en-US" sz="1050" dirty="0"/>
          </a:p>
        </p:txBody>
      </p:sp>
      <p:sp>
        <p:nvSpPr>
          <p:cNvPr id="7" name="kpi-2"/>
          <p:cNvSpPr/>
          <p:nvPr/>
        </p:nvSpPr>
        <p:spPr>
          <a:xfrm>
            <a:off x="7331659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836762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330" y="1348008"/>
            <a:ext cx="193487" cy="1934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96251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الملغي من المديونية في السنة الحالية</a:t>
            </a:r>
            <a:endParaRPr lang="en-US" sz="1050" dirty="0"/>
          </a:p>
        </p:txBody>
      </p:sp>
      <p:sp>
        <p:nvSpPr>
          <p:cNvPr id="11" name="kpi-3"/>
          <p:cNvSpPr/>
          <p:nvPr/>
        </p:nvSpPr>
        <p:spPr>
          <a:xfrm>
            <a:off x="5040173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45275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844" y="1348008"/>
            <a:ext cx="193487" cy="1934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04765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ما تم سداده من المديونية في السنة الحالية</a:t>
            </a:r>
            <a:endParaRPr lang="en-US" sz="1050" dirty="0"/>
          </a:p>
        </p:txBody>
      </p:sp>
      <p:sp>
        <p:nvSpPr>
          <p:cNvPr id="15" name="kpi-4"/>
          <p:cNvSpPr/>
          <p:nvPr/>
        </p:nvSpPr>
        <p:spPr>
          <a:xfrm>
            <a:off x="2748686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2D6A66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253789" y="123444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357" y="1348008"/>
            <a:ext cx="193487" cy="19348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913278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DCEBE8"/>
                </a:solidFill>
              </a:rPr>
              <a:t>نسبة السداد</a:t>
            </a:r>
            <a:endParaRPr lang="en-US" sz="1050" dirty="0"/>
          </a:p>
        </p:txBody>
      </p:sp>
      <p:sp>
        <p:nvSpPr>
          <p:cNvPr id="19" name="kpi-5"/>
          <p:cNvSpPr/>
          <p:nvPr/>
        </p:nvSpPr>
        <p:spPr>
          <a:xfrm>
            <a:off x="457200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1962302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5871" y="1348008"/>
            <a:ext cx="193487" cy="19348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21792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المتبقي من المديونية</a:t>
            </a:r>
            <a:endParaRPr lang="en-US" sz="1050" dirty="0"/>
          </a:p>
        </p:txBody>
      </p:sp>
      <p:sp>
        <p:nvSpPr>
          <p:cNvPr id="23" name="period-2007 - 2016"/>
          <p:cNvSpPr/>
          <p:nvPr/>
        </p:nvSpPr>
        <p:spPr>
          <a:xfrm>
            <a:off x="6208776" y="2377440"/>
            <a:ext cx="5522976" cy="422452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9902952" y="256032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D6A6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902952" y="256032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2007 - 2016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8951976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854696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رصيد المديونية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7534656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6B1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437376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ما تم سداده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9906000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10015728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رصيد المديونية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8171688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8281416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E7F64"/>
                </a:solidFill>
              </a:rPr>
              <a:t>إجمالي ما تم سداده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437376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6547104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المتبقي</a:t>
            </a:r>
            <a:endParaRPr lang="en-US" sz="1050" dirty="0"/>
          </a:p>
        </p:txBody>
      </p:sp>
      <p:sp>
        <p:nvSpPr>
          <p:cNvPr id="36" name="period-2017 - 2025"/>
          <p:cNvSpPr/>
          <p:nvPr/>
        </p:nvSpPr>
        <p:spPr>
          <a:xfrm>
            <a:off x="457200" y="2377440"/>
            <a:ext cx="5522976" cy="422452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151376" y="256032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D6A66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4151376" y="256032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2017 - 2025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3200400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2103120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رصيد المديونية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1783080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6B19A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685800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ما تم سداده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4154424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4264152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رصيد المديونية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2420112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46" name="Text 39"/>
          <p:cNvSpPr txBox="1"/>
          <p:nvPr/>
        </p:nvSpPr>
        <p:spPr>
          <a:xfrm>
            <a:off x="2529840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E7F64"/>
                </a:solidFill>
              </a:rPr>
              <a:t>إجمالي ما تم سداده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685800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795528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المتبقي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تحليل المديونيات</a:t>
            </a:r>
            <a:endParaRPr lang="en-US" sz="3000" dirty="0"/>
          </a:p>
        </p:txBody>
      </p:sp>
      <p:sp>
        <p:nvSpPr>
          <p:cNvPr id="3" name="chart-debt-flow"/>
          <p:cNvSpPr/>
          <p:nvPr/>
        </p:nvSpPr>
        <p:spPr>
          <a:xfrm>
            <a:off x="6208776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19845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حركة المديونية في السنة الحالية</a:t>
            </a:r>
            <a:endParaRPr lang="en-US" sz="1500" dirty="0"/>
          </a:p>
        </p:txBody>
      </p:sp>
      <p:sp>
        <p:nvSpPr>
          <p:cNvPr id="7" name="chart-pay-ratio"/>
          <p:cNvSpPr/>
          <p:nvPr/>
        </p:nvSpPr>
        <p:spPr>
          <a:xfrm>
            <a:off x="457200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67528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21" y="1319845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نسبة السداد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069848" y="1851660"/>
            <a:ext cx="1563624" cy="1563624"/>
          </a:xfrm>
          <a:prstGeom prst="ellipse">
            <a:avLst/>
          </a:prstGeom>
          <a:solidFill>
            <a:srgbClr val="FFFFFF"/>
          </a:solidFill>
          <a:ln w="228600">
            <a:solidFill>
              <a:srgbClr val="E4E9E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669280" y="201168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108960" y="19476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ما تم سداده من المديونية في السنة الحالية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669280" y="292608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A8F8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108960" y="28620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المتبقي من المديونية</a:t>
            </a:r>
            <a:endParaRPr lang="en-US" sz="1100" dirty="0"/>
          </a:p>
        </p:txBody>
      </p:sp>
      <p:sp>
        <p:nvSpPr>
          <p:cNvPr id="16" name="chart-periods"/>
          <p:cNvSpPr/>
          <p:nvPr/>
        </p:nvSpPr>
        <p:spPr>
          <a:xfrm>
            <a:off x="6208776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1119104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2797" y="415448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00800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مقارنة الفترتين</a:t>
            </a:r>
            <a:endParaRPr lang="en-US" sz="1500" dirty="0"/>
          </a:p>
        </p:txBody>
      </p:sp>
      <p:sp>
        <p:nvSpPr>
          <p:cNvPr id="20" name="chart-tabs"/>
          <p:cNvSpPr/>
          <p:nvPr/>
        </p:nvSpPr>
        <p:spPr>
          <a:xfrm>
            <a:off x="457200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367528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221" y="4154485"/>
            <a:ext cx="176662" cy="17666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9224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رصيد المديونية حسب التبويب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ana Revenue Targets">
  <a:themeElements>
    <a:clrScheme name="Amana Revenue Targets">
      <a:dk1>
        <a:srgbClr val="1E2B2A"/>
      </a:dk1>
      <a:lt1>
        <a:srgbClr val="FFFFFF"/>
      </a:lt1>
      <a:dk2>
        <a:srgbClr val="2D6A66"/>
      </a:dk2>
      <a:lt2>
        <a:srgbClr val="F2F5F4"/>
      </a:lt2>
      <a:accent1>
        <a:srgbClr val="2D6A66"/>
      </a:accent1>
      <a:accent2>
        <a:srgbClr val="86B19A"/>
      </a:accent2>
      <a:accent3>
        <a:srgbClr val="8A8F8E"/>
      </a:accent3>
      <a:accent4>
        <a:srgbClr val="3B7F7C"/>
      </a:accent4>
      <a:accent5>
        <a:srgbClr val="2E3F7F"/>
      </a:accent5>
      <a:accent6>
        <a:srgbClr val="5E9467"/>
      </a:accent6>
      <a:hlink>
        <a:srgbClr val="2D6A66"/>
      </a:hlink>
      <a:folHlink>
        <a:srgbClr val="5E6B6A"/>
      </a:folHlink>
    </a:clrScheme>
    <a:fontScheme name="Amana Revenue Targets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مؤشرات الإستدامة المالية</dc:title>
  <dc:subject>PptxGenJS Presentation</dc:subject>
  <dc:creator>أمانة منطقة الرياض — إدارة تخطيط و مراقبة الإيرادات</dc:creator>
  <cp:lastModifiedBy>أمانة منطقة الرياض — إدارة تخطيط و مراقبة الإيرادات</cp:lastModifiedBy>
  <cp:revision>1</cp:revision>
  <dcterms:created xsi:type="dcterms:W3CDTF">2026-10-28T16:33:40Z</dcterms:created>
  <dcterms:modified xsi:type="dcterms:W3CDTF">2026-10-28T16:33:40Z</dcterms:modified>
</cp:coreProperties>
</file>