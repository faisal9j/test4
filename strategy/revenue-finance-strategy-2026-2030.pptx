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88952" cy="8622792"/>
  <p:notesSz cx="8622792"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غلاف" id="{9afb82fa-d0ef-ad93-ef04-cf417f6e79b7}">
          <p14:sldIdLst>
            <p14:sldId id="256"/>
          </p14:sldIdLst>
        </p14:section>
        <p14:section name="المقدمة" id="{71c6eeaf-832a-0bce-1a0b-3d5f1b63bfb7}">
          <p14:sldIdLst>
            <p14:sldId id="257"/>
          </p14:sldIdLst>
        </p14:section>
        <p14:section name="السياق والمستهدف" id="{8040767a-10c8-fffd-1c80-e6e85d805b96}">
          <p14:sldIdLst>
            <p14:sldId id="258"/>
            <p14:sldId id="261"/>
          </p14:sldIdLst>
        </p14:section>
        <p14:section name="الإطار الاستراتيجي" id="{f9113ecc-5898-e1aa-647b-eac9be1f7612}">
          <p14:sldIdLst>
            <p14:sldId id="259"/>
            <p14:sldId id="260"/>
          </p14:sldIdLst>
        </p14:section>
        <p14:section name="الهيكل التنظيمي" id="{a301ef37-77d7-4bb0-655e-f9c6a8a3f530}">
          <p14:sldIdLst>
            <p14:sldId id="262"/>
          </p14:sldIdLst>
        </p14:section>
        <p14:section name="تخطيط ومراقبة الإيرادات" id="{d1b7451b-170d-969a-fca9-403b66338b9e}">
          <p14:sldIdLst>
            <p14:sldId id="263"/>
            <p14:sldId id="264"/>
            <p14:sldId id="265"/>
          </p14:sldIdLst>
        </p14:section>
        <p14:section name="الائتمان والتمويل" id="{b873b5c5-44c8-2da2-e309-25449eecfbe1}">
          <p14:sldIdLst>
            <p14:sldId id="266"/>
            <p14:sldId id="267"/>
            <p14:sldId id="268"/>
            <p14:sldId id="269"/>
          </p14:sldIdLst>
        </p14:section>
        <p14:section name="الاستدامة المالية" id="{b4f94e2c-b862-422f-073c-2a8f292dd0d4}">
          <p14:sldIdLst>
            <p14:sldId id="270"/>
            <p14:sldId id="271"/>
          </p14:sldIdLst>
        </p14:section>
        <p14:section name="خارطة الطريق والمؤشرات" id="{3a51d386-b785-2c10-f223-ebc40a9ccaea}">
          <p14:sldIdLst>
            <p14:sldId id="272"/>
            <p14:sldId id="273"/>
            <p14:sldId id="274"/>
          </p14:sldIdLst>
        </p14:section>
        <p14:section name="القرارات المطلوبة" id="{18bf85be-f4fa-57b7-6ab0-30b1e6ca3f14}">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الإيرادات</c:v>
                </c:pt>
              </c:strCache>
            </c:strRef>
          </c:tx>
          <c:spPr>
            <a:solidFill>
              <a:srgbClr val="006A46"/>
            </a:solidFill>
            <a:effectLst/>
          </c:spPr>
          <c:invertIfNegative val="0"/>
          <c:dLbls>
            <c:numFmt formatCode="#,##0" sourceLinked="0"/>
            <c:txPr>
              <a:bodyPr/>
              <a:lstStyle/>
              <a:p>
                <a:pPr>
                  <a:defRPr b="1" i="0" strike="noStrike" sz="1600" u="none">
                    <a:solidFill>
                      <a:srgbClr val="1F2A37"/>
                    </a:solidFill>
                    <a:latin typeface="+mn-lt"/>
                  </a:defRPr>
                </a:pPr>
              </a:p>
            </c:txPr>
            <c:showLegendKey val="0"/>
            <c:showVal val="1"/>
            <c:showCatName val="0"/>
            <c:showSerName val="0"/>
            <c:showPercent val="0"/>
            <c:showBubbleSize val="0"/>
            <c:showLeaderLines val="0"/>
          </c:dLbls>
          <c:cat>
            <c:multiLvlStrRef>
              <c:f>Sheet1!$A$2:$A$4</c:f>
              <c:multiLvlStrCache>
                <c:ptCount val="3"/>
                <c:lvl>
                  <c:pt idx="0">
                    <c:v>قبل سنتين</c:v>
                  </c:pt>
                  <c:pt idx="1">
                    <c:v>السنة السابقة</c:v>
                  </c:pt>
                  <c:pt idx="2">
                    <c:v>السنة الأخيرة</c:v>
                  </c:pt>
                </c:lvl>
              </c:multiLvlStrCache>
            </c:multiLvlStrRef>
          </c:cat>
          <c:val>
            <c:numRef>
              <c:f>Sheet1!$B$2:$B$4</c:f>
              <c:numCache>
                <c:formatCode>General</c:formatCode>
                <c:ptCount val="3"/>
                <c:pt idx="0">
                  <c:v>2800</c:v>
                </c:pt>
                <c:pt idx="1">
                  <c:v>3100</c:v>
                </c:pt>
                <c:pt idx="2">
                  <c:v>3650</c:v>
                </c:pt>
              </c:numCache>
            </c:numRef>
          </c:val>
        </c:ser>
        <c:dLbls>
          <c:numFmt formatCode="#,##0" sourceLinked="0"/>
          <c:txPr>
            <a:bodyPr/>
            <a:lstStyle/>
            <a:p>
              <a:pPr>
                <a:defRPr b="1" i="0" strike="noStrike" sz="1600" u="none">
                  <a:solidFill>
                    <a:srgbClr val="1F2A37"/>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94B5F"/>
                </a:solidFill>
                <a:latin typeface="+mn-lt"/>
              </a:defRPr>
            </a:pPr>
            <a:endParaRPr lang="en-US"/>
          </a:p>
        </c:txPr>
        <c:crossAx val="2094734552"/>
        <c:crosses val="autoZero"/>
        <c:auto val="1"/>
        <c:lblAlgn val="ctr"/>
        <c:noMultiLvlLbl val="1"/>
      </c:catAx>
      <c:valAx>
        <c:axId val="2094734552"/>
        <c:scaling>
          <c:orientation val="minMax"/>
          <c:max val="42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الإيرادات</c:v>
                </c:pt>
              </c:strCache>
            </c:strRef>
          </c:tx>
          <c:spPr>
            <a:solidFill>
              <a:srgbClr val="9AA5B1"/>
            </a:solidFill>
            <a:effectLst/>
          </c:spPr>
          <c:invertIfNegative val="0"/>
          <c:dLbls>
            <c:numFmt formatCode="#,##0" sourceLinked="0"/>
            <c:txPr>
              <a:bodyPr/>
              <a:lstStyle/>
              <a:p>
                <a:pPr>
                  <a:defRPr b="1" i="0" strike="noStrike" sz="1400" u="none">
                    <a:solidFill>
                      <a:srgbClr val="1F2A37"/>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006A46"/>
              </a:solidFill>
              <a:effectLst/>
            </c:spPr>
          </c:dPt>
          <c:dPt>
            <c:idx val="2"/>
            <c:invertIfNegative val="0"/>
            <c:bubble3D val="0"/>
            <c:spPr>
              <a:solidFill>
                <a:srgbClr val="006A46"/>
              </a:solidFill>
              <a:effectLst/>
            </c:spPr>
          </c:dPt>
          <c:dPt>
            <c:idx val="3"/>
            <c:invertIfNegative val="0"/>
            <c:bubble3D val="0"/>
            <c:spPr>
              <a:solidFill>
                <a:srgbClr val="006A46"/>
              </a:solidFill>
              <a:effectLst/>
            </c:spPr>
          </c:dPt>
          <c:dPt>
            <c:idx val="4"/>
            <c:invertIfNegative val="0"/>
            <c:bubble3D val="0"/>
            <c:spPr>
              <a:solidFill>
                <a:srgbClr val="006A46"/>
              </a:solidFill>
              <a:effectLst/>
            </c:spPr>
          </c:dPt>
          <c:dPt>
            <c:idx val="5"/>
            <c:invertIfNegative val="0"/>
            <c:bubble3D val="0"/>
            <c:spPr>
              <a:solidFill>
                <a:srgbClr val="0B6B73"/>
              </a:solidFill>
              <a:effectLst/>
            </c:spPr>
          </c:dPt>
          <c:cat>
            <c:multiLvlStrRef>
              <c:f>Sheet1!$A$2:$A$7</c:f>
              <c:multiLvlStrCache>
                <c:ptCount val="6"/>
                <c:lvl>
                  <c:pt idx="0">
                    <c:v>الأساس</c:v>
                  </c:pt>
                  <c:pt idx="1">
                    <c:v>2026</c:v>
                  </c:pt>
                  <c:pt idx="2">
                    <c:v>2027</c:v>
                  </c:pt>
                  <c:pt idx="3">
                    <c:v>2028</c:v>
                  </c:pt>
                  <c:pt idx="4">
                    <c:v>2029</c:v>
                  </c:pt>
                  <c:pt idx="5">
                    <c:v>2030</c:v>
                  </c:pt>
                </c:lvl>
              </c:multiLvlStrCache>
            </c:multiLvlStrRef>
          </c:cat>
          <c:val>
            <c:numRef>
              <c:f>Sheet1!$B$2:$B$7</c:f>
              <c:numCache>
                <c:formatCode>General</c:formatCode>
                <c:ptCount val="6"/>
                <c:pt idx="0">
                  <c:v>3650</c:v>
                </c:pt>
                <c:pt idx="1">
                  <c:v>3887</c:v>
                </c:pt>
                <c:pt idx="2">
                  <c:v>4140</c:v>
                </c:pt>
                <c:pt idx="3">
                  <c:v>4409</c:v>
                </c:pt>
                <c:pt idx="4">
                  <c:v>4695</c:v>
                </c:pt>
                <c:pt idx="5">
                  <c:v>5000</c:v>
                </c:pt>
              </c:numCache>
            </c:numRef>
          </c:val>
        </c:ser>
        <c:dLbls>
          <c:numFmt formatCode="#,##0" sourceLinked="0"/>
          <c:txPr>
            <a:bodyPr/>
            <a:lstStyle/>
            <a:p>
              <a:pPr>
                <a:defRPr b="1" i="0" strike="noStrike" sz="1400" u="none">
                  <a:solidFill>
                    <a:srgbClr val="1F2A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94B5F"/>
                </a:solidFill>
                <a:latin typeface="+mn-lt"/>
              </a:defRPr>
            </a:pPr>
            <a:endParaRPr lang="en-US"/>
          </a:p>
        </c:txPr>
        <c:crossAx val="2094734552"/>
        <c:crosses val="autoZero"/>
        <c:auto val="1"/>
        <c:lblAlgn val="ctr"/>
        <c:noMultiLvlLbl val="1"/>
      </c:catAx>
      <c:valAx>
        <c:axId val="2094734552"/>
        <c:scaling>
          <c:orientation val="minMax"/>
          <c:max val="56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استراتيجية إدارة الإيرادات والتمويل وإداراتها الثلاث للفترة 2026–2030.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LIGHT-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GREEN-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home/user/test4/assets/logo-amana.png">    </p:cNvPr>
          <p:cNvPicPr>
            <a:picLocks noChangeAspect="1"/>
          </p:cNvPicPr>
          <p:nvPr/>
        </p:nvPicPr>
        <p:blipFill>
          <a:blip r:embed="rId1"/>
          <a:stretch>
            <a:fillRect/>
          </a:stretch>
        </p:blipFill>
        <p:spPr>
          <a:xfrm>
            <a:off x="10972800" y="201168"/>
            <a:ext cx="749808" cy="813816"/>
          </a:xfrm>
          <a:prstGeom prst="rect">
            <a:avLst/>
          </a:prstGeom>
        </p:spPr>
      </p:pic>
      <p:sp>
        <p:nvSpPr>
          <p:cNvPr id="3" name="Text 0"/>
          <p:cNvSpPr/>
          <p:nvPr/>
        </p:nvSpPr>
        <p:spPr>
          <a:xfrm>
            <a:off x="3840480" y="8092440"/>
            <a:ext cx="7891272" cy="274320"/>
          </a:xfrm>
          <a:prstGeom prst="rect">
            <a:avLst/>
          </a:prstGeom>
          <a:noFill/>
          <a:ln/>
        </p:spPr>
        <p:txBody>
          <a:bodyPr wrap="square" lIns="0" tIns="0" rIns="0" bIns="0" rtlCol="0" anchor="ctr"/>
          <a:lstStyle/>
          <a:p>
            <a:pPr algn="r" indent="0" marL="0">
              <a:buNone/>
            </a:pPr>
            <a:r>
              <a:rPr lang="en-US" sz="1000" dirty="0">
                <a:solidFill>
                  <a:srgbClr val="8A95A3"/>
                </a:solidFill>
              </a:rPr>
              <a:t>استراتيجية إدارة الإيرادات والتمويل 2026–2030 | أمانة منطقة الرياض — مسودة للمراجعة</a:t>
            </a:r>
            <a:endParaRPr lang="en-US" sz="10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972800" y="201168"/>
            <a:ext cx="749808" cy="813816"/>
          </a:xfrm>
          <a:prstGeom prst="rect">
            <a:avLst>
              <a:gd name="adj" fmla="val 17073"/>
            </a:avLst>
          </a:prstGeom>
          <a:solidFill>
            <a:srgbClr val="FFFFFF"/>
          </a:solidFill>
          <a:ln/>
        </p:spPr>
      </p:sp>
      <p:pic>
        <p:nvPicPr>
          <p:cNvPr id="3" name="Image 0" descr="/home/user/test4/assets/logo-amana.png">    </p:cNvPr>
          <p:cNvPicPr>
            <a:picLocks noChangeAspect="1"/>
          </p:cNvPicPr>
          <p:nvPr/>
        </p:nvPicPr>
        <p:blipFill>
          <a:blip r:embed="rId1"/>
          <a:stretch>
            <a:fillRect/>
          </a:stretch>
        </p:blipFill>
        <p:spPr>
          <a:xfrm>
            <a:off x="10972800" y="201168"/>
            <a:ext cx="749808" cy="813816"/>
          </a:xfrm>
          <a:prstGeom prst="rect">
            <a:avLst/>
          </a:prstGeom>
        </p:spPr>
      </p:pic>
      <p:sp>
        <p:nvSpPr>
          <p:cNvPr id="4" name="Text 1"/>
          <p:cNvSpPr/>
          <p:nvPr/>
        </p:nvSpPr>
        <p:spPr>
          <a:xfrm>
            <a:off x="3840480" y="8092440"/>
            <a:ext cx="7891272" cy="274320"/>
          </a:xfrm>
          <a:prstGeom prst="rect">
            <a:avLst/>
          </a:prstGeom>
          <a:noFill/>
          <a:ln/>
        </p:spPr>
        <p:txBody>
          <a:bodyPr wrap="square" lIns="0" tIns="0" rIns="0" bIns="0" rtlCol="0" anchor="ctr"/>
          <a:lstStyle/>
          <a:p>
            <a:pPr algn="r" indent="0" marL="0">
              <a:buNone/>
            </a:pPr>
            <a:r>
              <a:rPr lang="en-US" sz="1000" dirty="0">
                <a:solidFill>
                  <a:srgbClr val="CFE3DA"/>
                </a:solidFill>
              </a:rPr>
              <a:t>استراتيجية إدارة الإيرادات والتمويل 2026–2030 | أمانة منطقة الرياض — مسودة للمراجعة</a:t>
            </a:r>
            <a:endParaRPr lang="en-US" sz="10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E3DA"/>
                </a:solidFill>
              </a:defRPr>
            </a:lvl1pPr>
          </a:lstStyle>
          <a:p>
            <a:pPr algn="l"/>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F2A3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user/test4/assets/cover.png">    </p:cNvPr>
          <p:cNvPicPr>
            <a:picLocks noChangeAspect="1"/>
          </p:cNvPicPr>
          <p:nvPr/>
        </p:nvPicPr>
        <p:blipFill>
          <a:blip r:embed="rId1"/>
          <a:srcRect l="0" r="0" t="0" b="0"/>
          <a:stretch/>
        </p:blipFill>
        <p:spPr>
          <a:xfrm>
            <a:off x="0" y="0"/>
            <a:ext cx="12188952" cy="8622792"/>
          </a:xfrm>
          <a:prstGeom prst="rect">
            <a:avLst/>
          </a:prstGeom>
        </p:spPr>
      </p:pic>
      <p:sp>
        <p:nvSpPr>
          <p:cNvPr id="3" name="Text 0"/>
          <p:cNvSpPr txBox="1"/>
          <p:nvPr/>
        </p:nvSpPr>
        <p:spPr>
          <a:xfrm>
            <a:off x="3931920" y="5349240"/>
            <a:ext cx="7589520" cy="868680"/>
          </a:xfrm>
          <a:prstGeom prst="rect">
            <a:avLst/>
          </a:prstGeom>
          <a:noFill/>
          <a:ln/>
        </p:spPr>
        <p:txBody>
          <a:bodyPr wrap="square" lIns="0" tIns="0" rIns="0" bIns="0" rtlCol="0" anchor="ctr"/>
          <a:lstStyle/>
          <a:p>
            <a:pPr rtl="1" algn="r" indent="0" marL="0">
              <a:buNone/>
            </a:pPr>
            <a:r>
              <a:rPr lang="en-US" sz="3800" b="1" dirty="0">
                <a:solidFill>
                  <a:srgbClr val="FFFFFF"/>
                </a:solidFill>
                <a:latin typeface="Arial" pitchFamily="34" charset="0"/>
                <a:ea typeface="Arial" pitchFamily="34" charset="-122"/>
                <a:cs typeface="Arial" pitchFamily="34" charset="-120"/>
              </a:rPr>
              <a:t>استراتيجية إدارة الإيرادات والتمويل</a:t>
            </a:r>
            <a:endParaRPr lang="en-US" sz="3800" dirty="0"/>
          </a:p>
        </p:txBody>
      </p:sp>
      <p:sp>
        <p:nvSpPr>
          <p:cNvPr id="4" name="Text 1"/>
          <p:cNvSpPr txBox="1"/>
          <p:nvPr/>
        </p:nvSpPr>
        <p:spPr>
          <a:xfrm>
            <a:off x="3931920" y="6217920"/>
            <a:ext cx="7589520" cy="640080"/>
          </a:xfrm>
          <a:prstGeom prst="rect">
            <a:avLst/>
          </a:prstGeom>
          <a:noFill/>
          <a:ln/>
        </p:spPr>
        <p:txBody>
          <a:bodyPr wrap="square" lIns="0" tIns="0" rIns="0" bIns="0" rtlCol="0" anchor="ctr"/>
          <a:lstStyle/>
          <a:p>
            <a:pPr rtl="1" algn="r" indent="0" marL="0">
              <a:buNone/>
            </a:pPr>
            <a:r>
              <a:rPr lang="en-US" sz="3000" b="1" dirty="0">
                <a:solidFill>
                  <a:srgbClr val="E4A42C"/>
                </a:solidFill>
                <a:latin typeface="Arial" pitchFamily="34" charset="0"/>
                <a:ea typeface="Arial" pitchFamily="34" charset="-122"/>
                <a:cs typeface="Arial" pitchFamily="34" charset="-120"/>
              </a:rPr>
              <a:t>2026 – 2030</a:t>
            </a:r>
            <a:endParaRPr lang="en-US" sz="3000" dirty="0"/>
          </a:p>
        </p:txBody>
      </p:sp>
      <p:sp>
        <p:nvSpPr>
          <p:cNvPr id="5" name="Text 2"/>
          <p:cNvSpPr txBox="1"/>
          <p:nvPr/>
        </p:nvSpPr>
        <p:spPr>
          <a:xfrm>
            <a:off x="3931920" y="6949440"/>
            <a:ext cx="7589520" cy="411480"/>
          </a:xfrm>
          <a:prstGeom prst="rect">
            <a:avLst/>
          </a:prstGeom>
          <a:noFill/>
          <a:ln/>
        </p:spPr>
        <p:txBody>
          <a:bodyPr wrap="square" lIns="0" tIns="0" rIns="0" bIns="0" rtlCol="0" anchor="ctr"/>
          <a:lstStyle/>
          <a:p>
            <a:pPr rtl="1" algn="r" indent="0" marL="0">
              <a:buNone/>
            </a:pPr>
            <a:r>
              <a:rPr lang="en-US" sz="1700" dirty="0">
                <a:solidFill>
                  <a:srgbClr val="E3F0EA"/>
                </a:solidFill>
                <a:latin typeface="Arial" pitchFamily="34" charset="0"/>
                <a:ea typeface="Arial" pitchFamily="34" charset="-122"/>
                <a:cs typeface="Arial" pitchFamily="34" charset="-120"/>
              </a:rPr>
              <a:t>وكالة الخدمات المؤسسية | أمانة منطقة الرياض</a:t>
            </a:r>
            <a:endParaRPr lang="en-US" sz="1700" dirty="0"/>
          </a:p>
        </p:txBody>
      </p:sp>
      <p:sp>
        <p:nvSpPr>
          <p:cNvPr id="6" name="Text 3"/>
          <p:cNvSpPr txBox="1"/>
          <p:nvPr/>
        </p:nvSpPr>
        <p:spPr>
          <a:xfrm>
            <a:off x="3931920" y="7452360"/>
            <a:ext cx="7589520" cy="365760"/>
          </a:xfrm>
          <a:prstGeom prst="rect">
            <a:avLst/>
          </a:prstGeom>
          <a:noFill/>
          <a:ln/>
        </p:spPr>
        <p:txBody>
          <a:bodyPr wrap="square" lIns="0" tIns="0" rIns="0" bIns="0" rtlCol="0" anchor="ctr"/>
          <a:lstStyle/>
          <a:p>
            <a:pPr rtl="1" algn="r" indent="0" marL="0">
              <a:buNone/>
            </a:pPr>
            <a:r>
              <a:rPr lang="en-US" sz="1300" dirty="0">
                <a:solidFill>
                  <a:srgbClr val="CFE3DA"/>
                </a:solidFill>
                <a:latin typeface="Arial" pitchFamily="34" charset="0"/>
                <a:ea typeface="Arial" pitchFamily="34" charset="-122"/>
                <a:cs typeface="Arial" pitchFamily="34" charset="-120"/>
              </a:rPr>
              <a:t>مسودة للمراجعة والاعتماد</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محتويات العرض</a:t>
            </a:r>
            <a:endParaRPr lang="en-US" sz="3200" dirty="0"/>
          </a:p>
        </p:txBody>
      </p:sp>
      <p:sp>
        <p:nvSpPr>
          <p:cNvPr id="3" name="Shape 1"/>
          <p:cNvSpPr/>
          <p:nvPr/>
        </p:nvSpPr>
        <p:spPr>
          <a:xfrm>
            <a:off x="9153144" y="182880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4" name="Text 2"/>
          <p:cNvSpPr txBox="1"/>
          <p:nvPr/>
        </p:nvSpPr>
        <p:spPr>
          <a:xfrm>
            <a:off x="9427464" y="2103120"/>
            <a:ext cx="2029968" cy="822960"/>
          </a:xfrm>
          <a:prstGeom prst="rect">
            <a:avLst/>
          </a:prstGeom>
          <a:noFill/>
          <a:ln/>
        </p:spPr>
        <p:txBody>
          <a:bodyPr wrap="square" lIns="0" tIns="0" rIns="0" bIns="0" rtlCol="0" anchor="ctr"/>
          <a:lstStyle/>
          <a:p>
            <a:pPr rtl="1" algn="r" indent="0" marL="0">
              <a:buNone/>
            </a:pPr>
            <a:r>
              <a:rPr lang="en-US" sz="4000" b="1" dirty="0">
                <a:solidFill>
                  <a:srgbClr val="006A46"/>
                </a:solidFill>
                <a:latin typeface="Arial" pitchFamily="34" charset="0"/>
                <a:ea typeface="Arial" pitchFamily="34" charset="-122"/>
                <a:cs typeface="Arial" pitchFamily="34" charset="-120"/>
              </a:rPr>
              <a:t>01</a:t>
            </a:r>
            <a:endParaRPr lang="en-US" sz="4000" dirty="0"/>
          </a:p>
        </p:txBody>
      </p:sp>
      <p:sp>
        <p:nvSpPr>
          <p:cNvPr id="5" name="Text 3"/>
          <p:cNvSpPr txBox="1"/>
          <p:nvPr/>
        </p:nvSpPr>
        <p:spPr>
          <a:xfrm>
            <a:off x="9427464" y="306324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السياق والمستهدف</a:t>
            </a:r>
            <a:endParaRPr lang="en-US" sz="1900" dirty="0"/>
          </a:p>
        </p:txBody>
      </p:sp>
      <p:sp>
        <p:nvSpPr>
          <p:cNvPr id="6" name="Shape 4"/>
          <p:cNvSpPr/>
          <p:nvPr/>
        </p:nvSpPr>
        <p:spPr>
          <a:xfrm>
            <a:off x="6254496" y="182880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7" name="Text 5"/>
          <p:cNvSpPr txBox="1"/>
          <p:nvPr/>
        </p:nvSpPr>
        <p:spPr>
          <a:xfrm>
            <a:off x="6528816" y="2103120"/>
            <a:ext cx="2029968" cy="822960"/>
          </a:xfrm>
          <a:prstGeom prst="rect">
            <a:avLst/>
          </a:prstGeom>
          <a:noFill/>
          <a:ln/>
        </p:spPr>
        <p:txBody>
          <a:bodyPr wrap="square" lIns="0" tIns="0" rIns="0" bIns="0" rtlCol="0" anchor="ctr"/>
          <a:lstStyle/>
          <a:p>
            <a:pPr rtl="1" algn="r" indent="0" marL="0">
              <a:buNone/>
            </a:pPr>
            <a:r>
              <a:rPr lang="en-US" sz="4000" b="1" dirty="0">
                <a:solidFill>
                  <a:srgbClr val="0B6B73"/>
                </a:solidFill>
                <a:latin typeface="Arial" pitchFamily="34" charset="0"/>
                <a:ea typeface="Arial" pitchFamily="34" charset="-122"/>
                <a:cs typeface="Arial" pitchFamily="34" charset="-120"/>
              </a:rPr>
              <a:t>02</a:t>
            </a:r>
            <a:endParaRPr lang="en-US" sz="4000" dirty="0"/>
          </a:p>
        </p:txBody>
      </p:sp>
      <p:sp>
        <p:nvSpPr>
          <p:cNvPr id="8" name="Text 6"/>
          <p:cNvSpPr txBox="1"/>
          <p:nvPr/>
        </p:nvSpPr>
        <p:spPr>
          <a:xfrm>
            <a:off x="6528816" y="306324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الرؤية والأهداف</a:t>
            </a:r>
            <a:endParaRPr lang="en-US" sz="1900" dirty="0"/>
          </a:p>
        </p:txBody>
      </p:sp>
      <p:sp>
        <p:nvSpPr>
          <p:cNvPr id="9" name="Shape 7"/>
          <p:cNvSpPr/>
          <p:nvPr/>
        </p:nvSpPr>
        <p:spPr>
          <a:xfrm>
            <a:off x="3355848" y="182880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10" name="Text 8"/>
          <p:cNvSpPr txBox="1"/>
          <p:nvPr/>
        </p:nvSpPr>
        <p:spPr>
          <a:xfrm>
            <a:off x="3630168" y="2103120"/>
            <a:ext cx="2029968" cy="822960"/>
          </a:xfrm>
          <a:prstGeom prst="rect">
            <a:avLst/>
          </a:prstGeom>
          <a:noFill/>
          <a:ln/>
        </p:spPr>
        <p:txBody>
          <a:bodyPr wrap="square" lIns="0" tIns="0" rIns="0" bIns="0" rtlCol="0" anchor="ctr"/>
          <a:lstStyle/>
          <a:p>
            <a:pPr rtl="1" algn="r" indent="0" marL="0">
              <a:buNone/>
            </a:pPr>
            <a:r>
              <a:rPr lang="en-US" sz="4000" b="1" dirty="0">
                <a:solidFill>
                  <a:srgbClr val="006A46"/>
                </a:solidFill>
                <a:latin typeface="Arial" pitchFamily="34" charset="0"/>
                <a:ea typeface="Arial" pitchFamily="34" charset="-122"/>
                <a:cs typeface="Arial" pitchFamily="34" charset="-120"/>
              </a:rPr>
              <a:t>03</a:t>
            </a:r>
            <a:endParaRPr lang="en-US" sz="4000" dirty="0"/>
          </a:p>
        </p:txBody>
      </p:sp>
      <p:sp>
        <p:nvSpPr>
          <p:cNvPr id="11" name="Text 9"/>
          <p:cNvSpPr txBox="1"/>
          <p:nvPr/>
        </p:nvSpPr>
        <p:spPr>
          <a:xfrm>
            <a:off x="3630168" y="306324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الهيكل التنظيمي</a:t>
            </a:r>
            <a:endParaRPr lang="en-US" sz="1900" dirty="0"/>
          </a:p>
        </p:txBody>
      </p:sp>
      <p:sp>
        <p:nvSpPr>
          <p:cNvPr id="12" name="Shape 10"/>
          <p:cNvSpPr/>
          <p:nvPr/>
        </p:nvSpPr>
        <p:spPr>
          <a:xfrm>
            <a:off x="457200" y="182880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31520" y="2103120"/>
            <a:ext cx="2029968" cy="822960"/>
          </a:xfrm>
          <a:prstGeom prst="rect">
            <a:avLst/>
          </a:prstGeom>
          <a:noFill/>
          <a:ln/>
        </p:spPr>
        <p:txBody>
          <a:bodyPr wrap="square" lIns="0" tIns="0" rIns="0" bIns="0" rtlCol="0" anchor="ctr"/>
          <a:lstStyle/>
          <a:p>
            <a:pPr rtl="1" algn="r" indent="0" marL="0">
              <a:buNone/>
            </a:pPr>
            <a:r>
              <a:rPr lang="en-US" sz="4000" b="1" dirty="0">
                <a:solidFill>
                  <a:srgbClr val="0B6B73"/>
                </a:solidFill>
                <a:latin typeface="Arial" pitchFamily="34" charset="0"/>
                <a:ea typeface="Arial" pitchFamily="34" charset="-122"/>
                <a:cs typeface="Arial" pitchFamily="34" charset="-120"/>
              </a:rPr>
              <a:t>04</a:t>
            </a:r>
            <a:endParaRPr lang="en-US" sz="4000" dirty="0"/>
          </a:p>
        </p:txBody>
      </p:sp>
      <p:sp>
        <p:nvSpPr>
          <p:cNvPr id="14" name="Text 12"/>
          <p:cNvSpPr txBox="1"/>
          <p:nvPr/>
        </p:nvSpPr>
        <p:spPr>
          <a:xfrm>
            <a:off x="731520" y="306324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تخطيط ومراقبة الإيرادات</a:t>
            </a:r>
            <a:endParaRPr lang="en-US" sz="1900" dirty="0"/>
          </a:p>
        </p:txBody>
      </p:sp>
      <p:sp>
        <p:nvSpPr>
          <p:cNvPr id="15" name="Shape 13"/>
          <p:cNvSpPr/>
          <p:nvPr/>
        </p:nvSpPr>
        <p:spPr>
          <a:xfrm>
            <a:off x="9153144" y="466344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16" name="Text 14"/>
          <p:cNvSpPr txBox="1"/>
          <p:nvPr/>
        </p:nvSpPr>
        <p:spPr>
          <a:xfrm>
            <a:off x="9427464" y="4937760"/>
            <a:ext cx="2029968" cy="822960"/>
          </a:xfrm>
          <a:prstGeom prst="rect">
            <a:avLst/>
          </a:prstGeom>
          <a:noFill/>
          <a:ln/>
        </p:spPr>
        <p:txBody>
          <a:bodyPr wrap="square" lIns="0" tIns="0" rIns="0" bIns="0" rtlCol="0" anchor="ctr"/>
          <a:lstStyle/>
          <a:p>
            <a:pPr rtl="1" algn="r" indent="0" marL="0">
              <a:buNone/>
            </a:pPr>
            <a:r>
              <a:rPr lang="en-US" sz="4000" b="1" dirty="0">
                <a:solidFill>
                  <a:srgbClr val="006A46"/>
                </a:solidFill>
                <a:latin typeface="Arial" pitchFamily="34" charset="0"/>
                <a:ea typeface="Arial" pitchFamily="34" charset="-122"/>
                <a:cs typeface="Arial" pitchFamily="34" charset="-120"/>
              </a:rPr>
              <a:t>05</a:t>
            </a:r>
            <a:endParaRPr lang="en-US" sz="4000" dirty="0"/>
          </a:p>
        </p:txBody>
      </p:sp>
      <p:sp>
        <p:nvSpPr>
          <p:cNvPr id="17" name="Text 15"/>
          <p:cNvSpPr txBox="1"/>
          <p:nvPr/>
        </p:nvSpPr>
        <p:spPr>
          <a:xfrm>
            <a:off x="9427464" y="589788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الائتمان والتمويل</a:t>
            </a:r>
            <a:endParaRPr lang="en-US" sz="1900" dirty="0"/>
          </a:p>
        </p:txBody>
      </p:sp>
      <p:sp>
        <p:nvSpPr>
          <p:cNvPr id="18" name="Shape 16"/>
          <p:cNvSpPr/>
          <p:nvPr/>
        </p:nvSpPr>
        <p:spPr>
          <a:xfrm>
            <a:off x="6254496" y="466344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19" name="Text 17"/>
          <p:cNvSpPr txBox="1"/>
          <p:nvPr/>
        </p:nvSpPr>
        <p:spPr>
          <a:xfrm>
            <a:off x="6528816" y="4937760"/>
            <a:ext cx="2029968" cy="822960"/>
          </a:xfrm>
          <a:prstGeom prst="rect">
            <a:avLst/>
          </a:prstGeom>
          <a:noFill/>
          <a:ln/>
        </p:spPr>
        <p:txBody>
          <a:bodyPr wrap="square" lIns="0" tIns="0" rIns="0" bIns="0" rtlCol="0" anchor="ctr"/>
          <a:lstStyle/>
          <a:p>
            <a:pPr rtl="1" algn="r" indent="0" marL="0">
              <a:buNone/>
            </a:pPr>
            <a:r>
              <a:rPr lang="en-US" sz="4000" b="1" dirty="0">
                <a:solidFill>
                  <a:srgbClr val="0B6B73"/>
                </a:solidFill>
                <a:latin typeface="Arial" pitchFamily="34" charset="0"/>
                <a:ea typeface="Arial" pitchFamily="34" charset="-122"/>
                <a:cs typeface="Arial" pitchFamily="34" charset="-120"/>
              </a:rPr>
              <a:t>06</a:t>
            </a:r>
            <a:endParaRPr lang="en-US" sz="4000" dirty="0"/>
          </a:p>
        </p:txBody>
      </p:sp>
      <p:sp>
        <p:nvSpPr>
          <p:cNvPr id="20" name="Text 18"/>
          <p:cNvSpPr txBox="1"/>
          <p:nvPr/>
        </p:nvSpPr>
        <p:spPr>
          <a:xfrm>
            <a:off x="6528816" y="589788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الاستدامة المالية</a:t>
            </a:r>
            <a:endParaRPr lang="en-US" sz="1900" dirty="0"/>
          </a:p>
        </p:txBody>
      </p:sp>
      <p:sp>
        <p:nvSpPr>
          <p:cNvPr id="21" name="Shape 19"/>
          <p:cNvSpPr/>
          <p:nvPr/>
        </p:nvSpPr>
        <p:spPr>
          <a:xfrm>
            <a:off x="3355848" y="466344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3630168" y="4937760"/>
            <a:ext cx="2029968" cy="822960"/>
          </a:xfrm>
          <a:prstGeom prst="rect">
            <a:avLst/>
          </a:prstGeom>
          <a:noFill/>
          <a:ln/>
        </p:spPr>
        <p:txBody>
          <a:bodyPr wrap="square" lIns="0" tIns="0" rIns="0" bIns="0" rtlCol="0" anchor="ctr"/>
          <a:lstStyle/>
          <a:p>
            <a:pPr rtl="1" algn="r" indent="0" marL="0">
              <a:buNone/>
            </a:pPr>
            <a:r>
              <a:rPr lang="en-US" sz="4000" b="1" dirty="0">
                <a:solidFill>
                  <a:srgbClr val="006A46"/>
                </a:solidFill>
                <a:latin typeface="Arial" pitchFamily="34" charset="0"/>
                <a:ea typeface="Arial" pitchFamily="34" charset="-122"/>
                <a:cs typeface="Arial" pitchFamily="34" charset="-120"/>
              </a:rPr>
              <a:t>07</a:t>
            </a:r>
            <a:endParaRPr lang="en-US" sz="4000" dirty="0"/>
          </a:p>
        </p:txBody>
      </p:sp>
      <p:sp>
        <p:nvSpPr>
          <p:cNvPr id="23" name="Text 21"/>
          <p:cNvSpPr txBox="1"/>
          <p:nvPr/>
        </p:nvSpPr>
        <p:spPr>
          <a:xfrm>
            <a:off x="3630168" y="589788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خارطة الطريق والمؤشرات</a:t>
            </a:r>
            <a:endParaRPr lang="en-US" sz="1900" dirty="0"/>
          </a:p>
        </p:txBody>
      </p:sp>
      <p:sp>
        <p:nvSpPr>
          <p:cNvPr id="24" name="Shape 22"/>
          <p:cNvSpPr/>
          <p:nvPr/>
        </p:nvSpPr>
        <p:spPr>
          <a:xfrm>
            <a:off x="457200" y="4663440"/>
            <a:ext cx="2578608"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31520" y="4937760"/>
            <a:ext cx="2029968" cy="822960"/>
          </a:xfrm>
          <a:prstGeom prst="rect">
            <a:avLst/>
          </a:prstGeom>
          <a:noFill/>
          <a:ln/>
        </p:spPr>
        <p:txBody>
          <a:bodyPr wrap="square" lIns="0" tIns="0" rIns="0" bIns="0" rtlCol="0" anchor="ctr"/>
          <a:lstStyle/>
          <a:p>
            <a:pPr rtl="1" algn="r" indent="0" marL="0">
              <a:buNone/>
            </a:pPr>
            <a:r>
              <a:rPr lang="en-US" sz="4000" b="1" dirty="0">
                <a:solidFill>
                  <a:srgbClr val="0B6B73"/>
                </a:solidFill>
                <a:latin typeface="Arial" pitchFamily="34" charset="0"/>
                <a:ea typeface="Arial" pitchFamily="34" charset="-122"/>
                <a:cs typeface="Arial" pitchFamily="34" charset="-120"/>
              </a:rPr>
              <a:t>08</a:t>
            </a:r>
            <a:endParaRPr lang="en-US" sz="4000" dirty="0"/>
          </a:p>
        </p:txBody>
      </p:sp>
      <p:sp>
        <p:nvSpPr>
          <p:cNvPr id="26" name="Text 24"/>
          <p:cNvSpPr txBox="1"/>
          <p:nvPr/>
        </p:nvSpPr>
        <p:spPr>
          <a:xfrm>
            <a:off x="731520" y="5897880"/>
            <a:ext cx="2029968" cy="868680"/>
          </a:xfrm>
          <a:prstGeom prst="rect">
            <a:avLst/>
          </a:prstGeom>
          <a:noFill/>
          <a:ln/>
        </p:spPr>
        <p:txBody>
          <a:bodyPr wrap="square" lIns="0" tIns="0" rIns="0" bIns="0" rtlCol="0" anchor="t"/>
          <a:lstStyle/>
          <a:p>
            <a:pPr rtl="1" algn="r" indent="0" marL="0">
              <a:buNone/>
            </a:pPr>
            <a:r>
              <a:rPr lang="en-US" sz="1900" b="1" dirty="0">
                <a:solidFill>
                  <a:srgbClr val="1F2A37"/>
                </a:solidFill>
                <a:latin typeface="Arial" pitchFamily="34" charset="0"/>
                <a:ea typeface="Arial" pitchFamily="34" charset="-122"/>
                <a:cs typeface="Arial" pitchFamily="34" charset="-120"/>
              </a:rPr>
              <a:t>القرارات المطلوبة</a:t>
            </a:r>
            <a:endParaRPr lang="en-US" sz="19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إيرادات نمت 30% خلال سنتين</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تطور إيرادات الأمانة (مليون ريال)</a:t>
            </a:r>
            <a:endParaRPr lang="en-US" sz="1500" dirty="0"/>
          </a:p>
        </p:txBody>
      </p:sp>
      <p:graphicFrame>
        <p:nvGraphicFramePr>
          <p:cNvPr id="4" name="Chart 0" descr=""/>
          <p:cNvGraphicFramePr/>
          <p:nvPr/>
        </p:nvGraphicFramePr>
        <p:xfrm>
          <a:off x="457200" y="1645920"/>
          <a:ext cx="5852160" cy="6035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75120" y="1645920"/>
            <a:ext cx="5056632" cy="1325880"/>
          </a:xfrm>
          <a:prstGeom prst="roundRect">
            <a:avLst>
              <a:gd name="adj" fmla="val 11034"/>
            </a:avLst>
          </a:prstGeom>
          <a:solidFill>
            <a:srgbClr val="FFFFFF"/>
          </a:solidFill>
          <a:ln/>
          <a:effectLst>
            <a:outerShdw sx="100000" sy="100000" kx="0" ky="0" algn="bl" rotWithShape="0" blurRad="101600" dist="25400" dir="5400000">
              <a:srgbClr val="000000">
                <a:alpha val="12000"/>
              </a:srgbClr>
            </a:outerShdw>
          </a:effectLst>
        </p:spPr>
      </p:sp>
      <p:sp>
        <p:nvSpPr>
          <p:cNvPr id="6" name="Text 3"/>
          <p:cNvSpPr txBox="1"/>
          <p:nvPr/>
        </p:nvSpPr>
        <p:spPr>
          <a:xfrm>
            <a:off x="6949440" y="1783080"/>
            <a:ext cx="4507992" cy="548640"/>
          </a:xfrm>
          <a:prstGeom prst="rect">
            <a:avLst/>
          </a:prstGeom>
          <a:noFill/>
          <a:ln/>
        </p:spPr>
        <p:txBody>
          <a:bodyPr wrap="square" lIns="0" tIns="0" rIns="0" bIns="0" rtlCol="0" anchor="ctr"/>
          <a:lstStyle/>
          <a:p>
            <a:pPr rtl="1" algn="r" indent="0" marL="0">
              <a:buNone/>
            </a:pPr>
            <a:r>
              <a:rPr lang="en-US" sz="2600" b="1" dirty="0">
                <a:solidFill>
                  <a:srgbClr val="0B6B73"/>
                </a:solidFill>
                <a:latin typeface="Arial" pitchFamily="34" charset="0"/>
                <a:ea typeface="Arial" pitchFamily="34" charset="-122"/>
                <a:cs typeface="Arial" pitchFamily="34" charset="-120"/>
              </a:rPr>
              <a:t>10.7%</a:t>
            </a:r>
            <a:endParaRPr lang="en-US" sz="2600" dirty="0"/>
          </a:p>
        </p:txBody>
      </p:sp>
      <p:sp>
        <p:nvSpPr>
          <p:cNvPr id="7" name="Text 4"/>
          <p:cNvSpPr txBox="1"/>
          <p:nvPr/>
        </p:nvSpPr>
        <p:spPr>
          <a:xfrm>
            <a:off x="6949440" y="2331720"/>
            <a:ext cx="4507992" cy="5486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نمو السنة السابقة</a:t>
            </a:r>
            <a:endParaRPr lang="en-US" sz="1400" dirty="0"/>
          </a:p>
        </p:txBody>
      </p:sp>
      <p:sp>
        <p:nvSpPr>
          <p:cNvPr id="8" name="Shape 5"/>
          <p:cNvSpPr/>
          <p:nvPr/>
        </p:nvSpPr>
        <p:spPr>
          <a:xfrm>
            <a:off x="6675120" y="3182112"/>
            <a:ext cx="5056632" cy="1325880"/>
          </a:xfrm>
          <a:prstGeom prst="roundRect">
            <a:avLst>
              <a:gd name="adj" fmla="val 11034"/>
            </a:avLst>
          </a:prstGeom>
          <a:solidFill>
            <a:srgbClr val="FFFFFF"/>
          </a:solidFill>
          <a:ln/>
          <a:effectLst>
            <a:outerShdw sx="100000" sy="100000" kx="0" ky="0" algn="bl" rotWithShape="0" blurRad="101600" dist="25400" dir="5400000">
              <a:srgbClr val="000000">
                <a:alpha val="12000"/>
              </a:srgbClr>
            </a:outerShdw>
          </a:effectLst>
        </p:spPr>
      </p:sp>
      <p:sp>
        <p:nvSpPr>
          <p:cNvPr id="9" name="Text 6"/>
          <p:cNvSpPr txBox="1"/>
          <p:nvPr/>
        </p:nvSpPr>
        <p:spPr>
          <a:xfrm>
            <a:off x="6949440" y="3319272"/>
            <a:ext cx="4507992" cy="548640"/>
          </a:xfrm>
          <a:prstGeom prst="rect">
            <a:avLst/>
          </a:prstGeom>
          <a:noFill/>
          <a:ln/>
        </p:spPr>
        <p:txBody>
          <a:bodyPr wrap="square" lIns="0" tIns="0" rIns="0" bIns="0" rtlCol="0" anchor="ctr"/>
          <a:lstStyle/>
          <a:p>
            <a:pPr rtl="1" algn="r" indent="0" marL="0">
              <a:buNone/>
            </a:pPr>
            <a:r>
              <a:rPr lang="en-US" sz="2600" b="1" dirty="0">
                <a:solidFill>
                  <a:srgbClr val="006A46"/>
                </a:solidFill>
                <a:latin typeface="Arial" pitchFamily="34" charset="0"/>
                <a:ea typeface="Arial" pitchFamily="34" charset="-122"/>
                <a:cs typeface="Arial" pitchFamily="34" charset="-120"/>
              </a:rPr>
              <a:t>17.7%</a:t>
            </a:r>
            <a:endParaRPr lang="en-US" sz="2600" dirty="0"/>
          </a:p>
        </p:txBody>
      </p:sp>
      <p:sp>
        <p:nvSpPr>
          <p:cNvPr id="10" name="Text 7"/>
          <p:cNvSpPr txBox="1"/>
          <p:nvPr/>
        </p:nvSpPr>
        <p:spPr>
          <a:xfrm>
            <a:off x="6949440" y="3867912"/>
            <a:ext cx="4507992" cy="5486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نمو السنة الأخيرة</a:t>
            </a:r>
            <a:endParaRPr lang="en-US" sz="1400" dirty="0"/>
          </a:p>
        </p:txBody>
      </p:sp>
      <p:sp>
        <p:nvSpPr>
          <p:cNvPr id="11" name="Shape 8"/>
          <p:cNvSpPr/>
          <p:nvPr/>
        </p:nvSpPr>
        <p:spPr>
          <a:xfrm>
            <a:off x="6675120" y="4718304"/>
            <a:ext cx="5056632" cy="1325880"/>
          </a:xfrm>
          <a:prstGeom prst="roundRect">
            <a:avLst>
              <a:gd name="adj" fmla="val 11034"/>
            </a:avLst>
          </a:prstGeom>
          <a:solidFill>
            <a:srgbClr val="FFFFFF"/>
          </a:solidFill>
          <a:ln/>
          <a:effectLst>
            <a:outerShdw sx="100000" sy="100000" kx="0" ky="0" algn="bl" rotWithShape="0" blurRad="101600" dist="25400" dir="5400000">
              <a:srgbClr val="000000">
                <a:alpha val="12000"/>
              </a:srgbClr>
            </a:outerShdw>
          </a:effectLst>
        </p:spPr>
      </p:sp>
      <p:sp>
        <p:nvSpPr>
          <p:cNvPr id="12" name="Text 9"/>
          <p:cNvSpPr txBox="1"/>
          <p:nvPr/>
        </p:nvSpPr>
        <p:spPr>
          <a:xfrm>
            <a:off x="6949440" y="4855464"/>
            <a:ext cx="4507992" cy="548640"/>
          </a:xfrm>
          <a:prstGeom prst="rect">
            <a:avLst/>
          </a:prstGeom>
          <a:noFill/>
          <a:ln/>
        </p:spPr>
        <p:txBody>
          <a:bodyPr wrap="square" lIns="0" tIns="0" rIns="0" bIns="0" rtlCol="0" anchor="ctr"/>
          <a:lstStyle/>
          <a:p>
            <a:pPr rtl="1" algn="r" indent="0" marL="0">
              <a:buNone/>
            </a:pPr>
            <a:r>
              <a:rPr lang="en-US" sz="2600" b="1" dirty="0">
                <a:solidFill>
                  <a:srgbClr val="E4A42C"/>
                </a:solidFill>
                <a:latin typeface="Arial" pitchFamily="34" charset="0"/>
                <a:ea typeface="Arial" pitchFamily="34" charset="-122"/>
                <a:cs typeface="Arial" pitchFamily="34" charset="-120"/>
              </a:rPr>
              <a:t>الفائض لنا</a:t>
            </a:r>
            <a:endParaRPr lang="en-US" sz="2600" dirty="0"/>
          </a:p>
        </p:txBody>
      </p:sp>
      <p:sp>
        <p:nvSpPr>
          <p:cNvPr id="13" name="Text 10"/>
          <p:cNvSpPr txBox="1"/>
          <p:nvPr/>
        </p:nvSpPr>
        <p:spPr>
          <a:xfrm>
            <a:off x="6949440" y="5404104"/>
            <a:ext cx="4507992" cy="5486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الإيرادات تُورَّد للخزينة، وما يتجاوز المستهدف يعود لميزانية الأمانة</a:t>
            </a:r>
            <a:endParaRPr lang="en-US" sz="1400" dirty="0"/>
          </a:p>
        </p:txBody>
      </p:sp>
      <p:sp>
        <p:nvSpPr>
          <p:cNvPr id="14" name="Shape 11"/>
          <p:cNvSpPr/>
          <p:nvPr/>
        </p:nvSpPr>
        <p:spPr>
          <a:xfrm>
            <a:off x="6675120" y="6254496"/>
            <a:ext cx="5056632" cy="1325880"/>
          </a:xfrm>
          <a:prstGeom prst="roundRect">
            <a:avLst>
              <a:gd name="adj" fmla="val 11034"/>
            </a:avLst>
          </a:prstGeom>
          <a:solidFill>
            <a:srgbClr val="FFFFFF"/>
          </a:solidFill>
          <a:ln/>
          <a:effectLst>
            <a:outerShdw sx="100000" sy="100000" kx="0" ky="0" algn="bl" rotWithShape="0" blurRad="101600" dist="25400" dir="5400000">
              <a:srgbClr val="000000">
                <a:alpha val="12000"/>
              </a:srgbClr>
            </a:outerShdw>
          </a:effectLst>
        </p:spPr>
      </p:sp>
      <p:sp>
        <p:nvSpPr>
          <p:cNvPr id="15" name="Text 12"/>
          <p:cNvSpPr txBox="1"/>
          <p:nvPr/>
        </p:nvSpPr>
        <p:spPr>
          <a:xfrm>
            <a:off x="6949440" y="6391656"/>
            <a:ext cx="4507992" cy="548640"/>
          </a:xfrm>
          <a:prstGeom prst="rect">
            <a:avLst/>
          </a:prstGeom>
          <a:noFill/>
          <a:ln/>
        </p:spPr>
        <p:txBody>
          <a:bodyPr wrap="square" lIns="0" tIns="0" rIns="0" bIns="0" rtlCol="0" anchor="ctr"/>
          <a:lstStyle/>
          <a:p>
            <a:pPr rtl="1" algn="r" indent="0" marL="0">
              <a:buNone/>
            </a:pPr>
            <a:r>
              <a:rPr lang="en-US" sz="2600" b="1" dirty="0">
                <a:solidFill>
                  <a:srgbClr val="394B5F"/>
                </a:solidFill>
                <a:latin typeface="Arial" pitchFamily="34" charset="0"/>
                <a:ea typeface="Arial" pitchFamily="34" charset="-122"/>
                <a:cs typeface="Arial" pitchFamily="34" charset="-120"/>
              </a:rPr>
              <a:t>2030 · 2034</a:t>
            </a:r>
            <a:endParaRPr lang="en-US" sz="2600" dirty="0"/>
          </a:p>
        </p:txBody>
      </p:sp>
      <p:sp>
        <p:nvSpPr>
          <p:cNvPr id="16" name="Text 13"/>
          <p:cNvSpPr txBox="1"/>
          <p:nvPr/>
        </p:nvSpPr>
        <p:spPr>
          <a:xfrm>
            <a:off x="6949440" y="6940296"/>
            <a:ext cx="4507992" cy="5486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إكسبو الرياض وكأس العالم يرفعان الطلب على المشاريع والبنية التحتية</a:t>
            </a:r>
            <a:endParaRPr lang="en-US" sz="14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1097280"/>
            <a:ext cx="10241280" cy="457200"/>
          </a:xfrm>
          <a:prstGeom prst="rect">
            <a:avLst/>
          </a:prstGeom>
          <a:noFill/>
          <a:ln/>
        </p:spPr>
        <p:txBody>
          <a:bodyPr wrap="square" lIns="0" tIns="0" rIns="0" bIns="0" rtlCol="0" anchor="ctr"/>
          <a:lstStyle/>
          <a:p>
            <a:pPr rtl="1" algn="r" indent="0" marL="0">
              <a:buNone/>
            </a:pPr>
            <a:r>
              <a:rPr lang="en-US" sz="1800" b="1" dirty="0">
                <a:solidFill>
                  <a:srgbClr val="E4A42C"/>
                </a:solidFill>
                <a:latin typeface="Arial" pitchFamily="34" charset="0"/>
                <a:ea typeface="Arial" pitchFamily="34" charset="-122"/>
                <a:cs typeface="Arial" pitchFamily="34" charset="-120"/>
              </a:rPr>
              <a:t>الرؤية</a:t>
            </a:r>
            <a:endParaRPr lang="en-US" sz="1800" dirty="0"/>
          </a:p>
        </p:txBody>
      </p:sp>
      <p:sp>
        <p:nvSpPr>
          <p:cNvPr id="3" name="Text 1"/>
          <p:cNvSpPr txBox="1"/>
          <p:nvPr/>
        </p:nvSpPr>
        <p:spPr>
          <a:xfrm>
            <a:off x="457200" y="1600200"/>
            <a:ext cx="10241280" cy="1371600"/>
          </a:xfrm>
          <a:prstGeom prst="rect">
            <a:avLst/>
          </a:prstGeom>
          <a:noFill/>
          <a:ln/>
        </p:spPr>
        <p:txBody>
          <a:bodyPr wrap="square" lIns="0" tIns="0" rIns="0" bIns="0" rtlCol="0" anchor="t"/>
          <a:lstStyle/>
          <a:p>
            <a:pPr rtl="1" algn="r" indent="0" marL="0">
              <a:buNone/>
            </a:pPr>
            <a:r>
              <a:rPr lang="en-US" sz="3600" b="1" dirty="0">
                <a:solidFill>
                  <a:srgbClr val="FFFFFF"/>
                </a:solidFill>
                <a:latin typeface="Arial" pitchFamily="34" charset="0"/>
                <a:ea typeface="Arial" pitchFamily="34" charset="-122"/>
                <a:cs typeface="Arial" pitchFamily="34" charset="-120"/>
              </a:rPr>
              <a:t>النموذج البلدي الرائد إقليمياً في تنمية الإيرادات والتمويل المبتكر</a:t>
            </a:r>
            <a:endParaRPr lang="en-US" sz="3600" dirty="0"/>
          </a:p>
        </p:txBody>
      </p:sp>
      <p:sp>
        <p:nvSpPr>
          <p:cNvPr id="4" name="Text 2"/>
          <p:cNvSpPr txBox="1"/>
          <p:nvPr/>
        </p:nvSpPr>
        <p:spPr>
          <a:xfrm>
            <a:off x="457200" y="3291840"/>
            <a:ext cx="10241280" cy="457200"/>
          </a:xfrm>
          <a:prstGeom prst="rect">
            <a:avLst/>
          </a:prstGeom>
          <a:noFill/>
          <a:ln/>
        </p:spPr>
        <p:txBody>
          <a:bodyPr wrap="square" lIns="0" tIns="0" rIns="0" bIns="0" rtlCol="0" anchor="ctr"/>
          <a:lstStyle/>
          <a:p>
            <a:pPr rtl="1" algn="r" indent="0" marL="0">
              <a:buNone/>
            </a:pPr>
            <a:r>
              <a:rPr lang="en-US" sz="1800" b="1" dirty="0">
                <a:solidFill>
                  <a:srgbClr val="E4A42C"/>
                </a:solidFill>
                <a:latin typeface="Arial" pitchFamily="34" charset="0"/>
                <a:ea typeface="Arial" pitchFamily="34" charset="-122"/>
                <a:cs typeface="Arial" pitchFamily="34" charset="-120"/>
              </a:rPr>
              <a:t>الرسالة</a:t>
            </a:r>
            <a:endParaRPr lang="en-US" sz="1800" dirty="0"/>
          </a:p>
        </p:txBody>
      </p:sp>
      <p:sp>
        <p:nvSpPr>
          <p:cNvPr id="5" name="Text 3"/>
          <p:cNvSpPr txBox="1"/>
          <p:nvPr/>
        </p:nvSpPr>
        <p:spPr>
          <a:xfrm>
            <a:off x="457200" y="3749040"/>
            <a:ext cx="10972800" cy="1371600"/>
          </a:xfrm>
          <a:prstGeom prst="rect">
            <a:avLst/>
          </a:prstGeom>
          <a:noFill/>
          <a:ln/>
        </p:spPr>
        <p:txBody>
          <a:bodyPr wrap="square" lIns="0" tIns="0" rIns="0" bIns="0" rtlCol="0" anchor="t"/>
          <a:lstStyle/>
          <a:p>
            <a:pPr rtl="1" algn="r" indent="0" marL="0">
              <a:buNone/>
            </a:pPr>
            <a:r>
              <a:rPr lang="en-US" sz="1800" dirty="0">
                <a:solidFill>
                  <a:srgbClr val="E3F0EA"/>
                </a:solidFill>
                <a:latin typeface="Arial" pitchFamily="34" charset="0"/>
                <a:ea typeface="Arial" pitchFamily="34" charset="-122"/>
                <a:cs typeface="Arial" pitchFamily="34" charset="-120"/>
              </a:rPr>
              <a:t>تعظيم إيرادات الأمانة وتنويعها، وتوفير حلول تمويل مبتكرة من خارج الميزانية بالشراكة مع القطاعين العام والخاص، بما يدعم مشاريع مدينة الرياض وجودة الحياة فيها ويضمن الاستدامة المالية، وفق أعلى معايير الحوكمة والشفافية.</a:t>
            </a:r>
            <a:endParaRPr lang="en-US" sz="1800" dirty="0"/>
          </a:p>
        </p:txBody>
      </p:sp>
      <p:sp>
        <p:nvSpPr>
          <p:cNvPr id="6" name="Text 4"/>
          <p:cNvSpPr txBox="1"/>
          <p:nvPr/>
        </p:nvSpPr>
        <p:spPr>
          <a:xfrm>
            <a:off x="457200" y="5440680"/>
            <a:ext cx="10241280" cy="457200"/>
          </a:xfrm>
          <a:prstGeom prst="rect">
            <a:avLst/>
          </a:prstGeom>
          <a:noFill/>
          <a:ln/>
        </p:spPr>
        <p:txBody>
          <a:bodyPr wrap="square" lIns="0" tIns="0" rIns="0" bIns="0" rtlCol="0" anchor="ctr"/>
          <a:lstStyle/>
          <a:p>
            <a:pPr rtl="1" algn="r" indent="0" marL="0">
              <a:buNone/>
            </a:pPr>
            <a:r>
              <a:rPr lang="en-US" sz="1800" b="1" dirty="0">
                <a:solidFill>
                  <a:srgbClr val="E4A42C"/>
                </a:solidFill>
                <a:latin typeface="Arial" pitchFamily="34" charset="0"/>
                <a:ea typeface="Arial" pitchFamily="34" charset="-122"/>
                <a:cs typeface="Arial" pitchFamily="34" charset="-120"/>
              </a:rPr>
              <a:t>القيم</a:t>
            </a:r>
            <a:endParaRPr lang="en-US" sz="1800" dirty="0"/>
          </a:p>
        </p:txBody>
      </p:sp>
      <p:sp>
        <p:nvSpPr>
          <p:cNvPr id="7" name="Shape 5"/>
          <p:cNvSpPr/>
          <p:nvPr/>
        </p:nvSpPr>
        <p:spPr>
          <a:xfrm>
            <a:off x="10005060" y="5989320"/>
            <a:ext cx="1726692" cy="731520"/>
          </a:xfrm>
          <a:prstGeom prst="roundRect">
            <a:avLst>
              <a:gd name="adj" fmla="val 50000"/>
            </a:avLst>
          </a:prstGeom>
          <a:solidFill>
            <a:srgbClr val="FFFFFF">
              <a:alpha val="12000"/>
            </a:srgbClr>
          </a:solidFill>
          <a:ln w="12700">
            <a:solidFill>
              <a:srgbClr val="CFE3DA"/>
            </a:solidFill>
            <a:prstDash val="solid"/>
          </a:ln>
        </p:spPr>
      </p:sp>
      <p:sp>
        <p:nvSpPr>
          <p:cNvPr id="8" name="Text 6"/>
          <p:cNvSpPr txBox="1"/>
          <p:nvPr/>
        </p:nvSpPr>
        <p:spPr>
          <a:xfrm>
            <a:off x="10005060" y="5989320"/>
            <a:ext cx="1726692" cy="73152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الحوكمة والشفافية</a:t>
            </a:r>
            <a:endParaRPr lang="en-US" sz="1500" dirty="0"/>
          </a:p>
        </p:txBody>
      </p:sp>
      <p:sp>
        <p:nvSpPr>
          <p:cNvPr id="9" name="Shape 7"/>
          <p:cNvSpPr/>
          <p:nvPr/>
        </p:nvSpPr>
        <p:spPr>
          <a:xfrm>
            <a:off x="8095488" y="5989320"/>
            <a:ext cx="1726692" cy="731520"/>
          </a:xfrm>
          <a:prstGeom prst="roundRect">
            <a:avLst>
              <a:gd name="adj" fmla="val 50000"/>
            </a:avLst>
          </a:prstGeom>
          <a:solidFill>
            <a:srgbClr val="FFFFFF">
              <a:alpha val="12000"/>
            </a:srgbClr>
          </a:solidFill>
          <a:ln w="12700">
            <a:solidFill>
              <a:srgbClr val="CFE3DA"/>
            </a:solidFill>
            <a:prstDash val="solid"/>
          </a:ln>
        </p:spPr>
      </p:sp>
      <p:sp>
        <p:nvSpPr>
          <p:cNvPr id="10" name="Text 8"/>
          <p:cNvSpPr txBox="1"/>
          <p:nvPr/>
        </p:nvSpPr>
        <p:spPr>
          <a:xfrm>
            <a:off x="8095488" y="5989320"/>
            <a:ext cx="1726692" cy="73152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الابتكار</a:t>
            </a:r>
            <a:endParaRPr lang="en-US" sz="1500" dirty="0"/>
          </a:p>
        </p:txBody>
      </p:sp>
      <p:sp>
        <p:nvSpPr>
          <p:cNvPr id="11" name="Shape 9"/>
          <p:cNvSpPr/>
          <p:nvPr/>
        </p:nvSpPr>
        <p:spPr>
          <a:xfrm>
            <a:off x="6185916" y="5989320"/>
            <a:ext cx="1726692" cy="731520"/>
          </a:xfrm>
          <a:prstGeom prst="roundRect">
            <a:avLst>
              <a:gd name="adj" fmla="val 50000"/>
            </a:avLst>
          </a:prstGeom>
          <a:solidFill>
            <a:srgbClr val="FFFFFF">
              <a:alpha val="12000"/>
            </a:srgbClr>
          </a:solidFill>
          <a:ln w="12700">
            <a:solidFill>
              <a:srgbClr val="CFE3DA"/>
            </a:solidFill>
            <a:prstDash val="solid"/>
          </a:ln>
        </p:spPr>
      </p:sp>
      <p:sp>
        <p:nvSpPr>
          <p:cNvPr id="12" name="Text 10"/>
          <p:cNvSpPr txBox="1"/>
          <p:nvPr/>
        </p:nvSpPr>
        <p:spPr>
          <a:xfrm>
            <a:off x="6185916" y="5989320"/>
            <a:ext cx="1726692" cy="73152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الشراكة</a:t>
            </a:r>
            <a:endParaRPr lang="en-US" sz="1500" dirty="0"/>
          </a:p>
        </p:txBody>
      </p:sp>
      <p:sp>
        <p:nvSpPr>
          <p:cNvPr id="13" name="Shape 11"/>
          <p:cNvSpPr/>
          <p:nvPr/>
        </p:nvSpPr>
        <p:spPr>
          <a:xfrm>
            <a:off x="4276344" y="5989320"/>
            <a:ext cx="1726692" cy="731520"/>
          </a:xfrm>
          <a:prstGeom prst="roundRect">
            <a:avLst>
              <a:gd name="adj" fmla="val 50000"/>
            </a:avLst>
          </a:prstGeom>
          <a:solidFill>
            <a:srgbClr val="FFFFFF">
              <a:alpha val="12000"/>
            </a:srgbClr>
          </a:solidFill>
          <a:ln w="12700">
            <a:solidFill>
              <a:srgbClr val="CFE3DA"/>
            </a:solidFill>
            <a:prstDash val="solid"/>
          </a:ln>
        </p:spPr>
      </p:sp>
      <p:sp>
        <p:nvSpPr>
          <p:cNvPr id="14" name="Text 12"/>
          <p:cNvSpPr txBox="1"/>
          <p:nvPr/>
        </p:nvSpPr>
        <p:spPr>
          <a:xfrm>
            <a:off x="4276344" y="5989320"/>
            <a:ext cx="1726692" cy="73152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الكفاءة</a:t>
            </a:r>
            <a:endParaRPr lang="en-US" sz="1500" dirty="0"/>
          </a:p>
        </p:txBody>
      </p:sp>
      <p:sp>
        <p:nvSpPr>
          <p:cNvPr id="15" name="Shape 13"/>
          <p:cNvSpPr/>
          <p:nvPr/>
        </p:nvSpPr>
        <p:spPr>
          <a:xfrm>
            <a:off x="2366772" y="5989320"/>
            <a:ext cx="1726692" cy="731520"/>
          </a:xfrm>
          <a:prstGeom prst="roundRect">
            <a:avLst>
              <a:gd name="adj" fmla="val 50000"/>
            </a:avLst>
          </a:prstGeom>
          <a:solidFill>
            <a:srgbClr val="FFFFFF">
              <a:alpha val="12000"/>
            </a:srgbClr>
          </a:solidFill>
          <a:ln w="12700">
            <a:solidFill>
              <a:srgbClr val="CFE3DA"/>
            </a:solidFill>
            <a:prstDash val="solid"/>
          </a:ln>
        </p:spPr>
      </p:sp>
      <p:sp>
        <p:nvSpPr>
          <p:cNvPr id="16" name="Text 14"/>
          <p:cNvSpPr txBox="1"/>
          <p:nvPr/>
        </p:nvSpPr>
        <p:spPr>
          <a:xfrm>
            <a:off x="2366772" y="5989320"/>
            <a:ext cx="1726692" cy="73152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الاستدامة</a:t>
            </a:r>
            <a:endParaRPr lang="en-US" sz="1500" dirty="0"/>
          </a:p>
        </p:txBody>
      </p:sp>
      <p:sp>
        <p:nvSpPr>
          <p:cNvPr id="17" name="Shape 15"/>
          <p:cNvSpPr/>
          <p:nvPr/>
        </p:nvSpPr>
        <p:spPr>
          <a:xfrm>
            <a:off x="457200" y="5989320"/>
            <a:ext cx="1726692" cy="731520"/>
          </a:xfrm>
          <a:prstGeom prst="roundRect">
            <a:avLst>
              <a:gd name="adj" fmla="val 50000"/>
            </a:avLst>
          </a:prstGeom>
          <a:solidFill>
            <a:srgbClr val="FFFFFF">
              <a:alpha val="12000"/>
            </a:srgbClr>
          </a:solidFill>
          <a:ln w="12700">
            <a:solidFill>
              <a:srgbClr val="CFE3DA"/>
            </a:solidFill>
            <a:prstDash val="solid"/>
          </a:ln>
        </p:spPr>
      </p:sp>
      <p:sp>
        <p:nvSpPr>
          <p:cNvPr id="18" name="Text 16"/>
          <p:cNvSpPr txBox="1"/>
          <p:nvPr/>
        </p:nvSpPr>
        <p:spPr>
          <a:xfrm>
            <a:off x="457200" y="5989320"/>
            <a:ext cx="1726692" cy="73152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القرار المبني على البيانات</a:t>
            </a:r>
            <a:endParaRPr lang="en-US" sz="15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E3DA"/>
                </a:solidFill>
              </a:defRPr>
            </a:lvl1pPr>
          </a:lstStyle>
          <a:p>
            <a:pPr algn="l"/>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سبعة أهداف استراتيجية</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لكل هدف إدارة مسؤولة ومؤشرات قياس</a:t>
            </a:r>
            <a:endParaRPr lang="en-US" sz="1500" dirty="0"/>
          </a:p>
        </p:txBody>
      </p:sp>
      <p:sp>
        <p:nvSpPr>
          <p:cNvPr id="4" name="Shape 2"/>
          <p:cNvSpPr/>
          <p:nvPr/>
        </p:nvSpPr>
        <p:spPr>
          <a:xfrm>
            <a:off x="9118854" y="1737360"/>
            <a:ext cx="2612898" cy="274320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5" name="Shape 3"/>
          <p:cNvSpPr/>
          <p:nvPr/>
        </p:nvSpPr>
        <p:spPr>
          <a:xfrm>
            <a:off x="10863072" y="2011680"/>
            <a:ext cx="594360" cy="594360"/>
          </a:xfrm>
          <a:prstGeom prst="ellipse">
            <a:avLst/>
          </a:prstGeom>
          <a:solidFill>
            <a:srgbClr val="006A46"/>
          </a:solidFill>
          <a:ln/>
        </p:spPr>
      </p:sp>
      <p:sp>
        <p:nvSpPr>
          <p:cNvPr id="6" name="Text 4"/>
          <p:cNvSpPr txBox="1"/>
          <p:nvPr/>
        </p:nvSpPr>
        <p:spPr>
          <a:xfrm>
            <a:off x="10863072" y="201168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393174" y="2743200"/>
            <a:ext cx="2064258"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تعظيم الإيرادات البلدية وتجاوز المستهدف السنوي</a:t>
            </a:r>
            <a:endParaRPr lang="en-US" sz="1700" dirty="0"/>
          </a:p>
        </p:txBody>
      </p:sp>
      <p:sp>
        <p:nvSpPr>
          <p:cNvPr id="8" name="Text 6"/>
          <p:cNvSpPr txBox="1"/>
          <p:nvPr/>
        </p:nvSpPr>
        <p:spPr>
          <a:xfrm>
            <a:off x="9393174" y="3931920"/>
            <a:ext cx="2064258"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تخطيط ومراقبة الإيرادات</a:t>
            </a:r>
            <a:endParaRPr lang="en-US" sz="1300" dirty="0"/>
          </a:p>
        </p:txBody>
      </p:sp>
      <p:sp>
        <p:nvSpPr>
          <p:cNvPr id="9" name="Shape 7"/>
          <p:cNvSpPr/>
          <p:nvPr/>
        </p:nvSpPr>
        <p:spPr>
          <a:xfrm>
            <a:off x="6231636" y="1737360"/>
            <a:ext cx="2612898" cy="274320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10" name="Shape 8"/>
          <p:cNvSpPr/>
          <p:nvPr/>
        </p:nvSpPr>
        <p:spPr>
          <a:xfrm>
            <a:off x="7975854" y="2011680"/>
            <a:ext cx="594360" cy="594360"/>
          </a:xfrm>
          <a:prstGeom prst="ellipse">
            <a:avLst/>
          </a:prstGeom>
          <a:solidFill>
            <a:srgbClr val="006A46"/>
          </a:solidFill>
          <a:ln/>
        </p:spPr>
      </p:sp>
      <p:sp>
        <p:nvSpPr>
          <p:cNvPr id="11" name="Text 9"/>
          <p:cNvSpPr txBox="1"/>
          <p:nvPr/>
        </p:nvSpPr>
        <p:spPr>
          <a:xfrm>
            <a:off x="7975854" y="201168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2" name="Text 10"/>
          <p:cNvSpPr txBox="1"/>
          <p:nvPr/>
        </p:nvSpPr>
        <p:spPr>
          <a:xfrm>
            <a:off x="6505956" y="2743200"/>
            <a:ext cx="2064258"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تعزيز الرقابة على التحصيل والحد من المتأخرات والفاقد</a:t>
            </a:r>
            <a:endParaRPr lang="en-US" sz="1700" dirty="0"/>
          </a:p>
        </p:txBody>
      </p:sp>
      <p:sp>
        <p:nvSpPr>
          <p:cNvPr id="13" name="Text 11"/>
          <p:cNvSpPr txBox="1"/>
          <p:nvPr/>
        </p:nvSpPr>
        <p:spPr>
          <a:xfrm>
            <a:off x="6505956" y="3931920"/>
            <a:ext cx="2064258"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تخطيط ومراقبة الإيرادات</a:t>
            </a:r>
            <a:endParaRPr lang="en-US" sz="1300" dirty="0"/>
          </a:p>
        </p:txBody>
      </p:sp>
      <p:sp>
        <p:nvSpPr>
          <p:cNvPr id="14" name="Shape 12"/>
          <p:cNvSpPr/>
          <p:nvPr/>
        </p:nvSpPr>
        <p:spPr>
          <a:xfrm>
            <a:off x="3344418" y="1737360"/>
            <a:ext cx="2612898" cy="274320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15" name="Shape 13"/>
          <p:cNvSpPr/>
          <p:nvPr/>
        </p:nvSpPr>
        <p:spPr>
          <a:xfrm>
            <a:off x="5088636" y="2011680"/>
            <a:ext cx="594360" cy="594360"/>
          </a:xfrm>
          <a:prstGeom prst="ellipse">
            <a:avLst/>
          </a:prstGeom>
          <a:solidFill>
            <a:srgbClr val="006A46"/>
          </a:solidFill>
          <a:ln/>
        </p:spPr>
      </p:sp>
      <p:sp>
        <p:nvSpPr>
          <p:cNvPr id="16" name="Text 14"/>
          <p:cNvSpPr txBox="1"/>
          <p:nvPr/>
        </p:nvSpPr>
        <p:spPr>
          <a:xfrm>
            <a:off x="5088636" y="201168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txBox="1"/>
          <p:nvPr/>
        </p:nvSpPr>
        <p:spPr>
          <a:xfrm>
            <a:off x="3618738" y="2743200"/>
            <a:ext cx="2064258"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تنويع مصادر الإيرادات وتقليل الاعتماد على التأجير</a:t>
            </a:r>
            <a:endParaRPr lang="en-US" sz="1700" dirty="0"/>
          </a:p>
        </p:txBody>
      </p:sp>
      <p:sp>
        <p:nvSpPr>
          <p:cNvPr id="18" name="Text 16"/>
          <p:cNvSpPr txBox="1"/>
          <p:nvPr/>
        </p:nvSpPr>
        <p:spPr>
          <a:xfrm>
            <a:off x="3618738" y="3931920"/>
            <a:ext cx="2064258"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تخطيط ومراقبة الإيرادات</a:t>
            </a:r>
            <a:endParaRPr lang="en-US" sz="1300" dirty="0"/>
          </a:p>
        </p:txBody>
      </p:sp>
      <p:sp>
        <p:nvSpPr>
          <p:cNvPr id="19" name="Shape 17"/>
          <p:cNvSpPr/>
          <p:nvPr/>
        </p:nvSpPr>
        <p:spPr>
          <a:xfrm>
            <a:off x="457200" y="1737360"/>
            <a:ext cx="2612898" cy="274320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20" name="Shape 18"/>
          <p:cNvSpPr/>
          <p:nvPr/>
        </p:nvSpPr>
        <p:spPr>
          <a:xfrm>
            <a:off x="2201418" y="2011680"/>
            <a:ext cx="594360" cy="594360"/>
          </a:xfrm>
          <a:prstGeom prst="ellipse">
            <a:avLst/>
          </a:prstGeom>
          <a:solidFill>
            <a:srgbClr val="0B6B73"/>
          </a:solidFill>
          <a:ln/>
        </p:spPr>
      </p:sp>
      <p:sp>
        <p:nvSpPr>
          <p:cNvPr id="21" name="Text 19"/>
          <p:cNvSpPr txBox="1"/>
          <p:nvPr/>
        </p:nvSpPr>
        <p:spPr>
          <a:xfrm>
            <a:off x="2201418" y="201168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20"/>
          <p:cNvSpPr txBox="1"/>
          <p:nvPr/>
        </p:nvSpPr>
        <p:spPr>
          <a:xfrm>
            <a:off x="731520" y="2743200"/>
            <a:ext cx="2064258"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تمويل مشاريع المدينة من خارج الميزانية</a:t>
            </a:r>
            <a:endParaRPr lang="en-US" sz="1700" dirty="0"/>
          </a:p>
        </p:txBody>
      </p:sp>
      <p:sp>
        <p:nvSpPr>
          <p:cNvPr id="23" name="Text 21"/>
          <p:cNvSpPr txBox="1"/>
          <p:nvPr/>
        </p:nvSpPr>
        <p:spPr>
          <a:xfrm>
            <a:off x="731520" y="3931920"/>
            <a:ext cx="2064258"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الائتمان والتمويل</a:t>
            </a:r>
            <a:endParaRPr lang="en-US" sz="1300" dirty="0"/>
          </a:p>
        </p:txBody>
      </p:sp>
      <p:sp>
        <p:nvSpPr>
          <p:cNvPr id="24" name="Shape 22"/>
          <p:cNvSpPr/>
          <p:nvPr/>
        </p:nvSpPr>
        <p:spPr>
          <a:xfrm>
            <a:off x="8156448" y="4800600"/>
            <a:ext cx="3575304" cy="2743200"/>
          </a:xfrm>
          <a:prstGeom prst="roundRect">
            <a:avLst>
              <a:gd name="adj" fmla="val 5333"/>
            </a:avLst>
          </a:prstGeom>
          <a:solidFill>
            <a:srgbClr val="FFFFFF"/>
          </a:solidFill>
          <a:ln/>
          <a:effectLst>
            <a:outerShdw sx="100000" sy="100000" kx="0" ky="0" algn="bl" rotWithShape="0" blurRad="101600" dist="25400" dir="5400000">
              <a:srgbClr val="000000">
                <a:alpha val="12000"/>
              </a:srgbClr>
            </a:outerShdw>
          </a:effectLst>
        </p:spPr>
      </p:sp>
      <p:sp>
        <p:nvSpPr>
          <p:cNvPr id="25" name="Shape 23"/>
          <p:cNvSpPr/>
          <p:nvPr/>
        </p:nvSpPr>
        <p:spPr>
          <a:xfrm>
            <a:off x="10863072" y="5074920"/>
            <a:ext cx="594360" cy="594360"/>
          </a:xfrm>
          <a:prstGeom prst="ellipse">
            <a:avLst/>
          </a:prstGeom>
          <a:solidFill>
            <a:srgbClr val="E4A42C"/>
          </a:solidFill>
          <a:ln/>
        </p:spPr>
      </p:sp>
      <p:sp>
        <p:nvSpPr>
          <p:cNvPr id="26" name="Text 24"/>
          <p:cNvSpPr txBox="1"/>
          <p:nvPr/>
        </p:nvSpPr>
        <p:spPr>
          <a:xfrm>
            <a:off x="10863072" y="50749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7" name="Text 25"/>
          <p:cNvSpPr txBox="1"/>
          <p:nvPr/>
        </p:nvSpPr>
        <p:spPr>
          <a:xfrm>
            <a:off x="8430768" y="5806440"/>
            <a:ext cx="3026664"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ضمان الاستدامة المالية ورفع كفاءة الإنفاق</a:t>
            </a:r>
            <a:endParaRPr lang="en-US" sz="1700" dirty="0"/>
          </a:p>
        </p:txBody>
      </p:sp>
      <p:sp>
        <p:nvSpPr>
          <p:cNvPr id="28" name="Text 26"/>
          <p:cNvSpPr txBox="1"/>
          <p:nvPr/>
        </p:nvSpPr>
        <p:spPr>
          <a:xfrm>
            <a:off x="8430768" y="6995160"/>
            <a:ext cx="3026664"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الاستدامة المالية</a:t>
            </a:r>
            <a:endParaRPr lang="en-US" sz="1300" dirty="0"/>
          </a:p>
        </p:txBody>
      </p:sp>
      <p:sp>
        <p:nvSpPr>
          <p:cNvPr id="29" name="Shape 27"/>
          <p:cNvSpPr/>
          <p:nvPr/>
        </p:nvSpPr>
        <p:spPr>
          <a:xfrm>
            <a:off x="4306824" y="4800600"/>
            <a:ext cx="3575304" cy="2743200"/>
          </a:xfrm>
          <a:prstGeom prst="roundRect">
            <a:avLst>
              <a:gd name="adj" fmla="val 5333"/>
            </a:avLst>
          </a:prstGeom>
          <a:solidFill>
            <a:srgbClr val="FFFFFF"/>
          </a:solidFill>
          <a:ln/>
          <a:effectLst>
            <a:outerShdw sx="100000" sy="100000" kx="0" ky="0" algn="bl" rotWithShape="0" blurRad="101600" dist="25400" dir="5400000">
              <a:srgbClr val="000000">
                <a:alpha val="12000"/>
              </a:srgbClr>
            </a:outerShdw>
          </a:effectLst>
        </p:spPr>
      </p:sp>
      <p:sp>
        <p:nvSpPr>
          <p:cNvPr id="30" name="Shape 28"/>
          <p:cNvSpPr/>
          <p:nvPr/>
        </p:nvSpPr>
        <p:spPr>
          <a:xfrm>
            <a:off x="7013448" y="5074920"/>
            <a:ext cx="594360" cy="594360"/>
          </a:xfrm>
          <a:prstGeom prst="ellipse">
            <a:avLst/>
          </a:prstGeom>
          <a:solidFill>
            <a:srgbClr val="394B5F"/>
          </a:solidFill>
          <a:ln/>
        </p:spPr>
      </p:sp>
      <p:sp>
        <p:nvSpPr>
          <p:cNvPr id="31" name="Text 29"/>
          <p:cNvSpPr txBox="1"/>
          <p:nvPr/>
        </p:nvSpPr>
        <p:spPr>
          <a:xfrm>
            <a:off x="7013448" y="50749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2" name="Text 30"/>
          <p:cNvSpPr txBox="1"/>
          <p:nvPr/>
        </p:nvSpPr>
        <p:spPr>
          <a:xfrm>
            <a:off x="4581144" y="5806440"/>
            <a:ext cx="3026664"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التحول الرقمي وتكامل البيانات المالية</a:t>
            </a:r>
            <a:endParaRPr lang="en-US" sz="1700" dirty="0"/>
          </a:p>
        </p:txBody>
      </p:sp>
      <p:sp>
        <p:nvSpPr>
          <p:cNvPr id="33" name="Text 31"/>
          <p:cNvSpPr txBox="1"/>
          <p:nvPr/>
        </p:nvSpPr>
        <p:spPr>
          <a:xfrm>
            <a:off x="4581144" y="6995160"/>
            <a:ext cx="3026664"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مشترك</a:t>
            </a:r>
            <a:endParaRPr lang="en-US" sz="1300" dirty="0"/>
          </a:p>
        </p:txBody>
      </p:sp>
      <p:sp>
        <p:nvSpPr>
          <p:cNvPr id="34" name="Shape 32"/>
          <p:cNvSpPr/>
          <p:nvPr/>
        </p:nvSpPr>
        <p:spPr>
          <a:xfrm>
            <a:off x="457200" y="4800600"/>
            <a:ext cx="3575304" cy="2743200"/>
          </a:xfrm>
          <a:prstGeom prst="roundRect">
            <a:avLst>
              <a:gd name="adj" fmla="val 5333"/>
            </a:avLst>
          </a:prstGeom>
          <a:solidFill>
            <a:srgbClr val="FFFFFF"/>
          </a:solidFill>
          <a:ln/>
          <a:effectLst>
            <a:outerShdw sx="100000" sy="100000" kx="0" ky="0" algn="bl" rotWithShape="0" blurRad="101600" dist="25400" dir="5400000">
              <a:srgbClr val="000000">
                <a:alpha val="12000"/>
              </a:srgbClr>
            </a:outerShdw>
          </a:effectLst>
        </p:spPr>
      </p:sp>
      <p:sp>
        <p:nvSpPr>
          <p:cNvPr id="35" name="Shape 33"/>
          <p:cNvSpPr/>
          <p:nvPr/>
        </p:nvSpPr>
        <p:spPr>
          <a:xfrm>
            <a:off x="3163824" y="5074920"/>
            <a:ext cx="594360" cy="594360"/>
          </a:xfrm>
          <a:prstGeom prst="ellipse">
            <a:avLst/>
          </a:prstGeom>
          <a:solidFill>
            <a:srgbClr val="394B5F"/>
          </a:solidFill>
          <a:ln/>
        </p:spPr>
      </p:sp>
      <p:sp>
        <p:nvSpPr>
          <p:cNvPr id="36" name="Text 34"/>
          <p:cNvSpPr txBox="1"/>
          <p:nvPr/>
        </p:nvSpPr>
        <p:spPr>
          <a:xfrm>
            <a:off x="3163824" y="50749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37" name="Text 35"/>
          <p:cNvSpPr txBox="1"/>
          <p:nvPr/>
        </p:nvSpPr>
        <p:spPr>
          <a:xfrm>
            <a:off x="731520" y="5806440"/>
            <a:ext cx="3026664" cy="109728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التميز المؤسسي وبناء القدرات</a:t>
            </a:r>
            <a:endParaRPr lang="en-US" sz="1700" dirty="0"/>
          </a:p>
        </p:txBody>
      </p:sp>
      <p:sp>
        <p:nvSpPr>
          <p:cNvPr id="38" name="Text 36"/>
          <p:cNvSpPr txBox="1"/>
          <p:nvPr/>
        </p:nvSpPr>
        <p:spPr>
          <a:xfrm>
            <a:off x="731520" y="6995160"/>
            <a:ext cx="3026664"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الإدارة العامة</a:t>
            </a:r>
            <a:endParaRPr lang="en-US" sz="13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5 مليارات ريال بحلول 2030</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المسار السنوي المستهدف للإيرادات (مليون ريال)</a:t>
            </a:r>
            <a:endParaRPr lang="en-US" sz="1500" dirty="0"/>
          </a:p>
        </p:txBody>
      </p:sp>
      <p:graphicFrame>
        <p:nvGraphicFramePr>
          <p:cNvPr id="4" name="Chart 0" descr=""/>
          <p:cNvGraphicFramePr/>
          <p:nvPr/>
        </p:nvGraphicFramePr>
        <p:xfrm>
          <a:off x="457200" y="1645920"/>
          <a:ext cx="6949440" cy="60350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772400" y="1645920"/>
            <a:ext cx="3959352" cy="2194560"/>
          </a:xfrm>
          <a:prstGeom prst="roundRect">
            <a:avLst>
              <a:gd name="adj" fmla="val 6667"/>
            </a:avLst>
          </a:prstGeom>
          <a:solidFill>
            <a:srgbClr val="006A46"/>
          </a:solidFill>
          <a:ln/>
          <a:effectLst>
            <a:outerShdw sx="100000" sy="100000" kx="0" ky="0" algn="bl" rotWithShape="0" blurRad="101600" dist="25400" dir="5400000">
              <a:srgbClr val="000000">
                <a:alpha val="12000"/>
              </a:srgbClr>
            </a:outerShdw>
          </a:effectLst>
        </p:spPr>
      </p:sp>
      <p:sp>
        <p:nvSpPr>
          <p:cNvPr id="6" name="Text 3"/>
          <p:cNvSpPr txBox="1"/>
          <p:nvPr/>
        </p:nvSpPr>
        <p:spPr>
          <a:xfrm>
            <a:off x="8046720" y="1783080"/>
            <a:ext cx="3410712" cy="1005840"/>
          </a:xfrm>
          <a:prstGeom prst="rect">
            <a:avLst/>
          </a:prstGeom>
          <a:noFill/>
          <a:ln/>
        </p:spPr>
        <p:txBody>
          <a:bodyPr wrap="square" lIns="0" tIns="0" rIns="0" bIns="0" rtlCol="0" anchor="ctr"/>
          <a:lstStyle/>
          <a:p>
            <a:pPr rtl="1" algn="r" indent="0" marL="0">
              <a:buNone/>
            </a:pPr>
            <a:r>
              <a:rPr lang="en-US" sz="5400" b="1" dirty="0">
                <a:solidFill>
                  <a:srgbClr val="FFFFFF"/>
                </a:solidFill>
                <a:latin typeface="Arial" pitchFamily="34" charset="0"/>
                <a:ea typeface="Arial" pitchFamily="34" charset="-122"/>
                <a:cs typeface="Arial" pitchFamily="34" charset="-120"/>
              </a:rPr>
              <a:t>6.5%</a:t>
            </a:r>
            <a:endParaRPr lang="en-US" sz="5400" dirty="0"/>
          </a:p>
        </p:txBody>
      </p:sp>
      <p:sp>
        <p:nvSpPr>
          <p:cNvPr id="7" name="Text 4"/>
          <p:cNvSpPr txBox="1"/>
          <p:nvPr/>
        </p:nvSpPr>
        <p:spPr>
          <a:xfrm>
            <a:off x="8046720" y="2788920"/>
            <a:ext cx="3410712" cy="914400"/>
          </a:xfrm>
          <a:prstGeom prst="rect">
            <a:avLst/>
          </a:prstGeom>
          <a:noFill/>
          <a:ln/>
        </p:spPr>
        <p:txBody>
          <a:bodyPr wrap="square" lIns="0" tIns="0" rIns="0" bIns="0" rtlCol="0" anchor="t"/>
          <a:lstStyle/>
          <a:p>
            <a:pPr rtl="1" algn="r" indent="0" marL="0">
              <a:buNone/>
            </a:pPr>
            <a:r>
              <a:rPr lang="en-US" sz="1400" dirty="0">
                <a:solidFill>
                  <a:srgbClr val="E3F0EA"/>
                </a:solidFill>
                <a:latin typeface="Arial" pitchFamily="34" charset="0"/>
                <a:ea typeface="Arial" pitchFamily="34" charset="-122"/>
                <a:cs typeface="Arial" pitchFamily="34" charset="-120"/>
              </a:rPr>
              <a:t>نمو سنوي مركّب مطلوب — أقل من النمو الأخير (14%) لأن جزءاً منه مرتبط بالطفرة الإنشائية</a:t>
            </a:r>
            <a:endParaRPr lang="en-US" sz="1400" dirty="0"/>
          </a:p>
        </p:txBody>
      </p:sp>
      <p:sp>
        <p:nvSpPr>
          <p:cNvPr id="8" name="Shape 5"/>
          <p:cNvSpPr/>
          <p:nvPr/>
        </p:nvSpPr>
        <p:spPr>
          <a:xfrm>
            <a:off x="7772400" y="4069080"/>
            <a:ext cx="3959352" cy="3611880"/>
          </a:xfrm>
          <a:prstGeom prst="roundRect">
            <a:avLst>
              <a:gd name="adj" fmla="val 4051"/>
            </a:avLst>
          </a:prstGeom>
          <a:solidFill>
            <a:srgbClr val="FFFFFF"/>
          </a:solidFill>
          <a:ln/>
          <a:effectLst>
            <a:outerShdw sx="100000" sy="100000" kx="0" ky="0" algn="bl" rotWithShape="0" blurRad="101600" dist="25400" dir="5400000">
              <a:srgbClr val="000000">
                <a:alpha val="12000"/>
              </a:srgbClr>
            </a:outerShdw>
          </a:effectLst>
        </p:spPr>
      </p:sp>
      <p:sp>
        <p:nvSpPr>
          <p:cNvPr id="9" name="Text 6"/>
          <p:cNvSpPr txBox="1"/>
          <p:nvPr/>
        </p:nvSpPr>
        <p:spPr>
          <a:xfrm>
            <a:off x="8046720" y="4206240"/>
            <a:ext cx="3410712" cy="457200"/>
          </a:xfrm>
          <a:prstGeom prst="rect">
            <a:avLst/>
          </a:prstGeom>
          <a:noFill/>
          <a:ln/>
        </p:spPr>
        <p:txBody>
          <a:bodyPr wrap="square" lIns="0" tIns="0" rIns="0" bIns="0" rtlCol="0" anchor="ctr"/>
          <a:lstStyle/>
          <a:p>
            <a:pPr rtl="1" algn="r" indent="0" marL="0">
              <a:buNone/>
            </a:pPr>
            <a:r>
              <a:rPr lang="en-US" sz="1700" b="1" dirty="0">
                <a:solidFill>
                  <a:srgbClr val="1F2A37"/>
                </a:solidFill>
                <a:latin typeface="Arial" pitchFamily="34" charset="0"/>
                <a:ea typeface="Arial" pitchFamily="34" charset="-122"/>
                <a:cs typeface="Arial" pitchFamily="34" charset="-120"/>
              </a:rPr>
              <a:t>سيناريوهات 2030</a:t>
            </a:r>
            <a:endParaRPr lang="en-US" sz="1700" dirty="0"/>
          </a:p>
        </p:txBody>
      </p:sp>
      <p:sp>
        <p:nvSpPr>
          <p:cNvPr id="10" name="Shape 7"/>
          <p:cNvSpPr/>
          <p:nvPr/>
        </p:nvSpPr>
        <p:spPr>
          <a:xfrm>
            <a:off x="8046720" y="4754880"/>
            <a:ext cx="3410712" cy="0"/>
          </a:xfrm>
          <a:prstGeom prst="line">
            <a:avLst/>
          </a:prstGeom>
          <a:noFill/>
          <a:ln w="12700">
            <a:solidFill>
              <a:srgbClr val="D5DFDA"/>
            </a:solidFill>
            <a:prstDash val="solid"/>
          </a:ln>
        </p:spPr>
      </p:sp>
      <p:sp>
        <p:nvSpPr>
          <p:cNvPr id="11" name="Text 8"/>
          <p:cNvSpPr txBox="1"/>
          <p:nvPr/>
        </p:nvSpPr>
        <p:spPr>
          <a:xfrm>
            <a:off x="9509760" y="4800600"/>
            <a:ext cx="1947672" cy="7315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متحفظ · 7%</a:t>
            </a:r>
            <a:endParaRPr lang="en-US" sz="1600" dirty="0"/>
          </a:p>
        </p:txBody>
      </p:sp>
      <p:sp>
        <p:nvSpPr>
          <p:cNvPr id="12" name="Text 9"/>
          <p:cNvSpPr txBox="1"/>
          <p:nvPr/>
        </p:nvSpPr>
        <p:spPr>
          <a:xfrm>
            <a:off x="8046720" y="4800600"/>
            <a:ext cx="1554480" cy="731520"/>
          </a:xfrm>
          <a:prstGeom prst="rect">
            <a:avLst/>
          </a:prstGeom>
          <a:noFill/>
          <a:ln/>
        </p:spPr>
        <p:txBody>
          <a:bodyPr wrap="square" lIns="0" tIns="0" rIns="0" bIns="0" rtlCol="0" anchor="ctr"/>
          <a:lstStyle/>
          <a:p>
            <a:pPr rtl="1" algn="l" indent="0" marL="0">
              <a:buNone/>
            </a:pPr>
            <a:r>
              <a:rPr lang="en-US" sz="1700" b="1" dirty="0">
                <a:solidFill>
                  <a:srgbClr val="006A46"/>
                </a:solidFill>
                <a:latin typeface="Arial" pitchFamily="34" charset="0"/>
                <a:ea typeface="Arial" pitchFamily="34" charset="-122"/>
                <a:cs typeface="Arial" pitchFamily="34" charset="-120"/>
              </a:rPr>
              <a:t>5.1 مليار</a:t>
            </a:r>
            <a:endParaRPr lang="en-US" sz="1700" dirty="0"/>
          </a:p>
        </p:txBody>
      </p:sp>
      <p:sp>
        <p:nvSpPr>
          <p:cNvPr id="13" name="Shape 10"/>
          <p:cNvSpPr/>
          <p:nvPr/>
        </p:nvSpPr>
        <p:spPr>
          <a:xfrm>
            <a:off x="8046720" y="5669280"/>
            <a:ext cx="3410712" cy="0"/>
          </a:xfrm>
          <a:prstGeom prst="line">
            <a:avLst/>
          </a:prstGeom>
          <a:noFill/>
          <a:ln w="12700">
            <a:solidFill>
              <a:srgbClr val="D5DFDA"/>
            </a:solidFill>
            <a:prstDash val="solid"/>
          </a:ln>
        </p:spPr>
      </p:sp>
      <p:sp>
        <p:nvSpPr>
          <p:cNvPr id="14" name="Text 11"/>
          <p:cNvSpPr txBox="1"/>
          <p:nvPr/>
        </p:nvSpPr>
        <p:spPr>
          <a:xfrm>
            <a:off x="9509760" y="5715000"/>
            <a:ext cx="1947672" cy="7315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أساسي · 10%</a:t>
            </a:r>
            <a:endParaRPr lang="en-US" sz="1600" dirty="0"/>
          </a:p>
        </p:txBody>
      </p:sp>
      <p:sp>
        <p:nvSpPr>
          <p:cNvPr id="15" name="Text 12"/>
          <p:cNvSpPr txBox="1"/>
          <p:nvPr/>
        </p:nvSpPr>
        <p:spPr>
          <a:xfrm>
            <a:off x="8046720" y="5715000"/>
            <a:ext cx="1554480" cy="731520"/>
          </a:xfrm>
          <a:prstGeom prst="rect">
            <a:avLst/>
          </a:prstGeom>
          <a:noFill/>
          <a:ln/>
        </p:spPr>
        <p:txBody>
          <a:bodyPr wrap="square" lIns="0" tIns="0" rIns="0" bIns="0" rtlCol="0" anchor="ctr"/>
          <a:lstStyle/>
          <a:p>
            <a:pPr rtl="1" algn="l" indent="0" marL="0">
              <a:buNone/>
            </a:pPr>
            <a:r>
              <a:rPr lang="en-US" sz="1700" b="1" dirty="0">
                <a:solidFill>
                  <a:srgbClr val="006A46"/>
                </a:solidFill>
                <a:latin typeface="Arial" pitchFamily="34" charset="0"/>
                <a:ea typeface="Arial" pitchFamily="34" charset="-122"/>
                <a:cs typeface="Arial" pitchFamily="34" charset="-120"/>
              </a:rPr>
              <a:t>5.9 مليار</a:t>
            </a:r>
            <a:endParaRPr lang="en-US" sz="1700" dirty="0"/>
          </a:p>
        </p:txBody>
      </p:sp>
      <p:sp>
        <p:nvSpPr>
          <p:cNvPr id="16" name="Shape 13"/>
          <p:cNvSpPr/>
          <p:nvPr/>
        </p:nvSpPr>
        <p:spPr>
          <a:xfrm>
            <a:off x="8046720" y="6583680"/>
            <a:ext cx="3410712" cy="0"/>
          </a:xfrm>
          <a:prstGeom prst="line">
            <a:avLst/>
          </a:prstGeom>
          <a:noFill/>
          <a:ln w="12700">
            <a:solidFill>
              <a:srgbClr val="D5DFDA"/>
            </a:solidFill>
            <a:prstDash val="solid"/>
          </a:ln>
        </p:spPr>
      </p:sp>
      <p:sp>
        <p:nvSpPr>
          <p:cNvPr id="17" name="Text 14"/>
          <p:cNvSpPr txBox="1"/>
          <p:nvPr/>
        </p:nvSpPr>
        <p:spPr>
          <a:xfrm>
            <a:off x="9509760" y="6629400"/>
            <a:ext cx="1947672" cy="7315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طموح · 14%</a:t>
            </a:r>
            <a:endParaRPr lang="en-US" sz="1600" dirty="0"/>
          </a:p>
        </p:txBody>
      </p:sp>
      <p:sp>
        <p:nvSpPr>
          <p:cNvPr id="18" name="Text 15"/>
          <p:cNvSpPr txBox="1"/>
          <p:nvPr/>
        </p:nvSpPr>
        <p:spPr>
          <a:xfrm>
            <a:off x="8046720" y="6629400"/>
            <a:ext cx="1554480" cy="731520"/>
          </a:xfrm>
          <a:prstGeom prst="rect">
            <a:avLst/>
          </a:prstGeom>
          <a:noFill/>
          <a:ln/>
        </p:spPr>
        <p:txBody>
          <a:bodyPr wrap="square" lIns="0" tIns="0" rIns="0" bIns="0" rtlCol="0" anchor="ctr"/>
          <a:lstStyle/>
          <a:p>
            <a:pPr rtl="1" algn="l" indent="0" marL="0">
              <a:buNone/>
            </a:pPr>
            <a:r>
              <a:rPr lang="en-US" sz="1700" b="1" dirty="0">
                <a:solidFill>
                  <a:srgbClr val="006A46"/>
                </a:solidFill>
                <a:latin typeface="Arial" pitchFamily="34" charset="0"/>
                <a:ea typeface="Arial" pitchFamily="34" charset="-122"/>
                <a:cs typeface="Arial" pitchFamily="34" charset="-120"/>
              </a:rPr>
              <a:t>7.0 مليار</a:t>
            </a:r>
            <a:endParaRPr lang="en-US" sz="17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إدارة واحدة، ثلاث إدارات، تسعة أقسام</a:t>
            </a:r>
            <a:endParaRPr lang="en-US" sz="3200" dirty="0"/>
          </a:p>
        </p:txBody>
      </p:sp>
      <p:sp>
        <p:nvSpPr>
          <p:cNvPr id="3" name="Shape 1"/>
          <p:cNvSpPr/>
          <p:nvPr/>
        </p:nvSpPr>
        <p:spPr>
          <a:xfrm>
            <a:off x="9221724" y="1508760"/>
            <a:ext cx="2510028" cy="777240"/>
          </a:xfrm>
          <a:prstGeom prst="roundRect">
            <a:avLst>
              <a:gd name="adj" fmla="val 18824"/>
            </a:avLst>
          </a:prstGeom>
          <a:solidFill>
            <a:srgbClr val="FFFFFF"/>
          </a:solidFill>
          <a:ln w="12700">
            <a:solidFill>
              <a:srgbClr val="D5DFDA"/>
            </a:solidFill>
            <a:prstDash val="solid"/>
          </a:ln>
        </p:spPr>
      </p:sp>
      <p:sp>
        <p:nvSpPr>
          <p:cNvPr id="4" name="Text 2"/>
          <p:cNvSpPr txBox="1"/>
          <p:nvPr/>
        </p:nvSpPr>
        <p:spPr>
          <a:xfrm>
            <a:off x="9221724" y="1508760"/>
            <a:ext cx="2510028" cy="777240"/>
          </a:xfrm>
          <a:prstGeom prst="rect">
            <a:avLst/>
          </a:prstGeom>
          <a:noFill/>
          <a:ln/>
        </p:spPr>
        <p:txBody>
          <a:bodyPr wrap="square" lIns="0" tIns="0" rIns="0" bIns="0" rtlCol="0" anchor="ctr"/>
          <a:lstStyle/>
          <a:p>
            <a:pPr rtl="1" algn="ctr" indent="0" marL="0">
              <a:buNone/>
            </a:pPr>
            <a:r>
              <a:rPr lang="en-US" sz="1500" b="1" dirty="0">
                <a:solidFill>
                  <a:srgbClr val="394B5F"/>
                </a:solidFill>
                <a:latin typeface="Arial" pitchFamily="34" charset="0"/>
                <a:ea typeface="Arial" pitchFamily="34" charset="-122"/>
                <a:cs typeface="Arial" pitchFamily="34" charset="-120"/>
              </a:rPr>
              <a:t>سمو الأمين</a:t>
            </a:r>
            <a:endParaRPr lang="en-US" sz="1500" dirty="0"/>
          </a:p>
        </p:txBody>
      </p:sp>
      <p:sp>
        <p:nvSpPr>
          <p:cNvPr id="5" name="Text 3"/>
          <p:cNvSpPr txBox="1"/>
          <p:nvPr/>
        </p:nvSpPr>
        <p:spPr>
          <a:xfrm>
            <a:off x="8810244" y="1508760"/>
            <a:ext cx="411480" cy="777240"/>
          </a:xfrm>
          <a:prstGeom prst="rect">
            <a:avLst/>
          </a:prstGeom>
          <a:noFill/>
          <a:ln/>
        </p:spPr>
        <p:txBody>
          <a:bodyPr wrap="square" lIns="0" tIns="0" rIns="0" bIns="0" rtlCol="0" anchor="ctr"/>
          <a:lstStyle/>
          <a:p>
            <a:pPr rtl="1" algn="ctr" indent="0" marL="0">
              <a:buNone/>
            </a:pPr>
            <a:r>
              <a:rPr lang="en-US" sz="2000" dirty="0">
                <a:solidFill>
                  <a:srgbClr val="6B7785"/>
                </a:solidFill>
                <a:latin typeface="Arial" pitchFamily="34" charset="0"/>
                <a:ea typeface="Arial" pitchFamily="34" charset="-122"/>
                <a:cs typeface="Arial" pitchFamily="34" charset="-120"/>
              </a:rPr>
              <a:t>←</a:t>
            </a:r>
            <a:endParaRPr lang="en-US" sz="2000" dirty="0"/>
          </a:p>
        </p:txBody>
      </p:sp>
      <p:sp>
        <p:nvSpPr>
          <p:cNvPr id="6" name="Shape 4"/>
          <p:cNvSpPr/>
          <p:nvPr/>
        </p:nvSpPr>
        <p:spPr>
          <a:xfrm>
            <a:off x="6300216" y="1508760"/>
            <a:ext cx="2510028" cy="777240"/>
          </a:xfrm>
          <a:prstGeom prst="roundRect">
            <a:avLst>
              <a:gd name="adj" fmla="val 18824"/>
            </a:avLst>
          </a:prstGeom>
          <a:solidFill>
            <a:srgbClr val="FFFFFF"/>
          </a:solidFill>
          <a:ln w="12700">
            <a:solidFill>
              <a:srgbClr val="D5DFDA"/>
            </a:solidFill>
            <a:prstDash val="solid"/>
          </a:ln>
        </p:spPr>
      </p:sp>
      <p:sp>
        <p:nvSpPr>
          <p:cNvPr id="7" name="Text 5"/>
          <p:cNvSpPr txBox="1"/>
          <p:nvPr/>
        </p:nvSpPr>
        <p:spPr>
          <a:xfrm>
            <a:off x="6300216" y="1508760"/>
            <a:ext cx="2510028" cy="777240"/>
          </a:xfrm>
          <a:prstGeom prst="rect">
            <a:avLst/>
          </a:prstGeom>
          <a:noFill/>
          <a:ln/>
        </p:spPr>
        <p:txBody>
          <a:bodyPr wrap="square" lIns="0" tIns="0" rIns="0" bIns="0" rtlCol="0" anchor="ctr"/>
          <a:lstStyle/>
          <a:p>
            <a:pPr rtl="1" algn="ctr" indent="0" marL="0">
              <a:buNone/>
            </a:pPr>
            <a:r>
              <a:rPr lang="en-US" sz="1500" b="1" dirty="0">
                <a:solidFill>
                  <a:srgbClr val="394B5F"/>
                </a:solidFill>
                <a:latin typeface="Arial" pitchFamily="34" charset="0"/>
                <a:ea typeface="Arial" pitchFamily="34" charset="-122"/>
                <a:cs typeface="Arial" pitchFamily="34" charset="-120"/>
              </a:rPr>
              <a:t>مساعد الأمين لإدارة المدينة</a:t>
            </a:r>
            <a:endParaRPr lang="en-US" sz="1500" dirty="0"/>
          </a:p>
        </p:txBody>
      </p:sp>
      <p:sp>
        <p:nvSpPr>
          <p:cNvPr id="8" name="Text 6"/>
          <p:cNvSpPr txBox="1"/>
          <p:nvPr/>
        </p:nvSpPr>
        <p:spPr>
          <a:xfrm>
            <a:off x="5888736" y="1508760"/>
            <a:ext cx="411480" cy="777240"/>
          </a:xfrm>
          <a:prstGeom prst="rect">
            <a:avLst/>
          </a:prstGeom>
          <a:noFill/>
          <a:ln/>
        </p:spPr>
        <p:txBody>
          <a:bodyPr wrap="square" lIns="0" tIns="0" rIns="0" bIns="0" rtlCol="0" anchor="ctr"/>
          <a:lstStyle/>
          <a:p>
            <a:pPr rtl="1" algn="ctr" indent="0" marL="0">
              <a:buNone/>
            </a:pPr>
            <a:r>
              <a:rPr lang="en-US" sz="2000" dirty="0">
                <a:solidFill>
                  <a:srgbClr val="6B7785"/>
                </a:solidFill>
                <a:latin typeface="Arial" pitchFamily="34" charset="0"/>
                <a:ea typeface="Arial" pitchFamily="34" charset="-122"/>
                <a:cs typeface="Arial" pitchFamily="34" charset="-120"/>
              </a:rPr>
              <a:t>←</a:t>
            </a:r>
            <a:endParaRPr lang="en-US" sz="2000" dirty="0"/>
          </a:p>
        </p:txBody>
      </p:sp>
      <p:sp>
        <p:nvSpPr>
          <p:cNvPr id="9" name="Shape 7"/>
          <p:cNvSpPr/>
          <p:nvPr/>
        </p:nvSpPr>
        <p:spPr>
          <a:xfrm>
            <a:off x="3378708" y="1508760"/>
            <a:ext cx="2510028" cy="777240"/>
          </a:xfrm>
          <a:prstGeom prst="roundRect">
            <a:avLst>
              <a:gd name="adj" fmla="val 18824"/>
            </a:avLst>
          </a:prstGeom>
          <a:solidFill>
            <a:srgbClr val="FFFFFF"/>
          </a:solidFill>
          <a:ln w="12700">
            <a:solidFill>
              <a:srgbClr val="D5DFDA"/>
            </a:solidFill>
            <a:prstDash val="solid"/>
          </a:ln>
        </p:spPr>
      </p:sp>
      <p:sp>
        <p:nvSpPr>
          <p:cNvPr id="10" name="Text 8"/>
          <p:cNvSpPr txBox="1"/>
          <p:nvPr/>
        </p:nvSpPr>
        <p:spPr>
          <a:xfrm>
            <a:off x="3378708" y="1508760"/>
            <a:ext cx="2510028" cy="777240"/>
          </a:xfrm>
          <a:prstGeom prst="rect">
            <a:avLst/>
          </a:prstGeom>
          <a:noFill/>
          <a:ln/>
        </p:spPr>
        <p:txBody>
          <a:bodyPr wrap="square" lIns="0" tIns="0" rIns="0" bIns="0" rtlCol="0" anchor="ctr"/>
          <a:lstStyle/>
          <a:p>
            <a:pPr rtl="1" algn="ctr" indent="0" marL="0">
              <a:buNone/>
            </a:pPr>
            <a:r>
              <a:rPr lang="en-US" sz="1500" b="1" dirty="0">
                <a:solidFill>
                  <a:srgbClr val="394B5F"/>
                </a:solidFill>
                <a:latin typeface="Arial" pitchFamily="34" charset="0"/>
                <a:ea typeface="Arial" pitchFamily="34" charset="-122"/>
                <a:cs typeface="Arial" pitchFamily="34" charset="-120"/>
              </a:rPr>
              <a:t>وكالة الخدمات المؤسسية</a:t>
            </a:r>
            <a:endParaRPr lang="en-US" sz="1500" dirty="0"/>
          </a:p>
        </p:txBody>
      </p:sp>
      <p:sp>
        <p:nvSpPr>
          <p:cNvPr id="11" name="Text 9"/>
          <p:cNvSpPr txBox="1"/>
          <p:nvPr/>
        </p:nvSpPr>
        <p:spPr>
          <a:xfrm>
            <a:off x="2967228" y="1508760"/>
            <a:ext cx="411480" cy="777240"/>
          </a:xfrm>
          <a:prstGeom prst="rect">
            <a:avLst/>
          </a:prstGeom>
          <a:noFill/>
          <a:ln/>
        </p:spPr>
        <p:txBody>
          <a:bodyPr wrap="square" lIns="0" tIns="0" rIns="0" bIns="0" rtlCol="0" anchor="ctr"/>
          <a:lstStyle/>
          <a:p>
            <a:pPr rtl="1" algn="ctr" indent="0" marL="0">
              <a:buNone/>
            </a:pPr>
            <a:r>
              <a:rPr lang="en-US" sz="2000" dirty="0">
                <a:solidFill>
                  <a:srgbClr val="6B7785"/>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457200" y="1508760"/>
            <a:ext cx="2510028" cy="777240"/>
          </a:xfrm>
          <a:prstGeom prst="roundRect">
            <a:avLst>
              <a:gd name="adj" fmla="val 18824"/>
            </a:avLst>
          </a:prstGeom>
          <a:solidFill>
            <a:srgbClr val="006A46"/>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457200" y="1508760"/>
            <a:ext cx="2510028" cy="777240"/>
          </a:xfrm>
          <a:prstGeom prst="rect">
            <a:avLst/>
          </a:prstGeom>
          <a:noFill/>
          <a:ln/>
        </p:spPr>
        <p:txBody>
          <a:bodyPr wrap="square" lIns="0" tIns="0" rIns="0" bIns="0"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إدارة الإيرادات والتمويل</a:t>
            </a:r>
            <a:endParaRPr lang="en-US" sz="1500" dirty="0"/>
          </a:p>
        </p:txBody>
      </p:sp>
      <p:sp>
        <p:nvSpPr>
          <p:cNvPr id="14" name="Shape 12"/>
          <p:cNvSpPr/>
          <p:nvPr/>
        </p:nvSpPr>
        <p:spPr>
          <a:xfrm>
            <a:off x="8217408" y="2606040"/>
            <a:ext cx="3514344" cy="868680"/>
          </a:xfrm>
          <a:prstGeom prst="roundRect">
            <a:avLst>
              <a:gd name="adj" fmla="val 16842"/>
            </a:avLst>
          </a:prstGeom>
          <a:solidFill>
            <a:srgbClr val="006A46"/>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8400288" y="2606040"/>
            <a:ext cx="3148584" cy="86868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إدارة تخطيط ومراقبة الإيرادات</a:t>
            </a:r>
            <a:endParaRPr lang="en-US" sz="1800" dirty="0"/>
          </a:p>
        </p:txBody>
      </p:sp>
      <p:sp>
        <p:nvSpPr>
          <p:cNvPr id="16" name="Shape 14"/>
          <p:cNvSpPr/>
          <p:nvPr/>
        </p:nvSpPr>
        <p:spPr>
          <a:xfrm>
            <a:off x="8217408" y="3611880"/>
            <a:ext cx="3514344" cy="731520"/>
          </a:xfrm>
          <a:prstGeom prst="roundRect">
            <a:avLst>
              <a:gd name="adj" fmla="val 20000"/>
            </a:avLst>
          </a:prstGeom>
          <a:solidFill>
            <a:srgbClr val="FFFFFF"/>
          </a:solidFill>
          <a:ln w="12700">
            <a:solidFill>
              <a:srgbClr val="D5DFDA"/>
            </a:solidFill>
            <a:prstDash val="solid"/>
          </a:ln>
        </p:spPr>
      </p:sp>
      <p:sp>
        <p:nvSpPr>
          <p:cNvPr id="17" name="Text 15"/>
          <p:cNvSpPr txBox="1"/>
          <p:nvPr/>
        </p:nvSpPr>
        <p:spPr>
          <a:xfrm>
            <a:off x="8446008" y="361188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تخطيط الإيرادات والتنبؤ بها</a:t>
            </a:r>
            <a:endParaRPr lang="en-US" sz="1500" dirty="0"/>
          </a:p>
        </p:txBody>
      </p:sp>
      <p:sp>
        <p:nvSpPr>
          <p:cNvPr id="18" name="Shape 16"/>
          <p:cNvSpPr/>
          <p:nvPr/>
        </p:nvSpPr>
        <p:spPr>
          <a:xfrm>
            <a:off x="8217408" y="4480560"/>
            <a:ext cx="3514344" cy="731520"/>
          </a:xfrm>
          <a:prstGeom prst="roundRect">
            <a:avLst>
              <a:gd name="adj" fmla="val 20000"/>
            </a:avLst>
          </a:prstGeom>
          <a:solidFill>
            <a:srgbClr val="FFFFFF"/>
          </a:solidFill>
          <a:ln w="12700">
            <a:solidFill>
              <a:srgbClr val="D5DFDA"/>
            </a:solidFill>
            <a:prstDash val="solid"/>
          </a:ln>
        </p:spPr>
      </p:sp>
      <p:sp>
        <p:nvSpPr>
          <p:cNvPr id="19" name="Text 17"/>
          <p:cNvSpPr txBox="1"/>
          <p:nvPr/>
        </p:nvSpPr>
        <p:spPr>
          <a:xfrm>
            <a:off x="8446008" y="448056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مراقبة الإيرادات والتحصيل</a:t>
            </a:r>
            <a:endParaRPr lang="en-US" sz="1500" dirty="0"/>
          </a:p>
        </p:txBody>
      </p:sp>
      <p:sp>
        <p:nvSpPr>
          <p:cNvPr id="20" name="Shape 18"/>
          <p:cNvSpPr/>
          <p:nvPr/>
        </p:nvSpPr>
        <p:spPr>
          <a:xfrm>
            <a:off x="8217408" y="5349240"/>
            <a:ext cx="3514344" cy="731520"/>
          </a:xfrm>
          <a:prstGeom prst="roundRect">
            <a:avLst>
              <a:gd name="adj" fmla="val 20000"/>
            </a:avLst>
          </a:prstGeom>
          <a:solidFill>
            <a:srgbClr val="FFFFFF"/>
          </a:solidFill>
          <a:ln w="12700">
            <a:solidFill>
              <a:srgbClr val="D5DFDA"/>
            </a:solidFill>
            <a:prstDash val="solid"/>
          </a:ln>
        </p:spPr>
      </p:sp>
      <p:sp>
        <p:nvSpPr>
          <p:cNvPr id="21" name="Text 19"/>
          <p:cNvSpPr txBox="1"/>
          <p:nvPr/>
        </p:nvSpPr>
        <p:spPr>
          <a:xfrm>
            <a:off x="8446008" y="534924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تنمية الإيرادات وتنويعها</a:t>
            </a:r>
            <a:endParaRPr lang="en-US" sz="1500" dirty="0"/>
          </a:p>
        </p:txBody>
      </p:sp>
      <p:sp>
        <p:nvSpPr>
          <p:cNvPr id="22" name="Shape 20"/>
          <p:cNvSpPr/>
          <p:nvPr/>
        </p:nvSpPr>
        <p:spPr>
          <a:xfrm>
            <a:off x="4337304" y="2606040"/>
            <a:ext cx="3514344" cy="868680"/>
          </a:xfrm>
          <a:prstGeom prst="roundRect">
            <a:avLst>
              <a:gd name="adj" fmla="val 16842"/>
            </a:avLst>
          </a:prstGeom>
          <a:solidFill>
            <a:srgbClr val="0B6B73"/>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4520184" y="2606040"/>
            <a:ext cx="3148584" cy="86868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إدارة الائتمان والتمويل</a:t>
            </a:r>
            <a:endParaRPr lang="en-US" sz="1800" dirty="0"/>
          </a:p>
        </p:txBody>
      </p:sp>
      <p:sp>
        <p:nvSpPr>
          <p:cNvPr id="24" name="Shape 22"/>
          <p:cNvSpPr/>
          <p:nvPr/>
        </p:nvSpPr>
        <p:spPr>
          <a:xfrm>
            <a:off x="4337304" y="3611880"/>
            <a:ext cx="3514344" cy="731520"/>
          </a:xfrm>
          <a:prstGeom prst="roundRect">
            <a:avLst>
              <a:gd name="adj" fmla="val 20000"/>
            </a:avLst>
          </a:prstGeom>
          <a:solidFill>
            <a:srgbClr val="FFFFFF"/>
          </a:solidFill>
          <a:ln w="12700">
            <a:solidFill>
              <a:srgbClr val="D5DFDA"/>
            </a:solidFill>
            <a:prstDash val="solid"/>
          </a:ln>
        </p:spPr>
      </p:sp>
      <p:sp>
        <p:nvSpPr>
          <p:cNvPr id="25" name="Text 23"/>
          <p:cNvSpPr txBox="1"/>
          <p:nvPr/>
        </p:nvSpPr>
        <p:spPr>
          <a:xfrm>
            <a:off x="4565904" y="361188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أمانة اللجنة والمحفظة</a:t>
            </a:r>
            <a:endParaRPr lang="en-US" sz="1500" dirty="0"/>
          </a:p>
        </p:txBody>
      </p:sp>
      <p:sp>
        <p:nvSpPr>
          <p:cNvPr id="26" name="Shape 24"/>
          <p:cNvSpPr/>
          <p:nvPr/>
        </p:nvSpPr>
        <p:spPr>
          <a:xfrm>
            <a:off x="4337304" y="4480560"/>
            <a:ext cx="3514344" cy="731520"/>
          </a:xfrm>
          <a:prstGeom prst="roundRect">
            <a:avLst>
              <a:gd name="adj" fmla="val 20000"/>
            </a:avLst>
          </a:prstGeom>
          <a:solidFill>
            <a:srgbClr val="FFFFFF"/>
          </a:solidFill>
          <a:ln w="12700">
            <a:solidFill>
              <a:srgbClr val="D5DFDA"/>
            </a:solidFill>
            <a:prstDash val="solid"/>
          </a:ln>
        </p:spPr>
      </p:sp>
      <p:sp>
        <p:nvSpPr>
          <p:cNvPr id="27" name="Text 25"/>
          <p:cNvSpPr txBox="1"/>
          <p:nvPr/>
        </p:nvSpPr>
        <p:spPr>
          <a:xfrm>
            <a:off x="4565904" y="448056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التمويل الاستثماري والحكومي</a:t>
            </a:r>
            <a:endParaRPr lang="en-US" sz="1500" dirty="0"/>
          </a:p>
        </p:txBody>
      </p:sp>
      <p:sp>
        <p:nvSpPr>
          <p:cNvPr id="28" name="Shape 26"/>
          <p:cNvSpPr/>
          <p:nvPr/>
        </p:nvSpPr>
        <p:spPr>
          <a:xfrm>
            <a:off x="4337304" y="5349240"/>
            <a:ext cx="3514344" cy="731520"/>
          </a:xfrm>
          <a:prstGeom prst="roundRect">
            <a:avLst>
              <a:gd name="adj" fmla="val 20000"/>
            </a:avLst>
          </a:prstGeom>
          <a:solidFill>
            <a:srgbClr val="FFFFFF"/>
          </a:solidFill>
          <a:ln w="12700">
            <a:solidFill>
              <a:srgbClr val="D5DFDA"/>
            </a:solidFill>
            <a:prstDash val="solid"/>
          </a:ln>
        </p:spPr>
      </p:sp>
      <p:sp>
        <p:nvSpPr>
          <p:cNvPr id="29" name="Text 27"/>
          <p:cNvSpPr txBox="1"/>
          <p:nvPr/>
        </p:nvSpPr>
        <p:spPr>
          <a:xfrm>
            <a:off x="4565904" y="534924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التمويل البنكي وأسواق المال</a:t>
            </a:r>
            <a:endParaRPr lang="en-US" sz="1500" dirty="0"/>
          </a:p>
        </p:txBody>
      </p:sp>
      <p:sp>
        <p:nvSpPr>
          <p:cNvPr id="30" name="Shape 28"/>
          <p:cNvSpPr/>
          <p:nvPr/>
        </p:nvSpPr>
        <p:spPr>
          <a:xfrm>
            <a:off x="457200" y="2606040"/>
            <a:ext cx="3514344" cy="868680"/>
          </a:xfrm>
          <a:prstGeom prst="roundRect">
            <a:avLst>
              <a:gd name="adj" fmla="val 16842"/>
            </a:avLst>
          </a:prstGeom>
          <a:solidFill>
            <a:srgbClr val="B7801A"/>
          </a:solidFill>
          <a:ln/>
          <a:effectLst>
            <a:outerShdw sx="100000" sy="100000" kx="0" ky="0" algn="bl" rotWithShape="0" blurRad="101600" dist="25400" dir="5400000">
              <a:srgbClr val="000000">
                <a:alpha val="12000"/>
              </a:srgbClr>
            </a:outerShdw>
          </a:effectLst>
        </p:spPr>
      </p:sp>
      <p:sp>
        <p:nvSpPr>
          <p:cNvPr id="31" name="Text 29"/>
          <p:cNvSpPr txBox="1"/>
          <p:nvPr/>
        </p:nvSpPr>
        <p:spPr>
          <a:xfrm>
            <a:off x="640080" y="2606040"/>
            <a:ext cx="3148584" cy="86868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إدارة الاستدامة المالية</a:t>
            </a:r>
            <a:endParaRPr lang="en-US" sz="1800" dirty="0"/>
          </a:p>
        </p:txBody>
      </p:sp>
      <p:sp>
        <p:nvSpPr>
          <p:cNvPr id="32" name="Shape 30"/>
          <p:cNvSpPr/>
          <p:nvPr/>
        </p:nvSpPr>
        <p:spPr>
          <a:xfrm>
            <a:off x="457200" y="3611880"/>
            <a:ext cx="3514344" cy="731520"/>
          </a:xfrm>
          <a:prstGeom prst="roundRect">
            <a:avLst>
              <a:gd name="adj" fmla="val 20000"/>
            </a:avLst>
          </a:prstGeom>
          <a:solidFill>
            <a:srgbClr val="FFFFFF"/>
          </a:solidFill>
          <a:ln w="12700">
            <a:solidFill>
              <a:srgbClr val="D5DFDA"/>
            </a:solidFill>
            <a:prstDash val="solid"/>
          </a:ln>
        </p:spPr>
      </p:sp>
      <p:sp>
        <p:nvSpPr>
          <p:cNvPr id="33" name="Text 31"/>
          <p:cNvSpPr txBox="1"/>
          <p:nvPr/>
        </p:nvSpPr>
        <p:spPr>
          <a:xfrm>
            <a:off x="685800" y="361188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السياسات والقواعد المالية</a:t>
            </a:r>
            <a:endParaRPr lang="en-US" sz="1500" dirty="0"/>
          </a:p>
        </p:txBody>
      </p:sp>
      <p:sp>
        <p:nvSpPr>
          <p:cNvPr id="34" name="Shape 32"/>
          <p:cNvSpPr/>
          <p:nvPr/>
        </p:nvSpPr>
        <p:spPr>
          <a:xfrm>
            <a:off x="457200" y="4480560"/>
            <a:ext cx="3514344" cy="731520"/>
          </a:xfrm>
          <a:prstGeom prst="roundRect">
            <a:avLst>
              <a:gd name="adj" fmla="val 20000"/>
            </a:avLst>
          </a:prstGeom>
          <a:solidFill>
            <a:srgbClr val="FFFFFF"/>
          </a:solidFill>
          <a:ln w="12700">
            <a:solidFill>
              <a:srgbClr val="D5DFDA"/>
            </a:solidFill>
            <a:prstDash val="solid"/>
          </a:ln>
        </p:spPr>
      </p:sp>
      <p:sp>
        <p:nvSpPr>
          <p:cNvPr id="35" name="Text 33"/>
          <p:cNvSpPr txBox="1"/>
          <p:nvPr/>
        </p:nvSpPr>
        <p:spPr>
          <a:xfrm>
            <a:off x="685800" y="448056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المخاطر والالتزامات المالية</a:t>
            </a:r>
            <a:endParaRPr lang="en-US" sz="1500" dirty="0"/>
          </a:p>
        </p:txBody>
      </p:sp>
      <p:sp>
        <p:nvSpPr>
          <p:cNvPr id="36" name="Shape 34"/>
          <p:cNvSpPr/>
          <p:nvPr/>
        </p:nvSpPr>
        <p:spPr>
          <a:xfrm>
            <a:off x="457200" y="5349240"/>
            <a:ext cx="3514344" cy="731520"/>
          </a:xfrm>
          <a:prstGeom prst="roundRect">
            <a:avLst>
              <a:gd name="adj" fmla="val 20000"/>
            </a:avLst>
          </a:prstGeom>
          <a:solidFill>
            <a:srgbClr val="FFFFFF"/>
          </a:solidFill>
          <a:ln w="12700">
            <a:solidFill>
              <a:srgbClr val="D5DFDA"/>
            </a:solidFill>
            <a:prstDash val="solid"/>
          </a:ln>
        </p:spPr>
      </p:sp>
      <p:sp>
        <p:nvSpPr>
          <p:cNvPr id="37" name="Text 35"/>
          <p:cNvSpPr txBox="1"/>
          <p:nvPr/>
        </p:nvSpPr>
        <p:spPr>
          <a:xfrm>
            <a:off x="685800" y="5349240"/>
            <a:ext cx="3057144" cy="731520"/>
          </a:xfrm>
          <a:prstGeom prst="rect">
            <a:avLst/>
          </a:prstGeom>
          <a:noFill/>
          <a:ln/>
        </p:spPr>
        <p:txBody>
          <a:bodyPr wrap="square" lIns="0" tIns="0" rIns="0" bIns="0" rtlCol="0" anchor="ctr"/>
          <a:lstStyle/>
          <a:p>
            <a:pPr rtl="1" algn="r" indent="0" marL="0">
              <a:buNone/>
            </a:pPr>
            <a:r>
              <a:rPr lang="en-US" sz="1500" dirty="0">
                <a:solidFill>
                  <a:srgbClr val="1F2A37"/>
                </a:solidFill>
                <a:latin typeface="Arial" pitchFamily="34" charset="0"/>
                <a:ea typeface="Arial" pitchFamily="34" charset="-122"/>
                <a:cs typeface="Arial" pitchFamily="34" charset="-120"/>
              </a:rPr>
              <a:t>قسم الإسقاطات المالية وكفاءة الإنفاق</a:t>
            </a:r>
            <a:endParaRPr lang="en-US" sz="1500" dirty="0"/>
          </a:p>
        </p:txBody>
      </p:sp>
      <p:sp>
        <p:nvSpPr>
          <p:cNvPr id="38" name="Shape 36"/>
          <p:cNvSpPr/>
          <p:nvPr/>
        </p:nvSpPr>
        <p:spPr>
          <a:xfrm>
            <a:off x="457200" y="6400800"/>
            <a:ext cx="11274552" cy="1051560"/>
          </a:xfrm>
          <a:prstGeom prst="roundRect">
            <a:avLst>
              <a:gd name="adj" fmla="val 13913"/>
            </a:avLst>
          </a:prstGeom>
          <a:solidFill>
            <a:srgbClr val="F1F5F3"/>
          </a:solidFill>
          <a:ln/>
        </p:spPr>
      </p:sp>
      <p:sp>
        <p:nvSpPr>
          <p:cNvPr id="39" name="Text 37"/>
          <p:cNvSpPr txBox="1"/>
          <p:nvPr/>
        </p:nvSpPr>
        <p:spPr>
          <a:xfrm>
            <a:off x="731520" y="6400800"/>
            <a:ext cx="10725912" cy="1051560"/>
          </a:xfrm>
          <a:prstGeom prst="rect">
            <a:avLst/>
          </a:prstGeom>
          <a:noFill/>
          <a:ln/>
        </p:spPr>
        <p:txBody>
          <a:bodyPr wrap="square" lIns="0" tIns="0" rIns="0" bIns="0" rtlCol="0" anchor="ctr"/>
          <a:lstStyle/>
          <a:p>
            <a:pPr algn="r" indent="0" marL="0">
              <a:buNone/>
            </a:pPr>
            <a:r>
              <a:rPr lang="en-US" sz="1600" b="1" dirty="0">
                <a:solidFill>
                  <a:srgbClr val="0B6B73"/>
                </a:solidFill>
                <a:latin typeface="Arial" pitchFamily="34" charset="0"/>
                <a:ea typeface="Arial" pitchFamily="34" charset="-122"/>
                <a:cs typeface="Arial" pitchFamily="34" charset="-120"/>
              </a:rPr>
              <a:t>اللجنة العليا للتمويل: </a:t>
            </a:r>
            <a:pPr algn="r" indent="0" marL="0">
              <a:buNone/>
            </a:pPr>
            <a:r>
              <a:rPr lang="en-US" sz="1600" dirty="0">
                <a:solidFill>
                  <a:srgbClr val="1F2A37"/>
                </a:solidFill>
                <a:latin typeface="Arial" pitchFamily="34" charset="0"/>
                <a:ea typeface="Arial" pitchFamily="34" charset="-122"/>
                <a:cs typeface="Arial" pitchFamily="34" charset="-120"/>
              </a:rPr>
              <a:t>برئاسة مساعد الأمين لإدارة المدينة، وإدارة الائتمان والتمويل أمين سرها وذراعها التمكيني</a:t>
            </a:r>
            <a:endParaRPr lang="en-US" sz="16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إدارة تخطيط ومراقبة الإيرادات</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برج المراقبة المالي للأمانة ومصدرها الموحد لبيانات الإيرادات</a:t>
            </a:r>
            <a:endParaRPr lang="en-US" sz="1500" dirty="0"/>
          </a:p>
        </p:txBody>
      </p:sp>
      <p:sp>
        <p:nvSpPr>
          <p:cNvPr id="4" name="Shape 2"/>
          <p:cNvSpPr/>
          <p:nvPr/>
        </p:nvSpPr>
        <p:spPr>
          <a:xfrm>
            <a:off x="7680960" y="1645920"/>
            <a:ext cx="4050792" cy="6035040"/>
          </a:xfrm>
          <a:prstGeom prst="roundRect">
            <a:avLst>
              <a:gd name="adj" fmla="val 3612"/>
            </a:avLst>
          </a:prstGeom>
          <a:solidFill>
            <a:srgbClr val="006A46"/>
          </a:solidFill>
          <a:ln/>
          <a:effectLst>
            <a:outerShdw sx="100000" sy="100000" kx="0" ky="0" algn="bl" rotWithShape="0" blurRad="101600" dist="25400" dir="5400000">
              <a:srgbClr val="000000">
                <a:alpha val="12000"/>
              </a:srgbClr>
            </a:outerShdw>
          </a:effectLst>
        </p:spPr>
      </p:sp>
      <p:sp>
        <p:nvSpPr>
          <p:cNvPr id="5" name="Text 3"/>
          <p:cNvSpPr txBox="1"/>
          <p:nvPr/>
        </p:nvSpPr>
        <p:spPr>
          <a:xfrm>
            <a:off x="8001000" y="1828800"/>
            <a:ext cx="3410712" cy="457200"/>
          </a:xfrm>
          <a:prstGeom prst="rect">
            <a:avLst/>
          </a:prstGeom>
          <a:noFill/>
          <a:ln/>
        </p:spPr>
        <p:txBody>
          <a:bodyPr wrap="square" lIns="0" tIns="0" rIns="0" bIns="0" rtlCol="0" anchor="ctr"/>
          <a:lstStyle/>
          <a:p>
            <a:pPr rtl="1" algn="r" indent="0" marL="0">
              <a:buNone/>
            </a:pPr>
            <a:r>
              <a:rPr lang="en-US" sz="1800" b="1" dirty="0">
                <a:solidFill>
                  <a:srgbClr val="E4A42C"/>
                </a:solidFill>
                <a:latin typeface="Arial" pitchFamily="34" charset="0"/>
                <a:ea typeface="Arial" pitchFamily="34" charset="-122"/>
                <a:cs typeface="Arial" pitchFamily="34" charset="-120"/>
              </a:rPr>
              <a:t>دورها</a:t>
            </a:r>
            <a:endParaRPr lang="en-US" sz="1800" dirty="0"/>
          </a:p>
        </p:txBody>
      </p:sp>
      <p:sp>
        <p:nvSpPr>
          <p:cNvPr id="6" name="Text 4"/>
          <p:cNvSpPr txBox="1"/>
          <p:nvPr/>
        </p:nvSpPr>
        <p:spPr>
          <a:xfrm>
            <a:off x="8001000" y="2331720"/>
            <a:ext cx="3410712" cy="2194560"/>
          </a:xfrm>
          <a:prstGeom prst="rect">
            <a:avLst/>
          </a:prstGeom>
          <a:noFill/>
          <a:ln/>
        </p:spPr>
        <p:txBody>
          <a:bodyPr wrap="square" lIns="0" tIns="0" rIns="0" bIns="0" rtlCol="0" anchor="t"/>
          <a:lstStyle/>
          <a:p>
            <a:pPr rtl="1" algn="r" indent="0" marL="0">
              <a:buNone/>
            </a:pPr>
            <a:r>
              <a:rPr lang="en-US" sz="1700" dirty="0">
                <a:solidFill>
                  <a:srgbClr val="FFFFFF"/>
                </a:solidFill>
                <a:latin typeface="Arial" pitchFamily="34" charset="0"/>
                <a:ea typeface="Arial" pitchFamily="34" charset="-122"/>
                <a:cs typeface="Arial" pitchFamily="34" charset="-120"/>
              </a:rPr>
              <a:t>تخطط إيرادات الأمانة وتتنبأ بها وتوزّع مستهدفاتها، وتراقب أداء جهات التحصيل الـ54 وتقارنها، وتكتشف الفاقد، وتنوّع مصادر الإيرادات.</a:t>
            </a:r>
            <a:endParaRPr lang="en-US" sz="1700" dirty="0"/>
          </a:p>
        </p:txBody>
      </p:sp>
      <p:sp>
        <p:nvSpPr>
          <p:cNvPr id="7" name="Text 5"/>
          <p:cNvSpPr txBox="1"/>
          <p:nvPr/>
        </p:nvSpPr>
        <p:spPr>
          <a:xfrm>
            <a:off x="8001000" y="4663440"/>
            <a:ext cx="3410712" cy="457200"/>
          </a:xfrm>
          <a:prstGeom prst="rect">
            <a:avLst/>
          </a:prstGeom>
          <a:noFill/>
          <a:ln/>
        </p:spPr>
        <p:txBody>
          <a:bodyPr wrap="square" lIns="0" tIns="0" rIns="0" bIns="0" rtlCol="0" anchor="ctr"/>
          <a:lstStyle/>
          <a:p>
            <a:pPr rtl="1" algn="r" indent="0" marL="0">
              <a:buNone/>
            </a:pPr>
            <a:r>
              <a:rPr lang="en-US" sz="1800" b="1" dirty="0">
                <a:solidFill>
                  <a:srgbClr val="E4A42C"/>
                </a:solidFill>
                <a:latin typeface="Arial" pitchFamily="34" charset="0"/>
                <a:ea typeface="Arial" pitchFamily="34" charset="-122"/>
                <a:cs typeface="Arial" pitchFamily="34" charset="-120"/>
              </a:rPr>
              <a:t>أقسامها</a:t>
            </a:r>
            <a:endParaRPr lang="en-US" sz="1800" dirty="0"/>
          </a:p>
        </p:txBody>
      </p:sp>
      <p:sp>
        <p:nvSpPr>
          <p:cNvPr id="8" name="Text 6"/>
          <p:cNvSpPr txBox="1"/>
          <p:nvPr/>
        </p:nvSpPr>
        <p:spPr>
          <a:xfrm>
            <a:off x="8001000" y="5120640"/>
            <a:ext cx="3410712" cy="2286000"/>
          </a:xfrm>
          <a:prstGeom prst="rect">
            <a:avLst/>
          </a:prstGeom>
          <a:noFill/>
          <a:ln/>
        </p:spPr>
        <p:txBody>
          <a:bodyPr wrap="square" lIns="0" tIns="0" rIns="0" bIns="0" rtlCol="0" anchor="t"/>
          <a:lstStyle/>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تخطيط الإيرادات والتنبؤ بها</a:t>
            </a:r>
            <a:endParaRPr lang="en-US" sz="1600" dirty="0"/>
          </a:p>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مراقبة الإيرادات والتحصيل</a:t>
            </a:r>
            <a:endParaRPr lang="en-US" sz="1600" dirty="0"/>
          </a:p>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تنمية الإيرادات وتنويعها</a:t>
            </a:r>
            <a:endParaRPr lang="en-US" sz="1600" dirty="0"/>
          </a:p>
        </p:txBody>
      </p:sp>
      <p:sp>
        <p:nvSpPr>
          <p:cNvPr id="9" name="Shape 7"/>
          <p:cNvSpPr/>
          <p:nvPr/>
        </p:nvSpPr>
        <p:spPr>
          <a:xfrm>
            <a:off x="4069080" y="1645920"/>
            <a:ext cx="3337560" cy="2880360"/>
          </a:xfrm>
          <a:prstGeom prst="roundRect">
            <a:avLst>
              <a:gd name="adj" fmla="val 5079"/>
            </a:avLst>
          </a:prstGeom>
          <a:solidFill>
            <a:srgbClr val="FFFFFF"/>
          </a:solidFill>
          <a:ln/>
          <a:effectLst>
            <a:outerShdw sx="100000" sy="100000" kx="0" ky="0" algn="bl" rotWithShape="0" blurRad="101600" dist="25400" dir="5400000">
              <a:srgbClr val="000000">
                <a:alpha val="12000"/>
              </a:srgbClr>
            </a:outerShdw>
          </a:effectLst>
        </p:spPr>
      </p:sp>
      <p:sp>
        <p:nvSpPr>
          <p:cNvPr id="10" name="Shape 8"/>
          <p:cNvSpPr/>
          <p:nvPr/>
        </p:nvSpPr>
        <p:spPr>
          <a:xfrm>
            <a:off x="6537960" y="1920240"/>
            <a:ext cx="594360" cy="594360"/>
          </a:xfrm>
          <a:prstGeom prst="ellipse">
            <a:avLst/>
          </a:prstGeom>
          <a:solidFill>
            <a:srgbClr val="006A46"/>
          </a:solidFill>
          <a:ln/>
        </p:spPr>
      </p:sp>
      <p:sp>
        <p:nvSpPr>
          <p:cNvPr id="11" name="Text 9"/>
          <p:cNvSpPr txBox="1"/>
          <p:nvPr/>
        </p:nvSpPr>
        <p:spPr>
          <a:xfrm>
            <a:off x="6537960" y="192024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10"/>
          <p:cNvSpPr txBox="1"/>
          <p:nvPr/>
        </p:nvSpPr>
        <p:spPr>
          <a:xfrm>
            <a:off x="4343400" y="2651760"/>
            <a:ext cx="2788920" cy="914400"/>
          </a:xfrm>
          <a:prstGeom prst="rect">
            <a:avLst/>
          </a:prstGeom>
          <a:noFill/>
          <a:ln/>
        </p:spPr>
        <p:txBody>
          <a:bodyPr wrap="square" lIns="0" tIns="0" rIns="0" bIns="0" rtlCol="0" anchor="t"/>
          <a:lstStyle/>
          <a:p>
            <a:pPr rtl="1" algn="r" indent="0" marL="0">
              <a:buNone/>
            </a:pPr>
            <a:r>
              <a:rPr lang="en-US" sz="1800" b="1" dirty="0">
                <a:solidFill>
                  <a:srgbClr val="1F2A37"/>
                </a:solidFill>
                <a:latin typeface="Arial" pitchFamily="34" charset="0"/>
                <a:ea typeface="Arial" pitchFamily="34" charset="-122"/>
                <a:cs typeface="Arial" pitchFamily="34" charset="-120"/>
              </a:rPr>
              <a:t>تخطيط دقيق بمستهدف لكل جهة</a:t>
            </a:r>
            <a:endParaRPr lang="en-US" sz="1800" dirty="0"/>
          </a:p>
        </p:txBody>
      </p:sp>
      <p:sp>
        <p:nvSpPr>
          <p:cNvPr id="13" name="Text 11"/>
          <p:cNvSpPr txBox="1"/>
          <p:nvPr/>
        </p:nvSpPr>
        <p:spPr>
          <a:xfrm>
            <a:off x="4343400" y="3566160"/>
            <a:ext cx="2788920" cy="777240"/>
          </a:xfrm>
          <a:prstGeom prst="rect">
            <a:avLst/>
          </a:prstGeom>
          <a:noFill/>
          <a:ln/>
        </p:spPr>
        <p:txBody>
          <a:bodyPr wrap="square" lIns="0" tIns="0" rIns="0" bIns="0" rtlCol="0" anchor="t"/>
          <a:lstStyle/>
          <a:p>
            <a:pPr rtl="1" algn="r" indent="0" marL="0">
              <a:buNone/>
            </a:pPr>
            <a:r>
              <a:rPr lang="en-US" sz="1300" dirty="0">
                <a:solidFill>
                  <a:srgbClr val="6B7785"/>
                </a:solidFill>
                <a:latin typeface="Arial" pitchFamily="34" charset="0"/>
                <a:ea typeface="Arial" pitchFamily="34" charset="-122"/>
                <a:cs typeface="Arial" pitchFamily="34" charset="-120"/>
              </a:rPr>
              <a:t>دقة التنبؤ · نسبة الجهات ذات المستهدف</a:t>
            </a:r>
            <a:endParaRPr lang="en-US" sz="1300" dirty="0"/>
          </a:p>
        </p:txBody>
      </p:sp>
      <p:sp>
        <p:nvSpPr>
          <p:cNvPr id="14" name="Shape 12"/>
          <p:cNvSpPr/>
          <p:nvPr/>
        </p:nvSpPr>
        <p:spPr>
          <a:xfrm>
            <a:off x="457200" y="1645920"/>
            <a:ext cx="3337560" cy="2880360"/>
          </a:xfrm>
          <a:prstGeom prst="roundRect">
            <a:avLst>
              <a:gd name="adj" fmla="val 5079"/>
            </a:avLst>
          </a:prstGeom>
          <a:solidFill>
            <a:srgbClr val="FFFFFF"/>
          </a:solidFill>
          <a:ln/>
          <a:effectLst>
            <a:outerShdw sx="100000" sy="100000" kx="0" ky="0" algn="bl" rotWithShape="0" blurRad="101600" dist="25400" dir="5400000">
              <a:srgbClr val="000000">
                <a:alpha val="12000"/>
              </a:srgbClr>
            </a:outerShdw>
          </a:effectLst>
        </p:spPr>
      </p:sp>
      <p:sp>
        <p:nvSpPr>
          <p:cNvPr id="15" name="Shape 13"/>
          <p:cNvSpPr/>
          <p:nvPr/>
        </p:nvSpPr>
        <p:spPr>
          <a:xfrm>
            <a:off x="2926080" y="1920240"/>
            <a:ext cx="594360" cy="594360"/>
          </a:xfrm>
          <a:prstGeom prst="ellipse">
            <a:avLst/>
          </a:prstGeom>
          <a:solidFill>
            <a:srgbClr val="006A46"/>
          </a:solidFill>
          <a:ln/>
        </p:spPr>
      </p:sp>
      <p:sp>
        <p:nvSpPr>
          <p:cNvPr id="16" name="Text 14"/>
          <p:cNvSpPr txBox="1"/>
          <p:nvPr/>
        </p:nvSpPr>
        <p:spPr>
          <a:xfrm>
            <a:off x="2926080" y="192024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7" name="Text 15"/>
          <p:cNvSpPr txBox="1"/>
          <p:nvPr/>
        </p:nvSpPr>
        <p:spPr>
          <a:xfrm>
            <a:off x="731520" y="2651760"/>
            <a:ext cx="2788920" cy="914400"/>
          </a:xfrm>
          <a:prstGeom prst="rect">
            <a:avLst/>
          </a:prstGeom>
          <a:noFill/>
          <a:ln/>
        </p:spPr>
        <p:txBody>
          <a:bodyPr wrap="square" lIns="0" tIns="0" rIns="0" bIns="0" rtlCol="0" anchor="t"/>
          <a:lstStyle/>
          <a:p>
            <a:pPr rtl="1" algn="r" indent="0" marL="0">
              <a:buNone/>
            </a:pPr>
            <a:r>
              <a:rPr lang="en-US" sz="1800" b="1" dirty="0">
                <a:solidFill>
                  <a:srgbClr val="1F2A37"/>
                </a:solidFill>
                <a:latin typeface="Arial" pitchFamily="34" charset="0"/>
                <a:ea typeface="Arial" pitchFamily="34" charset="-122"/>
                <a:cs typeface="Arial" pitchFamily="34" charset="-120"/>
              </a:rPr>
              <a:t>رقابة موحّدة على التحصيل</a:t>
            </a:r>
            <a:endParaRPr lang="en-US" sz="1800" dirty="0"/>
          </a:p>
        </p:txBody>
      </p:sp>
      <p:sp>
        <p:nvSpPr>
          <p:cNvPr id="18" name="Text 16"/>
          <p:cNvSpPr txBox="1"/>
          <p:nvPr/>
        </p:nvSpPr>
        <p:spPr>
          <a:xfrm>
            <a:off x="731520" y="3566160"/>
            <a:ext cx="2788920" cy="777240"/>
          </a:xfrm>
          <a:prstGeom prst="rect">
            <a:avLst/>
          </a:prstGeom>
          <a:noFill/>
          <a:ln/>
        </p:spPr>
        <p:txBody>
          <a:bodyPr wrap="square" lIns="0" tIns="0" rIns="0" bIns="0" rtlCol="0" anchor="t"/>
          <a:lstStyle/>
          <a:p>
            <a:pPr rtl="1" algn="r" indent="0" marL="0">
              <a:buNone/>
            </a:pPr>
            <a:r>
              <a:rPr lang="en-US" sz="1300" dirty="0">
                <a:solidFill>
                  <a:srgbClr val="6B7785"/>
                </a:solidFill>
                <a:latin typeface="Arial" pitchFamily="34" charset="0"/>
                <a:ea typeface="Arial" pitchFamily="34" charset="-122"/>
                <a:cs typeface="Arial" pitchFamily="34" charset="-120"/>
              </a:rPr>
              <a:t>الجهات على اللوحة · نسبة التحصيل · المتأخرات</a:t>
            </a:r>
            <a:endParaRPr lang="en-US" sz="1300" dirty="0"/>
          </a:p>
        </p:txBody>
      </p:sp>
      <p:sp>
        <p:nvSpPr>
          <p:cNvPr id="19" name="Shape 17"/>
          <p:cNvSpPr/>
          <p:nvPr/>
        </p:nvSpPr>
        <p:spPr>
          <a:xfrm>
            <a:off x="4069080" y="4754880"/>
            <a:ext cx="3337560" cy="2880360"/>
          </a:xfrm>
          <a:prstGeom prst="roundRect">
            <a:avLst>
              <a:gd name="adj" fmla="val 5079"/>
            </a:avLst>
          </a:prstGeom>
          <a:solidFill>
            <a:srgbClr val="FFFFFF"/>
          </a:solidFill>
          <a:ln/>
          <a:effectLst>
            <a:outerShdw sx="100000" sy="100000" kx="0" ky="0" algn="bl" rotWithShape="0" blurRad="101600" dist="25400" dir="5400000">
              <a:srgbClr val="000000">
                <a:alpha val="12000"/>
              </a:srgbClr>
            </a:outerShdw>
          </a:effectLst>
        </p:spPr>
      </p:sp>
      <p:sp>
        <p:nvSpPr>
          <p:cNvPr id="20" name="Shape 18"/>
          <p:cNvSpPr/>
          <p:nvPr/>
        </p:nvSpPr>
        <p:spPr>
          <a:xfrm>
            <a:off x="6537960" y="5029200"/>
            <a:ext cx="594360" cy="594360"/>
          </a:xfrm>
          <a:prstGeom prst="ellipse">
            <a:avLst/>
          </a:prstGeom>
          <a:solidFill>
            <a:srgbClr val="006A46"/>
          </a:solidFill>
          <a:ln/>
        </p:spPr>
      </p:sp>
      <p:sp>
        <p:nvSpPr>
          <p:cNvPr id="21" name="Text 19"/>
          <p:cNvSpPr txBox="1"/>
          <p:nvPr/>
        </p:nvSpPr>
        <p:spPr>
          <a:xfrm>
            <a:off x="6537960" y="502920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4343400" y="5760720"/>
            <a:ext cx="2788920" cy="914400"/>
          </a:xfrm>
          <a:prstGeom prst="rect">
            <a:avLst/>
          </a:prstGeom>
          <a:noFill/>
          <a:ln/>
        </p:spPr>
        <p:txBody>
          <a:bodyPr wrap="square" lIns="0" tIns="0" rIns="0" bIns="0" rtlCol="0" anchor="t"/>
          <a:lstStyle/>
          <a:p>
            <a:pPr rtl="1" algn="r" indent="0" marL="0">
              <a:buNone/>
            </a:pPr>
            <a:r>
              <a:rPr lang="en-US" sz="1800" b="1" dirty="0">
                <a:solidFill>
                  <a:srgbClr val="1F2A37"/>
                </a:solidFill>
                <a:latin typeface="Arial" pitchFamily="34" charset="0"/>
                <a:ea typeface="Arial" pitchFamily="34" charset="-122"/>
                <a:cs typeface="Arial" pitchFamily="34" charset="-120"/>
              </a:rPr>
              <a:t>تنمية الإيرادات واكتشاف الفاقد</a:t>
            </a:r>
            <a:endParaRPr lang="en-US" sz="1800" dirty="0"/>
          </a:p>
        </p:txBody>
      </p:sp>
      <p:sp>
        <p:nvSpPr>
          <p:cNvPr id="23" name="Text 21"/>
          <p:cNvSpPr txBox="1"/>
          <p:nvPr/>
        </p:nvSpPr>
        <p:spPr>
          <a:xfrm>
            <a:off x="4343400" y="6675120"/>
            <a:ext cx="2788920" cy="777240"/>
          </a:xfrm>
          <a:prstGeom prst="rect">
            <a:avLst/>
          </a:prstGeom>
          <a:noFill/>
          <a:ln/>
        </p:spPr>
        <p:txBody>
          <a:bodyPr wrap="square" lIns="0" tIns="0" rIns="0" bIns="0" rtlCol="0" anchor="t"/>
          <a:lstStyle/>
          <a:p>
            <a:pPr rtl="1" algn="r" indent="0" marL="0">
              <a:buNone/>
            </a:pPr>
            <a:r>
              <a:rPr lang="en-US" sz="1300" dirty="0">
                <a:solidFill>
                  <a:srgbClr val="6B7785"/>
                </a:solidFill>
                <a:latin typeface="Arial" pitchFamily="34" charset="0"/>
                <a:ea typeface="Arial" pitchFamily="34" charset="-122"/>
                <a:cs typeface="Arial" pitchFamily="34" charset="-120"/>
              </a:rPr>
              <a:t>الفاقد المكتشف والمحصّل · تجاوز المستهدف</a:t>
            </a:r>
            <a:endParaRPr lang="en-US" sz="1300" dirty="0"/>
          </a:p>
        </p:txBody>
      </p:sp>
      <p:sp>
        <p:nvSpPr>
          <p:cNvPr id="24" name="Shape 22"/>
          <p:cNvSpPr/>
          <p:nvPr/>
        </p:nvSpPr>
        <p:spPr>
          <a:xfrm>
            <a:off x="457200" y="4754880"/>
            <a:ext cx="3337560" cy="2880360"/>
          </a:xfrm>
          <a:prstGeom prst="roundRect">
            <a:avLst>
              <a:gd name="adj" fmla="val 5079"/>
            </a:avLst>
          </a:prstGeom>
          <a:solidFill>
            <a:srgbClr val="FFFFFF"/>
          </a:solidFill>
          <a:ln/>
          <a:effectLst>
            <a:outerShdw sx="100000" sy="100000" kx="0" ky="0" algn="bl" rotWithShape="0" blurRad="101600" dist="25400" dir="5400000">
              <a:srgbClr val="000000">
                <a:alpha val="12000"/>
              </a:srgbClr>
            </a:outerShdw>
          </a:effectLst>
        </p:spPr>
      </p:sp>
      <p:sp>
        <p:nvSpPr>
          <p:cNvPr id="25" name="Shape 23"/>
          <p:cNvSpPr/>
          <p:nvPr/>
        </p:nvSpPr>
        <p:spPr>
          <a:xfrm>
            <a:off x="2926080" y="5029200"/>
            <a:ext cx="594360" cy="594360"/>
          </a:xfrm>
          <a:prstGeom prst="ellipse">
            <a:avLst/>
          </a:prstGeom>
          <a:solidFill>
            <a:srgbClr val="006A46"/>
          </a:solidFill>
          <a:ln/>
        </p:spPr>
      </p:sp>
      <p:sp>
        <p:nvSpPr>
          <p:cNvPr id="26" name="Text 24"/>
          <p:cNvSpPr txBox="1"/>
          <p:nvPr/>
        </p:nvSpPr>
        <p:spPr>
          <a:xfrm>
            <a:off x="2926080" y="502920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7" name="Text 25"/>
          <p:cNvSpPr txBox="1"/>
          <p:nvPr/>
        </p:nvSpPr>
        <p:spPr>
          <a:xfrm>
            <a:off x="731520" y="5760720"/>
            <a:ext cx="2788920" cy="914400"/>
          </a:xfrm>
          <a:prstGeom prst="rect">
            <a:avLst/>
          </a:prstGeom>
          <a:noFill/>
          <a:ln/>
        </p:spPr>
        <p:txBody>
          <a:bodyPr wrap="square" lIns="0" tIns="0" rIns="0" bIns="0" rtlCol="0" anchor="t"/>
          <a:lstStyle/>
          <a:p>
            <a:pPr rtl="1" algn="r" indent="0" marL="0">
              <a:buNone/>
            </a:pPr>
            <a:r>
              <a:rPr lang="en-US" sz="1800" b="1" dirty="0">
                <a:solidFill>
                  <a:srgbClr val="1F2A37"/>
                </a:solidFill>
                <a:latin typeface="Arial" pitchFamily="34" charset="0"/>
                <a:ea typeface="Arial" pitchFamily="34" charset="-122"/>
                <a:cs typeface="Arial" pitchFamily="34" charset="-120"/>
              </a:rPr>
              <a:t>تنويع مصادر الإيرادات</a:t>
            </a:r>
            <a:endParaRPr lang="en-US" sz="1800" dirty="0"/>
          </a:p>
        </p:txBody>
      </p:sp>
      <p:sp>
        <p:nvSpPr>
          <p:cNvPr id="28" name="Text 26"/>
          <p:cNvSpPr txBox="1"/>
          <p:nvPr/>
        </p:nvSpPr>
        <p:spPr>
          <a:xfrm>
            <a:off x="731520" y="6675120"/>
            <a:ext cx="2788920" cy="777240"/>
          </a:xfrm>
          <a:prstGeom prst="rect">
            <a:avLst/>
          </a:prstGeom>
          <a:noFill/>
          <a:ln/>
        </p:spPr>
        <p:txBody>
          <a:bodyPr wrap="square" lIns="0" tIns="0" rIns="0" bIns="0" rtlCol="0" anchor="t"/>
          <a:lstStyle/>
          <a:p>
            <a:pPr rtl="1" algn="r" indent="0" marL="0">
              <a:buNone/>
            </a:pPr>
            <a:r>
              <a:rPr lang="en-US" sz="1300" dirty="0">
                <a:solidFill>
                  <a:srgbClr val="6B7785"/>
                </a:solidFill>
                <a:latin typeface="Arial" pitchFamily="34" charset="0"/>
                <a:ea typeface="Arial" pitchFamily="34" charset="-122"/>
                <a:cs typeface="Arial" pitchFamily="34" charset="-120"/>
              </a:rPr>
              <a:t>الإيرادات من غير التأجير · نمو الإيواء</a:t>
            </a:r>
            <a:endParaRPr lang="en-US" sz="13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54 جهة تحصيل على نظام واحد</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التحصيل موزّع، والرقابة موحّدة</a:t>
            </a:r>
            <a:endParaRPr lang="en-US" sz="1500" dirty="0"/>
          </a:p>
        </p:txBody>
      </p:sp>
      <p:sp>
        <p:nvSpPr>
          <p:cNvPr id="4" name="Shape 2"/>
          <p:cNvSpPr/>
          <p:nvPr/>
        </p:nvSpPr>
        <p:spPr>
          <a:xfrm>
            <a:off x="9118854" y="1645920"/>
            <a:ext cx="2612898" cy="2194560"/>
          </a:xfrm>
          <a:prstGeom prst="roundRect">
            <a:avLst>
              <a:gd name="adj" fmla="val 6667"/>
            </a:avLst>
          </a:prstGeom>
          <a:solidFill>
            <a:srgbClr val="FFFFFF"/>
          </a:solidFill>
          <a:ln/>
          <a:effectLst>
            <a:outerShdw sx="100000" sy="100000" kx="0" ky="0" algn="bl" rotWithShape="0" blurRad="101600" dist="25400" dir="5400000">
              <a:srgbClr val="000000">
                <a:alpha val="12000"/>
              </a:srgbClr>
            </a:outerShdw>
          </a:effectLst>
        </p:spPr>
      </p:sp>
      <p:sp>
        <p:nvSpPr>
          <p:cNvPr id="5" name="Text 3"/>
          <p:cNvSpPr txBox="1"/>
          <p:nvPr/>
        </p:nvSpPr>
        <p:spPr>
          <a:xfrm>
            <a:off x="9393174" y="1783080"/>
            <a:ext cx="2064258" cy="1097280"/>
          </a:xfrm>
          <a:prstGeom prst="rect">
            <a:avLst/>
          </a:prstGeom>
          <a:noFill/>
          <a:ln/>
        </p:spPr>
        <p:txBody>
          <a:bodyPr wrap="square" lIns="0" tIns="0" rIns="0" bIns="0" rtlCol="0" anchor="ctr"/>
          <a:lstStyle/>
          <a:p>
            <a:pPr rtl="1" algn="r" indent="0" marL="0">
              <a:buNone/>
            </a:pPr>
            <a:r>
              <a:rPr lang="en-US" sz="6000" b="1" dirty="0">
                <a:solidFill>
                  <a:srgbClr val="006A46"/>
                </a:solidFill>
                <a:latin typeface="Arial" pitchFamily="34" charset="0"/>
                <a:ea typeface="Arial" pitchFamily="34" charset="-122"/>
                <a:cs typeface="Arial" pitchFamily="34" charset="-120"/>
              </a:rPr>
              <a:t>47</a:t>
            </a:r>
            <a:endParaRPr lang="en-US" sz="6000" dirty="0"/>
          </a:p>
        </p:txBody>
      </p:sp>
      <p:sp>
        <p:nvSpPr>
          <p:cNvPr id="6" name="Text 4"/>
          <p:cNvSpPr txBox="1"/>
          <p:nvPr/>
        </p:nvSpPr>
        <p:spPr>
          <a:xfrm>
            <a:off x="9393174" y="2926080"/>
            <a:ext cx="2064258" cy="685800"/>
          </a:xfrm>
          <a:prstGeom prst="rect">
            <a:avLst/>
          </a:prstGeom>
          <a:noFill/>
          <a:ln/>
        </p:spPr>
        <p:txBody>
          <a:bodyPr wrap="square" lIns="0" tIns="0" rIns="0" bIns="0" rtlCol="0" anchor="t"/>
          <a:lstStyle/>
          <a:p>
            <a:pPr rtl="1" algn="r" indent="0" marL="0">
              <a:buNone/>
            </a:pPr>
            <a:r>
              <a:rPr lang="en-US" sz="1700" b="1" dirty="0">
                <a:solidFill>
                  <a:srgbClr val="394B5F"/>
                </a:solidFill>
                <a:latin typeface="Arial" pitchFamily="34" charset="0"/>
                <a:ea typeface="Arial" pitchFamily="34" charset="-122"/>
                <a:cs typeface="Arial" pitchFamily="34" charset="-120"/>
              </a:rPr>
              <a:t>بلدية فرعية</a:t>
            </a:r>
            <a:endParaRPr lang="en-US" sz="1700" dirty="0"/>
          </a:p>
        </p:txBody>
      </p:sp>
      <p:sp>
        <p:nvSpPr>
          <p:cNvPr id="7" name="Shape 5"/>
          <p:cNvSpPr/>
          <p:nvPr/>
        </p:nvSpPr>
        <p:spPr>
          <a:xfrm>
            <a:off x="6231636" y="1645920"/>
            <a:ext cx="2612898" cy="2194560"/>
          </a:xfrm>
          <a:prstGeom prst="roundRect">
            <a:avLst>
              <a:gd name="adj" fmla="val 6667"/>
            </a:avLst>
          </a:prstGeom>
          <a:solidFill>
            <a:srgbClr val="FFFFFF"/>
          </a:solidFill>
          <a:ln/>
          <a:effectLst>
            <a:outerShdw sx="100000" sy="100000" kx="0" ky="0" algn="bl" rotWithShape="0" blurRad="101600" dist="25400" dir="5400000">
              <a:srgbClr val="000000">
                <a:alpha val="12000"/>
              </a:srgbClr>
            </a:outerShdw>
          </a:effectLst>
        </p:spPr>
      </p:sp>
      <p:sp>
        <p:nvSpPr>
          <p:cNvPr id="8" name="Text 6"/>
          <p:cNvSpPr txBox="1"/>
          <p:nvPr/>
        </p:nvSpPr>
        <p:spPr>
          <a:xfrm>
            <a:off x="6505956" y="1783080"/>
            <a:ext cx="2064258" cy="1097280"/>
          </a:xfrm>
          <a:prstGeom prst="rect">
            <a:avLst/>
          </a:prstGeom>
          <a:noFill/>
          <a:ln/>
        </p:spPr>
        <p:txBody>
          <a:bodyPr wrap="square" lIns="0" tIns="0" rIns="0" bIns="0" rtlCol="0" anchor="ctr"/>
          <a:lstStyle/>
          <a:p>
            <a:pPr rtl="1" algn="r" indent="0" marL="0">
              <a:buNone/>
            </a:pPr>
            <a:r>
              <a:rPr lang="en-US" sz="6000" b="1" dirty="0">
                <a:solidFill>
                  <a:srgbClr val="0B6B73"/>
                </a:solidFill>
                <a:latin typeface="Arial" pitchFamily="34" charset="0"/>
                <a:ea typeface="Arial" pitchFamily="34" charset="-122"/>
                <a:cs typeface="Arial" pitchFamily="34" charset="-120"/>
              </a:rPr>
              <a:t>5</a:t>
            </a:r>
            <a:endParaRPr lang="en-US" sz="6000" dirty="0"/>
          </a:p>
        </p:txBody>
      </p:sp>
      <p:sp>
        <p:nvSpPr>
          <p:cNvPr id="9" name="Text 7"/>
          <p:cNvSpPr txBox="1"/>
          <p:nvPr/>
        </p:nvSpPr>
        <p:spPr>
          <a:xfrm>
            <a:off x="6505956" y="2926080"/>
            <a:ext cx="2064258" cy="685800"/>
          </a:xfrm>
          <a:prstGeom prst="rect">
            <a:avLst/>
          </a:prstGeom>
          <a:noFill/>
          <a:ln/>
        </p:spPr>
        <p:txBody>
          <a:bodyPr wrap="square" lIns="0" tIns="0" rIns="0" bIns="0" rtlCol="0" anchor="t"/>
          <a:lstStyle/>
          <a:p>
            <a:pPr rtl="1" algn="r" indent="0" marL="0">
              <a:buNone/>
            </a:pPr>
            <a:r>
              <a:rPr lang="en-US" sz="1700" b="1" dirty="0">
                <a:solidFill>
                  <a:srgbClr val="394B5F"/>
                </a:solidFill>
                <a:latin typeface="Arial" pitchFamily="34" charset="0"/>
                <a:ea typeface="Arial" pitchFamily="34" charset="-122"/>
                <a:cs typeface="Arial" pitchFamily="34" charset="-120"/>
              </a:rPr>
              <a:t>قطاعات</a:t>
            </a:r>
            <a:endParaRPr lang="en-US" sz="1700" dirty="0"/>
          </a:p>
        </p:txBody>
      </p:sp>
      <p:sp>
        <p:nvSpPr>
          <p:cNvPr id="10" name="Shape 8"/>
          <p:cNvSpPr/>
          <p:nvPr/>
        </p:nvSpPr>
        <p:spPr>
          <a:xfrm>
            <a:off x="3344418" y="1645920"/>
            <a:ext cx="2612898" cy="2194560"/>
          </a:xfrm>
          <a:prstGeom prst="roundRect">
            <a:avLst>
              <a:gd name="adj" fmla="val 6667"/>
            </a:avLst>
          </a:prstGeom>
          <a:solidFill>
            <a:srgbClr val="FFFFFF"/>
          </a:solidFill>
          <a:ln/>
          <a:effectLst>
            <a:outerShdw sx="100000" sy="100000" kx="0" ky="0" algn="bl" rotWithShape="0" blurRad="101600" dist="25400" dir="5400000">
              <a:srgbClr val="000000">
                <a:alpha val="12000"/>
              </a:srgbClr>
            </a:outerShdw>
          </a:effectLst>
        </p:spPr>
      </p:sp>
      <p:sp>
        <p:nvSpPr>
          <p:cNvPr id="11" name="Text 9"/>
          <p:cNvSpPr txBox="1"/>
          <p:nvPr/>
        </p:nvSpPr>
        <p:spPr>
          <a:xfrm>
            <a:off x="3618738" y="1783080"/>
            <a:ext cx="2064258" cy="1097280"/>
          </a:xfrm>
          <a:prstGeom prst="rect">
            <a:avLst/>
          </a:prstGeom>
          <a:noFill/>
          <a:ln/>
        </p:spPr>
        <p:txBody>
          <a:bodyPr wrap="square" lIns="0" tIns="0" rIns="0" bIns="0" rtlCol="0" anchor="ctr"/>
          <a:lstStyle/>
          <a:p>
            <a:pPr rtl="1" algn="r" indent="0" marL="0">
              <a:buNone/>
            </a:pPr>
            <a:r>
              <a:rPr lang="en-US" sz="6000" b="1" dirty="0">
                <a:solidFill>
                  <a:srgbClr val="394B5F"/>
                </a:solidFill>
                <a:latin typeface="Arial" pitchFamily="34" charset="0"/>
                <a:ea typeface="Arial" pitchFamily="34" charset="-122"/>
                <a:cs typeface="Arial" pitchFamily="34" charset="-120"/>
              </a:rPr>
              <a:t>1</a:t>
            </a:r>
            <a:endParaRPr lang="en-US" sz="6000" dirty="0"/>
          </a:p>
        </p:txBody>
      </p:sp>
      <p:sp>
        <p:nvSpPr>
          <p:cNvPr id="12" name="Text 10"/>
          <p:cNvSpPr txBox="1"/>
          <p:nvPr/>
        </p:nvSpPr>
        <p:spPr>
          <a:xfrm>
            <a:off x="3618738" y="2926080"/>
            <a:ext cx="2064258" cy="685800"/>
          </a:xfrm>
          <a:prstGeom prst="rect">
            <a:avLst/>
          </a:prstGeom>
          <a:noFill/>
          <a:ln/>
        </p:spPr>
        <p:txBody>
          <a:bodyPr wrap="square" lIns="0" tIns="0" rIns="0" bIns="0" rtlCol="0" anchor="t"/>
          <a:lstStyle/>
          <a:p>
            <a:pPr rtl="1" algn="r" indent="0" marL="0">
              <a:buNone/>
            </a:pPr>
            <a:r>
              <a:rPr lang="en-US" sz="1700" b="1" dirty="0">
                <a:solidFill>
                  <a:srgbClr val="394B5F"/>
                </a:solidFill>
                <a:latin typeface="Arial" pitchFamily="34" charset="0"/>
                <a:ea typeface="Arial" pitchFamily="34" charset="-122"/>
                <a:cs typeface="Arial" pitchFamily="34" charset="-120"/>
              </a:rPr>
              <a:t>الإدارة المالية</a:t>
            </a:r>
            <a:endParaRPr lang="en-US" sz="1700" dirty="0"/>
          </a:p>
        </p:txBody>
      </p:sp>
      <p:sp>
        <p:nvSpPr>
          <p:cNvPr id="13" name="Shape 11"/>
          <p:cNvSpPr/>
          <p:nvPr/>
        </p:nvSpPr>
        <p:spPr>
          <a:xfrm>
            <a:off x="457200" y="1645920"/>
            <a:ext cx="2612898" cy="2194560"/>
          </a:xfrm>
          <a:prstGeom prst="roundRect">
            <a:avLst>
              <a:gd name="adj" fmla="val 6667"/>
            </a:avLst>
          </a:prstGeom>
          <a:solidFill>
            <a:srgbClr val="FFFFF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31520" y="1783080"/>
            <a:ext cx="2064258" cy="1097280"/>
          </a:xfrm>
          <a:prstGeom prst="rect">
            <a:avLst/>
          </a:prstGeom>
          <a:noFill/>
          <a:ln/>
        </p:spPr>
        <p:txBody>
          <a:bodyPr wrap="square" lIns="0" tIns="0" rIns="0" bIns="0" rtlCol="0" anchor="ctr"/>
          <a:lstStyle/>
          <a:p>
            <a:pPr rtl="1" algn="r" indent="0" marL="0">
              <a:buNone/>
            </a:pPr>
            <a:r>
              <a:rPr lang="en-US" sz="6000" b="1" dirty="0">
                <a:solidFill>
                  <a:srgbClr val="B7801A"/>
                </a:solidFill>
                <a:latin typeface="Arial" pitchFamily="34" charset="0"/>
                <a:ea typeface="Arial" pitchFamily="34" charset="-122"/>
                <a:cs typeface="Arial" pitchFamily="34" charset="-120"/>
              </a:rPr>
              <a:t>1</a:t>
            </a:r>
            <a:endParaRPr lang="en-US" sz="6000" dirty="0"/>
          </a:p>
        </p:txBody>
      </p:sp>
      <p:sp>
        <p:nvSpPr>
          <p:cNvPr id="15" name="Text 13"/>
          <p:cNvSpPr txBox="1"/>
          <p:nvPr/>
        </p:nvSpPr>
        <p:spPr>
          <a:xfrm>
            <a:off x="731520" y="2926080"/>
            <a:ext cx="2064258" cy="685800"/>
          </a:xfrm>
          <a:prstGeom prst="rect">
            <a:avLst/>
          </a:prstGeom>
          <a:noFill/>
          <a:ln/>
        </p:spPr>
        <p:txBody>
          <a:bodyPr wrap="square" lIns="0" tIns="0" rIns="0" bIns="0" rtlCol="0" anchor="t"/>
          <a:lstStyle/>
          <a:p>
            <a:pPr rtl="1" algn="r" indent="0" marL="0">
              <a:buNone/>
            </a:pPr>
            <a:r>
              <a:rPr lang="en-US" sz="1700" b="1" dirty="0">
                <a:solidFill>
                  <a:srgbClr val="394B5F"/>
                </a:solidFill>
                <a:latin typeface="Arial" pitchFamily="34" charset="0"/>
                <a:ea typeface="Arial" pitchFamily="34" charset="-122"/>
                <a:cs typeface="Arial" pitchFamily="34" charset="-120"/>
              </a:rPr>
              <a:t>وكالة الاستثمار والتخصيص</a:t>
            </a:r>
            <a:endParaRPr lang="en-US" sz="1700" dirty="0"/>
          </a:p>
        </p:txBody>
      </p:sp>
      <p:sp>
        <p:nvSpPr>
          <p:cNvPr id="16" name="Shape 14"/>
          <p:cNvSpPr/>
          <p:nvPr/>
        </p:nvSpPr>
        <p:spPr>
          <a:xfrm>
            <a:off x="6277356" y="4114800"/>
            <a:ext cx="5454396" cy="2377440"/>
          </a:xfrm>
          <a:prstGeom prst="roundRect">
            <a:avLst>
              <a:gd name="adj" fmla="val 6154"/>
            </a:avLst>
          </a:prstGeom>
          <a:solidFill>
            <a:srgbClr val="FFFFF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6597396" y="4251960"/>
            <a:ext cx="4814316" cy="502920"/>
          </a:xfrm>
          <a:prstGeom prst="rect">
            <a:avLst/>
          </a:prstGeom>
          <a:noFill/>
          <a:ln/>
        </p:spPr>
        <p:txBody>
          <a:bodyPr wrap="square" lIns="0" tIns="0" rIns="0" bIns="0" rtlCol="0" anchor="ctr"/>
          <a:lstStyle/>
          <a:p>
            <a:pPr rtl="1" algn="r" indent="0" marL="0">
              <a:buNone/>
            </a:pPr>
            <a:r>
              <a:rPr lang="en-US" sz="1900" b="1" dirty="0">
                <a:solidFill>
                  <a:srgbClr val="394B5F"/>
                </a:solidFill>
                <a:latin typeface="Arial" pitchFamily="34" charset="0"/>
                <a:ea typeface="Arial" pitchFamily="34" charset="-122"/>
                <a:cs typeface="Arial" pitchFamily="34" charset="-120"/>
              </a:rPr>
              <a:t>جهات التحصيل</a:t>
            </a:r>
            <a:endParaRPr lang="en-US" sz="1900" dirty="0"/>
          </a:p>
        </p:txBody>
      </p:sp>
      <p:sp>
        <p:nvSpPr>
          <p:cNvPr id="18" name="Text 16"/>
          <p:cNvSpPr txBox="1"/>
          <p:nvPr/>
        </p:nvSpPr>
        <p:spPr>
          <a:xfrm>
            <a:off x="6597396" y="4800600"/>
            <a:ext cx="4814316" cy="1554480"/>
          </a:xfrm>
          <a:prstGeom prst="rect">
            <a:avLst/>
          </a:prstGeom>
          <a:noFill/>
          <a:ln/>
        </p:spPr>
        <p:txBody>
          <a:bodyPr wrap="square" lIns="0" tIns="0" rIns="0" bIns="0" rtlCol="0" anchor="t"/>
          <a:lstStyle/>
          <a:p>
            <a:pPr algn="r" marL="228600" indent="-228600">
              <a:spcAft>
                <a:spcPts val="400"/>
              </a:spcAft>
              <a:buSzPct val="100000"/>
              <a:buChar char="•"/>
            </a:pPr>
            <a:r>
              <a:rPr lang="en-US" sz="1600" dirty="0">
                <a:solidFill>
                  <a:srgbClr val="1F2A37"/>
                </a:solidFill>
                <a:latin typeface="Arial" pitchFamily="34" charset="0"/>
                <a:ea typeface="Arial" pitchFamily="34" charset="-122"/>
                <a:cs typeface="Arial" pitchFamily="34" charset="-120"/>
              </a:rPr>
              <a:t>تحصّل الإيرادات</a:t>
            </a:r>
            <a:endParaRPr lang="en-US" sz="1600" dirty="0"/>
          </a:p>
          <a:p>
            <a:pPr algn="r" marL="228600" indent="-228600">
              <a:spcAft>
                <a:spcPts val="400"/>
              </a:spcAft>
              <a:buSzPct val="100000"/>
              <a:buChar char="•"/>
            </a:pPr>
            <a:r>
              <a:rPr lang="en-US" sz="1600" dirty="0">
                <a:solidFill>
                  <a:srgbClr val="1F2A37"/>
                </a:solidFill>
                <a:latin typeface="Arial" pitchFamily="34" charset="0"/>
                <a:ea typeface="Arial" pitchFamily="34" charset="-122"/>
                <a:cs typeface="Arial" pitchFamily="34" charset="-120"/>
              </a:rPr>
              <a:t>تطالب المتأخرين</a:t>
            </a:r>
            <a:endParaRPr lang="en-US" sz="1600" dirty="0"/>
          </a:p>
          <a:p>
            <a:pPr algn="r" marL="228600" indent="-228600">
              <a:spcAft>
                <a:spcPts val="400"/>
              </a:spcAft>
              <a:buSzPct val="100000"/>
              <a:buChar char="•"/>
            </a:pPr>
            <a:r>
              <a:rPr lang="en-US" sz="1600" dirty="0">
                <a:solidFill>
                  <a:srgbClr val="1F2A37"/>
                </a:solidFill>
                <a:latin typeface="Arial" pitchFamily="34" charset="0"/>
                <a:ea typeface="Arial" pitchFamily="34" charset="-122"/>
                <a:cs typeface="Arial" pitchFamily="34" charset="-120"/>
              </a:rPr>
              <a:t>تنفّذ التوصيات</a:t>
            </a:r>
            <a:endParaRPr lang="en-US" sz="1600" dirty="0"/>
          </a:p>
        </p:txBody>
      </p:sp>
      <p:sp>
        <p:nvSpPr>
          <p:cNvPr id="19" name="Shape 17"/>
          <p:cNvSpPr/>
          <p:nvPr/>
        </p:nvSpPr>
        <p:spPr>
          <a:xfrm>
            <a:off x="457200" y="4114800"/>
            <a:ext cx="5454396" cy="2377440"/>
          </a:xfrm>
          <a:prstGeom prst="roundRect">
            <a:avLst>
              <a:gd name="adj" fmla="val 6154"/>
            </a:avLst>
          </a:prstGeom>
          <a:solidFill>
            <a:srgbClr val="006A46"/>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777240" y="4251960"/>
            <a:ext cx="4814316" cy="50292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إدارة تخطيط ومراقبة الإيرادات</a:t>
            </a:r>
            <a:endParaRPr lang="en-US" sz="1900" dirty="0"/>
          </a:p>
        </p:txBody>
      </p:sp>
      <p:sp>
        <p:nvSpPr>
          <p:cNvPr id="21" name="Text 19"/>
          <p:cNvSpPr txBox="1"/>
          <p:nvPr/>
        </p:nvSpPr>
        <p:spPr>
          <a:xfrm>
            <a:off x="777240" y="4800600"/>
            <a:ext cx="4814316" cy="1554480"/>
          </a:xfrm>
          <a:prstGeom prst="rect">
            <a:avLst/>
          </a:prstGeom>
          <a:noFill/>
          <a:ln/>
        </p:spPr>
        <p:txBody>
          <a:bodyPr wrap="square" lIns="0" tIns="0" rIns="0" bIns="0" rtlCol="0" anchor="t"/>
          <a:lstStyle/>
          <a:p>
            <a:pPr algn="r" marL="228600" indent="-228600">
              <a:spcAft>
                <a:spcPts val="400"/>
              </a:spcAft>
              <a:buSzPct val="100000"/>
              <a:buChar char="•"/>
            </a:pPr>
            <a:r>
              <a:rPr lang="en-US" sz="1600" dirty="0">
                <a:solidFill>
                  <a:srgbClr val="FFFFFF"/>
                </a:solidFill>
                <a:latin typeface="Arial" pitchFamily="34" charset="0"/>
                <a:ea typeface="Arial" pitchFamily="34" charset="-122"/>
                <a:cs typeface="Arial" pitchFamily="34" charset="-120"/>
              </a:rPr>
              <a:t>تخطط وتوزّع المستهدفات</a:t>
            </a:r>
            <a:endParaRPr lang="en-US" sz="1600" dirty="0"/>
          </a:p>
          <a:p>
            <a:pPr algn="r" marL="228600" indent="-228600">
              <a:spcAft>
                <a:spcPts val="400"/>
              </a:spcAft>
              <a:buSzPct val="100000"/>
              <a:buChar char="•"/>
            </a:pPr>
            <a:r>
              <a:rPr lang="en-US" sz="1600" dirty="0">
                <a:solidFill>
                  <a:srgbClr val="FFFFFF"/>
                </a:solidFill>
                <a:latin typeface="Arial" pitchFamily="34" charset="0"/>
                <a:ea typeface="Arial" pitchFamily="34" charset="-122"/>
                <a:cs typeface="Arial" pitchFamily="34" charset="-120"/>
              </a:rPr>
              <a:t>تقيس وتقارن وترتّب الأداء</a:t>
            </a:r>
            <a:endParaRPr lang="en-US" sz="1600" dirty="0"/>
          </a:p>
          <a:p>
            <a:pPr algn="r" marL="228600" indent="-228600">
              <a:spcAft>
                <a:spcPts val="400"/>
              </a:spcAft>
              <a:buSzPct val="100000"/>
              <a:buChar char="•"/>
            </a:pPr>
            <a:r>
              <a:rPr lang="en-US" sz="1600" dirty="0">
                <a:solidFill>
                  <a:srgbClr val="FFFFFF"/>
                </a:solidFill>
                <a:latin typeface="Arial" pitchFamily="34" charset="0"/>
                <a:ea typeface="Arial" pitchFamily="34" charset="-122"/>
                <a:cs typeface="Arial" pitchFamily="34" charset="-120"/>
              </a:rPr>
              <a:t>تنبّه مبكراً وتقترح الحلول</a:t>
            </a:r>
            <a:endParaRPr lang="en-US" sz="1600" dirty="0"/>
          </a:p>
        </p:txBody>
      </p:sp>
      <p:sp>
        <p:nvSpPr>
          <p:cNvPr id="22" name="Shape 20"/>
          <p:cNvSpPr/>
          <p:nvPr/>
        </p:nvSpPr>
        <p:spPr>
          <a:xfrm>
            <a:off x="457200" y="6720840"/>
            <a:ext cx="11274552" cy="868680"/>
          </a:xfrm>
          <a:prstGeom prst="roundRect">
            <a:avLst>
              <a:gd name="adj" fmla="val 16842"/>
            </a:avLst>
          </a:prstGeom>
          <a:solidFill>
            <a:srgbClr val="FBF3E2"/>
          </a:solidFill>
          <a:ln/>
        </p:spPr>
      </p:sp>
      <p:sp>
        <p:nvSpPr>
          <p:cNvPr id="23" name="Text 21"/>
          <p:cNvSpPr txBox="1"/>
          <p:nvPr/>
        </p:nvSpPr>
        <p:spPr>
          <a:xfrm>
            <a:off x="731520" y="6720840"/>
            <a:ext cx="10725912" cy="868680"/>
          </a:xfrm>
          <a:prstGeom prst="rect">
            <a:avLst/>
          </a:prstGeom>
          <a:noFill/>
          <a:ln/>
        </p:spPr>
        <p:txBody>
          <a:bodyPr wrap="square" lIns="0" tIns="0" rIns="0" bIns="0" rtlCol="0" anchor="ctr"/>
          <a:lstStyle/>
          <a:p>
            <a:pPr algn="r" indent="0" marL="0">
              <a:buNone/>
            </a:pPr>
            <a:r>
              <a:rPr lang="en-US" sz="1600" b="1" dirty="0">
                <a:solidFill>
                  <a:srgbClr val="B7801A"/>
                </a:solidFill>
                <a:latin typeface="Arial" pitchFamily="34" charset="0"/>
                <a:ea typeface="Arial" pitchFamily="34" charset="-122"/>
                <a:cs typeface="Arial" pitchFamily="34" charset="-120"/>
              </a:rPr>
              <a:t>الغرامات: </a:t>
            </a:r>
            <a:pPr algn="r" indent="0" marL="0">
              <a:buNone/>
            </a:pPr>
            <a:r>
              <a:rPr lang="en-US" sz="1600" dirty="0">
                <a:solidFill>
                  <a:srgbClr val="1F2A37"/>
                </a:solidFill>
                <a:latin typeface="Arial" pitchFamily="34" charset="0"/>
                <a:ea typeface="Arial" pitchFamily="34" charset="-122"/>
                <a:cs typeface="Arial" pitchFamily="34" charset="-120"/>
              </a:rPr>
              <a:t>هدفها الالتزام لا الإيراد؛ نقيس نسبة تحصيل المستحق منها، ولا نضع مستهدفاً لزيادتها</a:t>
            </a:r>
            <a:endParaRPr lang="en-US" sz="16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مصادر الإيرادات: الفرص والمخاطر</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مرتبة حسب حجمها</a:t>
            </a:r>
            <a:endParaRPr lang="en-US" sz="1500" dirty="0"/>
          </a:p>
        </p:txBody>
      </p:sp>
      <p:sp>
        <p:nvSpPr>
          <p:cNvPr id="4" name="Shape 2"/>
          <p:cNvSpPr/>
          <p:nvPr/>
        </p:nvSpPr>
        <p:spPr>
          <a:xfrm>
            <a:off x="9118854" y="1645920"/>
            <a:ext cx="2612898" cy="32918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5" name="Shape 3"/>
          <p:cNvSpPr/>
          <p:nvPr/>
        </p:nvSpPr>
        <p:spPr>
          <a:xfrm>
            <a:off x="10863072" y="1874520"/>
            <a:ext cx="594360" cy="594360"/>
          </a:xfrm>
          <a:prstGeom prst="ellipse">
            <a:avLst/>
          </a:prstGeom>
          <a:solidFill>
            <a:srgbClr val="006A46"/>
          </a:solidFill>
          <a:ln/>
        </p:spPr>
      </p:sp>
      <p:sp>
        <p:nvSpPr>
          <p:cNvPr id="6" name="Text 4"/>
          <p:cNvSpPr txBox="1"/>
          <p:nvPr/>
        </p:nvSpPr>
        <p:spPr>
          <a:xfrm>
            <a:off x="10863072" y="18745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9393174" y="2606040"/>
            <a:ext cx="2064258" cy="502920"/>
          </a:xfrm>
          <a:prstGeom prst="rect">
            <a:avLst/>
          </a:prstGeom>
          <a:noFill/>
          <a:ln/>
        </p:spPr>
        <p:txBody>
          <a:bodyPr wrap="square" lIns="0" tIns="0" rIns="0" bIns="0" rtlCol="0" anchor="ctr"/>
          <a:lstStyle/>
          <a:p>
            <a:pPr rtl="1" algn="r" indent="0" marL="0">
              <a:buNone/>
            </a:pPr>
            <a:r>
              <a:rPr lang="en-US" sz="1800" b="1" dirty="0">
                <a:solidFill>
                  <a:srgbClr val="006A46"/>
                </a:solidFill>
                <a:latin typeface="Arial" pitchFamily="34" charset="0"/>
                <a:ea typeface="Arial" pitchFamily="34" charset="-122"/>
                <a:cs typeface="Arial" pitchFamily="34" charset="-120"/>
              </a:rPr>
              <a:t>الإيرادات الاستثمارية</a:t>
            </a:r>
            <a:endParaRPr lang="en-US" sz="1800" dirty="0"/>
          </a:p>
        </p:txBody>
      </p:sp>
      <p:sp>
        <p:nvSpPr>
          <p:cNvPr id="8" name="Text 6"/>
          <p:cNvSpPr txBox="1"/>
          <p:nvPr/>
        </p:nvSpPr>
        <p:spPr>
          <a:xfrm>
            <a:off x="9393174" y="3063240"/>
            <a:ext cx="2064258"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التأجير</a:t>
            </a:r>
            <a:endParaRPr lang="en-US" sz="1300" dirty="0"/>
          </a:p>
        </p:txBody>
      </p:sp>
      <p:sp>
        <p:nvSpPr>
          <p:cNvPr id="9" name="Text 7"/>
          <p:cNvSpPr txBox="1"/>
          <p:nvPr/>
        </p:nvSpPr>
        <p:spPr>
          <a:xfrm>
            <a:off x="9393174" y="3474720"/>
            <a:ext cx="2064258" cy="13258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الأكبر والأكثر استقراراً؛ نعالج المتأخرات ونراجع التسعير مع السوق</a:t>
            </a:r>
            <a:endParaRPr lang="en-US" sz="1400" dirty="0"/>
          </a:p>
        </p:txBody>
      </p:sp>
      <p:sp>
        <p:nvSpPr>
          <p:cNvPr id="10" name="Shape 8"/>
          <p:cNvSpPr/>
          <p:nvPr/>
        </p:nvSpPr>
        <p:spPr>
          <a:xfrm>
            <a:off x="6231636" y="1645920"/>
            <a:ext cx="2612898" cy="32918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11" name="Shape 9"/>
          <p:cNvSpPr/>
          <p:nvPr/>
        </p:nvSpPr>
        <p:spPr>
          <a:xfrm>
            <a:off x="7975854" y="1874520"/>
            <a:ext cx="594360" cy="594360"/>
          </a:xfrm>
          <a:prstGeom prst="ellipse">
            <a:avLst/>
          </a:prstGeom>
          <a:solidFill>
            <a:srgbClr val="0B6B73"/>
          </a:solidFill>
          <a:ln/>
        </p:spPr>
      </p:sp>
      <p:sp>
        <p:nvSpPr>
          <p:cNvPr id="12" name="Text 10"/>
          <p:cNvSpPr txBox="1"/>
          <p:nvPr/>
        </p:nvSpPr>
        <p:spPr>
          <a:xfrm>
            <a:off x="7975854" y="18745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txBox="1"/>
          <p:nvPr/>
        </p:nvSpPr>
        <p:spPr>
          <a:xfrm>
            <a:off x="6505956" y="2606040"/>
            <a:ext cx="2064258" cy="502920"/>
          </a:xfrm>
          <a:prstGeom prst="rect">
            <a:avLst/>
          </a:prstGeom>
          <a:noFill/>
          <a:ln/>
        </p:spPr>
        <p:txBody>
          <a:bodyPr wrap="square" lIns="0" tIns="0" rIns="0" bIns="0" rtlCol="0" anchor="ctr"/>
          <a:lstStyle/>
          <a:p>
            <a:pPr rtl="1" algn="r" indent="0" marL="0">
              <a:buNone/>
            </a:pPr>
            <a:r>
              <a:rPr lang="en-US" sz="1800" b="1" dirty="0">
                <a:solidFill>
                  <a:srgbClr val="0B6B73"/>
                </a:solidFill>
                <a:latin typeface="Arial" pitchFamily="34" charset="0"/>
                <a:ea typeface="Arial" pitchFamily="34" charset="-122"/>
                <a:cs typeface="Arial" pitchFamily="34" charset="-120"/>
              </a:rPr>
              <a:t>الرسوم والتراخيص</a:t>
            </a:r>
            <a:endParaRPr lang="en-US" sz="1800" dirty="0"/>
          </a:p>
        </p:txBody>
      </p:sp>
      <p:sp>
        <p:nvSpPr>
          <p:cNvPr id="14" name="Text 12"/>
          <p:cNvSpPr txBox="1"/>
          <p:nvPr/>
        </p:nvSpPr>
        <p:spPr>
          <a:xfrm>
            <a:off x="6505956" y="3063240"/>
            <a:ext cx="2064258"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التجارية والإنشائية</a:t>
            </a:r>
            <a:endParaRPr lang="en-US" sz="1300" dirty="0"/>
          </a:p>
        </p:txBody>
      </p:sp>
      <p:sp>
        <p:nvSpPr>
          <p:cNvPr id="15" name="Text 13"/>
          <p:cNvSpPr txBox="1"/>
          <p:nvPr/>
        </p:nvSpPr>
        <p:spPr>
          <a:xfrm>
            <a:off x="6505956" y="3474720"/>
            <a:ext cx="2064258" cy="13258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الإنشائية تتبع دورة البناء؛ تنبؤ متحفظ لا يفترض دوام الطفرة</a:t>
            </a:r>
            <a:endParaRPr lang="en-US" sz="1400" dirty="0"/>
          </a:p>
        </p:txBody>
      </p:sp>
      <p:sp>
        <p:nvSpPr>
          <p:cNvPr id="16" name="Shape 14"/>
          <p:cNvSpPr/>
          <p:nvPr/>
        </p:nvSpPr>
        <p:spPr>
          <a:xfrm>
            <a:off x="3344418" y="1645920"/>
            <a:ext cx="2612898" cy="32918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17" name="Shape 15"/>
          <p:cNvSpPr/>
          <p:nvPr/>
        </p:nvSpPr>
        <p:spPr>
          <a:xfrm>
            <a:off x="5088636" y="1874520"/>
            <a:ext cx="594360" cy="594360"/>
          </a:xfrm>
          <a:prstGeom prst="ellipse">
            <a:avLst/>
          </a:prstGeom>
          <a:solidFill>
            <a:srgbClr val="394B5F"/>
          </a:solidFill>
          <a:ln/>
        </p:spPr>
      </p:sp>
      <p:sp>
        <p:nvSpPr>
          <p:cNvPr id="18" name="Text 16"/>
          <p:cNvSpPr txBox="1"/>
          <p:nvPr/>
        </p:nvSpPr>
        <p:spPr>
          <a:xfrm>
            <a:off x="5088636" y="18745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txBox="1"/>
          <p:nvPr/>
        </p:nvSpPr>
        <p:spPr>
          <a:xfrm>
            <a:off x="3618738" y="2606040"/>
            <a:ext cx="2064258" cy="502920"/>
          </a:xfrm>
          <a:prstGeom prst="rect">
            <a:avLst/>
          </a:prstGeom>
          <a:noFill/>
          <a:ln/>
        </p:spPr>
        <p:txBody>
          <a:bodyPr wrap="square" lIns="0" tIns="0" rIns="0" bIns="0" rtlCol="0" anchor="ctr"/>
          <a:lstStyle/>
          <a:p>
            <a:pPr rtl="1" algn="r" indent="0" marL="0">
              <a:buNone/>
            </a:pPr>
            <a:r>
              <a:rPr lang="en-US" sz="1800" b="1" dirty="0">
                <a:solidFill>
                  <a:srgbClr val="394B5F"/>
                </a:solidFill>
                <a:latin typeface="Arial" pitchFamily="34" charset="0"/>
                <a:ea typeface="Arial" pitchFamily="34" charset="-122"/>
                <a:cs typeface="Arial" pitchFamily="34" charset="-120"/>
              </a:rPr>
              <a:t>الجزاءات والغرامات</a:t>
            </a:r>
            <a:endParaRPr lang="en-US" sz="1800" dirty="0"/>
          </a:p>
        </p:txBody>
      </p:sp>
      <p:sp>
        <p:nvSpPr>
          <p:cNvPr id="20" name="Text 18"/>
          <p:cNvSpPr txBox="1"/>
          <p:nvPr/>
        </p:nvSpPr>
        <p:spPr>
          <a:xfrm>
            <a:off x="3618738" y="3474720"/>
            <a:ext cx="2064258" cy="13258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للالتزام لا للإيراد؛ نقيس نسبة التحصيل</a:t>
            </a:r>
            <a:endParaRPr lang="en-US" sz="1400" dirty="0"/>
          </a:p>
        </p:txBody>
      </p:sp>
      <p:sp>
        <p:nvSpPr>
          <p:cNvPr id="21" name="Shape 19"/>
          <p:cNvSpPr/>
          <p:nvPr/>
        </p:nvSpPr>
        <p:spPr>
          <a:xfrm>
            <a:off x="457200" y="1645920"/>
            <a:ext cx="2612898" cy="32918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22" name="Shape 20"/>
          <p:cNvSpPr/>
          <p:nvPr/>
        </p:nvSpPr>
        <p:spPr>
          <a:xfrm>
            <a:off x="2201418" y="1874520"/>
            <a:ext cx="594360" cy="594360"/>
          </a:xfrm>
          <a:prstGeom prst="ellipse">
            <a:avLst/>
          </a:prstGeom>
          <a:solidFill>
            <a:srgbClr val="B7801A"/>
          </a:solidFill>
          <a:ln/>
        </p:spPr>
      </p:sp>
      <p:sp>
        <p:nvSpPr>
          <p:cNvPr id="23" name="Text 21"/>
          <p:cNvSpPr txBox="1"/>
          <p:nvPr/>
        </p:nvSpPr>
        <p:spPr>
          <a:xfrm>
            <a:off x="2201418" y="1874520"/>
            <a:ext cx="594360" cy="594360"/>
          </a:xfrm>
          <a:prstGeom prst="rect">
            <a:avLst/>
          </a:prstGeom>
          <a:noFill/>
          <a:ln/>
        </p:spPr>
        <p:txBody>
          <a:bodyPr wrap="square" lIns="0" tIns="0" rIns="0" bIns="0" rtlCol="0" anchor="ctr"/>
          <a:lstStyle/>
          <a:p>
            <a:pPr rtl="1"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txBox="1"/>
          <p:nvPr/>
        </p:nvSpPr>
        <p:spPr>
          <a:xfrm>
            <a:off x="731520" y="2606040"/>
            <a:ext cx="2064258" cy="502920"/>
          </a:xfrm>
          <a:prstGeom prst="rect">
            <a:avLst/>
          </a:prstGeom>
          <a:noFill/>
          <a:ln/>
        </p:spPr>
        <p:txBody>
          <a:bodyPr wrap="square" lIns="0" tIns="0" rIns="0" bIns="0" rtlCol="0" anchor="ctr"/>
          <a:lstStyle/>
          <a:p>
            <a:pPr rtl="1" algn="r" indent="0" marL="0">
              <a:buNone/>
            </a:pPr>
            <a:r>
              <a:rPr lang="en-US" sz="1800" b="1" dirty="0">
                <a:solidFill>
                  <a:srgbClr val="B7801A"/>
                </a:solidFill>
                <a:latin typeface="Arial" pitchFamily="34" charset="0"/>
                <a:ea typeface="Arial" pitchFamily="34" charset="-122"/>
                <a:cs typeface="Arial" pitchFamily="34" charset="-120"/>
              </a:rPr>
              <a:t>التبغ والإيواء</a:t>
            </a:r>
            <a:endParaRPr lang="en-US" sz="1800" dirty="0"/>
          </a:p>
        </p:txBody>
      </p:sp>
      <p:sp>
        <p:nvSpPr>
          <p:cNvPr id="25" name="Text 23"/>
          <p:cNvSpPr txBox="1"/>
          <p:nvPr/>
        </p:nvSpPr>
        <p:spPr>
          <a:xfrm>
            <a:off x="731520" y="3474720"/>
            <a:ext cx="2064258" cy="13258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الإيواء فرصة نمو مع إكسبو وكأس العالم؛ التبغ متوقع تراجعه</a:t>
            </a:r>
            <a:endParaRPr lang="en-US" sz="1400" dirty="0"/>
          </a:p>
        </p:txBody>
      </p:sp>
      <p:sp>
        <p:nvSpPr>
          <p:cNvPr id="26" name="Text 24"/>
          <p:cNvSpPr txBox="1"/>
          <p:nvPr/>
        </p:nvSpPr>
        <p:spPr>
          <a:xfrm>
            <a:off x="457200" y="5212080"/>
            <a:ext cx="11274552" cy="457200"/>
          </a:xfrm>
          <a:prstGeom prst="rect">
            <a:avLst/>
          </a:prstGeom>
          <a:noFill/>
          <a:ln/>
        </p:spPr>
        <p:txBody>
          <a:bodyPr wrap="square" lIns="0" tIns="0" rIns="0" bIns="0" rtlCol="0" anchor="ctr"/>
          <a:lstStyle/>
          <a:p>
            <a:pPr rtl="1" algn="r" indent="0" marL="0">
              <a:buNone/>
            </a:pPr>
            <a:r>
              <a:rPr lang="en-US" sz="1900" b="1" dirty="0">
                <a:solidFill>
                  <a:srgbClr val="1F2A37"/>
                </a:solidFill>
                <a:latin typeface="Arial" pitchFamily="34" charset="0"/>
                <a:ea typeface="Arial" pitchFamily="34" charset="-122"/>
                <a:cs typeface="Arial" pitchFamily="34" charset="-120"/>
              </a:rPr>
              <a:t>أبرز المبادرات</a:t>
            </a:r>
            <a:endParaRPr lang="en-US" sz="1900" dirty="0"/>
          </a:p>
        </p:txBody>
      </p:sp>
      <p:sp>
        <p:nvSpPr>
          <p:cNvPr id="27" name="Shape 25"/>
          <p:cNvSpPr/>
          <p:nvPr/>
        </p:nvSpPr>
        <p:spPr>
          <a:xfrm>
            <a:off x="9118854" y="5760720"/>
            <a:ext cx="2612898" cy="1828800"/>
          </a:xfrm>
          <a:prstGeom prst="roundRect">
            <a:avLst>
              <a:gd name="adj" fmla="val 8000"/>
            </a:avLst>
          </a:prstGeom>
          <a:solidFill>
            <a:srgbClr val="F1F5F3"/>
          </a:solidFill>
          <a:ln/>
        </p:spPr>
      </p:sp>
      <p:sp>
        <p:nvSpPr>
          <p:cNvPr id="28" name="Text 26"/>
          <p:cNvSpPr txBox="1"/>
          <p:nvPr/>
        </p:nvSpPr>
        <p:spPr>
          <a:xfrm>
            <a:off x="9393174" y="5897880"/>
            <a:ext cx="2064258" cy="457200"/>
          </a:xfrm>
          <a:prstGeom prst="rect">
            <a:avLst/>
          </a:prstGeom>
          <a:noFill/>
          <a:ln/>
        </p:spPr>
        <p:txBody>
          <a:bodyPr wrap="square" lIns="0" tIns="0" rIns="0" bIns="0" rtlCol="0" anchor="ctr"/>
          <a:lstStyle/>
          <a:p>
            <a:pPr rtl="1" algn="r" indent="0" marL="0">
              <a:buNone/>
            </a:pPr>
            <a:r>
              <a:rPr lang="en-US" sz="1800" b="1" dirty="0">
                <a:solidFill>
                  <a:srgbClr val="006A46"/>
                </a:solidFill>
                <a:latin typeface="Arial" pitchFamily="34" charset="0"/>
                <a:ea typeface="Arial" pitchFamily="34" charset="-122"/>
                <a:cs typeface="Arial" pitchFamily="34" charset="-120"/>
              </a:rPr>
              <a:t>2026</a:t>
            </a:r>
            <a:endParaRPr lang="en-US" sz="1800" dirty="0"/>
          </a:p>
        </p:txBody>
      </p:sp>
      <p:sp>
        <p:nvSpPr>
          <p:cNvPr id="29" name="Text 27"/>
          <p:cNvSpPr txBox="1"/>
          <p:nvPr/>
        </p:nvSpPr>
        <p:spPr>
          <a:xfrm>
            <a:off x="9393174" y="6400800"/>
            <a:ext cx="2064258" cy="1051560"/>
          </a:xfrm>
          <a:prstGeom prst="rect">
            <a:avLst/>
          </a:prstGeom>
          <a:noFill/>
          <a:ln/>
        </p:spPr>
        <p:txBody>
          <a:bodyPr wrap="square" lIns="0" tIns="0" rIns="0" bIns="0" rtlCol="0" anchor="t"/>
          <a:lstStyle/>
          <a:p>
            <a:pPr rtl="1" algn="r" indent="0" marL="0">
              <a:buNone/>
            </a:pPr>
            <a:r>
              <a:rPr lang="en-US" sz="1500" dirty="0">
                <a:solidFill>
                  <a:srgbClr val="1F2A37"/>
                </a:solidFill>
                <a:latin typeface="Arial" pitchFamily="34" charset="0"/>
                <a:ea typeface="Arial" pitchFamily="34" charset="-122"/>
                <a:cs typeface="Arial" pitchFamily="34" charset="-120"/>
              </a:rPr>
              <a:t>اللوحة الموحدة للجهات الـ54</a:t>
            </a:r>
            <a:endParaRPr lang="en-US" sz="1500" dirty="0"/>
          </a:p>
        </p:txBody>
      </p:sp>
      <p:sp>
        <p:nvSpPr>
          <p:cNvPr id="30" name="Shape 28"/>
          <p:cNvSpPr/>
          <p:nvPr/>
        </p:nvSpPr>
        <p:spPr>
          <a:xfrm>
            <a:off x="6231636" y="5760720"/>
            <a:ext cx="2612898" cy="1828800"/>
          </a:xfrm>
          <a:prstGeom prst="roundRect">
            <a:avLst>
              <a:gd name="adj" fmla="val 8000"/>
            </a:avLst>
          </a:prstGeom>
          <a:solidFill>
            <a:srgbClr val="F1F5F3"/>
          </a:solidFill>
          <a:ln/>
        </p:spPr>
      </p:sp>
      <p:sp>
        <p:nvSpPr>
          <p:cNvPr id="31" name="Text 29"/>
          <p:cNvSpPr txBox="1"/>
          <p:nvPr/>
        </p:nvSpPr>
        <p:spPr>
          <a:xfrm>
            <a:off x="6505956" y="5897880"/>
            <a:ext cx="2064258" cy="457200"/>
          </a:xfrm>
          <a:prstGeom prst="rect">
            <a:avLst/>
          </a:prstGeom>
          <a:noFill/>
          <a:ln/>
        </p:spPr>
        <p:txBody>
          <a:bodyPr wrap="square" lIns="0" tIns="0" rIns="0" bIns="0" rtlCol="0" anchor="ctr"/>
          <a:lstStyle/>
          <a:p>
            <a:pPr rtl="1" algn="r" indent="0" marL="0">
              <a:buNone/>
            </a:pPr>
            <a:r>
              <a:rPr lang="en-US" sz="1800" b="1" dirty="0">
                <a:solidFill>
                  <a:srgbClr val="006A46"/>
                </a:solidFill>
                <a:latin typeface="Arial" pitchFamily="34" charset="0"/>
                <a:ea typeface="Arial" pitchFamily="34" charset="-122"/>
                <a:cs typeface="Arial" pitchFamily="34" charset="-120"/>
              </a:rPr>
              <a:t>2027</a:t>
            </a:r>
            <a:endParaRPr lang="en-US" sz="1800" dirty="0"/>
          </a:p>
        </p:txBody>
      </p:sp>
      <p:sp>
        <p:nvSpPr>
          <p:cNvPr id="32" name="Text 30"/>
          <p:cNvSpPr txBox="1"/>
          <p:nvPr/>
        </p:nvSpPr>
        <p:spPr>
          <a:xfrm>
            <a:off x="6505956" y="6400800"/>
            <a:ext cx="2064258" cy="1051560"/>
          </a:xfrm>
          <a:prstGeom prst="rect">
            <a:avLst/>
          </a:prstGeom>
          <a:noFill/>
          <a:ln/>
        </p:spPr>
        <p:txBody>
          <a:bodyPr wrap="square" lIns="0" tIns="0" rIns="0" bIns="0" rtlCol="0" anchor="t"/>
          <a:lstStyle/>
          <a:p>
            <a:pPr rtl="1" algn="r" indent="0" marL="0">
              <a:buNone/>
            </a:pPr>
            <a:r>
              <a:rPr lang="en-US" sz="1500" dirty="0">
                <a:solidFill>
                  <a:srgbClr val="1F2A37"/>
                </a:solidFill>
                <a:latin typeface="Arial" pitchFamily="34" charset="0"/>
                <a:ea typeface="Arial" pitchFamily="34" charset="-122"/>
                <a:cs typeface="Arial" pitchFamily="34" charset="-120"/>
              </a:rPr>
              <a:t>نموذج التنبؤ وترتيب البلديات</a:t>
            </a:r>
            <a:endParaRPr lang="en-US" sz="1500" dirty="0"/>
          </a:p>
        </p:txBody>
      </p:sp>
      <p:sp>
        <p:nvSpPr>
          <p:cNvPr id="33" name="Shape 31"/>
          <p:cNvSpPr/>
          <p:nvPr/>
        </p:nvSpPr>
        <p:spPr>
          <a:xfrm>
            <a:off x="3344418" y="5760720"/>
            <a:ext cx="2612898" cy="1828800"/>
          </a:xfrm>
          <a:prstGeom prst="roundRect">
            <a:avLst>
              <a:gd name="adj" fmla="val 8000"/>
            </a:avLst>
          </a:prstGeom>
          <a:solidFill>
            <a:srgbClr val="F1F5F3"/>
          </a:solidFill>
          <a:ln/>
        </p:spPr>
      </p:sp>
      <p:sp>
        <p:nvSpPr>
          <p:cNvPr id="34" name="Text 32"/>
          <p:cNvSpPr txBox="1"/>
          <p:nvPr/>
        </p:nvSpPr>
        <p:spPr>
          <a:xfrm>
            <a:off x="3618738" y="5897880"/>
            <a:ext cx="2064258" cy="457200"/>
          </a:xfrm>
          <a:prstGeom prst="rect">
            <a:avLst/>
          </a:prstGeom>
          <a:noFill/>
          <a:ln/>
        </p:spPr>
        <p:txBody>
          <a:bodyPr wrap="square" lIns="0" tIns="0" rIns="0" bIns="0" rtlCol="0" anchor="ctr"/>
          <a:lstStyle/>
          <a:p>
            <a:pPr rtl="1" algn="r" indent="0" marL="0">
              <a:buNone/>
            </a:pPr>
            <a:r>
              <a:rPr lang="en-US" sz="1800" b="1" dirty="0">
                <a:solidFill>
                  <a:srgbClr val="006A46"/>
                </a:solidFill>
                <a:latin typeface="Arial" pitchFamily="34" charset="0"/>
                <a:ea typeface="Arial" pitchFamily="34" charset="-122"/>
                <a:cs typeface="Arial" pitchFamily="34" charset="-120"/>
              </a:rPr>
              <a:t>2028</a:t>
            </a:r>
            <a:endParaRPr lang="en-US" sz="1800" dirty="0"/>
          </a:p>
        </p:txBody>
      </p:sp>
      <p:sp>
        <p:nvSpPr>
          <p:cNvPr id="35" name="Text 33"/>
          <p:cNvSpPr txBox="1"/>
          <p:nvPr/>
        </p:nvSpPr>
        <p:spPr>
          <a:xfrm>
            <a:off x="3618738" y="6400800"/>
            <a:ext cx="2064258" cy="1051560"/>
          </a:xfrm>
          <a:prstGeom prst="rect">
            <a:avLst/>
          </a:prstGeom>
          <a:noFill/>
          <a:ln/>
        </p:spPr>
        <p:txBody>
          <a:bodyPr wrap="square" lIns="0" tIns="0" rIns="0" bIns="0" rtlCol="0" anchor="t"/>
          <a:lstStyle/>
          <a:p>
            <a:pPr rtl="1" algn="r" indent="0" marL="0">
              <a:buNone/>
            </a:pPr>
            <a:r>
              <a:rPr lang="en-US" sz="1500" dirty="0">
                <a:solidFill>
                  <a:srgbClr val="1F2A37"/>
                </a:solidFill>
                <a:latin typeface="Arial" pitchFamily="34" charset="0"/>
                <a:ea typeface="Arial" pitchFamily="34" charset="-122"/>
                <a:cs typeface="Arial" pitchFamily="34" charset="-120"/>
              </a:rPr>
              <a:t>برنامج كشف الفاقد واجتماع المراجعة الشهري</a:t>
            </a:r>
            <a:endParaRPr lang="en-US" sz="1500" dirty="0"/>
          </a:p>
        </p:txBody>
      </p:sp>
      <p:sp>
        <p:nvSpPr>
          <p:cNvPr id="36" name="Shape 34"/>
          <p:cNvSpPr/>
          <p:nvPr/>
        </p:nvSpPr>
        <p:spPr>
          <a:xfrm>
            <a:off x="457200" y="5760720"/>
            <a:ext cx="2612898" cy="1828800"/>
          </a:xfrm>
          <a:prstGeom prst="roundRect">
            <a:avLst>
              <a:gd name="adj" fmla="val 8000"/>
            </a:avLst>
          </a:prstGeom>
          <a:solidFill>
            <a:srgbClr val="F1F5F3"/>
          </a:solidFill>
          <a:ln/>
        </p:spPr>
      </p:sp>
      <p:sp>
        <p:nvSpPr>
          <p:cNvPr id="37" name="Text 35"/>
          <p:cNvSpPr txBox="1"/>
          <p:nvPr/>
        </p:nvSpPr>
        <p:spPr>
          <a:xfrm>
            <a:off x="731520" y="5897880"/>
            <a:ext cx="2064258" cy="457200"/>
          </a:xfrm>
          <a:prstGeom prst="rect">
            <a:avLst/>
          </a:prstGeom>
          <a:noFill/>
          <a:ln/>
        </p:spPr>
        <p:txBody>
          <a:bodyPr wrap="square" lIns="0" tIns="0" rIns="0" bIns="0" rtlCol="0" anchor="ctr"/>
          <a:lstStyle/>
          <a:p>
            <a:pPr rtl="1" algn="r" indent="0" marL="0">
              <a:buNone/>
            </a:pPr>
            <a:r>
              <a:rPr lang="en-US" sz="1800" b="1" dirty="0">
                <a:solidFill>
                  <a:srgbClr val="006A46"/>
                </a:solidFill>
                <a:latin typeface="Arial" pitchFamily="34" charset="0"/>
                <a:ea typeface="Arial" pitchFamily="34" charset="-122"/>
                <a:cs typeface="Arial" pitchFamily="34" charset="-120"/>
              </a:rPr>
              <a:t>2029–2030</a:t>
            </a:r>
            <a:endParaRPr lang="en-US" sz="1800" dirty="0"/>
          </a:p>
        </p:txBody>
      </p:sp>
      <p:sp>
        <p:nvSpPr>
          <p:cNvPr id="38" name="Text 36"/>
          <p:cNvSpPr txBox="1"/>
          <p:nvPr/>
        </p:nvSpPr>
        <p:spPr>
          <a:xfrm>
            <a:off x="731520" y="6400800"/>
            <a:ext cx="2064258" cy="1051560"/>
          </a:xfrm>
          <a:prstGeom prst="rect">
            <a:avLst/>
          </a:prstGeom>
          <a:noFill/>
          <a:ln/>
        </p:spPr>
        <p:txBody>
          <a:bodyPr wrap="square" lIns="0" tIns="0" rIns="0" bIns="0" rtlCol="0" anchor="t"/>
          <a:lstStyle/>
          <a:p>
            <a:pPr rtl="1" algn="r" indent="0" marL="0">
              <a:buNone/>
            </a:pPr>
            <a:r>
              <a:rPr lang="en-US" sz="1500" dirty="0">
                <a:solidFill>
                  <a:srgbClr val="1F2A37"/>
                </a:solidFill>
                <a:latin typeface="Arial" pitchFamily="34" charset="0"/>
                <a:ea typeface="Arial" pitchFamily="34" charset="-122"/>
                <a:cs typeface="Arial" pitchFamily="34" charset="-120"/>
              </a:rPr>
              <a:t>مصادر جديدة وخطة إيرادات الأحداث الكبرى</a:t>
            </a:r>
            <a:endParaRPr lang="en-US" sz="15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أربعة مسارات لتمويل المشاريع من خارج الميزانية</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إدارة الائتمان والتمويل تدرس كل مشروع وتوصي بالمسار الأنسب</a:t>
            </a:r>
            <a:endParaRPr lang="en-US" sz="1500" dirty="0"/>
          </a:p>
        </p:txBody>
      </p:sp>
      <p:sp>
        <p:nvSpPr>
          <p:cNvPr id="4" name="Shape 2"/>
          <p:cNvSpPr/>
          <p:nvPr/>
        </p:nvSpPr>
        <p:spPr>
          <a:xfrm>
            <a:off x="9118854" y="1691640"/>
            <a:ext cx="2612898" cy="42062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5" name="Shape 3"/>
          <p:cNvSpPr/>
          <p:nvPr/>
        </p:nvSpPr>
        <p:spPr>
          <a:xfrm>
            <a:off x="9118854" y="1691640"/>
            <a:ext cx="2612898" cy="1005840"/>
          </a:xfrm>
          <a:prstGeom prst="roundRect">
            <a:avLst>
              <a:gd name="adj" fmla="val 14545"/>
            </a:avLst>
          </a:prstGeom>
          <a:solidFill>
            <a:srgbClr val="006A46"/>
          </a:solidFill>
          <a:ln/>
        </p:spPr>
      </p:sp>
      <p:sp>
        <p:nvSpPr>
          <p:cNvPr id="6" name="Shape 4"/>
          <p:cNvSpPr/>
          <p:nvPr/>
        </p:nvSpPr>
        <p:spPr>
          <a:xfrm>
            <a:off x="9118854" y="2377440"/>
            <a:ext cx="2612898" cy="320040"/>
          </a:xfrm>
          <a:prstGeom prst="rect">
            <a:avLst/>
          </a:prstGeom>
          <a:solidFill>
            <a:srgbClr val="006A46"/>
          </a:solidFill>
          <a:ln/>
        </p:spPr>
      </p:sp>
      <p:sp>
        <p:nvSpPr>
          <p:cNvPr id="7" name="Text 5"/>
          <p:cNvSpPr txBox="1"/>
          <p:nvPr/>
        </p:nvSpPr>
        <p:spPr>
          <a:xfrm>
            <a:off x="9393174" y="1691640"/>
            <a:ext cx="2064258" cy="1005840"/>
          </a:xfrm>
          <a:prstGeom prst="rect">
            <a:avLst/>
          </a:prstGeom>
          <a:noFill/>
          <a:ln/>
        </p:spPr>
        <p:txBody>
          <a:bodyPr wrap="square" lIns="0" tIns="0" rIns="0" bIns="0"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1. المستثمر</a:t>
            </a:r>
            <a:endParaRPr lang="en-US" sz="2000" dirty="0"/>
          </a:p>
        </p:txBody>
      </p:sp>
      <p:sp>
        <p:nvSpPr>
          <p:cNvPr id="8" name="Text 6"/>
          <p:cNvSpPr txBox="1"/>
          <p:nvPr/>
        </p:nvSpPr>
        <p:spPr>
          <a:xfrm>
            <a:off x="9393174" y="2880360"/>
            <a:ext cx="2064258" cy="146304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BOT، الامتياز، الخدمة مقابل الإعلان، التطوير مقابل الأرض، الرعايات</a:t>
            </a:r>
            <a:endParaRPr lang="en-US" sz="1400" dirty="0"/>
          </a:p>
        </p:txBody>
      </p:sp>
      <p:sp>
        <p:nvSpPr>
          <p:cNvPr id="9" name="Text 7"/>
          <p:cNvSpPr txBox="1"/>
          <p:nvPr/>
        </p:nvSpPr>
        <p:spPr>
          <a:xfrm>
            <a:off x="9393174" y="4389120"/>
            <a:ext cx="2064258" cy="822960"/>
          </a:xfrm>
          <a:prstGeom prst="rect">
            <a:avLst/>
          </a:prstGeom>
          <a:noFill/>
          <a:ln/>
        </p:spPr>
        <p:txBody>
          <a:bodyPr wrap="square" lIns="0" tIns="0" rIns="0" bIns="0" rtlCol="0" anchor="t"/>
          <a:lstStyle/>
          <a:p>
            <a:pPr algn="r" indent="0" marL="0">
              <a:buNone/>
            </a:pPr>
            <a:r>
              <a:rPr lang="en-US" sz="1400" b="1" dirty="0">
                <a:solidFill>
                  <a:srgbClr val="394B5F"/>
                </a:solidFill>
                <a:latin typeface="Arial" pitchFamily="34" charset="0"/>
                <a:ea typeface="Arial" pitchFamily="34" charset="-122"/>
                <a:cs typeface="Arial" pitchFamily="34" charset="-120"/>
              </a:rPr>
              <a:t>يناسب: </a:t>
            </a:r>
            <a:pPr algn="r" indent="0" marL="0">
              <a:buNone/>
            </a:pPr>
            <a:r>
              <a:rPr lang="en-US" sz="1400" dirty="0">
                <a:solidFill>
                  <a:srgbClr val="394B5F"/>
                </a:solidFill>
                <a:latin typeface="Arial" pitchFamily="34" charset="0"/>
                <a:ea typeface="Arial" pitchFamily="34" charset="-122"/>
                <a:cs typeface="Arial" pitchFamily="34" charset="-120"/>
              </a:rPr>
              <a:t>مشاريع تولّد دخلاً</a:t>
            </a:r>
            <a:endParaRPr lang="en-US" sz="1400" dirty="0"/>
          </a:p>
        </p:txBody>
      </p:sp>
      <p:sp>
        <p:nvSpPr>
          <p:cNvPr id="10" name="Shape 8"/>
          <p:cNvSpPr/>
          <p:nvPr/>
        </p:nvSpPr>
        <p:spPr>
          <a:xfrm>
            <a:off x="9393174" y="5303520"/>
            <a:ext cx="1371600" cy="384048"/>
          </a:xfrm>
          <a:prstGeom prst="roundRect">
            <a:avLst>
              <a:gd name="adj" fmla="val 50000"/>
            </a:avLst>
          </a:prstGeom>
          <a:solidFill>
            <a:srgbClr val="E3F0EA"/>
          </a:solidFill>
          <a:ln/>
        </p:spPr>
      </p:sp>
      <p:sp>
        <p:nvSpPr>
          <p:cNvPr id="11" name="Text 9"/>
          <p:cNvSpPr txBox="1"/>
          <p:nvPr/>
        </p:nvSpPr>
        <p:spPr>
          <a:xfrm>
            <a:off x="9393174" y="5303520"/>
            <a:ext cx="137160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بلا دين</a:t>
            </a:r>
            <a:endParaRPr lang="en-US" sz="1300" dirty="0"/>
          </a:p>
        </p:txBody>
      </p:sp>
      <p:sp>
        <p:nvSpPr>
          <p:cNvPr id="12" name="Shape 10"/>
          <p:cNvSpPr/>
          <p:nvPr/>
        </p:nvSpPr>
        <p:spPr>
          <a:xfrm>
            <a:off x="6231636" y="1691640"/>
            <a:ext cx="2612898" cy="42062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13" name="Shape 11"/>
          <p:cNvSpPr/>
          <p:nvPr/>
        </p:nvSpPr>
        <p:spPr>
          <a:xfrm>
            <a:off x="6231636" y="1691640"/>
            <a:ext cx="2612898" cy="1005840"/>
          </a:xfrm>
          <a:prstGeom prst="roundRect">
            <a:avLst>
              <a:gd name="adj" fmla="val 14545"/>
            </a:avLst>
          </a:prstGeom>
          <a:solidFill>
            <a:srgbClr val="0B6B73"/>
          </a:solidFill>
          <a:ln/>
        </p:spPr>
      </p:sp>
      <p:sp>
        <p:nvSpPr>
          <p:cNvPr id="14" name="Shape 12"/>
          <p:cNvSpPr/>
          <p:nvPr/>
        </p:nvSpPr>
        <p:spPr>
          <a:xfrm>
            <a:off x="6231636" y="2377440"/>
            <a:ext cx="2612898" cy="320040"/>
          </a:xfrm>
          <a:prstGeom prst="rect">
            <a:avLst/>
          </a:prstGeom>
          <a:solidFill>
            <a:srgbClr val="0B6B73"/>
          </a:solidFill>
          <a:ln/>
        </p:spPr>
      </p:sp>
      <p:sp>
        <p:nvSpPr>
          <p:cNvPr id="15" name="Text 13"/>
          <p:cNvSpPr txBox="1"/>
          <p:nvPr/>
        </p:nvSpPr>
        <p:spPr>
          <a:xfrm>
            <a:off x="6505956" y="1691640"/>
            <a:ext cx="2064258" cy="1005840"/>
          </a:xfrm>
          <a:prstGeom prst="rect">
            <a:avLst/>
          </a:prstGeom>
          <a:noFill/>
          <a:ln/>
        </p:spPr>
        <p:txBody>
          <a:bodyPr wrap="square" lIns="0" tIns="0" rIns="0" bIns="0"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2. جهة حكومية</a:t>
            </a:r>
            <a:endParaRPr lang="en-US" sz="2000" dirty="0"/>
          </a:p>
        </p:txBody>
      </p:sp>
      <p:sp>
        <p:nvSpPr>
          <p:cNvPr id="16" name="Text 14"/>
          <p:cNvSpPr txBox="1"/>
          <p:nvPr/>
        </p:nvSpPr>
        <p:spPr>
          <a:xfrm>
            <a:off x="6505956" y="2880360"/>
            <a:ext cx="2064258" cy="146304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تمويل كامل أو مشترك مع جهة لها مصلحة في المشروع</a:t>
            </a:r>
            <a:endParaRPr lang="en-US" sz="1400" dirty="0"/>
          </a:p>
        </p:txBody>
      </p:sp>
      <p:sp>
        <p:nvSpPr>
          <p:cNvPr id="17" name="Text 15"/>
          <p:cNvSpPr txBox="1"/>
          <p:nvPr/>
        </p:nvSpPr>
        <p:spPr>
          <a:xfrm>
            <a:off x="6505956" y="4389120"/>
            <a:ext cx="2064258" cy="822960"/>
          </a:xfrm>
          <a:prstGeom prst="rect">
            <a:avLst/>
          </a:prstGeom>
          <a:noFill/>
          <a:ln/>
        </p:spPr>
        <p:txBody>
          <a:bodyPr wrap="square" lIns="0" tIns="0" rIns="0" bIns="0" rtlCol="0" anchor="t"/>
          <a:lstStyle/>
          <a:p>
            <a:pPr algn="r" indent="0" marL="0">
              <a:buNone/>
            </a:pPr>
            <a:r>
              <a:rPr lang="en-US" sz="1400" b="1" dirty="0">
                <a:solidFill>
                  <a:srgbClr val="394B5F"/>
                </a:solidFill>
                <a:latin typeface="Arial" pitchFamily="34" charset="0"/>
                <a:ea typeface="Arial" pitchFamily="34" charset="-122"/>
                <a:cs typeface="Arial" pitchFamily="34" charset="-120"/>
              </a:rPr>
              <a:t>يناسب: </a:t>
            </a:r>
            <a:pPr algn="r" indent="0" marL="0">
              <a:buNone/>
            </a:pPr>
            <a:r>
              <a:rPr lang="en-US" sz="1400" dirty="0">
                <a:solidFill>
                  <a:srgbClr val="394B5F"/>
                </a:solidFill>
                <a:latin typeface="Arial" pitchFamily="34" charset="0"/>
                <a:ea typeface="Arial" pitchFamily="34" charset="-122"/>
                <a:cs typeface="Arial" pitchFamily="34" charset="-120"/>
              </a:rPr>
              <a:t>أثر استراتيجي مشترك</a:t>
            </a:r>
            <a:endParaRPr lang="en-US" sz="1400" dirty="0"/>
          </a:p>
        </p:txBody>
      </p:sp>
      <p:sp>
        <p:nvSpPr>
          <p:cNvPr id="18" name="Shape 16"/>
          <p:cNvSpPr/>
          <p:nvPr/>
        </p:nvSpPr>
        <p:spPr>
          <a:xfrm>
            <a:off x="6505956" y="5303520"/>
            <a:ext cx="1371600" cy="384048"/>
          </a:xfrm>
          <a:prstGeom prst="roundRect">
            <a:avLst>
              <a:gd name="adj" fmla="val 50000"/>
            </a:avLst>
          </a:prstGeom>
          <a:solidFill>
            <a:srgbClr val="E3F0EA"/>
          </a:solidFill>
          <a:ln/>
        </p:spPr>
      </p:sp>
      <p:sp>
        <p:nvSpPr>
          <p:cNvPr id="19" name="Text 17"/>
          <p:cNvSpPr txBox="1"/>
          <p:nvPr/>
        </p:nvSpPr>
        <p:spPr>
          <a:xfrm>
            <a:off x="6505956" y="5303520"/>
            <a:ext cx="137160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بلا دين</a:t>
            </a:r>
            <a:endParaRPr lang="en-US" sz="1300" dirty="0"/>
          </a:p>
        </p:txBody>
      </p:sp>
      <p:sp>
        <p:nvSpPr>
          <p:cNvPr id="20" name="Shape 18"/>
          <p:cNvSpPr/>
          <p:nvPr/>
        </p:nvSpPr>
        <p:spPr>
          <a:xfrm>
            <a:off x="3344418" y="1691640"/>
            <a:ext cx="2612898" cy="42062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21" name="Shape 19"/>
          <p:cNvSpPr/>
          <p:nvPr/>
        </p:nvSpPr>
        <p:spPr>
          <a:xfrm>
            <a:off x="3344418" y="1691640"/>
            <a:ext cx="2612898" cy="1005840"/>
          </a:xfrm>
          <a:prstGeom prst="roundRect">
            <a:avLst>
              <a:gd name="adj" fmla="val 14545"/>
            </a:avLst>
          </a:prstGeom>
          <a:solidFill>
            <a:srgbClr val="394B5F"/>
          </a:solidFill>
          <a:ln/>
        </p:spPr>
      </p:sp>
      <p:sp>
        <p:nvSpPr>
          <p:cNvPr id="22" name="Shape 20"/>
          <p:cNvSpPr/>
          <p:nvPr/>
        </p:nvSpPr>
        <p:spPr>
          <a:xfrm>
            <a:off x="3344418" y="2377440"/>
            <a:ext cx="2612898" cy="320040"/>
          </a:xfrm>
          <a:prstGeom prst="rect">
            <a:avLst/>
          </a:prstGeom>
          <a:solidFill>
            <a:srgbClr val="394B5F"/>
          </a:solidFill>
          <a:ln/>
        </p:spPr>
      </p:sp>
      <p:sp>
        <p:nvSpPr>
          <p:cNvPr id="23" name="Text 21"/>
          <p:cNvSpPr txBox="1"/>
          <p:nvPr/>
        </p:nvSpPr>
        <p:spPr>
          <a:xfrm>
            <a:off x="3618738" y="1691640"/>
            <a:ext cx="2064258" cy="1005840"/>
          </a:xfrm>
          <a:prstGeom prst="rect">
            <a:avLst/>
          </a:prstGeom>
          <a:noFill/>
          <a:ln/>
        </p:spPr>
        <p:txBody>
          <a:bodyPr wrap="square" lIns="0" tIns="0" rIns="0" bIns="0"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3. البنوك</a:t>
            </a:r>
            <a:endParaRPr lang="en-US" sz="2000" dirty="0"/>
          </a:p>
        </p:txBody>
      </p:sp>
      <p:sp>
        <p:nvSpPr>
          <p:cNvPr id="24" name="Text 22"/>
          <p:cNvSpPr txBox="1"/>
          <p:nvPr/>
        </p:nvSpPr>
        <p:spPr>
          <a:xfrm>
            <a:off x="3618738" y="2880360"/>
            <a:ext cx="2064258" cy="146304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تمويل المشاريع، التمويل عبر المقاول، التسهيلات</a:t>
            </a:r>
            <a:endParaRPr lang="en-US" sz="1400" dirty="0"/>
          </a:p>
        </p:txBody>
      </p:sp>
      <p:sp>
        <p:nvSpPr>
          <p:cNvPr id="25" name="Text 23"/>
          <p:cNvSpPr txBox="1"/>
          <p:nvPr/>
        </p:nvSpPr>
        <p:spPr>
          <a:xfrm>
            <a:off x="3618738" y="4389120"/>
            <a:ext cx="2064258" cy="822960"/>
          </a:xfrm>
          <a:prstGeom prst="rect">
            <a:avLst/>
          </a:prstGeom>
          <a:noFill/>
          <a:ln/>
        </p:spPr>
        <p:txBody>
          <a:bodyPr wrap="square" lIns="0" tIns="0" rIns="0" bIns="0" rtlCol="0" anchor="t"/>
          <a:lstStyle/>
          <a:p>
            <a:pPr algn="r" indent="0" marL="0">
              <a:buNone/>
            </a:pPr>
            <a:r>
              <a:rPr lang="en-US" sz="1400" b="1" dirty="0">
                <a:solidFill>
                  <a:srgbClr val="394B5F"/>
                </a:solidFill>
                <a:latin typeface="Arial" pitchFamily="34" charset="0"/>
                <a:ea typeface="Arial" pitchFamily="34" charset="-122"/>
                <a:cs typeface="Arial" pitchFamily="34" charset="-120"/>
              </a:rPr>
              <a:t>يناسب: </a:t>
            </a:r>
            <a:pPr algn="r" indent="0" marL="0">
              <a:buNone/>
            </a:pPr>
            <a:r>
              <a:rPr lang="en-US" sz="1400" dirty="0">
                <a:solidFill>
                  <a:srgbClr val="394B5F"/>
                </a:solidFill>
                <a:latin typeface="Arial" pitchFamily="34" charset="0"/>
                <a:ea typeface="Arial" pitchFamily="34" charset="-122"/>
                <a:cs typeface="Arial" pitchFamily="34" charset="-120"/>
              </a:rPr>
              <a:t>مشاريع كبيرة بمصدر سداد واضح</a:t>
            </a:r>
            <a:endParaRPr lang="en-US" sz="1400" dirty="0"/>
          </a:p>
        </p:txBody>
      </p:sp>
      <p:sp>
        <p:nvSpPr>
          <p:cNvPr id="26" name="Shape 24"/>
          <p:cNvSpPr/>
          <p:nvPr/>
        </p:nvSpPr>
        <p:spPr>
          <a:xfrm>
            <a:off x="3618738" y="5303520"/>
            <a:ext cx="1371600" cy="384048"/>
          </a:xfrm>
          <a:prstGeom prst="roundRect">
            <a:avLst>
              <a:gd name="adj" fmla="val 50000"/>
            </a:avLst>
          </a:prstGeom>
          <a:solidFill>
            <a:srgbClr val="FBE3E1"/>
          </a:solidFill>
          <a:ln/>
        </p:spPr>
      </p:sp>
      <p:sp>
        <p:nvSpPr>
          <p:cNvPr id="27" name="Text 25"/>
          <p:cNvSpPr txBox="1"/>
          <p:nvPr/>
        </p:nvSpPr>
        <p:spPr>
          <a:xfrm>
            <a:off x="3618738" y="5303520"/>
            <a:ext cx="137160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دين</a:t>
            </a:r>
            <a:endParaRPr lang="en-US" sz="1300" dirty="0"/>
          </a:p>
        </p:txBody>
      </p:sp>
      <p:sp>
        <p:nvSpPr>
          <p:cNvPr id="28" name="Shape 26"/>
          <p:cNvSpPr/>
          <p:nvPr/>
        </p:nvSpPr>
        <p:spPr>
          <a:xfrm>
            <a:off x="457200" y="1691640"/>
            <a:ext cx="2612898" cy="4206240"/>
          </a:xfrm>
          <a:prstGeom prst="roundRect">
            <a:avLst>
              <a:gd name="adj" fmla="val 5599"/>
            </a:avLst>
          </a:prstGeom>
          <a:solidFill>
            <a:srgbClr val="FFFFFF"/>
          </a:solidFill>
          <a:ln/>
          <a:effectLst>
            <a:outerShdw sx="100000" sy="100000" kx="0" ky="0" algn="bl" rotWithShape="0" blurRad="101600" dist="25400" dir="5400000">
              <a:srgbClr val="000000">
                <a:alpha val="12000"/>
              </a:srgbClr>
            </a:outerShdw>
          </a:effectLst>
        </p:spPr>
      </p:sp>
      <p:sp>
        <p:nvSpPr>
          <p:cNvPr id="29" name="Shape 27"/>
          <p:cNvSpPr/>
          <p:nvPr/>
        </p:nvSpPr>
        <p:spPr>
          <a:xfrm>
            <a:off x="457200" y="1691640"/>
            <a:ext cx="2612898" cy="1005840"/>
          </a:xfrm>
          <a:prstGeom prst="roundRect">
            <a:avLst>
              <a:gd name="adj" fmla="val 14545"/>
            </a:avLst>
          </a:prstGeom>
          <a:solidFill>
            <a:srgbClr val="B7801A"/>
          </a:solidFill>
          <a:ln/>
        </p:spPr>
      </p:sp>
      <p:sp>
        <p:nvSpPr>
          <p:cNvPr id="30" name="Shape 28"/>
          <p:cNvSpPr/>
          <p:nvPr/>
        </p:nvSpPr>
        <p:spPr>
          <a:xfrm>
            <a:off x="457200" y="2377440"/>
            <a:ext cx="2612898" cy="320040"/>
          </a:xfrm>
          <a:prstGeom prst="rect">
            <a:avLst/>
          </a:prstGeom>
          <a:solidFill>
            <a:srgbClr val="B7801A"/>
          </a:solidFill>
          <a:ln/>
        </p:spPr>
      </p:sp>
      <p:sp>
        <p:nvSpPr>
          <p:cNvPr id="31" name="Text 29"/>
          <p:cNvSpPr txBox="1"/>
          <p:nvPr/>
        </p:nvSpPr>
        <p:spPr>
          <a:xfrm>
            <a:off x="731520" y="1691640"/>
            <a:ext cx="2064258" cy="1005840"/>
          </a:xfrm>
          <a:prstGeom prst="rect">
            <a:avLst/>
          </a:prstGeom>
          <a:noFill/>
          <a:ln/>
        </p:spPr>
        <p:txBody>
          <a:bodyPr wrap="square" lIns="0" tIns="0" rIns="0" bIns="0"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4. السندات والصكوك</a:t>
            </a:r>
            <a:endParaRPr lang="en-US" sz="2000" dirty="0"/>
          </a:p>
        </p:txBody>
      </p:sp>
      <p:sp>
        <p:nvSpPr>
          <p:cNvPr id="32" name="Text 30"/>
          <p:cNvSpPr txBox="1"/>
          <p:nvPr/>
        </p:nvSpPr>
        <p:spPr>
          <a:xfrm>
            <a:off x="731520" y="2880360"/>
            <a:ext cx="2064258" cy="146304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صكوك مرتبطة بإيرادات مشروع، صكوك خضراء</a:t>
            </a:r>
            <a:endParaRPr lang="en-US" sz="1400" dirty="0"/>
          </a:p>
        </p:txBody>
      </p:sp>
      <p:sp>
        <p:nvSpPr>
          <p:cNvPr id="33" name="Text 31"/>
          <p:cNvSpPr txBox="1"/>
          <p:nvPr/>
        </p:nvSpPr>
        <p:spPr>
          <a:xfrm>
            <a:off x="731520" y="4389120"/>
            <a:ext cx="2064258" cy="822960"/>
          </a:xfrm>
          <a:prstGeom prst="rect">
            <a:avLst/>
          </a:prstGeom>
          <a:noFill/>
          <a:ln/>
        </p:spPr>
        <p:txBody>
          <a:bodyPr wrap="square" lIns="0" tIns="0" rIns="0" bIns="0" rtlCol="0" anchor="t"/>
          <a:lstStyle/>
          <a:p>
            <a:pPr algn="r" indent="0" marL="0">
              <a:buNone/>
            </a:pPr>
            <a:r>
              <a:rPr lang="en-US" sz="1400" b="1" dirty="0">
                <a:solidFill>
                  <a:srgbClr val="394B5F"/>
                </a:solidFill>
                <a:latin typeface="Arial" pitchFamily="34" charset="0"/>
                <a:ea typeface="Arial" pitchFamily="34" charset="-122"/>
                <a:cs typeface="Arial" pitchFamily="34" charset="-120"/>
              </a:rPr>
              <a:t>يناسب: </a:t>
            </a:r>
            <a:pPr algn="r" indent="0" marL="0">
              <a:buNone/>
            </a:pPr>
            <a:r>
              <a:rPr lang="en-US" sz="1400" dirty="0">
                <a:solidFill>
                  <a:srgbClr val="394B5F"/>
                </a:solidFill>
                <a:latin typeface="Arial" pitchFamily="34" charset="0"/>
                <a:ea typeface="Arial" pitchFamily="34" charset="-122"/>
                <a:cs typeface="Arial" pitchFamily="34" charset="-120"/>
              </a:rPr>
              <a:t>محافظ كبيرة طويلة الأجل</a:t>
            </a:r>
            <a:endParaRPr lang="en-US" sz="1400" dirty="0"/>
          </a:p>
        </p:txBody>
      </p:sp>
      <p:sp>
        <p:nvSpPr>
          <p:cNvPr id="34" name="Shape 32"/>
          <p:cNvSpPr/>
          <p:nvPr/>
        </p:nvSpPr>
        <p:spPr>
          <a:xfrm>
            <a:off x="731520" y="5303520"/>
            <a:ext cx="1371600" cy="384048"/>
          </a:xfrm>
          <a:prstGeom prst="roundRect">
            <a:avLst>
              <a:gd name="adj" fmla="val 50000"/>
            </a:avLst>
          </a:prstGeom>
          <a:solidFill>
            <a:srgbClr val="FBE3E1"/>
          </a:solidFill>
          <a:ln/>
        </p:spPr>
      </p:sp>
      <p:sp>
        <p:nvSpPr>
          <p:cNvPr id="35" name="Text 33"/>
          <p:cNvSpPr txBox="1"/>
          <p:nvPr/>
        </p:nvSpPr>
        <p:spPr>
          <a:xfrm>
            <a:off x="731520" y="5303520"/>
            <a:ext cx="137160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دين</a:t>
            </a:r>
            <a:endParaRPr lang="en-US" sz="1300" dirty="0"/>
          </a:p>
        </p:txBody>
      </p:sp>
      <p:sp>
        <p:nvSpPr>
          <p:cNvPr id="36" name="Shape 34"/>
          <p:cNvSpPr/>
          <p:nvPr/>
        </p:nvSpPr>
        <p:spPr>
          <a:xfrm>
            <a:off x="457200" y="6172200"/>
            <a:ext cx="11274552" cy="640080"/>
          </a:xfrm>
          <a:prstGeom prst="roundRect">
            <a:avLst>
              <a:gd name="adj" fmla="val 22857"/>
            </a:avLst>
          </a:prstGeom>
          <a:solidFill>
            <a:srgbClr val="006A46"/>
          </a:solidFill>
          <a:ln/>
        </p:spPr>
      </p:sp>
      <p:sp>
        <p:nvSpPr>
          <p:cNvPr id="37" name="Text 35"/>
          <p:cNvSpPr txBox="1"/>
          <p:nvPr/>
        </p:nvSpPr>
        <p:spPr>
          <a:xfrm>
            <a:off x="731520" y="6172200"/>
            <a:ext cx="10725912" cy="640080"/>
          </a:xfrm>
          <a:prstGeom prst="rect">
            <a:avLst/>
          </a:prstGeom>
          <a:noFill/>
          <a:ln/>
        </p:spPr>
        <p:txBody>
          <a:bodyPr wrap="square" lIns="0" tIns="0" rIns="0" bIns="0" rtlCol="0" anchor="ctr"/>
          <a:lstStyle/>
          <a:p>
            <a:pPr rtl="1" algn="r" indent="0" marL="0">
              <a:buNone/>
            </a:pPr>
            <a:r>
              <a:rPr lang="en-US" sz="1800" b="1" dirty="0">
                <a:solidFill>
                  <a:srgbClr val="FFFFFF"/>
                </a:solidFill>
                <a:latin typeface="Arial" pitchFamily="34" charset="0"/>
                <a:ea typeface="Arial" pitchFamily="34" charset="-122"/>
                <a:cs typeface="Arial" pitchFamily="34" charset="-120"/>
              </a:rPr>
              <a:t>الأولوية: المستثمر ← الجهة الحكومية ← البنوك ← السندات</a:t>
            </a:r>
            <a:endParaRPr lang="en-US" sz="1800" dirty="0"/>
          </a:p>
        </p:txBody>
      </p:sp>
      <p:sp>
        <p:nvSpPr>
          <p:cNvPr id="38" name="Shape 36"/>
          <p:cNvSpPr/>
          <p:nvPr/>
        </p:nvSpPr>
        <p:spPr>
          <a:xfrm>
            <a:off x="457200" y="6949440"/>
            <a:ext cx="11274552" cy="685800"/>
          </a:xfrm>
          <a:prstGeom prst="roundRect">
            <a:avLst>
              <a:gd name="adj" fmla="val 21333"/>
            </a:avLst>
          </a:prstGeom>
          <a:solidFill>
            <a:srgbClr val="F1F5F3"/>
          </a:solidFill>
          <a:ln/>
        </p:spPr>
      </p:sp>
      <p:sp>
        <p:nvSpPr>
          <p:cNvPr id="39" name="Text 37"/>
          <p:cNvSpPr txBox="1"/>
          <p:nvPr/>
        </p:nvSpPr>
        <p:spPr>
          <a:xfrm>
            <a:off x="731520" y="6949440"/>
            <a:ext cx="10725912" cy="685800"/>
          </a:xfrm>
          <a:prstGeom prst="rect">
            <a:avLst/>
          </a:prstGeom>
          <a:noFill/>
          <a:ln/>
        </p:spPr>
        <p:txBody>
          <a:bodyPr wrap="square" lIns="0" tIns="0" rIns="0" bIns="0" rtlCol="0" anchor="ctr"/>
          <a:lstStyle/>
          <a:p>
            <a:pPr algn="r" indent="0" marL="0">
              <a:buNone/>
            </a:pPr>
            <a:r>
              <a:rPr lang="en-US" sz="1500" b="1" dirty="0">
                <a:solidFill>
                  <a:srgbClr val="0B6B73"/>
                </a:solidFill>
                <a:latin typeface="Arial" pitchFamily="34" charset="0"/>
                <a:ea typeface="Arial" pitchFamily="34" charset="-122"/>
                <a:cs typeface="Arial" pitchFamily="34" charset="-120"/>
              </a:rPr>
              <a:t>مصادر السداد: </a:t>
            </a:r>
            <a:pPr algn="r" indent="0" marL="0">
              <a:buNone/>
            </a:pPr>
            <a:r>
              <a:rPr lang="en-US" sz="1500" dirty="0">
                <a:solidFill>
                  <a:srgbClr val="1F2A37"/>
                </a:solidFill>
                <a:latin typeface="Arial" pitchFamily="34" charset="0"/>
                <a:ea typeface="Arial" pitchFamily="34" charset="-122"/>
                <a:cs typeface="Arial" pitchFamily="34" charset="-120"/>
              </a:rPr>
              <a:t>إيرادات الأمانة، ثم إيرادات المشروع نفسه، ثم مخصصات الميزانية — وكل تمويل بنكي أو صكوك يمر على الاستدامة المالية</a:t>
            </a:r>
            <a:endParaRPr lang="en-US" sz="15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مسار المشروع من الفكرة إلى التنفيذ</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سبع خطوات، ولكل خطوة مسؤول واضح</a:t>
            </a:r>
            <a:endParaRPr lang="en-US" sz="1500" dirty="0"/>
          </a:p>
        </p:txBody>
      </p:sp>
      <p:sp>
        <p:nvSpPr>
          <p:cNvPr id="4" name="Shape 2"/>
          <p:cNvSpPr/>
          <p:nvPr/>
        </p:nvSpPr>
        <p:spPr>
          <a:xfrm>
            <a:off x="1097280" y="2743200"/>
            <a:ext cx="9966960" cy="0"/>
          </a:xfrm>
          <a:prstGeom prst="line">
            <a:avLst/>
          </a:prstGeom>
          <a:noFill/>
          <a:ln w="38100">
            <a:solidFill>
              <a:srgbClr val="D5DFDA"/>
            </a:solidFill>
            <a:prstDash val="solid"/>
          </a:ln>
        </p:spPr>
      </p:sp>
      <p:sp>
        <p:nvSpPr>
          <p:cNvPr id="5" name="Shape 3"/>
          <p:cNvSpPr/>
          <p:nvPr/>
        </p:nvSpPr>
        <p:spPr>
          <a:xfrm>
            <a:off x="10593324" y="2331720"/>
            <a:ext cx="822960" cy="822960"/>
          </a:xfrm>
          <a:prstGeom prst="ellipse">
            <a:avLst/>
          </a:prstGeom>
          <a:solidFill>
            <a:srgbClr val="394B5F"/>
          </a:solidFill>
          <a:ln/>
        </p:spPr>
      </p:sp>
      <p:sp>
        <p:nvSpPr>
          <p:cNvPr id="6" name="Text 4"/>
          <p:cNvSpPr txBox="1"/>
          <p:nvPr/>
        </p:nvSpPr>
        <p:spPr>
          <a:xfrm>
            <a:off x="10593324"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Shape 5"/>
          <p:cNvSpPr/>
          <p:nvPr/>
        </p:nvSpPr>
        <p:spPr>
          <a:xfrm>
            <a:off x="10277856"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8" name="Text 6"/>
          <p:cNvSpPr txBox="1"/>
          <p:nvPr/>
        </p:nvSpPr>
        <p:spPr>
          <a:xfrm>
            <a:off x="10415016"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تحديد الاحتياج</a:t>
            </a:r>
            <a:endParaRPr lang="en-US" sz="1600" dirty="0"/>
          </a:p>
        </p:txBody>
      </p:sp>
      <p:sp>
        <p:nvSpPr>
          <p:cNvPr id="9" name="Shape 7"/>
          <p:cNvSpPr/>
          <p:nvPr/>
        </p:nvSpPr>
        <p:spPr>
          <a:xfrm>
            <a:off x="10552176" y="5166360"/>
            <a:ext cx="905256" cy="0"/>
          </a:xfrm>
          <a:prstGeom prst="line">
            <a:avLst/>
          </a:prstGeom>
          <a:noFill/>
          <a:ln w="12700">
            <a:solidFill>
              <a:srgbClr val="D5DFDA"/>
            </a:solidFill>
            <a:prstDash val="solid"/>
          </a:ln>
        </p:spPr>
      </p:sp>
      <p:sp>
        <p:nvSpPr>
          <p:cNvPr id="10" name="Text 8"/>
          <p:cNvSpPr txBox="1"/>
          <p:nvPr/>
        </p:nvSpPr>
        <p:spPr>
          <a:xfrm>
            <a:off x="10415016" y="5303520"/>
            <a:ext cx="1179576" cy="1554480"/>
          </a:xfrm>
          <a:prstGeom prst="rect">
            <a:avLst/>
          </a:prstGeom>
          <a:noFill/>
          <a:ln/>
        </p:spPr>
        <p:txBody>
          <a:bodyPr wrap="square" lIns="0" tIns="0" rIns="0" bIns="0" rtlCol="0" anchor="t"/>
          <a:lstStyle/>
          <a:p>
            <a:pPr rtl="1" algn="ctr" indent="0" marL="0">
              <a:buNone/>
            </a:pPr>
            <a:r>
              <a:rPr lang="en-US" sz="1300" b="1" dirty="0">
                <a:solidFill>
                  <a:srgbClr val="394B5F"/>
                </a:solidFill>
                <a:latin typeface="Arial" pitchFamily="34" charset="0"/>
                <a:ea typeface="Arial" pitchFamily="34" charset="-122"/>
                <a:cs typeface="Arial" pitchFamily="34" charset="-120"/>
              </a:rPr>
              <a:t>إدارات المشاريع والقطاعات والبلديات</a:t>
            </a:r>
            <a:endParaRPr lang="en-US" sz="1300" dirty="0"/>
          </a:p>
        </p:txBody>
      </p:sp>
      <p:sp>
        <p:nvSpPr>
          <p:cNvPr id="11" name="Shape 9"/>
          <p:cNvSpPr/>
          <p:nvPr/>
        </p:nvSpPr>
        <p:spPr>
          <a:xfrm>
            <a:off x="8956548" y="2331720"/>
            <a:ext cx="822960" cy="822960"/>
          </a:xfrm>
          <a:prstGeom prst="ellipse">
            <a:avLst/>
          </a:prstGeom>
          <a:solidFill>
            <a:srgbClr val="0B6B73"/>
          </a:solidFill>
          <a:ln/>
        </p:spPr>
      </p:sp>
      <p:sp>
        <p:nvSpPr>
          <p:cNvPr id="12" name="Text 10"/>
          <p:cNvSpPr txBox="1"/>
          <p:nvPr/>
        </p:nvSpPr>
        <p:spPr>
          <a:xfrm>
            <a:off x="8956548"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Shape 11"/>
          <p:cNvSpPr/>
          <p:nvPr/>
        </p:nvSpPr>
        <p:spPr>
          <a:xfrm>
            <a:off x="8641080"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8778240"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الفرز الأولي</a:t>
            </a:r>
            <a:endParaRPr lang="en-US" sz="1600" dirty="0"/>
          </a:p>
        </p:txBody>
      </p:sp>
      <p:sp>
        <p:nvSpPr>
          <p:cNvPr id="15" name="Shape 13"/>
          <p:cNvSpPr/>
          <p:nvPr/>
        </p:nvSpPr>
        <p:spPr>
          <a:xfrm>
            <a:off x="8915400" y="5166360"/>
            <a:ext cx="905256" cy="0"/>
          </a:xfrm>
          <a:prstGeom prst="line">
            <a:avLst/>
          </a:prstGeom>
          <a:noFill/>
          <a:ln w="12700">
            <a:solidFill>
              <a:srgbClr val="D5DFDA"/>
            </a:solidFill>
            <a:prstDash val="solid"/>
          </a:ln>
        </p:spPr>
      </p:sp>
      <p:sp>
        <p:nvSpPr>
          <p:cNvPr id="16" name="Text 14"/>
          <p:cNvSpPr txBox="1"/>
          <p:nvPr/>
        </p:nvSpPr>
        <p:spPr>
          <a:xfrm>
            <a:off x="8778240" y="5303520"/>
            <a:ext cx="1179576" cy="1554480"/>
          </a:xfrm>
          <a:prstGeom prst="rect">
            <a:avLst/>
          </a:prstGeom>
          <a:noFill/>
          <a:ln/>
        </p:spPr>
        <p:txBody>
          <a:bodyPr wrap="square" lIns="0" tIns="0" rIns="0" bIns="0" rtlCol="0" anchor="t"/>
          <a:lstStyle/>
          <a:p>
            <a:pPr rtl="1" algn="ctr" indent="0" marL="0">
              <a:buNone/>
            </a:pPr>
            <a:r>
              <a:rPr lang="en-US" sz="1300" b="1" dirty="0">
                <a:solidFill>
                  <a:srgbClr val="0B6B73"/>
                </a:solidFill>
                <a:latin typeface="Arial" pitchFamily="34" charset="0"/>
                <a:ea typeface="Arial" pitchFamily="34" charset="-122"/>
                <a:cs typeface="Arial" pitchFamily="34" charset="-120"/>
              </a:rPr>
              <a:t>الائتمان والتمويل</a:t>
            </a:r>
            <a:endParaRPr lang="en-US" sz="1300" dirty="0"/>
          </a:p>
        </p:txBody>
      </p:sp>
      <p:sp>
        <p:nvSpPr>
          <p:cNvPr id="17" name="Shape 15"/>
          <p:cNvSpPr/>
          <p:nvPr/>
        </p:nvSpPr>
        <p:spPr>
          <a:xfrm>
            <a:off x="7319772" y="2331720"/>
            <a:ext cx="822960" cy="822960"/>
          </a:xfrm>
          <a:prstGeom prst="ellipse">
            <a:avLst/>
          </a:prstGeom>
          <a:solidFill>
            <a:srgbClr val="0B6B73"/>
          </a:solidFill>
          <a:ln/>
        </p:spPr>
      </p:sp>
      <p:sp>
        <p:nvSpPr>
          <p:cNvPr id="18" name="Text 16"/>
          <p:cNvSpPr txBox="1"/>
          <p:nvPr/>
        </p:nvSpPr>
        <p:spPr>
          <a:xfrm>
            <a:off x="7319772"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9" name="Shape 17"/>
          <p:cNvSpPr/>
          <p:nvPr/>
        </p:nvSpPr>
        <p:spPr>
          <a:xfrm>
            <a:off x="7004304"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7141464"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الدراسة والهيكلة ومقارنة المسارات</a:t>
            </a:r>
            <a:endParaRPr lang="en-US" sz="1600" dirty="0"/>
          </a:p>
        </p:txBody>
      </p:sp>
      <p:sp>
        <p:nvSpPr>
          <p:cNvPr id="21" name="Shape 19"/>
          <p:cNvSpPr/>
          <p:nvPr/>
        </p:nvSpPr>
        <p:spPr>
          <a:xfrm>
            <a:off x="7278624" y="5166360"/>
            <a:ext cx="905256" cy="0"/>
          </a:xfrm>
          <a:prstGeom prst="line">
            <a:avLst/>
          </a:prstGeom>
          <a:noFill/>
          <a:ln w="12700">
            <a:solidFill>
              <a:srgbClr val="D5DFDA"/>
            </a:solidFill>
            <a:prstDash val="solid"/>
          </a:ln>
        </p:spPr>
      </p:sp>
      <p:sp>
        <p:nvSpPr>
          <p:cNvPr id="22" name="Text 20"/>
          <p:cNvSpPr txBox="1"/>
          <p:nvPr/>
        </p:nvSpPr>
        <p:spPr>
          <a:xfrm>
            <a:off x="7141464" y="5303520"/>
            <a:ext cx="1179576" cy="1554480"/>
          </a:xfrm>
          <a:prstGeom prst="rect">
            <a:avLst/>
          </a:prstGeom>
          <a:noFill/>
          <a:ln/>
        </p:spPr>
        <p:txBody>
          <a:bodyPr wrap="square" lIns="0" tIns="0" rIns="0" bIns="0" rtlCol="0" anchor="t"/>
          <a:lstStyle/>
          <a:p>
            <a:pPr rtl="1" algn="ctr" indent="0" marL="0">
              <a:buNone/>
            </a:pPr>
            <a:r>
              <a:rPr lang="en-US" sz="1300" b="1" dirty="0">
                <a:solidFill>
                  <a:srgbClr val="0B6B73"/>
                </a:solidFill>
                <a:latin typeface="Arial" pitchFamily="34" charset="0"/>
                <a:ea typeface="Arial" pitchFamily="34" charset="-122"/>
                <a:cs typeface="Arial" pitchFamily="34" charset="-120"/>
              </a:rPr>
              <a:t>الائتمان والتمويل</a:t>
            </a:r>
            <a:endParaRPr lang="en-US" sz="1300" dirty="0"/>
          </a:p>
        </p:txBody>
      </p:sp>
      <p:sp>
        <p:nvSpPr>
          <p:cNvPr id="23" name="Shape 21"/>
          <p:cNvSpPr/>
          <p:nvPr/>
        </p:nvSpPr>
        <p:spPr>
          <a:xfrm>
            <a:off x="5682996" y="2331720"/>
            <a:ext cx="822960" cy="822960"/>
          </a:xfrm>
          <a:prstGeom prst="ellipse">
            <a:avLst/>
          </a:prstGeom>
          <a:solidFill>
            <a:srgbClr val="B7801A"/>
          </a:solidFill>
          <a:ln/>
        </p:spPr>
      </p:sp>
      <p:sp>
        <p:nvSpPr>
          <p:cNvPr id="24" name="Text 22"/>
          <p:cNvSpPr txBox="1"/>
          <p:nvPr/>
        </p:nvSpPr>
        <p:spPr>
          <a:xfrm>
            <a:off x="5682996"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5" name="Shape 23"/>
          <p:cNvSpPr/>
          <p:nvPr/>
        </p:nvSpPr>
        <p:spPr>
          <a:xfrm>
            <a:off x="5367528"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5504688"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مراجعة الاستدامة</a:t>
            </a:r>
            <a:endParaRPr lang="en-US" sz="1600" dirty="0"/>
          </a:p>
        </p:txBody>
      </p:sp>
      <p:sp>
        <p:nvSpPr>
          <p:cNvPr id="27" name="Shape 25"/>
          <p:cNvSpPr/>
          <p:nvPr/>
        </p:nvSpPr>
        <p:spPr>
          <a:xfrm>
            <a:off x="5641848" y="5166360"/>
            <a:ext cx="905256" cy="0"/>
          </a:xfrm>
          <a:prstGeom prst="line">
            <a:avLst/>
          </a:prstGeom>
          <a:noFill/>
          <a:ln w="12700">
            <a:solidFill>
              <a:srgbClr val="D5DFDA"/>
            </a:solidFill>
            <a:prstDash val="solid"/>
          </a:ln>
        </p:spPr>
      </p:sp>
      <p:sp>
        <p:nvSpPr>
          <p:cNvPr id="28" name="Text 26"/>
          <p:cNvSpPr txBox="1"/>
          <p:nvPr/>
        </p:nvSpPr>
        <p:spPr>
          <a:xfrm>
            <a:off x="5504688" y="5303520"/>
            <a:ext cx="1179576" cy="1554480"/>
          </a:xfrm>
          <a:prstGeom prst="rect">
            <a:avLst/>
          </a:prstGeom>
          <a:noFill/>
          <a:ln/>
        </p:spPr>
        <p:txBody>
          <a:bodyPr wrap="square" lIns="0" tIns="0" rIns="0" bIns="0" rtlCol="0" anchor="t"/>
          <a:lstStyle/>
          <a:p>
            <a:pPr rtl="1" algn="ctr" indent="0" marL="0">
              <a:buNone/>
            </a:pPr>
            <a:r>
              <a:rPr lang="en-US" sz="1300" b="1" dirty="0">
                <a:solidFill>
                  <a:srgbClr val="B7801A"/>
                </a:solidFill>
                <a:latin typeface="Arial" pitchFamily="34" charset="0"/>
                <a:ea typeface="Arial" pitchFamily="34" charset="-122"/>
                <a:cs typeface="Arial" pitchFamily="34" charset="-120"/>
              </a:rPr>
              <a:t>الاستدامة المالية</a:t>
            </a:r>
            <a:endParaRPr lang="en-US" sz="1300" dirty="0"/>
          </a:p>
        </p:txBody>
      </p:sp>
      <p:sp>
        <p:nvSpPr>
          <p:cNvPr id="29" name="Shape 27"/>
          <p:cNvSpPr/>
          <p:nvPr/>
        </p:nvSpPr>
        <p:spPr>
          <a:xfrm>
            <a:off x="4046220" y="2331720"/>
            <a:ext cx="822960" cy="822960"/>
          </a:xfrm>
          <a:prstGeom prst="ellipse">
            <a:avLst/>
          </a:prstGeom>
          <a:solidFill>
            <a:srgbClr val="006A46"/>
          </a:solidFill>
          <a:ln/>
        </p:spPr>
      </p:sp>
      <p:sp>
        <p:nvSpPr>
          <p:cNvPr id="30" name="Text 28"/>
          <p:cNvSpPr txBox="1"/>
          <p:nvPr/>
        </p:nvSpPr>
        <p:spPr>
          <a:xfrm>
            <a:off x="4046220"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31" name="Shape 29"/>
          <p:cNvSpPr/>
          <p:nvPr/>
        </p:nvSpPr>
        <p:spPr>
          <a:xfrm>
            <a:off x="3730752"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32" name="Text 30"/>
          <p:cNvSpPr txBox="1"/>
          <p:nvPr/>
        </p:nvSpPr>
        <p:spPr>
          <a:xfrm>
            <a:off x="3867912"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القرار</a:t>
            </a:r>
            <a:endParaRPr lang="en-US" sz="1600" dirty="0"/>
          </a:p>
        </p:txBody>
      </p:sp>
      <p:sp>
        <p:nvSpPr>
          <p:cNvPr id="33" name="Shape 31"/>
          <p:cNvSpPr/>
          <p:nvPr/>
        </p:nvSpPr>
        <p:spPr>
          <a:xfrm>
            <a:off x="4005072" y="5166360"/>
            <a:ext cx="905256" cy="0"/>
          </a:xfrm>
          <a:prstGeom prst="line">
            <a:avLst/>
          </a:prstGeom>
          <a:noFill/>
          <a:ln w="12700">
            <a:solidFill>
              <a:srgbClr val="D5DFDA"/>
            </a:solidFill>
            <a:prstDash val="solid"/>
          </a:ln>
        </p:spPr>
      </p:sp>
      <p:sp>
        <p:nvSpPr>
          <p:cNvPr id="34" name="Text 32"/>
          <p:cNvSpPr txBox="1"/>
          <p:nvPr/>
        </p:nvSpPr>
        <p:spPr>
          <a:xfrm>
            <a:off x="3867912" y="5303520"/>
            <a:ext cx="1179576" cy="1554480"/>
          </a:xfrm>
          <a:prstGeom prst="rect">
            <a:avLst/>
          </a:prstGeom>
          <a:noFill/>
          <a:ln/>
        </p:spPr>
        <p:txBody>
          <a:bodyPr wrap="square" lIns="0" tIns="0" rIns="0" bIns="0" rtlCol="0" anchor="t"/>
          <a:lstStyle/>
          <a:p>
            <a:pPr rtl="1" algn="ctr" indent="0" marL="0">
              <a:buNone/>
            </a:pPr>
            <a:r>
              <a:rPr lang="en-US" sz="1300" b="1" dirty="0">
                <a:solidFill>
                  <a:srgbClr val="006A46"/>
                </a:solidFill>
                <a:latin typeface="Arial" pitchFamily="34" charset="0"/>
                <a:ea typeface="Arial" pitchFamily="34" charset="-122"/>
                <a:cs typeface="Arial" pitchFamily="34" charset="-120"/>
              </a:rPr>
              <a:t>اللجنة العليا للتمويل</a:t>
            </a:r>
            <a:endParaRPr lang="en-US" sz="1300" dirty="0"/>
          </a:p>
        </p:txBody>
      </p:sp>
      <p:sp>
        <p:nvSpPr>
          <p:cNvPr id="35" name="Shape 33"/>
          <p:cNvSpPr/>
          <p:nvPr/>
        </p:nvSpPr>
        <p:spPr>
          <a:xfrm>
            <a:off x="2409444" y="2331720"/>
            <a:ext cx="822960" cy="822960"/>
          </a:xfrm>
          <a:prstGeom prst="ellipse">
            <a:avLst/>
          </a:prstGeom>
          <a:solidFill>
            <a:srgbClr val="394B5F"/>
          </a:solidFill>
          <a:ln/>
        </p:spPr>
      </p:sp>
      <p:sp>
        <p:nvSpPr>
          <p:cNvPr id="36" name="Text 34"/>
          <p:cNvSpPr txBox="1"/>
          <p:nvPr/>
        </p:nvSpPr>
        <p:spPr>
          <a:xfrm>
            <a:off x="2409444"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37" name="Shape 35"/>
          <p:cNvSpPr/>
          <p:nvPr/>
        </p:nvSpPr>
        <p:spPr>
          <a:xfrm>
            <a:off x="2093976"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38" name="Text 36"/>
          <p:cNvSpPr txBox="1"/>
          <p:nvPr/>
        </p:nvSpPr>
        <p:spPr>
          <a:xfrm>
            <a:off x="2231136"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الطرح أو اتفاقية التمويل</a:t>
            </a:r>
            <a:endParaRPr lang="en-US" sz="1600" dirty="0"/>
          </a:p>
        </p:txBody>
      </p:sp>
      <p:sp>
        <p:nvSpPr>
          <p:cNvPr id="39" name="Shape 37"/>
          <p:cNvSpPr/>
          <p:nvPr/>
        </p:nvSpPr>
        <p:spPr>
          <a:xfrm>
            <a:off x="2368296" y="5166360"/>
            <a:ext cx="905256" cy="0"/>
          </a:xfrm>
          <a:prstGeom prst="line">
            <a:avLst/>
          </a:prstGeom>
          <a:noFill/>
          <a:ln w="12700">
            <a:solidFill>
              <a:srgbClr val="D5DFDA"/>
            </a:solidFill>
            <a:prstDash val="solid"/>
          </a:ln>
        </p:spPr>
      </p:sp>
      <p:sp>
        <p:nvSpPr>
          <p:cNvPr id="40" name="Text 38"/>
          <p:cNvSpPr txBox="1"/>
          <p:nvPr/>
        </p:nvSpPr>
        <p:spPr>
          <a:xfrm>
            <a:off x="2231136" y="5303520"/>
            <a:ext cx="1179576" cy="1554480"/>
          </a:xfrm>
          <a:prstGeom prst="rect">
            <a:avLst/>
          </a:prstGeom>
          <a:noFill/>
          <a:ln/>
        </p:spPr>
        <p:txBody>
          <a:bodyPr wrap="square" lIns="0" tIns="0" rIns="0" bIns="0" rtlCol="0" anchor="t"/>
          <a:lstStyle/>
          <a:p>
            <a:pPr rtl="1" algn="ctr" indent="0" marL="0">
              <a:buNone/>
            </a:pPr>
            <a:r>
              <a:rPr lang="en-US" sz="1300" b="1" dirty="0">
                <a:solidFill>
                  <a:srgbClr val="394B5F"/>
                </a:solidFill>
                <a:latin typeface="Arial" pitchFamily="34" charset="0"/>
                <a:ea typeface="Arial" pitchFamily="34" charset="-122"/>
                <a:cs typeface="Arial" pitchFamily="34" charset="-120"/>
              </a:rPr>
              <a:t>وكالة الاستثمار / الإدارة / الجهة الشريكة</a:t>
            </a:r>
            <a:endParaRPr lang="en-US" sz="1300" dirty="0"/>
          </a:p>
        </p:txBody>
      </p:sp>
      <p:sp>
        <p:nvSpPr>
          <p:cNvPr id="41" name="Shape 39"/>
          <p:cNvSpPr/>
          <p:nvPr/>
        </p:nvSpPr>
        <p:spPr>
          <a:xfrm>
            <a:off x="772668" y="2331720"/>
            <a:ext cx="822960" cy="822960"/>
          </a:xfrm>
          <a:prstGeom prst="ellipse">
            <a:avLst/>
          </a:prstGeom>
          <a:solidFill>
            <a:srgbClr val="0B6B73"/>
          </a:solidFill>
          <a:ln/>
        </p:spPr>
      </p:sp>
      <p:sp>
        <p:nvSpPr>
          <p:cNvPr id="42" name="Text 40"/>
          <p:cNvSpPr txBox="1"/>
          <p:nvPr/>
        </p:nvSpPr>
        <p:spPr>
          <a:xfrm>
            <a:off x="772668" y="2331720"/>
            <a:ext cx="822960" cy="822960"/>
          </a:xfrm>
          <a:prstGeom prst="rect">
            <a:avLst/>
          </a:prstGeom>
          <a:noFill/>
          <a:ln/>
        </p:spPr>
        <p:txBody>
          <a:bodyPr wrap="square" lIns="0" tIns="0" rIns="0" bIns="0" rtlCol="0" anchor="ctr"/>
          <a:lstStyle/>
          <a:p>
            <a:pPr rtl="1" algn="ctr" indent="0" marL="0">
              <a:buNone/>
            </a:pPr>
            <a:r>
              <a:rPr lang="en-US" sz="2200" b="1" dirty="0">
                <a:solidFill>
                  <a:srgbClr val="FFFFFF"/>
                </a:solidFill>
                <a:latin typeface="Arial" pitchFamily="34" charset="0"/>
                <a:ea typeface="Arial" pitchFamily="34" charset="-122"/>
                <a:cs typeface="Arial" pitchFamily="34" charset="-120"/>
              </a:rPr>
              <a:t>7</a:t>
            </a:r>
            <a:endParaRPr lang="en-US" sz="2200" dirty="0"/>
          </a:p>
        </p:txBody>
      </p:sp>
      <p:sp>
        <p:nvSpPr>
          <p:cNvPr id="43" name="Shape 41"/>
          <p:cNvSpPr/>
          <p:nvPr/>
        </p:nvSpPr>
        <p:spPr>
          <a:xfrm>
            <a:off x="457200" y="3429000"/>
            <a:ext cx="1453896" cy="3566160"/>
          </a:xfrm>
          <a:prstGeom prst="roundRect">
            <a:avLst>
              <a:gd name="adj" fmla="val 10063"/>
            </a:avLst>
          </a:prstGeom>
          <a:solidFill>
            <a:srgbClr val="FFFFFF"/>
          </a:solidFill>
          <a:ln/>
          <a:effectLst>
            <a:outerShdw sx="100000" sy="100000" kx="0" ky="0" algn="bl" rotWithShape="0" blurRad="101600" dist="25400" dir="5400000">
              <a:srgbClr val="000000">
                <a:alpha val="12000"/>
              </a:srgbClr>
            </a:outerShdw>
          </a:effectLst>
        </p:spPr>
      </p:sp>
      <p:sp>
        <p:nvSpPr>
          <p:cNvPr id="44" name="Text 42"/>
          <p:cNvSpPr txBox="1"/>
          <p:nvPr/>
        </p:nvSpPr>
        <p:spPr>
          <a:xfrm>
            <a:off x="594360" y="3611880"/>
            <a:ext cx="1179576" cy="1463040"/>
          </a:xfrm>
          <a:prstGeom prst="rect">
            <a:avLst/>
          </a:prstGeom>
          <a:noFill/>
          <a:ln/>
        </p:spPr>
        <p:txBody>
          <a:bodyPr wrap="square" lIns="0" tIns="0" rIns="0" bIns="0" rtlCol="0" anchor="t"/>
          <a:lstStyle/>
          <a:p>
            <a:pPr rtl="1" algn="ctr" indent="0" marL="0">
              <a:buNone/>
            </a:pPr>
            <a:r>
              <a:rPr lang="en-US" sz="1600" b="1" dirty="0">
                <a:solidFill>
                  <a:srgbClr val="1F2A37"/>
                </a:solidFill>
                <a:latin typeface="Arial" pitchFamily="34" charset="0"/>
                <a:ea typeface="Arial" pitchFamily="34" charset="-122"/>
                <a:cs typeface="Arial" pitchFamily="34" charset="-120"/>
              </a:rPr>
              <a:t>متابعة الأثر والوفر</a:t>
            </a:r>
            <a:endParaRPr lang="en-US" sz="1600" dirty="0"/>
          </a:p>
        </p:txBody>
      </p:sp>
      <p:sp>
        <p:nvSpPr>
          <p:cNvPr id="45" name="Shape 43"/>
          <p:cNvSpPr/>
          <p:nvPr/>
        </p:nvSpPr>
        <p:spPr>
          <a:xfrm>
            <a:off x="731520" y="5166360"/>
            <a:ext cx="905256" cy="0"/>
          </a:xfrm>
          <a:prstGeom prst="line">
            <a:avLst/>
          </a:prstGeom>
          <a:noFill/>
          <a:ln w="12700">
            <a:solidFill>
              <a:srgbClr val="D5DFDA"/>
            </a:solidFill>
            <a:prstDash val="solid"/>
          </a:ln>
        </p:spPr>
      </p:sp>
      <p:sp>
        <p:nvSpPr>
          <p:cNvPr id="46" name="Text 44"/>
          <p:cNvSpPr txBox="1"/>
          <p:nvPr/>
        </p:nvSpPr>
        <p:spPr>
          <a:xfrm>
            <a:off x="594360" y="5303520"/>
            <a:ext cx="1179576" cy="1554480"/>
          </a:xfrm>
          <a:prstGeom prst="rect">
            <a:avLst/>
          </a:prstGeom>
          <a:noFill/>
          <a:ln/>
        </p:spPr>
        <p:txBody>
          <a:bodyPr wrap="square" lIns="0" tIns="0" rIns="0" bIns="0" rtlCol="0" anchor="t"/>
          <a:lstStyle/>
          <a:p>
            <a:pPr rtl="1" algn="ctr" indent="0" marL="0">
              <a:buNone/>
            </a:pPr>
            <a:r>
              <a:rPr lang="en-US" sz="1300" b="1" dirty="0">
                <a:solidFill>
                  <a:srgbClr val="0B6B73"/>
                </a:solidFill>
                <a:latin typeface="Arial" pitchFamily="34" charset="0"/>
                <a:ea typeface="Arial" pitchFamily="34" charset="-122"/>
                <a:cs typeface="Arial" pitchFamily="34" charset="-120"/>
              </a:rPr>
              <a:t>الائتمان والتمويل</a:t>
            </a:r>
            <a:endParaRPr lang="en-US" sz="13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أمين سر اللجنة العليا للتمويل وذراعها التمكيني</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اللجنة برئاسة مساعد الأمين لإدارة المدينة</a:t>
            </a:r>
            <a:endParaRPr lang="en-US" sz="1500" dirty="0"/>
          </a:p>
        </p:txBody>
      </p:sp>
      <p:sp>
        <p:nvSpPr>
          <p:cNvPr id="4" name="Shape 2"/>
          <p:cNvSpPr/>
          <p:nvPr/>
        </p:nvSpPr>
        <p:spPr>
          <a:xfrm>
            <a:off x="7863840" y="1645920"/>
            <a:ext cx="3867912" cy="5989320"/>
          </a:xfrm>
          <a:prstGeom prst="roundRect">
            <a:avLst>
              <a:gd name="adj" fmla="val 3783"/>
            </a:avLst>
          </a:prstGeom>
          <a:solidFill>
            <a:srgbClr val="0B6B73"/>
          </a:solidFill>
          <a:ln/>
          <a:effectLst>
            <a:outerShdw sx="100000" sy="100000" kx="0" ky="0" algn="bl" rotWithShape="0" blurRad="101600" dist="25400" dir="5400000">
              <a:srgbClr val="000000">
                <a:alpha val="12000"/>
              </a:srgbClr>
            </a:outerShdw>
          </a:effectLst>
        </p:spPr>
      </p:sp>
      <p:sp>
        <p:nvSpPr>
          <p:cNvPr id="5" name="Text 3"/>
          <p:cNvSpPr txBox="1"/>
          <p:nvPr/>
        </p:nvSpPr>
        <p:spPr>
          <a:xfrm>
            <a:off x="8183880" y="1828800"/>
            <a:ext cx="3227832" cy="502920"/>
          </a:xfrm>
          <a:prstGeom prst="rect">
            <a:avLst/>
          </a:prstGeom>
          <a:noFill/>
          <a:ln/>
        </p:spPr>
        <p:txBody>
          <a:bodyPr wrap="square" lIns="0" tIns="0" rIns="0" bIns="0" rtlCol="0" anchor="ctr"/>
          <a:lstStyle/>
          <a:p>
            <a:pPr rtl="1" algn="r" indent="0" marL="0">
              <a:buNone/>
            </a:pPr>
            <a:r>
              <a:rPr lang="en-US" sz="2000" b="1" dirty="0">
                <a:solidFill>
                  <a:srgbClr val="FFFFFF"/>
                </a:solidFill>
                <a:latin typeface="Arial" pitchFamily="34" charset="0"/>
                <a:ea typeface="Arial" pitchFamily="34" charset="-122"/>
                <a:cs typeface="Arial" pitchFamily="34" charset="-120"/>
              </a:rPr>
              <a:t>أمانة السر</a:t>
            </a:r>
            <a:endParaRPr lang="en-US" sz="2000" dirty="0"/>
          </a:p>
        </p:txBody>
      </p:sp>
      <p:sp>
        <p:nvSpPr>
          <p:cNvPr id="6" name="Text 4"/>
          <p:cNvSpPr txBox="1"/>
          <p:nvPr/>
        </p:nvSpPr>
        <p:spPr>
          <a:xfrm>
            <a:off x="8183880" y="2514600"/>
            <a:ext cx="3227832" cy="411480"/>
          </a:xfrm>
          <a:prstGeom prst="rect">
            <a:avLst/>
          </a:prstGeom>
          <a:noFill/>
          <a:ln/>
        </p:spPr>
        <p:txBody>
          <a:bodyPr wrap="square" lIns="0" tIns="0" rIns="0" bIns="0" rtlCol="0" anchor="ctr"/>
          <a:lstStyle/>
          <a:p>
            <a:pPr rtl="1" algn="r" indent="0" marL="0">
              <a:buNone/>
            </a:pPr>
            <a:r>
              <a:rPr lang="en-US" sz="1600" b="1" dirty="0">
                <a:solidFill>
                  <a:srgbClr val="E4A42C"/>
                </a:solidFill>
                <a:latin typeface="Arial" pitchFamily="34" charset="0"/>
                <a:ea typeface="Arial" pitchFamily="34" charset="-122"/>
                <a:cs typeface="Arial" pitchFamily="34" charset="-120"/>
              </a:rPr>
              <a:t>قبل الاجتماع</a:t>
            </a:r>
            <a:endParaRPr lang="en-US" sz="1600" dirty="0"/>
          </a:p>
        </p:txBody>
      </p:sp>
      <p:sp>
        <p:nvSpPr>
          <p:cNvPr id="7" name="Text 5"/>
          <p:cNvSpPr txBox="1"/>
          <p:nvPr/>
        </p:nvSpPr>
        <p:spPr>
          <a:xfrm>
            <a:off x="8183880" y="2971800"/>
            <a:ext cx="3227832" cy="1005840"/>
          </a:xfrm>
          <a:prstGeom prst="rect">
            <a:avLst/>
          </a:prstGeom>
          <a:noFill/>
          <a:ln/>
        </p:spPr>
        <p:txBody>
          <a:bodyPr wrap="square" lIns="0" tIns="0" rIns="0" bIns="0"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الدراسة، ومقارنة المسارات، ورأي الاستدامة، والملف والتوصية</a:t>
            </a:r>
            <a:endParaRPr lang="en-US" sz="1500" dirty="0"/>
          </a:p>
        </p:txBody>
      </p:sp>
      <p:sp>
        <p:nvSpPr>
          <p:cNvPr id="8" name="Text 6"/>
          <p:cNvSpPr txBox="1"/>
          <p:nvPr/>
        </p:nvSpPr>
        <p:spPr>
          <a:xfrm>
            <a:off x="8183880" y="4160520"/>
            <a:ext cx="3227832" cy="411480"/>
          </a:xfrm>
          <a:prstGeom prst="rect">
            <a:avLst/>
          </a:prstGeom>
          <a:noFill/>
          <a:ln/>
        </p:spPr>
        <p:txBody>
          <a:bodyPr wrap="square" lIns="0" tIns="0" rIns="0" bIns="0" rtlCol="0" anchor="ctr"/>
          <a:lstStyle/>
          <a:p>
            <a:pPr rtl="1" algn="r" indent="0" marL="0">
              <a:buNone/>
            </a:pPr>
            <a:r>
              <a:rPr lang="en-US" sz="1600" b="1" dirty="0">
                <a:solidFill>
                  <a:srgbClr val="E4A42C"/>
                </a:solidFill>
                <a:latin typeface="Arial" pitchFamily="34" charset="0"/>
                <a:ea typeface="Arial" pitchFamily="34" charset="-122"/>
                <a:cs typeface="Arial" pitchFamily="34" charset="-120"/>
              </a:rPr>
              <a:t>أثناء الاجتماع</a:t>
            </a:r>
            <a:endParaRPr lang="en-US" sz="1600" dirty="0"/>
          </a:p>
        </p:txBody>
      </p:sp>
      <p:sp>
        <p:nvSpPr>
          <p:cNvPr id="9" name="Text 7"/>
          <p:cNvSpPr txBox="1"/>
          <p:nvPr/>
        </p:nvSpPr>
        <p:spPr>
          <a:xfrm>
            <a:off x="8183880" y="4617720"/>
            <a:ext cx="3227832" cy="1005840"/>
          </a:xfrm>
          <a:prstGeom prst="rect">
            <a:avLst/>
          </a:prstGeom>
          <a:noFill/>
          <a:ln/>
        </p:spPr>
        <p:txBody>
          <a:bodyPr wrap="square" lIns="0" tIns="0" rIns="0" bIns="0"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عرض الملفات وتدوين المحضر والقرارات</a:t>
            </a:r>
            <a:endParaRPr lang="en-US" sz="1500" dirty="0"/>
          </a:p>
        </p:txBody>
      </p:sp>
      <p:sp>
        <p:nvSpPr>
          <p:cNvPr id="10" name="Text 8"/>
          <p:cNvSpPr txBox="1"/>
          <p:nvPr/>
        </p:nvSpPr>
        <p:spPr>
          <a:xfrm>
            <a:off x="8183880" y="5806440"/>
            <a:ext cx="3227832" cy="411480"/>
          </a:xfrm>
          <a:prstGeom prst="rect">
            <a:avLst/>
          </a:prstGeom>
          <a:noFill/>
          <a:ln/>
        </p:spPr>
        <p:txBody>
          <a:bodyPr wrap="square" lIns="0" tIns="0" rIns="0" bIns="0" rtlCol="0" anchor="ctr"/>
          <a:lstStyle/>
          <a:p>
            <a:pPr rtl="1" algn="r" indent="0" marL="0">
              <a:buNone/>
            </a:pPr>
            <a:r>
              <a:rPr lang="en-US" sz="1600" b="1" dirty="0">
                <a:solidFill>
                  <a:srgbClr val="E4A42C"/>
                </a:solidFill>
                <a:latin typeface="Arial" pitchFamily="34" charset="0"/>
                <a:ea typeface="Arial" pitchFamily="34" charset="-122"/>
                <a:cs typeface="Arial" pitchFamily="34" charset="-120"/>
              </a:rPr>
              <a:t>بعد الاجتماع</a:t>
            </a:r>
            <a:endParaRPr lang="en-US" sz="1600" dirty="0"/>
          </a:p>
        </p:txBody>
      </p:sp>
      <p:sp>
        <p:nvSpPr>
          <p:cNvPr id="11" name="Text 9"/>
          <p:cNvSpPr txBox="1"/>
          <p:nvPr/>
        </p:nvSpPr>
        <p:spPr>
          <a:xfrm>
            <a:off x="8183880" y="6263640"/>
            <a:ext cx="3227832" cy="1005840"/>
          </a:xfrm>
          <a:prstGeom prst="rect">
            <a:avLst/>
          </a:prstGeom>
          <a:noFill/>
          <a:ln/>
        </p:spPr>
        <p:txBody>
          <a:bodyPr wrap="square" lIns="0" tIns="0" rIns="0" bIns="0" rtlCol="0" anchor="t"/>
          <a:lstStyle/>
          <a:p>
            <a:pPr rtl="1" algn="r" indent="0" marL="0">
              <a:buNone/>
            </a:pPr>
            <a:r>
              <a:rPr lang="en-US" sz="1500" dirty="0">
                <a:solidFill>
                  <a:srgbClr val="FFFFFF"/>
                </a:solidFill>
                <a:latin typeface="Arial" pitchFamily="34" charset="0"/>
                <a:ea typeface="Arial" pitchFamily="34" charset="-122"/>
                <a:cs typeface="Arial" pitchFamily="34" charset="-120"/>
              </a:rPr>
              <a:t>إبلاغ جهات التنفيذ ومتابعة القرارات والتقارير</a:t>
            </a:r>
            <a:endParaRPr lang="en-US" sz="1500" dirty="0"/>
          </a:p>
        </p:txBody>
      </p:sp>
      <p:sp>
        <p:nvSpPr>
          <p:cNvPr id="12" name="Text 10"/>
          <p:cNvSpPr txBox="1"/>
          <p:nvPr/>
        </p:nvSpPr>
        <p:spPr>
          <a:xfrm>
            <a:off x="457200" y="1645920"/>
            <a:ext cx="7132320" cy="457200"/>
          </a:xfrm>
          <a:prstGeom prst="rect">
            <a:avLst/>
          </a:prstGeom>
          <a:noFill/>
          <a:ln/>
        </p:spPr>
        <p:txBody>
          <a:bodyPr wrap="square" lIns="0" tIns="0" rIns="0" bIns="0" rtlCol="0" anchor="ctr"/>
          <a:lstStyle/>
          <a:p>
            <a:pPr rtl="1" algn="r" indent="0" marL="0">
              <a:buNone/>
            </a:pPr>
            <a:r>
              <a:rPr lang="en-US" sz="2000" b="1" dirty="0">
                <a:solidFill>
                  <a:srgbClr val="0B6B73"/>
                </a:solidFill>
                <a:latin typeface="Arial" pitchFamily="34" charset="0"/>
                <a:ea typeface="Arial" pitchFamily="34" charset="-122"/>
                <a:cs typeface="Arial" pitchFamily="34" charset="-120"/>
              </a:rPr>
              <a:t>التمكين</a:t>
            </a:r>
            <a:endParaRPr lang="en-US" sz="2000" dirty="0"/>
          </a:p>
        </p:txBody>
      </p:sp>
      <p:sp>
        <p:nvSpPr>
          <p:cNvPr id="13" name="Shape 11"/>
          <p:cNvSpPr/>
          <p:nvPr/>
        </p:nvSpPr>
        <p:spPr>
          <a:xfrm>
            <a:off x="4160520" y="2240280"/>
            <a:ext cx="3429000" cy="1645920"/>
          </a:xfrm>
          <a:prstGeom prst="roundRect">
            <a:avLst>
              <a:gd name="adj" fmla="val 8889"/>
            </a:avLst>
          </a:prstGeom>
          <a:solidFill>
            <a:srgbClr val="FFFFF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4434840" y="2377440"/>
            <a:ext cx="2880360"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التمكين فني</a:t>
            </a:r>
            <a:endParaRPr lang="en-US" sz="1700" dirty="0"/>
          </a:p>
        </p:txBody>
      </p:sp>
      <p:sp>
        <p:nvSpPr>
          <p:cNvPr id="15" name="Text 13"/>
          <p:cNvSpPr txBox="1"/>
          <p:nvPr/>
        </p:nvSpPr>
        <p:spPr>
          <a:xfrm>
            <a:off x="4434840" y="2880360"/>
            <a:ext cx="2880360" cy="8686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دراسات الجدوى والنماذج المالية والتوصيات</a:t>
            </a:r>
            <a:endParaRPr lang="en-US" sz="1400" dirty="0"/>
          </a:p>
        </p:txBody>
      </p:sp>
      <p:sp>
        <p:nvSpPr>
          <p:cNvPr id="16" name="Shape 14"/>
          <p:cNvSpPr/>
          <p:nvPr/>
        </p:nvSpPr>
        <p:spPr>
          <a:xfrm>
            <a:off x="457200" y="2240280"/>
            <a:ext cx="3429000" cy="1645920"/>
          </a:xfrm>
          <a:prstGeom prst="roundRect">
            <a:avLst>
              <a:gd name="adj" fmla="val 8889"/>
            </a:avLst>
          </a:prstGeom>
          <a:solidFill>
            <a:srgbClr val="FFFFF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731520" y="2377440"/>
            <a:ext cx="2880360"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التمكين تنظيمي</a:t>
            </a:r>
            <a:endParaRPr lang="en-US" sz="1700" dirty="0"/>
          </a:p>
        </p:txBody>
      </p:sp>
      <p:sp>
        <p:nvSpPr>
          <p:cNvPr id="18" name="Text 16"/>
          <p:cNvSpPr txBox="1"/>
          <p:nvPr/>
        </p:nvSpPr>
        <p:spPr>
          <a:xfrm>
            <a:off x="731520" y="2880360"/>
            <a:ext cx="2880360" cy="8686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الميثاق ومعايير المسار والسياسات والأدلة</a:t>
            </a:r>
            <a:endParaRPr lang="en-US" sz="1400" dirty="0"/>
          </a:p>
        </p:txBody>
      </p:sp>
      <p:sp>
        <p:nvSpPr>
          <p:cNvPr id="19" name="Shape 17"/>
          <p:cNvSpPr/>
          <p:nvPr/>
        </p:nvSpPr>
        <p:spPr>
          <a:xfrm>
            <a:off x="4160520" y="4069080"/>
            <a:ext cx="3429000" cy="1645920"/>
          </a:xfrm>
          <a:prstGeom prst="roundRect">
            <a:avLst>
              <a:gd name="adj" fmla="val 8889"/>
            </a:avLst>
          </a:prstGeom>
          <a:solidFill>
            <a:srgbClr val="FFFFFF"/>
          </a:solidFill>
          <a:ln/>
          <a:effectLst>
            <a:outerShdw sx="100000" sy="100000" kx="0" ky="0" algn="bl" rotWithShape="0" blurRad="101600" dist="25400" dir="5400000">
              <a:srgbClr val="000000">
                <a:alpha val="12000"/>
              </a:srgbClr>
            </a:outerShdw>
          </a:effectLst>
        </p:spPr>
      </p:sp>
      <p:sp>
        <p:nvSpPr>
          <p:cNvPr id="20" name="Text 18"/>
          <p:cNvSpPr txBox="1"/>
          <p:nvPr/>
        </p:nvSpPr>
        <p:spPr>
          <a:xfrm>
            <a:off x="4434840" y="4206240"/>
            <a:ext cx="2880360"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التمكين العلاقات</a:t>
            </a:r>
            <a:endParaRPr lang="en-US" sz="1700" dirty="0"/>
          </a:p>
        </p:txBody>
      </p:sp>
      <p:sp>
        <p:nvSpPr>
          <p:cNvPr id="21" name="Text 19"/>
          <p:cNvSpPr txBox="1"/>
          <p:nvPr/>
        </p:nvSpPr>
        <p:spPr>
          <a:xfrm>
            <a:off x="4434840" y="4709160"/>
            <a:ext cx="2880360" cy="8686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جاهزية البنوك والجهات الحكومية والمستثمرين</a:t>
            </a:r>
            <a:endParaRPr lang="en-US" sz="1400" dirty="0"/>
          </a:p>
        </p:txBody>
      </p:sp>
      <p:sp>
        <p:nvSpPr>
          <p:cNvPr id="22" name="Shape 20"/>
          <p:cNvSpPr/>
          <p:nvPr/>
        </p:nvSpPr>
        <p:spPr>
          <a:xfrm>
            <a:off x="457200" y="4069080"/>
            <a:ext cx="3429000" cy="1645920"/>
          </a:xfrm>
          <a:prstGeom prst="roundRect">
            <a:avLst>
              <a:gd name="adj" fmla="val 8889"/>
            </a:avLst>
          </a:prstGeom>
          <a:solidFill>
            <a:srgbClr val="FFFFFF"/>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731520" y="4206240"/>
            <a:ext cx="2880360"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التمكين المعلومات</a:t>
            </a:r>
            <a:endParaRPr lang="en-US" sz="1700" dirty="0"/>
          </a:p>
        </p:txBody>
      </p:sp>
      <p:sp>
        <p:nvSpPr>
          <p:cNvPr id="24" name="Text 22"/>
          <p:cNvSpPr txBox="1"/>
          <p:nvPr/>
        </p:nvSpPr>
        <p:spPr>
          <a:xfrm>
            <a:off x="731520" y="4709160"/>
            <a:ext cx="2880360" cy="8686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لوحة محفظة التمويل ورصد السوق</a:t>
            </a:r>
            <a:endParaRPr lang="en-US" sz="1400" dirty="0"/>
          </a:p>
        </p:txBody>
      </p:sp>
      <p:sp>
        <p:nvSpPr>
          <p:cNvPr id="25" name="Shape 23"/>
          <p:cNvSpPr/>
          <p:nvPr/>
        </p:nvSpPr>
        <p:spPr>
          <a:xfrm>
            <a:off x="4160520" y="5897880"/>
            <a:ext cx="3429000" cy="1645920"/>
          </a:xfrm>
          <a:prstGeom prst="roundRect">
            <a:avLst>
              <a:gd name="adj" fmla="val 8889"/>
            </a:avLst>
          </a:prstGeom>
          <a:solidFill>
            <a:srgbClr val="FFFFFF"/>
          </a:solidFill>
          <a:ln/>
          <a:effectLst>
            <a:outerShdw sx="100000" sy="100000" kx="0" ky="0" algn="bl" rotWithShape="0" blurRad="101600" dist="25400" dir="5400000">
              <a:srgbClr val="000000">
                <a:alpha val="12000"/>
              </a:srgbClr>
            </a:outerShdw>
          </a:effectLst>
        </p:spPr>
      </p:sp>
      <p:sp>
        <p:nvSpPr>
          <p:cNvPr id="26" name="Text 24"/>
          <p:cNvSpPr txBox="1"/>
          <p:nvPr/>
        </p:nvSpPr>
        <p:spPr>
          <a:xfrm>
            <a:off x="4434840" y="6035040"/>
            <a:ext cx="2880360"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التمكين نظامي</a:t>
            </a:r>
            <a:endParaRPr lang="en-US" sz="1700" dirty="0"/>
          </a:p>
        </p:txBody>
      </p:sp>
      <p:sp>
        <p:nvSpPr>
          <p:cNvPr id="27" name="Text 25"/>
          <p:cNvSpPr txBox="1"/>
          <p:nvPr/>
        </p:nvSpPr>
        <p:spPr>
          <a:xfrm>
            <a:off x="4434840" y="6537960"/>
            <a:ext cx="2880360" cy="8686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ملفات موافقات المالية وإدارة الدين والسوق المالية والتخصيص</a:t>
            </a:r>
            <a:endParaRPr lang="en-US" sz="1400" dirty="0"/>
          </a:p>
        </p:txBody>
      </p:sp>
      <p:sp>
        <p:nvSpPr>
          <p:cNvPr id="28" name="Shape 26"/>
          <p:cNvSpPr/>
          <p:nvPr/>
        </p:nvSpPr>
        <p:spPr>
          <a:xfrm>
            <a:off x="457200" y="5897880"/>
            <a:ext cx="3429000" cy="1645920"/>
          </a:xfrm>
          <a:prstGeom prst="roundRect">
            <a:avLst>
              <a:gd name="adj" fmla="val 8889"/>
            </a:avLst>
          </a:prstGeom>
          <a:solidFill>
            <a:srgbClr val="FFFFFF"/>
          </a:solidFill>
          <a:ln/>
          <a:effectLst>
            <a:outerShdw sx="100000" sy="100000" kx="0" ky="0" algn="bl" rotWithShape="0" blurRad="101600" dist="25400" dir="5400000">
              <a:srgbClr val="000000">
                <a:alpha val="12000"/>
              </a:srgbClr>
            </a:outerShdw>
          </a:effectLst>
        </p:spPr>
      </p:sp>
      <p:sp>
        <p:nvSpPr>
          <p:cNvPr id="29" name="Text 27"/>
          <p:cNvSpPr txBox="1"/>
          <p:nvPr/>
        </p:nvSpPr>
        <p:spPr>
          <a:xfrm>
            <a:off x="731520" y="6035040"/>
            <a:ext cx="2880360"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التمكين القدرات</a:t>
            </a:r>
            <a:endParaRPr lang="en-US" sz="1700" dirty="0"/>
          </a:p>
        </p:txBody>
      </p:sp>
      <p:sp>
        <p:nvSpPr>
          <p:cNvPr id="30" name="Text 28"/>
          <p:cNvSpPr txBox="1"/>
          <p:nvPr/>
        </p:nvSpPr>
        <p:spPr>
          <a:xfrm>
            <a:off x="731520" y="6537960"/>
            <a:ext cx="2880360" cy="86868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تأهيل كوادر الأمانة في التمويل والشراكات</a:t>
            </a:r>
            <a:endParaRPr lang="en-US" sz="14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نموذج تطبيقي: الحديقة</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مستثمر ينشئ ويصون ويشغّل ويستثمر 15 سنة ثم تعود الحديقة للأمانة</a:t>
            </a:r>
            <a:endParaRPr lang="en-US" sz="1500" dirty="0"/>
          </a:p>
        </p:txBody>
      </p:sp>
      <p:sp>
        <p:nvSpPr>
          <p:cNvPr id="4" name="Shape 2"/>
          <p:cNvSpPr/>
          <p:nvPr/>
        </p:nvSpPr>
        <p:spPr>
          <a:xfrm>
            <a:off x="8229600" y="1645920"/>
            <a:ext cx="3502152" cy="2743200"/>
          </a:xfrm>
          <a:prstGeom prst="roundRect">
            <a:avLst>
              <a:gd name="adj" fmla="val 5333"/>
            </a:avLst>
          </a:prstGeom>
          <a:solidFill>
            <a:srgbClr val="006A46"/>
          </a:solidFill>
          <a:ln/>
          <a:effectLst>
            <a:outerShdw sx="100000" sy="100000" kx="0" ky="0" algn="bl" rotWithShape="0" blurRad="101600" dist="25400" dir="5400000">
              <a:srgbClr val="000000">
                <a:alpha val="12000"/>
              </a:srgbClr>
            </a:outerShdw>
          </a:effectLst>
        </p:spPr>
      </p:sp>
      <p:sp>
        <p:nvSpPr>
          <p:cNvPr id="5" name="Text 3"/>
          <p:cNvSpPr txBox="1"/>
          <p:nvPr/>
        </p:nvSpPr>
        <p:spPr>
          <a:xfrm>
            <a:off x="8503920" y="1783080"/>
            <a:ext cx="2953512" cy="914400"/>
          </a:xfrm>
          <a:prstGeom prst="rect">
            <a:avLst/>
          </a:prstGeom>
          <a:noFill/>
          <a:ln/>
        </p:spPr>
        <p:txBody>
          <a:bodyPr wrap="square" lIns="0" tIns="0" rIns="0" bIns="0" rtlCol="0" anchor="ctr"/>
          <a:lstStyle/>
          <a:p>
            <a:pPr rtl="1" algn="r" indent="0" marL="0">
              <a:buNone/>
            </a:pPr>
            <a:r>
              <a:rPr lang="en-US" sz="4000" b="1" dirty="0">
                <a:solidFill>
                  <a:srgbClr val="FFFFFF"/>
                </a:solidFill>
                <a:latin typeface="Arial" pitchFamily="34" charset="0"/>
                <a:ea typeface="Arial" pitchFamily="34" charset="-122"/>
                <a:cs typeface="Arial" pitchFamily="34" charset="-120"/>
              </a:rPr>
              <a:t>≈ 50 مليون</a:t>
            </a:r>
            <a:endParaRPr lang="en-US" sz="4000" dirty="0"/>
          </a:p>
        </p:txBody>
      </p:sp>
      <p:sp>
        <p:nvSpPr>
          <p:cNvPr id="6" name="Text 4"/>
          <p:cNvSpPr txBox="1"/>
          <p:nvPr/>
        </p:nvSpPr>
        <p:spPr>
          <a:xfrm>
            <a:off x="8503920" y="2697480"/>
            <a:ext cx="2953512" cy="1554480"/>
          </a:xfrm>
          <a:prstGeom prst="rect">
            <a:avLst/>
          </a:prstGeom>
          <a:noFill/>
          <a:ln/>
        </p:spPr>
        <p:txBody>
          <a:bodyPr wrap="square" lIns="0" tIns="0" rIns="0" bIns="0" rtlCol="0" anchor="t"/>
          <a:lstStyle/>
          <a:p>
            <a:pPr rtl="1" algn="r" indent="0" marL="0">
              <a:buNone/>
            </a:pPr>
            <a:r>
              <a:rPr lang="en-US" sz="1400" dirty="0">
                <a:solidFill>
                  <a:srgbClr val="E3F0EA"/>
                </a:solidFill>
                <a:latin typeface="Arial" pitchFamily="34" charset="0"/>
                <a:ea typeface="Arial" pitchFamily="34" charset="-122"/>
                <a:cs typeface="Arial" pitchFamily="34" charset="-120"/>
              </a:rPr>
              <a:t>ريال وفر توضيحي خلال 15 سنة (إنشاء 20 مليون + صيانة مليونان سنوياً) — أرقام افتراضية</a:t>
            </a:r>
            <a:endParaRPr lang="en-US" sz="1400" dirty="0"/>
          </a:p>
        </p:txBody>
      </p:sp>
      <p:sp>
        <p:nvSpPr>
          <p:cNvPr id="7" name="Shape 5"/>
          <p:cNvSpPr/>
          <p:nvPr/>
        </p:nvSpPr>
        <p:spPr>
          <a:xfrm>
            <a:off x="8229600" y="4572000"/>
            <a:ext cx="3502152" cy="3063240"/>
          </a:xfrm>
          <a:prstGeom prst="roundRect">
            <a:avLst>
              <a:gd name="adj" fmla="val 4776"/>
            </a:avLst>
          </a:prstGeom>
          <a:solidFill>
            <a:srgbClr val="FFFFFF"/>
          </a:solidFill>
          <a:ln/>
          <a:effectLst>
            <a:outerShdw sx="100000" sy="100000" kx="0" ky="0" algn="bl" rotWithShape="0" blurRad="101600" dist="25400" dir="5400000">
              <a:srgbClr val="000000">
                <a:alpha val="12000"/>
              </a:srgbClr>
            </a:outerShdw>
          </a:effectLst>
        </p:spPr>
      </p:sp>
      <p:sp>
        <p:nvSpPr>
          <p:cNvPr id="8" name="Text 6"/>
          <p:cNvSpPr txBox="1"/>
          <p:nvPr/>
        </p:nvSpPr>
        <p:spPr>
          <a:xfrm>
            <a:off x="8503920" y="4709160"/>
            <a:ext cx="2953512" cy="457200"/>
          </a:xfrm>
          <a:prstGeom prst="rect">
            <a:avLst/>
          </a:prstGeom>
          <a:noFill/>
          <a:ln/>
        </p:spPr>
        <p:txBody>
          <a:bodyPr wrap="square" lIns="0" tIns="0" rIns="0" bIns="0" rtlCol="0" anchor="ctr"/>
          <a:lstStyle/>
          <a:p>
            <a:pPr rtl="1" algn="r" indent="0" marL="0">
              <a:buNone/>
            </a:pPr>
            <a:r>
              <a:rPr lang="en-US" sz="1700" b="1" dirty="0">
                <a:solidFill>
                  <a:srgbClr val="0B6B73"/>
                </a:solidFill>
                <a:latin typeface="Arial" pitchFamily="34" charset="0"/>
                <a:ea typeface="Arial" pitchFamily="34" charset="-122"/>
                <a:cs typeface="Arial" pitchFamily="34" charset="-120"/>
              </a:rPr>
              <a:t>لمن إيراد التسمية؟</a:t>
            </a:r>
            <a:endParaRPr lang="en-US" sz="1700" dirty="0"/>
          </a:p>
        </p:txBody>
      </p:sp>
      <p:sp>
        <p:nvSpPr>
          <p:cNvPr id="9" name="Text 7"/>
          <p:cNvSpPr txBox="1"/>
          <p:nvPr/>
        </p:nvSpPr>
        <p:spPr>
          <a:xfrm>
            <a:off x="8503920" y="5212080"/>
            <a:ext cx="2953512" cy="2286000"/>
          </a:xfrm>
          <a:prstGeom prst="rect">
            <a:avLst/>
          </a:prstGeom>
          <a:noFill/>
          <a:ln/>
        </p:spPr>
        <p:txBody>
          <a:bodyPr wrap="square" lIns="0" tIns="0" rIns="0" bIns="0" rtlCol="0" anchor="t"/>
          <a:lstStyle/>
          <a:p>
            <a:pPr algn="r" marL="228600" indent="-2286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حديقة جاذبة: تحتفظ به الأمانة</a:t>
            </a:r>
            <a:endParaRPr lang="en-US" sz="1500" dirty="0"/>
          </a:p>
          <a:p>
            <a:pPr algn="r" marL="228600" indent="-228600">
              <a:spcAft>
                <a:spcPts val="800"/>
              </a:spcAft>
              <a:buSzPct val="100000"/>
              <a:buChar char="•"/>
            </a:pPr>
            <a:r>
              <a:rPr lang="en-US" sz="1500" dirty="0">
                <a:solidFill>
                  <a:srgbClr val="1F2A37"/>
                </a:solidFill>
                <a:latin typeface="Arial" pitchFamily="34" charset="0"/>
                <a:ea typeface="Arial" pitchFamily="34" charset="-122"/>
                <a:cs typeface="Arial" pitchFamily="34" charset="-120"/>
              </a:rPr>
              <a:t>حديقة ضعيفة الجاذبية: يُعطى للمستثمر ليضمن التنفيذ</a:t>
            </a:r>
            <a:endParaRPr lang="en-US" sz="1500" dirty="0"/>
          </a:p>
        </p:txBody>
      </p:sp>
      <p:sp>
        <p:nvSpPr>
          <p:cNvPr id="10" name="Shape 8"/>
          <p:cNvSpPr/>
          <p:nvPr/>
        </p:nvSpPr>
        <p:spPr>
          <a:xfrm>
            <a:off x="4343400" y="1645920"/>
            <a:ext cx="3611880" cy="2743200"/>
          </a:xfrm>
          <a:prstGeom prst="roundRect">
            <a:avLst>
              <a:gd name="adj" fmla="val 5333"/>
            </a:avLst>
          </a:prstGeom>
          <a:solidFill>
            <a:srgbClr val="FFFFFF"/>
          </a:solidFill>
          <a:ln/>
          <a:effectLst>
            <a:outerShdw sx="100000" sy="100000" kx="0" ky="0" algn="bl" rotWithShape="0" blurRad="101600" dist="25400" dir="5400000">
              <a:srgbClr val="000000">
                <a:alpha val="12000"/>
              </a:srgbClr>
            </a:outerShdw>
          </a:effectLst>
        </p:spPr>
      </p:sp>
      <p:sp>
        <p:nvSpPr>
          <p:cNvPr id="11" name="Text 9"/>
          <p:cNvSpPr txBox="1"/>
          <p:nvPr/>
        </p:nvSpPr>
        <p:spPr>
          <a:xfrm>
            <a:off x="4617720" y="1783080"/>
            <a:ext cx="3063240" cy="457200"/>
          </a:xfrm>
          <a:prstGeom prst="rect">
            <a:avLst/>
          </a:prstGeom>
          <a:noFill/>
          <a:ln/>
        </p:spPr>
        <p:txBody>
          <a:bodyPr wrap="square" lIns="0" tIns="0" rIns="0" bIns="0" rtlCol="0" anchor="ctr"/>
          <a:lstStyle/>
          <a:p>
            <a:pPr rtl="1" algn="r" indent="0" marL="0">
              <a:buNone/>
            </a:pPr>
            <a:r>
              <a:rPr lang="en-US" sz="1700" b="1" dirty="0">
                <a:solidFill>
                  <a:srgbClr val="006A46"/>
                </a:solidFill>
                <a:latin typeface="Arial" pitchFamily="34" charset="0"/>
                <a:ea typeface="Arial" pitchFamily="34" charset="-122"/>
                <a:cs typeface="Arial" pitchFamily="34" charset="-120"/>
              </a:rPr>
              <a:t>الأمانة تحصل على</a:t>
            </a:r>
            <a:endParaRPr lang="en-US" sz="1700" dirty="0"/>
          </a:p>
        </p:txBody>
      </p:sp>
      <p:sp>
        <p:nvSpPr>
          <p:cNvPr id="12" name="Text 10"/>
          <p:cNvSpPr txBox="1"/>
          <p:nvPr/>
        </p:nvSpPr>
        <p:spPr>
          <a:xfrm>
            <a:off x="4617720" y="2286000"/>
            <a:ext cx="3063240" cy="1965960"/>
          </a:xfrm>
          <a:prstGeom prst="rect">
            <a:avLst/>
          </a:prstGeom>
          <a:noFill/>
          <a:ln/>
        </p:spPr>
        <p:txBody>
          <a:bodyPr wrap="square" lIns="0" tIns="0" rIns="0" bIns="0" rtlCol="0" anchor="t"/>
          <a:lstStyle/>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حديقة بلا تكلفة إنشاء</a:t>
            </a:r>
            <a:endParaRPr lang="en-US" sz="1500" dirty="0"/>
          </a:p>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صيانة وتشغيل 15 سنة</a:t>
            </a:r>
            <a:endParaRPr lang="en-US" sz="1500" dirty="0"/>
          </a:p>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أصل يعود إليها</a:t>
            </a:r>
            <a:endParaRPr lang="en-US" sz="1500" dirty="0"/>
          </a:p>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إيجار أو نسبة + إيراد التسمية</a:t>
            </a:r>
            <a:endParaRPr lang="en-US" sz="1500" dirty="0"/>
          </a:p>
        </p:txBody>
      </p:sp>
      <p:sp>
        <p:nvSpPr>
          <p:cNvPr id="13" name="Shape 11"/>
          <p:cNvSpPr/>
          <p:nvPr/>
        </p:nvSpPr>
        <p:spPr>
          <a:xfrm>
            <a:off x="457200" y="1645920"/>
            <a:ext cx="3611880" cy="2743200"/>
          </a:xfrm>
          <a:prstGeom prst="roundRect">
            <a:avLst>
              <a:gd name="adj" fmla="val 5333"/>
            </a:avLst>
          </a:prstGeom>
          <a:solidFill>
            <a:srgbClr val="FFFFFF"/>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731520" y="1783080"/>
            <a:ext cx="3063240" cy="457200"/>
          </a:xfrm>
          <a:prstGeom prst="rect">
            <a:avLst/>
          </a:prstGeom>
          <a:noFill/>
          <a:ln/>
        </p:spPr>
        <p:txBody>
          <a:bodyPr wrap="square" lIns="0" tIns="0" rIns="0" bIns="0" rtlCol="0" anchor="ctr"/>
          <a:lstStyle/>
          <a:p>
            <a:pPr rtl="1" algn="r" indent="0" marL="0">
              <a:buNone/>
            </a:pPr>
            <a:r>
              <a:rPr lang="en-US" sz="1700" b="1" dirty="0">
                <a:solidFill>
                  <a:srgbClr val="394B5F"/>
                </a:solidFill>
                <a:latin typeface="Arial" pitchFamily="34" charset="0"/>
                <a:ea typeface="Arial" pitchFamily="34" charset="-122"/>
                <a:cs typeface="Arial" pitchFamily="34" charset="-120"/>
              </a:rPr>
              <a:t>المستثمر يربح من</a:t>
            </a:r>
            <a:endParaRPr lang="en-US" sz="1700" dirty="0"/>
          </a:p>
        </p:txBody>
      </p:sp>
      <p:sp>
        <p:nvSpPr>
          <p:cNvPr id="15" name="Text 13"/>
          <p:cNvSpPr txBox="1"/>
          <p:nvPr/>
        </p:nvSpPr>
        <p:spPr>
          <a:xfrm>
            <a:off x="731520" y="2286000"/>
            <a:ext cx="3063240" cy="1965960"/>
          </a:xfrm>
          <a:prstGeom prst="rect">
            <a:avLst/>
          </a:prstGeom>
          <a:noFill/>
          <a:ln/>
        </p:spPr>
        <p:txBody>
          <a:bodyPr wrap="square" lIns="0" tIns="0" rIns="0" bIns="0" rtlCol="0" anchor="t"/>
          <a:lstStyle/>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مطاعم ومقاهٍ في جزء محدد</a:t>
            </a:r>
            <a:endParaRPr lang="en-US" sz="1500" dirty="0"/>
          </a:p>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أنشطة وألعاب وفعاليات</a:t>
            </a:r>
            <a:endParaRPr lang="en-US" sz="1500" dirty="0"/>
          </a:p>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إعلانات ومواقف</a:t>
            </a:r>
            <a:endParaRPr lang="en-US" sz="1500" dirty="0"/>
          </a:p>
          <a:p>
            <a:pPr algn="r" marL="228600" indent="-228600">
              <a:spcAft>
                <a:spcPts val="300"/>
              </a:spcAft>
              <a:buSzPct val="100000"/>
              <a:buChar char="•"/>
            </a:pPr>
            <a:r>
              <a:rPr lang="en-US" sz="1500" dirty="0">
                <a:solidFill>
                  <a:srgbClr val="1F2A37"/>
                </a:solidFill>
                <a:latin typeface="Arial" pitchFamily="34" charset="0"/>
                <a:ea typeface="Arial" pitchFamily="34" charset="-122"/>
                <a:cs typeface="Arial" pitchFamily="34" charset="-120"/>
              </a:rPr>
              <a:t>التسمية (حسب الاتفاق)</a:t>
            </a:r>
            <a:endParaRPr lang="en-US" sz="1500" dirty="0"/>
          </a:p>
        </p:txBody>
      </p:sp>
      <p:sp>
        <p:nvSpPr>
          <p:cNvPr id="16" name="Shape 14"/>
          <p:cNvSpPr/>
          <p:nvPr/>
        </p:nvSpPr>
        <p:spPr>
          <a:xfrm>
            <a:off x="457200" y="4572000"/>
            <a:ext cx="7498080" cy="3063240"/>
          </a:xfrm>
          <a:prstGeom prst="roundRect">
            <a:avLst>
              <a:gd name="adj" fmla="val 4776"/>
            </a:avLst>
          </a:prstGeom>
          <a:solidFill>
            <a:srgbClr val="F1F5F3"/>
          </a:solidFill>
          <a:ln/>
        </p:spPr>
      </p:sp>
      <p:sp>
        <p:nvSpPr>
          <p:cNvPr id="17" name="Text 15"/>
          <p:cNvSpPr txBox="1"/>
          <p:nvPr/>
        </p:nvSpPr>
        <p:spPr>
          <a:xfrm>
            <a:off x="731520" y="4709160"/>
            <a:ext cx="6949440" cy="457200"/>
          </a:xfrm>
          <a:prstGeom prst="rect">
            <a:avLst/>
          </a:prstGeom>
          <a:noFill/>
          <a:ln/>
        </p:spPr>
        <p:txBody>
          <a:bodyPr wrap="square" lIns="0" tIns="0" rIns="0" bIns="0" rtlCol="0" anchor="ctr"/>
          <a:lstStyle/>
          <a:p>
            <a:pPr rtl="1" algn="r" indent="0" marL="0">
              <a:buNone/>
            </a:pPr>
            <a:r>
              <a:rPr lang="en-US" sz="1700" b="1" dirty="0">
                <a:solidFill>
                  <a:srgbClr val="006A46"/>
                </a:solidFill>
                <a:latin typeface="Arial" pitchFamily="34" charset="0"/>
                <a:ea typeface="Arial" pitchFamily="34" charset="-122"/>
                <a:cs typeface="Arial" pitchFamily="34" charset="-120"/>
              </a:rPr>
              <a:t>اشتراطات حماية المصلحة العامة</a:t>
            </a:r>
            <a:endParaRPr lang="en-US" sz="1700" dirty="0"/>
          </a:p>
        </p:txBody>
      </p:sp>
      <p:sp>
        <p:nvSpPr>
          <p:cNvPr id="18" name="Text 16"/>
          <p:cNvSpPr txBox="1"/>
          <p:nvPr/>
        </p:nvSpPr>
        <p:spPr>
          <a:xfrm>
            <a:off x="4343400" y="5212080"/>
            <a:ext cx="3337560" cy="1828800"/>
          </a:xfrm>
          <a:prstGeom prst="rect">
            <a:avLst/>
          </a:prstGeom>
          <a:noFill/>
          <a:ln/>
        </p:spPr>
        <p:txBody>
          <a:bodyPr wrap="square" lIns="0" tIns="0" rIns="0" bIns="0" rtlCol="0" anchor="t"/>
          <a:lstStyle/>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دخول مجاني أو رمزي</a:t>
            </a:r>
            <a:endParaRPr lang="en-US" sz="1500" dirty="0"/>
          </a:p>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سقف للمساحة التجارية</a:t>
            </a:r>
            <a:endParaRPr lang="en-US" sz="1500" dirty="0"/>
          </a:p>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مؤشرات صيانة وغرامات</a:t>
            </a:r>
            <a:endParaRPr lang="en-US" sz="1500" dirty="0"/>
          </a:p>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ساعات تخدم الجمهور</a:t>
            </a:r>
            <a:endParaRPr lang="en-US" sz="1500" dirty="0"/>
          </a:p>
        </p:txBody>
      </p:sp>
      <p:sp>
        <p:nvSpPr>
          <p:cNvPr id="19" name="Text 17"/>
          <p:cNvSpPr txBox="1"/>
          <p:nvPr/>
        </p:nvSpPr>
        <p:spPr>
          <a:xfrm>
            <a:off x="731520" y="5212080"/>
            <a:ext cx="3337560" cy="1828800"/>
          </a:xfrm>
          <a:prstGeom prst="rect">
            <a:avLst/>
          </a:prstGeom>
          <a:noFill/>
          <a:ln/>
        </p:spPr>
        <p:txBody>
          <a:bodyPr wrap="square" lIns="0" tIns="0" rIns="0" bIns="0" rtlCol="0" anchor="t"/>
          <a:lstStyle/>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تسليم بحالة تشغيلية جيدة</a:t>
            </a:r>
            <a:endParaRPr lang="en-US" sz="1500" dirty="0"/>
          </a:p>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ضمان بنكي للأداء</a:t>
            </a:r>
            <a:endParaRPr lang="en-US" sz="1500" dirty="0"/>
          </a:p>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حق التدخل عند التعثر</a:t>
            </a:r>
            <a:endParaRPr lang="en-US" sz="1500" dirty="0"/>
          </a:p>
          <a:p>
            <a:pPr algn="r" marL="228600" indent="-228600">
              <a:spcAft>
                <a:spcPts val="500"/>
              </a:spcAft>
              <a:buSzPct val="100000"/>
              <a:buChar char="•"/>
            </a:pPr>
            <a:r>
              <a:rPr lang="en-US" sz="1500" dirty="0">
                <a:solidFill>
                  <a:srgbClr val="1F2A37"/>
                </a:solidFill>
                <a:latin typeface="Arial" pitchFamily="34" charset="0"/>
                <a:ea typeface="Arial" pitchFamily="34" charset="-122"/>
                <a:cs typeface="Arial" pitchFamily="34" charset="-120"/>
              </a:rPr>
              <a:t>موافقة الأمانة على اسم الراعي</a:t>
            </a:r>
            <a:endParaRPr lang="en-US" sz="1500" dirty="0"/>
          </a:p>
        </p:txBody>
      </p:sp>
      <p:sp>
        <p:nvSpPr>
          <p:cNvPr id="20" name="Text 18"/>
          <p:cNvSpPr txBox="1"/>
          <p:nvPr/>
        </p:nvSpPr>
        <p:spPr>
          <a:xfrm>
            <a:off x="731520" y="7086600"/>
            <a:ext cx="6949440" cy="457200"/>
          </a:xfrm>
          <a:prstGeom prst="rect">
            <a:avLst/>
          </a:prstGeom>
          <a:noFill/>
          <a:ln/>
        </p:spPr>
        <p:txBody>
          <a:bodyPr wrap="square" lIns="0" tIns="0" rIns="0" bIns="0" rtlCol="0" anchor="ctr"/>
          <a:lstStyle/>
          <a:p>
            <a:pPr rtl="1" algn="r" indent="0" marL="0">
              <a:buNone/>
            </a:pPr>
            <a:r>
              <a:rPr lang="en-US" sz="1400" b="1" dirty="0">
                <a:solidFill>
                  <a:srgbClr val="0B6B73"/>
                </a:solidFill>
                <a:latin typeface="Arial" pitchFamily="34" charset="0"/>
                <a:ea typeface="Arial" pitchFamily="34" charset="-122"/>
                <a:cs typeface="Arial" pitchFamily="34" charset="-120"/>
              </a:rPr>
              <a:t>الحدائق الصغيرة: تُجمَّع 5–10 منها مع حديقة كبيرة مربحة في عقد واحد</a:t>
            </a:r>
            <a:endParaRPr lang="en-US" sz="14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إدارة الاستدامة المالية</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تضمن ألا تصنع قرارات اليوم عبئاً على الأمانة غداً</a:t>
            </a:r>
            <a:endParaRPr lang="en-US" sz="1500" dirty="0"/>
          </a:p>
        </p:txBody>
      </p:sp>
      <p:sp>
        <p:nvSpPr>
          <p:cNvPr id="4" name="Shape 2"/>
          <p:cNvSpPr/>
          <p:nvPr/>
        </p:nvSpPr>
        <p:spPr>
          <a:xfrm>
            <a:off x="8156448" y="1645920"/>
            <a:ext cx="3575304" cy="1280160"/>
          </a:xfrm>
          <a:prstGeom prst="roundRect">
            <a:avLst>
              <a:gd name="adj" fmla="val 11429"/>
            </a:avLst>
          </a:prstGeom>
          <a:solidFill>
            <a:srgbClr val="006A46"/>
          </a:solidFill>
          <a:ln/>
          <a:effectLst>
            <a:outerShdw sx="100000" sy="100000" kx="0" ky="0" algn="bl" rotWithShape="0" blurRad="101600" dist="25400" dir="5400000">
              <a:srgbClr val="000000">
                <a:alpha val="12000"/>
              </a:srgbClr>
            </a:outerShdw>
          </a:effectLst>
        </p:spPr>
      </p:sp>
      <p:sp>
        <p:nvSpPr>
          <p:cNvPr id="5" name="Text 3"/>
          <p:cNvSpPr txBox="1"/>
          <p:nvPr/>
        </p:nvSpPr>
        <p:spPr>
          <a:xfrm>
            <a:off x="8430768" y="1737360"/>
            <a:ext cx="3026664" cy="457200"/>
          </a:xfrm>
          <a:prstGeom prst="rect">
            <a:avLst/>
          </a:prstGeom>
          <a:noFill/>
          <a:ln/>
        </p:spPr>
        <p:txBody>
          <a:bodyPr wrap="square" lIns="0" tIns="0" rIns="0" bIns="0"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الإيرادات</a:t>
            </a:r>
            <a:endParaRPr lang="en-US" sz="1600" dirty="0"/>
          </a:p>
        </p:txBody>
      </p:sp>
      <p:sp>
        <p:nvSpPr>
          <p:cNvPr id="6" name="Text 4"/>
          <p:cNvSpPr txBox="1"/>
          <p:nvPr/>
        </p:nvSpPr>
        <p:spPr>
          <a:xfrm>
            <a:off x="8430768" y="2194560"/>
            <a:ext cx="3026664" cy="594360"/>
          </a:xfrm>
          <a:prstGeom prst="rect">
            <a:avLst/>
          </a:prstGeom>
          <a:noFill/>
          <a:ln/>
        </p:spPr>
        <p:txBody>
          <a:bodyPr wrap="square" lIns="0" tIns="0" rIns="0" bIns="0" rtlCol="0" anchor="ctr"/>
          <a:lstStyle/>
          <a:p>
            <a:pPr rtl="1" algn="r" indent="0" marL="0">
              <a:buNone/>
            </a:pPr>
            <a:r>
              <a:rPr lang="en-US" sz="2100" b="1" dirty="0">
                <a:solidFill>
                  <a:srgbClr val="FFFFFF"/>
                </a:solidFill>
                <a:latin typeface="Arial" pitchFamily="34" charset="0"/>
                <a:ea typeface="Arial" pitchFamily="34" charset="-122"/>
                <a:cs typeface="Arial" pitchFamily="34" charset="-120"/>
              </a:rPr>
              <a:t>«هذا ما سنحصّله»</a:t>
            </a:r>
            <a:endParaRPr lang="en-US" sz="2100" dirty="0"/>
          </a:p>
        </p:txBody>
      </p:sp>
      <p:sp>
        <p:nvSpPr>
          <p:cNvPr id="7" name="Shape 5"/>
          <p:cNvSpPr/>
          <p:nvPr/>
        </p:nvSpPr>
        <p:spPr>
          <a:xfrm>
            <a:off x="4306824" y="1645920"/>
            <a:ext cx="3575304" cy="1280160"/>
          </a:xfrm>
          <a:prstGeom prst="roundRect">
            <a:avLst>
              <a:gd name="adj" fmla="val 11429"/>
            </a:avLst>
          </a:prstGeom>
          <a:solidFill>
            <a:srgbClr val="0B6B73"/>
          </a:solidFill>
          <a:ln/>
          <a:effectLst>
            <a:outerShdw sx="100000" sy="100000" kx="0" ky="0" algn="bl" rotWithShape="0" blurRad="101600" dist="25400" dir="5400000">
              <a:srgbClr val="000000">
                <a:alpha val="12000"/>
              </a:srgbClr>
            </a:outerShdw>
          </a:effectLst>
        </p:spPr>
      </p:sp>
      <p:sp>
        <p:nvSpPr>
          <p:cNvPr id="8" name="Text 6"/>
          <p:cNvSpPr txBox="1"/>
          <p:nvPr/>
        </p:nvSpPr>
        <p:spPr>
          <a:xfrm>
            <a:off x="4581144" y="1737360"/>
            <a:ext cx="3026664" cy="457200"/>
          </a:xfrm>
          <a:prstGeom prst="rect">
            <a:avLst/>
          </a:prstGeom>
          <a:noFill/>
          <a:ln/>
        </p:spPr>
        <p:txBody>
          <a:bodyPr wrap="square" lIns="0" tIns="0" rIns="0" bIns="0"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التمويل</a:t>
            </a:r>
            <a:endParaRPr lang="en-US" sz="1600" dirty="0"/>
          </a:p>
        </p:txBody>
      </p:sp>
      <p:sp>
        <p:nvSpPr>
          <p:cNvPr id="9" name="Text 7"/>
          <p:cNvSpPr txBox="1"/>
          <p:nvPr/>
        </p:nvSpPr>
        <p:spPr>
          <a:xfrm>
            <a:off x="4581144" y="2194560"/>
            <a:ext cx="3026664" cy="594360"/>
          </a:xfrm>
          <a:prstGeom prst="rect">
            <a:avLst/>
          </a:prstGeom>
          <a:noFill/>
          <a:ln/>
        </p:spPr>
        <p:txBody>
          <a:bodyPr wrap="square" lIns="0" tIns="0" rIns="0" bIns="0" rtlCol="0" anchor="ctr"/>
          <a:lstStyle/>
          <a:p>
            <a:pPr rtl="1" algn="r" indent="0" marL="0">
              <a:buNone/>
            </a:pPr>
            <a:r>
              <a:rPr lang="en-US" sz="2100" b="1" dirty="0">
                <a:solidFill>
                  <a:srgbClr val="FFFFFF"/>
                </a:solidFill>
                <a:latin typeface="Arial" pitchFamily="34" charset="0"/>
                <a:ea typeface="Arial" pitchFamily="34" charset="-122"/>
                <a:cs typeface="Arial" pitchFamily="34" charset="-120"/>
              </a:rPr>
              <a:t>«هذا ما نحتاج تمويله»</a:t>
            </a:r>
            <a:endParaRPr lang="en-US" sz="2100" dirty="0"/>
          </a:p>
        </p:txBody>
      </p:sp>
      <p:sp>
        <p:nvSpPr>
          <p:cNvPr id="10" name="Shape 8"/>
          <p:cNvSpPr/>
          <p:nvPr/>
        </p:nvSpPr>
        <p:spPr>
          <a:xfrm>
            <a:off x="457200" y="1645920"/>
            <a:ext cx="3575304" cy="1280160"/>
          </a:xfrm>
          <a:prstGeom prst="roundRect">
            <a:avLst>
              <a:gd name="adj" fmla="val 11429"/>
            </a:avLst>
          </a:prstGeom>
          <a:solidFill>
            <a:srgbClr val="B7801A"/>
          </a:solidFill>
          <a:ln/>
          <a:effectLst>
            <a:outerShdw sx="100000" sy="100000" kx="0" ky="0" algn="bl" rotWithShape="0" blurRad="101600" dist="25400" dir="5400000">
              <a:srgbClr val="000000">
                <a:alpha val="12000"/>
              </a:srgbClr>
            </a:outerShdw>
          </a:effectLst>
        </p:spPr>
      </p:sp>
      <p:sp>
        <p:nvSpPr>
          <p:cNvPr id="11" name="Text 9"/>
          <p:cNvSpPr txBox="1"/>
          <p:nvPr/>
        </p:nvSpPr>
        <p:spPr>
          <a:xfrm>
            <a:off x="731520" y="1737360"/>
            <a:ext cx="3026664" cy="457200"/>
          </a:xfrm>
          <a:prstGeom prst="rect">
            <a:avLst/>
          </a:prstGeom>
          <a:noFill/>
          <a:ln/>
        </p:spPr>
        <p:txBody>
          <a:bodyPr wrap="square" lIns="0" tIns="0" rIns="0" bIns="0" rtlCol="0" anchor="ctr"/>
          <a:lstStyle/>
          <a:p>
            <a:pPr rtl="1" algn="r" indent="0" marL="0">
              <a:buNone/>
            </a:pPr>
            <a:r>
              <a:rPr lang="en-US" sz="1600" b="1" dirty="0">
                <a:solidFill>
                  <a:srgbClr val="FFFFFF"/>
                </a:solidFill>
                <a:latin typeface="Arial" pitchFamily="34" charset="0"/>
                <a:ea typeface="Arial" pitchFamily="34" charset="-122"/>
                <a:cs typeface="Arial" pitchFamily="34" charset="-120"/>
              </a:rPr>
              <a:t>الاستدامة</a:t>
            </a:r>
            <a:endParaRPr lang="en-US" sz="1600" dirty="0"/>
          </a:p>
        </p:txBody>
      </p:sp>
      <p:sp>
        <p:nvSpPr>
          <p:cNvPr id="12" name="Text 10"/>
          <p:cNvSpPr txBox="1"/>
          <p:nvPr/>
        </p:nvSpPr>
        <p:spPr>
          <a:xfrm>
            <a:off x="731520" y="2194560"/>
            <a:ext cx="3026664" cy="594360"/>
          </a:xfrm>
          <a:prstGeom prst="rect">
            <a:avLst/>
          </a:prstGeom>
          <a:noFill/>
          <a:ln/>
        </p:spPr>
        <p:txBody>
          <a:bodyPr wrap="square" lIns="0" tIns="0" rIns="0" bIns="0" rtlCol="0" anchor="ctr"/>
          <a:lstStyle/>
          <a:p>
            <a:pPr rtl="1" algn="r" indent="0" marL="0">
              <a:buNone/>
            </a:pPr>
            <a:r>
              <a:rPr lang="en-US" sz="2100" b="1" dirty="0">
                <a:solidFill>
                  <a:srgbClr val="FFFFFF"/>
                </a:solidFill>
                <a:latin typeface="Arial" pitchFamily="34" charset="0"/>
                <a:ea typeface="Arial" pitchFamily="34" charset="-122"/>
                <a:cs typeface="Arial" pitchFamily="34" charset="-120"/>
              </a:rPr>
              <a:t>«هذا ما نتحمله بأمان»</a:t>
            </a:r>
            <a:endParaRPr lang="en-US" sz="2100" dirty="0"/>
          </a:p>
        </p:txBody>
      </p:sp>
      <p:sp>
        <p:nvSpPr>
          <p:cNvPr id="13" name="Text 11"/>
          <p:cNvSpPr txBox="1"/>
          <p:nvPr/>
        </p:nvSpPr>
        <p:spPr>
          <a:xfrm>
            <a:off x="457200" y="3154680"/>
            <a:ext cx="11274552" cy="457200"/>
          </a:xfrm>
          <a:prstGeom prst="rect">
            <a:avLst/>
          </a:prstGeom>
          <a:noFill/>
          <a:ln/>
        </p:spPr>
        <p:txBody>
          <a:bodyPr wrap="square" lIns="0" tIns="0" rIns="0" bIns="0" rtlCol="0" anchor="ctr"/>
          <a:lstStyle/>
          <a:p>
            <a:pPr rtl="1" algn="r" indent="0" marL="0">
              <a:buNone/>
            </a:pPr>
            <a:r>
              <a:rPr lang="en-US" sz="1900" b="1" dirty="0">
                <a:solidFill>
                  <a:srgbClr val="1F2A37"/>
                </a:solidFill>
                <a:latin typeface="Arial" pitchFamily="34" charset="0"/>
                <a:ea typeface="Arial" pitchFamily="34" charset="-122"/>
                <a:cs typeface="Arial" pitchFamily="34" charset="-120"/>
              </a:rPr>
              <a:t>القواعد المالية المقترحة</a:t>
            </a:r>
            <a:endParaRPr lang="en-US" sz="1900" dirty="0"/>
          </a:p>
        </p:txBody>
      </p:sp>
      <p:sp>
        <p:nvSpPr>
          <p:cNvPr id="14" name="Shape 12"/>
          <p:cNvSpPr/>
          <p:nvPr/>
        </p:nvSpPr>
        <p:spPr>
          <a:xfrm>
            <a:off x="9118854" y="370332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15" name="Shape 13"/>
          <p:cNvSpPr/>
          <p:nvPr/>
        </p:nvSpPr>
        <p:spPr>
          <a:xfrm>
            <a:off x="11000232" y="3931920"/>
            <a:ext cx="502920" cy="502920"/>
          </a:xfrm>
          <a:prstGeom prst="ellipse">
            <a:avLst/>
          </a:prstGeom>
          <a:solidFill>
            <a:srgbClr val="B7801A"/>
          </a:solidFill>
          <a:ln/>
        </p:spPr>
      </p:sp>
      <p:sp>
        <p:nvSpPr>
          <p:cNvPr id="16" name="Text 14"/>
          <p:cNvSpPr txBox="1"/>
          <p:nvPr/>
        </p:nvSpPr>
        <p:spPr>
          <a:xfrm>
            <a:off x="11000232" y="393192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7" name="Text 15"/>
          <p:cNvSpPr txBox="1"/>
          <p:nvPr/>
        </p:nvSpPr>
        <p:spPr>
          <a:xfrm>
            <a:off x="9393174" y="393192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سقف خدمة الدين</a:t>
            </a:r>
            <a:endParaRPr lang="en-US" sz="1600" dirty="0"/>
          </a:p>
        </p:txBody>
      </p:sp>
      <p:sp>
        <p:nvSpPr>
          <p:cNvPr id="18" name="Text 16"/>
          <p:cNvSpPr txBox="1"/>
          <p:nvPr/>
        </p:nvSpPr>
        <p:spPr>
          <a:xfrm>
            <a:off x="9393174" y="457200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الأقساط لا تتجاوز X% من الإيرادات المستقرة</a:t>
            </a:r>
            <a:endParaRPr lang="en-US" sz="1400" dirty="0"/>
          </a:p>
        </p:txBody>
      </p:sp>
      <p:sp>
        <p:nvSpPr>
          <p:cNvPr id="19" name="Shape 17"/>
          <p:cNvSpPr/>
          <p:nvPr/>
        </p:nvSpPr>
        <p:spPr>
          <a:xfrm>
            <a:off x="6231636" y="370332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20" name="Shape 18"/>
          <p:cNvSpPr/>
          <p:nvPr/>
        </p:nvSpPr>
        <p:spPr>
          <a:xfrm>
            <a:off x="8113014" y="3931920"/>
            <a:ext cx="502920" cy="502920"/>
          </a:xfrm>
          <a:prstGeom prst="ellipse">
            <a:avLst/>
          </a:prstGeom>
          <a:solidFill>
            <a:srgbClr val="B7801A"/>
          </a:solidFill>
          <a:ln/>
        </p:spPr>
      </p:sp>
      <p:sp>
        <p:nvSpPr>
          <p:cNvPr id="21" name="Text 19"/>
          <p:cNvSpPr txBox="1"/>
          <p:nvPr/>
        </p:nvSpPr>
        <p:spPr>
          <a:xfrm>
            <a:off x="8113014" y="393192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2" name="Text 20"/>
          <p:cNvSpPr txBox="1"/>
          <p:nvPr/>
        </p:nvSpPr>
        <p:spPr>
          <a:xfrm>
            <a:off x="6505956" y="393192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سقف الالتزامات</a:t>
            </a:r>
            <a:endParaRPr lang="en-US" sz="1600" dirty="0"/>
          </a:p>
        </p:txBody>
      </p:sp>
      <p:sp>
        <p:nvSpPr>
          <p:cNvPr id="23" name="Text 21"/>
          <p:cNvSpPr txBox="1"/>
          <p:nvPr/>
        </p:nvSpPr>
        <p:spPr>
          <a:xfrm>
            <a:off x="6505956" y="457200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دفعات الإتاحة والضمانات لا تتجاوز Y%</a:t>
            </a:r>
            <a:endParaRPr lang="en-US" sz="1400" dirty="0"/>
          </a:p>
        </p:txBody>
      </p:sp>
      <p:sp>
        <p:nvSpPr>
          <p:cNvPr id="24" name="Shape 22"/>
          <p:cNvSpPr/>
          <p:nvPr/>
        </p:nvSpPr>
        <p:spPr>
          <a:xfrm>
            <a:off x="3344418" y="370332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25" name="Shape 23"/>
          <p:cNvSpPr/>
          <p:nvPr/>
        </p:nvSpPr>
        <p:spPr>
          <a:xfrm>
            <a:off x="5225796" y="3931920"/>
            <a:ext cx="502920" cy="502920"/>
          </a:xfrm>
          <a:prstGeom prst="ellipse">
            <a:avLst/>
          </a:prstGeom>
          <a:solidFill>
            <a:srgbClr val="B7801A"/>
          </a:solidFill>
          <a:ln/>
        </p:spPr>
      </p:sp>
      <p:sp>
        <p:nvSpPr>
          <p:cNvPr id="26" name="Text 24"/>
          <p:cNvSpPr txBox="1"/>
          <p:nvPr/>
        </p:nvSpPr>
        <p:spPr>
          <a:xfrm>
            <a:off x="5225796" y="393192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7" name="Text 25"/>
          <p:cNvSpPr txBox="1"/>
          <p:nvPr/>
        </p:nvSpPr>
        <p:spPr>
          <a:xfrm>
            <a:off x="3618738" y="393192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لا تمويل بلا سداد</a:t>
            </a:r>
            <a:endParaRPr lang="en-US" sz="1600" dirty="0"/>
          </a:p>
        </p:txBody>
      </p:sp>
      <p:sp>
        <p:nvSpPr>
          <p:cNvPr id="28" name="Text 26"/>
          <p:cNvSpPr txBox="1"/>
          <p:nvPr/>
        </p:nvSpPr>
        <p:spPr>
          <a:xfrm>
            <a:off x="3618738" y="457200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مصدر سداد محدد بالأرقام</a:t>
            </a:r>
            <a:endParaRPr lang="en-US" sz="1400" dirty="0"/>
          </a:p>
        </p:txBody>
      </p:sp>
      <p:sp>
        <p:nvSpPr>
          <p:cNvPr id="29" name="Shape 27"/>
          <p:cNvSpPr/>
          <p:nvPr/>
        </p:nvSpPr>
        <p:spPr>
          <a:xfrm>
            <a:off x="457200" y="370332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30" name="Shape 28"/>
          <p:cNvSpPr/>
          <p:nvPr/>
        </p:nvSpPr>
        <p:spPr>
          <a:xfrm>
            <a:off x="2338578" y="3931920"/>
            <a:ext cx="502920" cy="502920"/>
          </a:xfrm>
          <a:prstGeom prst="ellipse">
            <a:avLst/>
          </a:prstGeom>
          <a:solidFill>
            <a:srgbClr val="B7801A"/>
          </a:solidFill>
          <a:ln/>
        </p:spPr>
      </p:sp>
      <p:sp>
        <p:nvSpPr>
          <p:cNvPr id="31" name="Text 29"/>
          <p:cNvSpPr txBox="1"/>
          <p:nvPr/>
        </p:nvSpPr>
        <p:spPr>
          <a:xfrm>
            <a:off x="2338578" y="393192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2" name="Text 30"/>
          <p:cNvSpPr txBox="1"/>
          <p:nvPr/>
        </p:nvSpPr>
        <p:spPr>
          <a:xfrm>
            <a:off x="731520" y="393192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القاعدة الذهبية</a:t>
            </a:r>
            <a:endParaRPr lang="en-US" sz="1600" dirty="0"/>
          </a:p>
        </p:txBody>
      </p:sp>
      <p:sp>
        <p:nvSpPr>
          <p:cNvPr id="33" name="Text 31"/>
          <p:cNvSpPr txBox="1"/>
          <p:nvPr/>
        </p:nvSpPr>
        <p:spPr>
          <a:xfrm>
            <a:off x="731520" y="457200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الاقتراض للمشاريع الرأسمالية فقط</a:t>
            </a:r>
            <a:endParaRPr lang="en-US" sz="1400" dirty="0"/>
          </a:p>
        </p:txBody>
      </p:sp>
      <p:sp>
        <p:nvSpPr>
          <p:cNvPr id="34" name="Shape 32"/>
          <p:cNvSpPr/>
          <p:nvPr/>
        </p:nvSpPr>
        <p:spPr>
          <a:xfrm>
            <a:off x="9118854" y="566928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35" name="Shape 33"/>
          <p:cNvSpPr/>
          <p:nvPr/>
        </p:nvSpPr>
        <p:spPr>
          <a:xfrm>
            <a:off x="11000232" y="5897880"/>
            <a:ext cx="502920" cy="502920"/>
          </a:xfrm>
          <a:prstGeom prst="ellipse">
            <a:avLst/>
          </a:prstGeom>
          <a:solidFill>
            <a:srgbClr val="B7801A"/>
          </a:solidFill>
          <a:ln/>
        </p:spPr>
      </p:sp>
      <p:sp>
        <p:nvSpPr>
          <p:cNvPr id="36" name="Text 34"/>
          <p:cNvSpPr txBox="1"/>
          <p:nvPr/>
        </p:nvSpPr>
        <p:spPr>
          <a:xfrm>
            <a:off x="11000232" y="589788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7" name="Text 35"/>
          <p:cNvSpPr txBox="1"/>
          <p:nvPr/>
        </p:nvSpPr>
        <p:spPr>
          <a:xfrm>
            <a:off x="9393174" y="589788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تنويع الآجال</a:t>
            </a:r>
            <a:endParaRPr lang="en-US" sz="1600" dirty="0"/>
          </a:p>
        </p:txBody>
      </p:sp>
      <p:sp>
        <p:nvSpPr>
          <p:cNvPr id="38" name="Text 36"/>
          <p:cNvSpPr txBox="1"/>
          <p:nvPr/>
        </p:nvSpPr>
        <p:spPr>
          <a:xfrm>
            <a:off x="9393174" y="653796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لا تتركز الأقساط في سنة واحدة</a:t>
            </a:r>
            <a:endParaRPr lang="en-US" sz="1400" dirty="0"/>
          </a:p>
        </p:txBody>
      </p:sp>
      <p:sp>
        <p:nvSpPr>
          <p:cNvPr id="39" name="Shape 37"/>
          <p:cNvSpPr/>
          <p:nvPr/>
        </p:nvSpPr>
        <p:spPr>
          <a:xfrm>
            <a:off x="6231636" y="566928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40" name="Shape 38"/>
          <p:cNvSpPr/>
          <p:nvPr/>
        </p:nvSpPr>
        <p:spPr>
          <a:xfrm>
            <a:off x="8113014" y="5897880"/>
            <a:ext cx="502920" cy="502920"/>
          </a:xfrm>
          <a:prstGeom prst="ellipse">
            <a:avLst/>
          </a:prstGeom>
          <a:solidFill>
            <a:srgbClr val="B7801A"/>
          </a:solidFill>
          <a:ln/>
        </p:spPr>
      </p:sp>
      <p:sp>
        <p:nvSpPr>
          <p:cNvPr id="41" name="Text 39"/>
          <p:cNvSpPr txBox="1"/>
          <p:nvPr/>
        </p:nvSpPr>
        <p:spPr>
          <a:xfrm>
            <a:off x="8113014" y="589788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txBox="1"/>
          <p:nvPr/>
        </p:nvSpPr>
        <p:spPr>
          <a:xfrm>
            <a:off x="6505956" y="589788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هامش أمان</a:t>
            </a:r>
            <a:endParaRPr lang="en-US" sz="1600" dirty="0"/>
          </a:p>
        </p:txBody>
      </p:sp>
      <p:sp>
        <p:nvSpPr>
          <p:cNvPr id="43" name="Text 41"/>
          <p:cNvSpPr txBox="1"/>
          <p:nvPr/>
        </p:nvSpPr>
        <p:spPr>
          <a:xfrm>
            <a:off x="6505956" y="653796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جزء من القدرة يبقى للطوارئ</a:t>
            </a:r>
            <a:endParaRPr lang="en-US" sz="1400" dirty="0"/>
          </a:p>
        </p:txBody>
      </p:sp>
      <p:sp>
        <p:nvSpPr>
          <p:cNvPr id="44" name="Shape 42"/>
          <p:cNvSpPr/>
          <p:nvPr/>
        </p:nvSpPr>
        <p:spPr>
          <a:xfrm>
            <a:off x="3344418" y="566928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45" name="Shape 43"/>
          <p:cNvSpPr/>
          <p:nvPr/>
        </p:nvSpPr>
        <p:spPr>
          <a:xfrm>
            <a:off x="5225796" y="5897880"/>
            <a:ext cx="502920" cy="502920"/>
          </a:xfrm>
          <a:prstGeom prst="ellipse">
            <a:avLst/>
          </a:prstGeom>
          <a:solidFill>
            <a:srgbClr val="B7801A"/>
          </a:solidFill>
          <a:ln/>
        </p:spPr>
      </p:sp>
      <p:sp>
        <p:nvSpPr>
          <p:cNvPr id="46" name="Text 44"/>
          <p:cNvSpPr txBox="1"/>
          <p:nvPr/>
        </p:nvSpPr>
        <p:spPr>
          <a:xfrm>
            <a:off x="5225796" y="589788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7" name="Text 45"/>
          <p:cNvSpPr txBox="1"/>
          <p:nvPr/>
        </p:nvSpPr>
        <p:spPr>
          <a:xfrm>
            <a:off x="3618738" y="589788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مراجعة إلزامية</a:t>
            </a:r>
            <a:endParaRPr lang="en-US" sz="1600" dirty="0"/>
          </a:p>
        </p:txBody>
      </p:sp>
      <p:sp>
        <p:nvSpPr>
          <p:cNvPr id="48" name="Text 46"/>
          <p:cNvSpPr txBox="1"/>
          <p:nvPr/>
        </p:nvSpPr>
        <p:spPr>
          <a:xfrm>
            <a:off x="3618738" y="653796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للصفقات فوق حد المدة أو القيمة</a:t>
            </a:r>
            <a:endParaRPr lang="en-US" sz="1400" dirty="0"/>
          </a:p>
        </p:txBody>
      </p:sp>
      <p:sp>
        <p:nvSpPr>
          <p:cNvPr id="49" name="Shape 47"/>
          <p:cNvSpPr/>
          <p:nvPr/>
        </p:nvSpPr>
        <p:spPr>
          <a:xfrm>
            <a:off x="457200" y="5669280"/>
            <a:ext cx="2612898" cy="1783080"/>
          </a:xfrm>
          <a:prstGeom prst="roundRect">
            <a:avLst>
              <a:gd name="adj" fmla="val 8205"/>
            </a:avLst>
          </a:prstGeom>
          <a:solidFill>
            <a:srgbClr val="FFFFFF"/>
          </a:solidFill>
          <a:ln/>
          <a:effectLst>
            <a:outerShdw sx="100000" sy="100000" kx="0" ky="0" algn="bl" rotWithShape="0" blurRad="101600" dist="25400" dir="5400000">
              <a:srgbClr val="000000">
                <a:alpha val="12000"/>
              </a:srgbClr>
            </a:outerShdw>
          </a:effectLst>
        </p:spPr>
      </p:sp>
      <p:sp>
        <p:nvSpPr>
          <p:cNvPr id="50" name="Shape 48"/>
          <p:cNvSpPr/>
          <p:nvPr/>
        </p:nvSpPr>
        <p:spPr>
          <a:xfrm>
            <a:off x="2338578" y="5897880"/>
            <a:ext cx="502920" cy="502920"/>
          </a:xfrm>
          <a:prstGeom prst="ellipse">
            <a:avLst/>
          </a:prstGeom>
          <a:solidFill>
            <a:srgbClr val="B7801A"/>
          </a:solidFill>
          <a:ln/>
        </p:spPr>
      </p:sp>
      <p:sp>
        <p:nvSpPr>
          <p:cNvPr id="51" name="Text 49"/>
          <p:cNvSpPr txBox="1"/>
          <p:nvPr/>
        </p:nvSpPr>
        <p:spPr>
          <a:xfrm>
            <a:off x="2338578" y="5897880"/>
            <a:ext cx="502920" cy="502920"/>
          </a:xfrm>
          <a:prstGeom prst="rect">
            <a:avLst/>
          </a:prstGeom>
          <a:noFill/>
          <a:ln/>
        </p:spPr>
        <p:txBody>
          <a:bodyPr wrap="square" lIns="0" tIns="0" rIns="0" bIns="0" rtlCol="0" anchor="ctr"/>
          <a:lstStyle/>
          <a:p>
            <a:pPr rtl="1" algn="ctr" indent="0" marL="0">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2" name="Text 50"/>
          <p:cNvSpPr txBox="1"/>
          <p:nvPr/>
        </p:nvSpPr>
        <p:spPr>
          <a:xfrm>
            <a:off x="731520" y="5897880"/>
            <a:ext cx="1515618" cy="502920"/>
          </a:xfrm>
          <a:prstGeom prst="rect">
            <a:avLst/>
          </a:prstGeom>
          <a:noFill/>
          <a:ln/>
        </p:spPr>
        <p:txBody>
          <a:bodyPr wrap="square" lIns="0" tIns="0" rIns="0" bIns="0" rtlCol="0" anchor="ctr"/>
          <a:lstStyle/>
          <a:p>
            <a:pPr rtl="1" algn="r" indent="0" marL="0">
              <a:buNone/>
            </a:pPr>
            <a:r>
              <a:rPr lang="en-US" sz="1600" b="1" dirty="0">
                <a:solidFill>
                  <a:srgbClr val="1F2A37"/>
                </a:solidFill>
                <a:latin typeface="Arial" pitchFamily="34" charset="0"/>
                <a:ea typeface="Arial" pitchFamily="34" charset="-122"/>
                <a:cs typeface="Arial" pitchFamily="34" charset="-120"/>
              </a:rPr>
              <a:t>تكلفة دورة الحياة</a:t>
            </a:r>
            <a:endParaRPr lang="en-US" sz="1600" dirty="0"/>
          </a:p>
        </p:txBody>
      </p:sp>
      <p:sp>
        <p:nvSpPr>
          <p:cNvPr id="53" name="Text 51"/>
          <p:cNvSpPr txBox="1"/>
          <p:nvPr/>
        </p:nvSpPr>
        <p:spPr>
          <a:xfrm>
            <a:off x="731520" y="6537960"/>
            <a:ext cx="2064258" cy="777240"/>
          </a:xfrm>
          <a:prstGeom prst="rect">
            <a:avLst/>
          </a:prstGeom>
          <a:noFill/>
          <a:ln/>
        </p:spPr>
        <p:txBody>
          <a:bodyPr wrap="square" lIns="0" tIns="0" rIns="0" bIns="0" rtlCol="0" anchor="t"/>
          <a:lstStyle/>
          <a:p>
            <a:pPr rtl="1" algn="r" indent="0" marL="0">
              <a:buNone/>
            </a:pPr>
            <a:r>
              <a:rPr lang="en-US" sz="1400" dirty="0">
                <a:solidFill>
                  <a:srgbClr val="394B5F"/>
                </a:solidFill>
                <a:latin typeface="Arial" pitchFamily="34" charset="0"/>
                <a:ea typeface="Arial" pitchFamily="34" charset="-122"/>
                <a:cs typeface="Arial" pitchFamily="34" charset="-120"/>
              </a:rPr>
              <a:t>التشغيل والصيانة طوال العمر</a:t>
            </a:r>
            <a:endParaRPr lang="en-US" sz="1400" dirty="0"/>
          </a:p>
        </p:txBody>
      </p:sp>
      <p:sp>
        <p:nvSpPr>
          <p:cNvPr id="54" name="Text 52"/>
          <p:cNvSpPr txBox="1"/>
          <p:nvPr/>
        </p:nvSpPr>
        <p:spPr>
          <a:xfrm>
            <a:off x="457200" y="7662672"/>
            <a:ext cx="11274552" cy="365760"/>
          </a:xfrm>
          <a:prstGeom prst="rect">
            <a:avLst/>
          </a:prstGeom>
          <a:noFill/>
          <a:ln/>
        </p:spPr>
        <p:txBody>
          <a:bodyPr wrap="square" lIns="0" tIns="0" rIns="0" bIns="0" rtlCol="0" anchor="ctr"/>
          <a:lstStyle/>
          <a:p>
            <a:pPr rtl="1" algn="r" indent="0" marL="0">
              <a:buNone/>
            </a:pPr>
            <a:r>
              <a:rPr lang="en-US" sz="1300" dirty="0">
                <a:solidFill>
                  <a:srgbClr val="6B7785"/>
                </a:solidFill>
                <a:latin typeface="Arial" pitchFamily="34" charset="0"/>
                <a:ea typeface="Arial" pitchFamily="34" charset="-122"/>
                <a:cs typeface="Arial" pitchFamily="34" charset="-120"/>
              </a:rPr>
              <a:t>تعتمدها اللجنة العليا للتمويل ثم سمو الأمين، وتُحدَّد النسب بعد خط الأساس</a:t>
            </a:r>
            <a:endParaRPr lang="en-US" sz="13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على أي إيرادات نبني قدرة الاقتراض؟</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سقوف الاقتراض تُحسب على الإيرادات المستقرة فقط</a:t>
            </a:r>
            <a:endParaRPr lang="en-US" sz="1500" dirty="0"/>
          </a:p>
        </p:txBody>
      </p:sp>
      <p:sp>
        <p:nvSpPr>
          <p:cNvPr id="4" name="Shape 2"/>
          <p:cNvSpPr/>
          <p:nvPr/>
        </p:nvSpPr>
        <p:spPr>
          <a:xfrm>
            <a:off x="5120640" y="1645920"/>
            <a:ext cx="6611112" cy="1024128"/>
          </a:xfrm>
          <a:prstGeom prst="roundRect">
            <a:avLst>
              <a:gd name="adj" fmla="val 14286"/>
            </a:avLst>
          </a:prstGeom>
          <a:solidFill>
            <a:srgbClr val="FFFFFF"/>
          </a:solidFill>
          <a:ln/>
          <a:effectLst>
            <a:outerShdw sx="100000" sy="100000" kx="0" ky="0" algn="bl" rotWithShape="0" blurRad="101600" dist="25400" dir="5400000">
              <a:srgbClr val="000000">
                <a:alpha val="12000"/>
              </a:srgbClr>
            </a:outerShdw>
          </a:effectLst>
        </p:spPr>
      </p:sp>
      <p:sp>
        <p:nvSpPr>
          <p:cNvPr id="5" name="Shape 3"/>
          <p:cNvSpPr/>
          <p:nvPr/>
        </p:nvSpPr>
        <p:spPr>
          <a:xfrm>
            <a:off x="11091672" y="1975104"/>
            <a:ext cx="365760" cy="365760"/>
          </a:xfrm>
          <a:prstGeom prst="ellipse">
            <a:avLst/>
          </a:prstGeom>
          <a:solidFill>
            <a:srgbClr val="2E9E6B"/>
          </a:solidFill>
          <a:ln/>
        </p:spPr>
      </p:sp>
      <p:sp>
        <p:nvSpPr>
          <p:cNvPr id="6" name="Text 4"/>
          <p:cNvSpPr txBox="1"/>
          <p:nvPr/>
        </p:nvSpPr>
        <p:spPr>
          <a:xfrm>
            <a:off x="8229600" y="1645920"/>
            <a:ext cx="2770632" cy="1024128"/>
          </a:xfrm>
          <a:prstGeom prst="rect">
            <a:avLst/>
          </a:prstGeom>
          <a:noFill/>
          <a:ln/>
        </p:spPr>
        <p:txBody>
          <a:bodyPr wrap="square" lIns="0" tIns="0" rIns="0" bIns="0" rtlCol="0" anchor="ctr"/>
          <a:lstStyle/>
          <a:p>
            <a:pPr rtl="1" algn="r" indent="0" marL="0">
              <a:buNone/>
            </a:pPr>
            <a:r>
              <a:rPr lang="en-US" sz="1700" b="1" dirty="0">
                <a:solidFill>
                  <a:srgbClr val="1F2A37"/>
                </a:solidFill>
                <a:latin typeface="Arial" pitchFamily="34" charset="0"/>
                <a:ea typeface="Arial" pitchFamily="34" charset="-122"/>
                <a:cs typeface="Arial" pitchFamily="34" charset="-120"/>
              </a:rPr>
              <a:t>الإيرادات الاستثمارية</a:t>
            </a:r>
            <a:endParaRPr lang="en-US" sz="1700" dirty="0"/>
          </a:p>
        </p:txBody>
      </p:sp>
      <p:sp>
        <p:nvSpPr>
          <p:cNvPr id="7" name="Text 5"/>
          <p:cNvSpPr txBox="1"/>
          <p:nvPr/>
        </p:nvSpPr>
        <p:spPr>
          <a:xfrm>
            <a:off x="5394960" y="1645920"/>
            <a:ext cx="2834640" cy="1024128"/>
          </a:xfrm>
          <a:prstGeom prst="rect">
            <a:avLst/>
          </a:prstGeom>
          <a:noFill/>
          <a:ln/>
        </p:spPr>
        <p:txBody>
          <a:bodyPr wrap="square" lIns="0" tIns="0" rIns="0" bIns="0" rtlCol="0" anchor="ctr"/>
          <a:lstStyle/>
          <a:p>
            <a:pPr rtl="1" algn="r" indent="0" marL="0">
              <a:buNone/>
            </a:pPr>
            <a:r>
              <a:rPr lang="en-US" sz="1400" dirty="0">
                <a:solidFill>
                  <a:srgbClr val="394B5F"/>
                </a:solidFill>
                <a:latin typeface="Arial" pitchFamily="34" charset="0"/>
                <a:ea typeface="Arial" pitchFamily="34" charset="-122"/>
                <a:cs typeface="Arial" pitchFamily="34" charset="-120"/>
              </a:rPr>
              <a:t>مناسبة جداً — مستقرة وتعاقدية</a:t>
            </a:r>
            <a:endParaRPr lang="en-US" sz="1400" dirty="0"/>
          </a:p>
        </p:txBody>
      </p:sp>
      <p:sp>
        <p:nvSpPr>
          <p:cNvPr id="8" name="Shape 6"/>
          <p:cNvSpPr/>
          <p:nvPr/>
        </p:nvSpPr>
        <p:spPr>
          <a:xfrm>
            <a:off x="5120640" y="2834640"/>
            <a:ext cx="6611112" cy="1024128"/>
          </a:xfrm>
          <a:prstGeom prst="roundRect">
            <a:avLst>
              <a:gd name="adj" fmla="val 14286"/>
            </a:avLst>
          </a:prstGeom>
          <a:solidFill>
            <a:srgbClr val="FFFFFF"/>
          </a:solidFill>
          <a:ln/>
          <a:effectLst>
            <a:outerShdw sx="100000" sy="100000" kx="0" ky="0" algn="bl" rotWithShape="0" blurRad="101600" dist="25400" dir="5400000">
              <a:srgbClr val="000000">
                <a:alpha val="12000"/>
              </a:srgbClr>
            </a:outerShdw>
          </a:effectLst>
        </p:spPr>
      </p:sp>
      <p:sp>
        <p:nvSpPr>
          <p:cNvPr id="9" name="Shape 7"/>
          <p:cNvSpPr/>
          <p:nvPr/>
        </p:nvSpPr>
        <p:spPr>
          <a:xfrm>
            <a:off x="11091672" y="3163824"/>
            <a:ext cx="365760" cy="365760"/>
          </a:xfrm>
          <a:prstGeom prst="ellipse">
            <a:avLst/>
          </a:prstGeom>
          <a:solidFill>
            <a:srgbClr val="E4A42C"/>
          </a:solidFill>
          <a:ln/>
        </p:spPr>
      </p:sp>
      <p:sp>
        <p:nvSpPr>
          <p:cNvPr id="10" name="Text 8"/>
          <p:cNvSpPr txBox="1"/>
          <p:nvPr/>
        </p:nvSpPr>
        <p:spPr>
          <a:xfrm>
            <a:off x="8229600" y="2834640"/>
            <a:ext cx="2770632" cy="1024128"/>
          </a:xfrm>
          <a:prstGeom prst="rect">
            <a:avLst/>
          </a:prstGeom>
          <a:noFill/>
          <a:ln/>
        </p:spPr>
        <p:txBody>
          <a:bodyPr wrap="square" lIns="0" tIns="0" rIns="0" bIns="0" rtlCol="0" anchor="ctr"/>
          <a:lstStyle/>
          <a:p>
            <a:pPr rtl="1" algn="r" indent="0" marL="0">
              <a:buNone/>
            </a:pPr>
            <a:r>
              <a:rPr lang="en-US" sz="1700" b="1" dirty="0">
                <a:solidFill>
                  <a:srgbClr val="1F2A37"/>
                </a:solidFill>
                <a:latin typeface="Arial" pitchFamily="34" charset="0"/>
                <a:ea typeface="Arial" pitchFamily="34" charset="-122"/>
                <a:cs typeface="Arial" pitchFamily="34" charset="-120"/>
              </a:rPr>
              <a:t>الرسوم والتراخيص</a:t>
            </a:r>
            <a:endParaRPr lang="en-US" sz="1700" dirty="0"/>
          </a:p>
        </p:txBody>
      </p:sp>
      <p:sp>
        <p:nvSpPr>
          <p:cNvPr id="11" name="Text 9"/>
          <p:cNvSpPr txBox="1"/>
          <p:nvPr/>
        </p:nvSpPr>
        <p:spPr>
          <a:xfrm>
            <a:off x="5394960" y="2834640"/>
            <a:ext cx="2834640" cy="1024128"/>
          </a:xfrm>
          <a:prstGeom prst="rect">
            <a:avLst/>
          </a:prstGeom>
          <a:noFill/>
          <a:ln/>
        </p:spPr>
        <p:txBody>
          <a:bodyPr wrap="square" lIns="0" tIns="0" rIns="0" bIns="0" rtlCol="0" anchor="ctr"/>
          <a:lstStyle/>
          <a:p>
            <a:pPr rtl="1" algn="r" indent="0" marL="0">
              <a:buNone/>
            </a:pPr>
            <a:r>
              <a:rPr lang="en-US" sz="1400" dirty="0">
                <a:solidFill>
                  <a:srgbClr val="394B5F"/>
                </a:solidFill>
                <a:latin typeface="Arial" pitchFamily="34" charset="0"/>
                <a:ea typeface="Arial" pitchFamily="34" charset="-122"/>
                <a:cs typeface="Arial" pitchFamily="34" charset="-120"/>
              </a:rPr>
              <a:t>بحذر — الإنشائية تتذبذب</a:t>
            </a:r>
            <a:endParaRPr lang="en-US" sz="1400" dirty="0"/>
          </a:p>
        </p:txBody>
      </p:sp>
      <p:sp>
        <p:nvSpPr>
          <p:cNvPr id="12" name="Shape 10"/>
          <p:cNvSpPr/>
          <p:nvPr/>
        </p:nvSpPr>
        <p:spPr>
          <a:xfrm>
            <a:off x="5120640" y="4023360"/>
            <a:ext cx="6611112" cy="1024128"/>
          </a:xfrm>
          <a:prstGeom prst="roundRect">
            <a:avLst>
              <a:gd name="adj" fmla="val 14286"/>
            </a:avLst>
          </a:prstGeom>
          <a:solidFill>
            <a:srgbClr val="FFFFFF"/>
          </a:solidFill>
          <a:ln/>
          <a:effectLst>
            <a:outerShdw sx="100000" sy="100000" kx="0" ky="0" algn="bl" rotWithShape="0" blurRad="101600" dist="25400" dir="5400000">
              <a:srgbClr val="000000">
                <a:alpha val="12000"/>
              </a:srgbClr>
            </a:outerShdw>
          </a:effectLst>
        </p:spPr>
      </p:sp>
      <p:sp>
        <p:nvSpPr>
          <p:cNvPr id="13" name="Shape 11"/>
          <p:cNvSpPr/>
          <p:nvPr/>
        </p:nvSpPr>
        <p:spPr>
          <a:xfrm>
            <a:off x="11091672" y="4352544"/>
            <a:ext cx="365760" cy="365760"/>
          </a:xfrm>
          <a:prstGeom prst="ellipse">
            <a:avLst/>
          </a:prstGeom>
          <a:solidFill>
            <a:srgbClr val="E4A42C"/>
          </a:solidFill>
          <a:ln/>
        </p:spPr>
      </p:sp>
      <p:sp>
        <p:nvSpPr>
          <p:cNvPr id="14" name="Text 12"/>
          <p:cNvSpPr txBox="1"/>
          <p:nvPr/>
        </p:nvSpPr>
        <p:spPr>
          <a:xfrm>
            <a:off x="8229600" y="4023360"/>
            <a:ext cx="2770632" cy="1024128"/>
          </a:xfrm>
          <a:prstGeom prst="rect">
            <a:avLst/>
          </a:prstGeom>
          <a:noFill/>
          <a:ln/>
        </p:spPr>
        <p:txBody>
          <a:bodyPr wrap="square" lIns="0" tIns="0" rIns="0" bIns="0" rtlCol="0" anchor="ctr"/>
          <a:lstStyle/>
          <a:p>
            <a:pPr rtl="1" algn="r" indent="0" marL="0">
              <a:buNone/>
            </a:pPr>
            <a:r>
              <a:rPr lang="en-US" sz="1700" b="1" dirty="0">
                <a:solidFill>
                  <a:srgbClr val="1F2A37"/>
                </a:solidFill>
                <a:latin typeface="Arial" pitchFamily="34" charset="0"/>
                <a:ea typeface="Arial" pitchFamily="34" charset="-122"/>
                <a:cs typeface="Arial" pitchFamily="34" charset="-120"/>
              </a:rPr>
              <a:t>الإيواء</a:t>
            </a:r>
            <a:endParaRPr lang="en-US" sz="1700" dirty="0"/>
          </a:p>
        </p:txBody>
      </p:sp>
      <p:sp>
        <p:nvSpPr>
          <p:cNvPr id="15" name="Text 13"/>
          <p:cNvSpPr txBox="1"/>
          <p:nvPr/>
        </p:nvSpPr>
        <p:spPr>
          <a:xfrm>
            <a:off x="5394960" y="4023360"/>
            <a:ext cx="2834640" cy="1024128"/>
          </a:xfrm>
          <a:prstGeom prst="rect">
            <a:avLst/>
          </a:prstGeom>
          <a:noFill/>
          <a:ln/>
        </p:spPr>
        <p:txBody>
          <a:bodyPr wrap="square" lIns="0" tIns="0" rIns="0" bIns="0" rtlCol="0" anchor="ctr"/>
          <a:lstStyle/>
          <a:p>
            <a:pPr rtl="1" algn="r" indent="0" marL="0">
              <a:buNone/>
            </a:pPr>
            <a:r>
              <a:rPr lang="en-US" sz="1400" dirty="0">
                <a:solidFill>
                  <a:srgbClr val="394B5F"/>
                </a:solidFill>
                <a:latin typeface="Arial" pitchFamily="34" charset="0"/>
                <a:ea typeface="Arial" pitchFamily="34" charset="-122"/>
                <a:cs typeface="Arial" pitchFamily="34" charset="-120"/>
              </a:rPr>
              <a:t>بحذر — مرتبط بالسياحة والأحداث</a:t>
            </a:r>
            <a:endParaRPr lang="en-US" sz="1400" dirty="0"/>
          </a:p>
        </p:txBody>
      </p:sp>
      <p:sp>
        <p:nvSpPr>
          <p:cNvPr id="16" name="Shape 14"/>
          <p:cNvSpPr/>
          <p:nvPr/>
        </p:nvSpPr>
        <p:spPr>
          <a:xfrm>
            <a:off x="5120640" y="5212080"/>
            <a:ext cx="6611112" cy="1024128"/>
          </a:xfrm>
          <a:prstGeom prst="roundRect">
            <a:avLst>
              <a:gd name="adj" fmla="val 14286"/>
            </a:avLst>
          </a:prstGeom>
          <a:solidFill>
            <a:srgbClr val="FFFFFF"/>
          </a:solidFill>
          <a:ln/>
          <a:effectLst>
            <a:outerShdw sx="100000" sy="100000" kx="0" ky="0" algn="bl" rotWithShape="0" blurRad="101600" dist="25400" dir="5400000">
              <a:srgbClr val="000000">
                <a:alpha val="12000"/>
              </a:srgbClr>
            </a:outerShdw>
          </a:effectLst>
        </p:spPr>
      </p:sp>
      <p:sp>
        <p:nvSpPr>
          <p:cNvPr id="17" name="Shape 15"/>
          <p:cNvSpPr/>
          <p:nvPr/>
        </p:nvSpPr>
        <p:spPr>
          <a:xfrm>
            <a:off x="11091672" y="5541264"/>
            <a:ext cx="365760" cy="365760"/>
          </a:xfrm>
          <a:prstGeom prst="ellipse">
            <a:avLst/>
          </a:prstGeom>
          <a:solidFill>
            <a:srgbClr val="E5736B"/>
          </a:solidFill>
          <a:ln/>
        </p:spPr>
      </p:sp>
      <p:sp>
        <p:nvSpPr>
          <p:cNvPr id="18" name="Text 16"/>
          <p:cNvSpPr txBox="1"/>
          <p:nvPr/>
        </p:nvSpPr>
        <p:spPr>
          <a:xfrm>
            <a:off x="8229600" y="5212080"/>
            <a:ext cx="2770632" cy="1024128"/>
          </a:xfrm>
          <a:prstGeom prst="rect">
            <a:avLst/>
          </a:prstGeom>
          <a:noFill/>
          <a:ln/>
        </p:spPr>
        <p:txBody>
          <a:bodyPr wrap="square" lIns="0" tIns="0" rIns="0" bIns="0" rtlCol="0" anchor="ctr"/>
          <a:lstStyle/>
          <a:p>
            <a:pPr rtl="1" algn="r" indent="0" marL="0">
              <a:buNone/>
            </a:pPr>
            <a:r>
              <a:rPr lang="en-US" sz="1700" b="1" dirty="0">
                <a:solidFill>
                  <a:srgbClr val="1F2A37"/>
                </a:solidFill>
                <a:latin typeface="Arial" pitchFamily="34" charset="0"/>
                <a:ea typeface="Arial" pitchFamily="34" charset="-122"/>
                <a:cs typeface="Arial" pitchFamily="34" charset="-120"/>
              </a:rPr>
              <a:t>الجزاءات والغرامات</a:t>
            </a:r>
            <a:endParaRPr lang="en-US" sz="1700" dirty="0"/>
          </a:p>
        </p:txBody>
      </p:sp>
      <p:sp>
        <p:nvSpPr>
          <p:cNvPr id="19" name="Text 17"/>
          <p:cNvSpPr txBox="1"/>
          <p:nvPr/>
        </p:nvSpPr>
        <p:spPr>
          <a:xfrm>
            <a:off x="5394960" y="5212080"/>
            <a:ext cx="2834640" cy="1024128"/>
          </a:xfrm>
          <a:prstGeom prst="rect">
            <a:avLst/>
          </a:prstGeom>
          <a:noFill/>
          <a:ln/>
        </p:spPr>
        <p:txBody>
          <a:bodyPr wrap="square" lIns="0" tIns="0" rIns="0" bIns="0" rtlCol="0" anchor="ctr"/>
          <a:lstStyle/>
          <a:p>
            <a:pPr rtl="1" algn="r" indent="0" marL="0">
              <a:buNone/>
            </a:pPr>
            <a:r>
              <a:rPr lang="en-US" sz="1400" dirty="0">
                <a:solidFill>
                  <a:srgbClr val="394B5F"/>
                </a:solidFill>
                <a:latin typeface="Arial" pitchFamily="34" charset="0"/>
                <a:ea typeface="Arial" pitchFamily="34" charset="-122"/>
                <a:cs typeface="Arial" pitchFamily="34" charset="-120"/>
              </a:rPr>
              <a:t>غير مناسبة — هدفها الالتزام</a:t>
            </a:r>
            <a:endParaRPr lang="en-US" sz="1400" dirty="0"/>
          </a:p>
        </p:txBody>
      </p:sp>
      <p:sp>
        <p:nvSpPr>
          <p:cNvPr id="20" name="Shape 18"/>
          <p:cNvSpPr/>
          <p:nvPr/>
        </p:nvSpPr>
        <p:spPr>
          <a:xfrm>
            <a:off x="5120640" y="6400800"/>
            <a:ext cx="6611112" cy="1024128"/>
          </a:xfrm>
          <a:prstGeom prst="roundRect">
            <a:avLst>
              <a:gd name="adj" fmla="val 14286"/>
            </a:avLst>
          </a:prstGeom>
          <a:solidFill>
            <a:srgbClr val="FFFFFF"/>
          </a:solidFill>
          <a:ln/>
          <a:effectLst>
            <a:outerShdw sx="100000" sy="100000" kx="0" ky="0" algn="bl" rotWithShape="0" blurRad="101600" dist="25400" dir="5400000">
              <a:srgbClr val="000000">
                <a:alpha val="12000"/>
              </a:srgbClr>
            </a:outerShdw>
          </a:effectLst>
        </p:spPr>
      </p:sp>
      <p:sp>
        <p:nvSpPr>
          <p:cNvPr id="21" name="Shape 19"/>
          <p:cNvSpPr/>
          <p:nvPr/>
        </p:nvSpPr>
        <p:spPr>
          <a:xfrm>
            <a:off x="11091672" y="6729984"/>
            <a:ext cx="365760" cy="365760"/>
          </a:xfrm>
          <a:prstGeom prst="ellipse">
            <a:avLst/>
          </a:prstGeom>
          <a:solidFill>
            <a:srgbClr val="E5736B"/>
          </a:solidFill>
          <a:ln/>
        </p:spPr>
      </p:sp>
      <p:sp>
        <p:nvSpPr>
          <p:cNvPr id="22" name="Text 20"/>
          <p:cNvSpPr txBox="1"/>
          <p:nvPr/>
        </p:nvSpPr>
        <p:spPr>
          <a:xfrm>
            <a:off x="8229600" y="6400800"/>
            <a:ext cx="2770632" cy="1024128"/>
          </a:xfrm>
          <a:prstGeom prst="rect">
            <a:avLst/>
          </a:prstGeom>
          <a:noFill/>
          <a:ln/>
        </p:spPr>
        <p:txBody>
          <a:bodyPr wrap="square" lIns="0" tIns="0" rIns="0" bIns="0" rtlCol="0" anchor="ctr"/>
          <a:lstStyle/>
          <a:p>
            <a:pPr rtl="1" algn="r" indent="0" marL="0">
              <a:buNone/>
            </a:pPr>
            <a:r>
              <a:rPr lang="en-US" sz="1700" b="1" dirty="0">
                <a:solidFill>
                  <a:srgbClr val="1F2A37"/>
                </a:solidFill>
                <a:latin typeface="Arial" pitchFamily="34" charset="0"/>
                <a:ea typeface="Arial" pitchFamily="34" charset="-122"/>
                <a:cs typeface="Arial" pitchFamily="34" charset="-120"/>
              </a:rPr>
              <a:t>التبغ</a:t>
            </a:r>
            <a:endParaRPr lang="en-US" sz="1700" dirty="0"/>
          </a:p>
        </p:txBody>
      </p:sp>
      <p:sp>
        <p:nvSpPr>
          <p:cNvPr id="23" name="Text 21"/>
          <p:cNvSpPr txBox="1"/>
          <p:nvPr/>
        </p:nvSpPr>
        <p:spPr>
          <a:xfrm>
            <a:off x="5394960" y="6400800"/>
            <a:ext cx="2834640" cy="1024128"/>
          </a:xfrm>
          <a:prstGeom prst="rect">
            <a:avLst/>
          </a:prstGeom>
          <a:noFill/>
          <a:ln/>
        </p:spPr>
        <p:txBody>
          <a:bodyPr wrap="square" lIns="0" tIns="0" rIns="0" bIns="0" rtlCol="0" anchor="ctr"/>
          <a:lstStyle/>
          <a:p>
            <a:pPr rtl="1" algn="r" indent="0" marL="0">
              <a:buNone/>
            </a:pPr>
            <a:r>
              <a:rPr lang="en-US" sz="1400" dirty="0">
                <a:solidFill>
                  <a:srgbClr val="394B5F"/>
                </a:solidFill>
                <a:latin typeface="Arial" pitchFamily="34" charset="0"/>
                <a:ea typeface="Arial" pitchFamily="34" charset="-122"/>
                <a:cs typeface="Arial" pitchFamily="34" charset="-120"/>
              </a:rPr>
              <a:t>غير مناسب — متوقع تراجعه</a:t>
            </a:r>
            <a:endParaRPr lang="en-US" sz="1400" dirty="0"/>
          </a:p>
        </p:txBody>
      </p:sp>
      <p:sp>
        <p:nvSpPr>
          <p:cNvPr id="24" name="Shape 22"/>
          <p:cNvSpPr/>
          <p:nvPr/>
        </p:nvSpPr>
        <p:spPr>
          <a:xfrm>
            <a:off x="457200" y="1645920"/>
            <a:ext cx="4389120" cy="3566160"/>
          </a:xfrm>
          <a:prstGeom prst="roundRect">
            <a:avLst>
              <a:gd name="adj" fmla="val 4103"/>
            </a:avLst>
          </a:prstGeom>
          <a:solidFill>
            <a:srgbClr val="394B5F"/>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31520" y="1783080"/>
            <a:ext cx="3840480" cy="457200"/>
          </a:xfrm>
          <a:prstGeom prst="rect">
            <a:avLst/>
          </a:prstGeom>
          <a:noFill/>
          <a:ln/>
        </p:spPr>
        <p:txBody>
          <a:bodyPr wrap="square" lIns="0" tIns="0" rIns="0" bIns="0" rtlCol="0" anchor="ctr"/>
          <a:lstStyle/>
          <a:p>
            <a:pPr rtl="1" algn="r" indent="0" marL="0">
              <a:buNone/>
            </a:pPr>
            <a:r>
              <a:rPr lang="en-US" sz="1700" b="1" dirty="0">
                <a:solidFill>
                  <a:srgbClr val="E4A42C"/>
                </a:solidFill>
                <a:latin typeface="Arial" pitchFamily="34" charset="0"/>
                <a:ea typeface="Arial" pitchFamily="34" charset="-122"/>
                <a:cs typeface="Arial" pitchFamily="34" charset="-120"/>
              </a:rPr>
              <a:t>اختبارات الضغط (2028)</a:t>
            </a:r>
            <a:endParaRPr lang="en-US" sz="1700" dirty="0"/>
          </a:p>
        </p:txBody>
      </p:sp>
      <p:sp>
        <p:nvSpPr>
          <p:cNvPr id="26" name="Text 24"/>
          <p:cNvSpPr txBox="1"/>
          <p:nvPr/>
        </p:nvSpPr>
        <p:spPr>
          <a:xfrm>
            <a:off x="731520" y="2331720"/>
            <a:ext cx="3840480" cy="2743200"/>
          </a:xfrm>
          <a:prstGeom prst="rect">
            <a:avLst/>
          </a:prstGeom>
          <a:noFill/>
          <a:ln/>
        </p:spPr>
        <p:txBody>
          <a:bodyPr wrap="square" lIns="0" tIns="0" rIns="0" bIns="0" rtlCol="0" anchor="t"/>
          <a:lstStyle/>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انخفاض ميزانية الدولة</a:t>
            </a:r>
            <a:endParaRPr lang="en-US" sz="1600" dirty="0"/>
          </a:p>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تباطؤ سوق البناء</a:t>
            </a:r>
            <a:endParaRPr lang="en-US" sz="1600" dirty="0"/>
          </a:p>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ارتفاع أسعار الفائدة (سايبور)</a:t>
            </a:r>
            <a:endParaRPr lang="en-US" sz="1600" dirty="0"/>
          </a:p>
          <a:p>
            <a:pPr algn="r" marL="228600" indent="-228600">
              <a:spcAft>
                <a:spcPts val="600"/>
              </a:spcAft>
              <a:buSzPct val="100000"/>
              <a:buChar char="•"/>
            </a:pPr>
            <a:r>
              <a:rPr lang="en-US" sz="1600" dirty="0">
                <a:solidFill>
                  <a:srgbClr val="FFFFFF"/>
                </a:solidFill>
                <a:latin typeface="Arial" pitchFamily="34" charset="0"/>
                <a:ea typeface="Arial" pitchFamily="34" charset="-122"/>
                <a:cs typeface="Arial" pitchFamily="34" charset="-120"/>
              </a:rPr>
              <a:t>تعثّر مستثمر كبير</a:t>
            </a:r>
            <a:endParaRPr lang="en-US" sz="1600" dirty="0"/>
          </a:p>
        </p:txBody>
      </p:sp>
      <p:sp>
        <p:nvSpPr>
          <p:cNvPr id="27" name="Shape 25"/>
          <p:cNvSpPr/>
          <p:nvPr/>
        </p:nvSpPr>
        <p:spPr>
          <a:xfrm>
            <a:off x="457200" y="5394960"/>
            <a:ext cx="4389120" cy="2240280"/>
          </a:xfrm>
          <a:prstGeom prst="roundRect">
            <a:avLst>
              <a:gd name="adj" fmla="val 6531"/>
            </a:avLst>
          </a:prstGeom>
          <a:solidFill>
            <a:srgbClr val="FBF3E2"/>
          </a:solidFill>
          <a:ln/>
        </p:spPr>
      </p:sp>
      <p:sp>
        <p:nvSpPr>
          <p:cNvPr id="28" name="Text 26"/>
          <p:cNvSpPr txBox="1"/>
          <p:nvPr/>
        </p:nvSpPr>
        <p:spPr>
          <a:xfrm>
            <a:off x="731520" y="5532120"/>
            <a:ext cx="3840480" cy="457200"/>
          </a:xfrm>
          <a:prstGeom prst="rect">
            <a:avLst/>
          </a:prstGeom>
          <a:noFill/>
          <a:ln/>
        </p:spPr>
        <p:txBody>
          <a:bodyPr wrap="square" lIns="0" tIns="0" rIns="0" bIns="0" rtlCol="0" anchor="ctr"/>
          <a:lstStyle/>
          <a:p>
            <a:pPr rtl="1" algn="r" indent="0" marL="0">
              <a:buNone/>
            </a:pPr>
            <a:r>
              <a:rPr lang="en-US" sz="1600" b="1" dirty="0">
                <a:solidFill>
                  <a:srgbClr val="B7801A"/>
                </a:solidFill>
                <a:latin typeface="Arial" pitchFamily="34" charset="0"/>
                <a:ea typeface="Arial" pitchFamily="34" charset="-122"/>
                <a:cs typeface="Arial" pitchFamily="34" charset="-120"/>
              </a:rPr>
              <a:t>كفاءة الإنفاق وإرث الأحداث</a:t>
            </a:r>
            <a:endParaRPr lang="en-US" sz="1600" dirty="0"/>
          </a:p>
        </p:txBody>
      </p:sp>
      <p:sp>
        <p:nvSpPr>
          <p:cNvPr id="29" name="Text 27"/>
          <p:cNvSpPr txBox="1"/>
          <p:nvPr/>
        </p:nvSpPr>
        <p:spPr>
          <a:xfrm>
            <a:off x="731520" y="6035040"/>
            <a:ext cx="3840480" cy="1463040"/>
          </a:xfrm>
          <a:prstGeom prst="rect">
            <a:avLst/>
          </a:prstGeom>
          <a:noFill/>
          <a:ln/>
        </p:spPr>
        <p:txBody>
          <a:bodyPr wrap="square" lIns="0" tIns="0" rIns="0" bIns="0" rtlCol="0" anchor="t"/>
          <a:lstStyle/>
          <a:p>
            <a:pPr rtl="1" algn="r" indent="0" marL="0">
              <a:buNone/>
            </a:pPr>
            <a:r>
              <a:rPr lang="en-US" sz="1400" dirty="0">
                <a:solidFill>
                  <a:srgbClr val="1F2A37"/>
                </a:solidFill>
                <a:latin typeface="Arial" pitchFamily="34" charset="0"/>
                <a:ea typeface="Arial" pitchFamily="34" charset="-122"/>
                <a:cs typeface="Arial" pitchFamily="34" charset="-120"/>
              </a:rPr>
              <a:t>الإدارة تقود برنامج كفاءة الإنفاق في الأمانة، وتحسب تكلفة تشغيل أصول إكسبو وكأس العالم بعد انتهائهما</a:t>
            </a:r>
            <a:endParaRPr lang="en-US" sz="14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خارطة الطريق 2026–2030</a:t>
            </a:r>
            <a:endParaRPr lang="en-US" sz="3200" dirty="0"/>
          </a:p>
        </p:txBody>
      </p:sp>
      <p:sp>
        <p:nvSpPr>
          <p:cNvPr id="3" name="Shape 1"/>
          <p:cNvSpPr/>
          <p:nvPr/>
        </p:nvSpPr>
        <p:spPr>
          <a:xfrm>
            <a:off x="7610094" y="1417320"/>
            <a:ext cx="2201418" cy="1097280"/>
          </a:xfrm>
          <a:prstGeom prst="roundRect">
            <a:avLst>
              <a:gd name="adj" fmla="val 13333"/>
            </a:avLst>
          </a:prstGeom>
          <a:solidFill>
            <a:srgbClr val="1F2A37"/>
          </a:solidFill>
          <a:ln/>
        </p:spPr>
      </p:sp>
      <p:sp>
        <p:nvSpPr>
          <p:cNvPr id="4" name="Text 2"/>
          <p:cNvSpPr txBox="1"/>
          <p:nvPr/>
        </p:nvSpPr>
        <p:spPr>
          <a:xfrm>
            <a:off x="7792974" y="1463040"/>
            <a:ext cx="1835658" cy="548640"/>
          </a:xfrm>
          <a:prstGeom prst="rect">
            <a:avLst/>
          </a:prstGeom>
          <a:noFill/>
          <a:ln/>
        </p:spPr>
        <p:txBody>
          <a:bodyPr wrap="square" lIns="0" tIns="0" rIns="0" bIns="0" rtlCol="0" anchor="ctr"/>
          <a:lstStyle/>
          <a:p>
            <a:pPr rtl="1" algn="ctr" indent="0" marL="0">
              <a:buNone/>
            </a:pPr>
            <a:r>
              <a:rPr lang="en-US" sz="2000" b="1" dirty="0">
                <a:solidFill>
                  <a:srgbClr val="E4A42C"/>
                </a:solidFill>
                <a:latin typeface="Arial" pitchFamily="34" charset="0"/>
                <a:ea typeface="Arial" pitchFamily="34" charset="-122"/>
                <a:cs typeface="Arial" pitchFamily="34" charset="-120"/>
              </a:rPr>
              <a:t>2026</a:t>
            </a:r>
            <a:endParaRPr lang="en-US" sz="2000" dirty="0"/>
          </a:p>
        </p:txBody>
      </p:sp>
      <p:sp>
        <p:nvSpPr>
          <p:cNvPr id="5" name="Text 3"/>
          <p:cNvSpPr txBox="1"/>
          <p:nvPr/>
        </p:nvSpPr>
        <p:spPr>
          <a:xfrm>
            <a:off x="7792974" y="1965960"/>
            <a:ext cx="1835658" cy="457200"/>
          </a:xfrm>
          <a:prstGeom prst="rect">
            <a:avLst/>
          </a:prstGeom>
          <a:noFill/>
          <a:ln/>
        </p:spPr>
        <p:txBody>
          <a:bodyPr wrap="square" lIns="0" tIns="0" rIns="0" bIns="0" rtlCol="0" anchor="ctr"/>
          <a:lstStyle/>
          <a:p>
            <a:pPr rtl="1" algn="ctr" indent="0" marL="0">
              <a:buNone/>
            </a:pPr>
            <a:r>
              <a:rPr lang="en-US" sz="1400" dirty="0">
                <a:solidFill>
                  <a:srgbClr val="FFFFFF"/>
                </a:solidFill>
                <a:latin typeface="Arial" pitchFamily="34" charset="0"/>
                <a:ea typeface="Arial" pitchFamily="34" charset="-122"/>
                <a:cs typeface="Arial" pitchFamily="34" charset="-120"/>
              </a:rPr>
              <a:t>التأسيس</a:t>
            </a:r>
            <a:endParaRPr lang="en-US" sz="1400" dirty="0"/>
          </a:p>
        </p:txBody>
      </p:sp>
      <p:sp>
        <p:nvSpPr>
          <p:cNvPr id="6" name="Shape 4"/>
          <p:cNvSpPr/>
          <p:nvPr/>
        </p:nvSpPr>
        <p:spPr>
          <a:xfrm>
            <a:off x="5225796" y="1417320"/>
            <a:ext cx="2201418" cy="1097280"/>
          </a:xfrm>
          <a:prstGeom prst="roundRect">
            <a:avLst>
              <a:gd name="adj" fmla="val 13333"/>
            </a:avLst>
          </a:prstGeom>
          <a:solidFill>
            <a:srgbClr val="1F2A37"/>
          </a:solidFill>
          <a:ln/>
        </p:spPr>
      </p:sp>
      <p:sp>
        <p:nvSpPr>
          <p:cNvPr id="7" name="Text 5"/>
          <p:cNvSpPr txBox="1"/>
          <p:nvPr/>
        </p:nvSpPr>
        <p:spPr>
          <a:xfrm>
            <a:off x="5408676" y="1463040"/>
            <a:ext cx="1835658" cy="548640"/>
          </a:xfrm>
          <a:prstGeom prst="rect">
            <a:avLst/>
          </a:prstGeom>
          <a:noFill/>
          <a:ln/>
        </p:spPr>
        <p:txBody>
          <a:bodyPr wrap="square" lIns="0" tIns="0" rIns="0" bIns="0" rtlCol="0" anchor="ctr"/>
          <a:lstStyle/>
          <a:p>
            <a:pPr rtl="1" algn="ctr" indent="0" marL="0">
              <a:buNone/>
            </a:pPr>
            <a:r>
              <a:rPr lang="en-US" sz="2000" b="1" dirty="0">
                <a:solidFill>
                  <a:srgbClr val="E4A42C"/>
                </a:solidFill>
                <a:latin typeface="Arial" pitchFamily="34" charset="0"/>
                <a:ea typeface="Arial" pitchFamily="34" charset="-122"/>
                <a:cs typeface="Arial" pitchFamily="34" charset="-120"/>
              </a:rPr>
              <a:t>2027</a:t>
            </a:r>
            <a:endParaRPr lang="en-US" sz="2000" dirty="0"/>
          </a:p>
        </p:txBody>
      </p:sp>
      <p:sp>
        <p:nvSpPr>
          <p:cNvPr id="8" name="Text 6"/>
          <p:cNvSpPr txBox="1"/>
          <p:nvPr/>
        </p:nvSpPr>
        <p:spPr>
          <a:xfrm>
            <a:off x="5408676" y="1965960"/>
            <a:ext cx="1835658" cy="457200"/>
          </a:xfrm>
          <a:prstGeom prst="rect">
            <a:avLst/>
          </a:prstGeom>
          <a:noFill/>
          <a:ln/>
        </p:spPr>
        <p:txBody>
          <a:bodyPr wrap="square" lIns="0" tIns="0" rIns="0" bIns="0" rtlCol="0" anchor="ctr"/>
          <a:lstStyle/>
          <a:p>
            <a:pPr rtl="1" algn="ctr" indent="0" marL="0">
              <a:buNone/>
            </a:pPr>
            <a:r>
              <a:rPr lang="en-US" sz="1400" dirty="0">
                <a:solidFill>
                  <a:srgbClr val="FFFFFF"/>
                </a:solidFill>
                <a:latin typeface="Arial" pitchFamily="34" charset="0"/>
                <a:ea typeface="Arial" pitchFamily="34" charset="-122"/>
                <a:cs typeface="Arial" pitchFamily="34" charset="-120"/>
              </a:rPr>
              <a:t>الأدوات والمكاسب السريعة</a:t>
            </a:r>
            <a:endParaRPr lang="en-US" sz="1400" dirty="0"/>
          </a:p>
        </p:txBody>
      </p:sp>
      <p:sp>
        <p:nvSpPr>
          <p:cNvPr id="9" name="Shape 7"/>
          <p:cNvSpPr/>
          <p:nvPr/>
        </p:nvSpPr>
        <p:spPr>
          <a:xfrm>
            <a:off x="2841498" y="1417320"/>
            <a:ext cx="2201418" cy="1097280"/>
          </a:xfrm>
          <a:prstGeom prst="roundRect">
            <a:avLst>
              <a:gd name="adj" fmla="val 13333"/>
            </a:avLst>
          </a:prstGeom>
          <a:solidFill>
            <a:srgbClr val="1F2A37"/>
          </a:solidFill>
          <a:ln/>
        </p:spPr>
      </p:sp>
      <p:sp>
        <p:nvSpPr>
          <p:cNvPr id="10" name="Text 8"/>
          <p:cNvSpPr txBox="1"/>
          <p:nvPr/>
        </p:nvSpPr>
        <p:spPr>
          <a:xfrm>
            <a:off x="3024378" y="1463040"/>
            <a:ext cx="1835658" cy="548640"/>
          </a:xfrm>
          <a:prstGeom prst="rect">
            <a:avLst/>
          </a:prstGeom>
          <a:noFill/>
          <a:ln/>
        </p:spPr>
        <p:txBody>
          <a:bodyPr wrap="square" lIns="0" tIns="0" rIns="0" bIns="0" rtlCol="0" anchor="ctr"/>
          <a:lstStyle/>
          <a:p>
            <a:pPr rtl="1" algn="ctr" indent="0" marL="0">
              <a:buNone/>
            </a:pPr>
            <a:r>
              <a:rPr lang="en-US" sz="2000" b="1" dirty="0">
                <a:solidFill>
                  <a:srgbClr val="E4A42C"/>
                </a:solidFill>
                <a:latin typeface="Arial" pitchFamily="34" charset="0"/>
                <a:ea typeface="Arial" pitchFamily="34" charset="-122"/>
                <a:cs typeface="Arial" pitchFamily="34" charset="-120"/>
              </a:rPr>
              <a:t>2028</a:t>
            </a:r>
            <a:endParaRPr lang="en-US" sz="2000" dirty="0"/>
          </a:p>
        </p:txBody>
      </p:sp>
      <p:sp>
        <p:nvSpPr>
          <p:cNvPr id="11" name="Text 9"/>
          <p:cNvSpPr txBox="1"/>
          <p:nvPr/>
        </p:nvSpPr>
        <p:spPr>
          <a:xfrm>
            <a:off x="3024378" y="1965960"/>
            <a:ext cx="1835658" cy="457200"/>
          </a:xfrm>
          <a:prstGeom prst="rect">
            <a:avLst/>
          </a:prstGeom>
          <a:noFill/>
          <a:ln/>
        </p:spPr>
        <p:txBody>
          <a:bodyPr wrap="square" lIns="0" tIns="0" rIns="0" bIns="0" rtlCol="0" anchor="ctr"/>
          <a:lstStyle/>
          <a:p>
            <a:pPr rtl="1" algn="ctr" indent="0" marL="0">
              <a:buNone/>
            </a:pPr>
            <a:r>
              <a:rPr lang="en-US" sz="1400" dirty="0">
                <a:solidFill>
                  <a:srgbClr val="FFFFFF"/>
                </a:solidFill>
                <a:latin typeface="Arial" pitchFamily="34" charset="0"/>
                <a:ea typeface="Arial" pitchFamily="34" charset="-122"/>
                <a:cs typeface="Arial" pitchFamily="34" charset="-120"/>
              </a:rPr>
              <a:t>العمق والتوسع</a:t>
            </a:r>
            <a:endParaRPr lang="en-US" sz="1400" dirty="0"/>
          </a:p>
        </p:txBody>
      </p:sp>
      <p:sp>
        <p:nvSpPr>
          <p:cNvPr id="12" name="Shape 10"/>
          <p:cNvSpPr/>
          <p:nvPr/>
        </p:nvSpPr>
        <p:spPr>
          <a:xfrm>
            <a:off x="457200" y="1417320"/>
            <a:ext cx="2201418" cy="1097280"/>
          </a:xfrm>
          <a:prstGeom prst="roundRect">
            <a:avLst>
              <a:gd name="adj" fmla="val 13333"/>
            </a:avLst>
          </a:prstGeom>
          <a:solidFill>
            <a:srgbClr val="1F2A37"/>
          </a:solidFill>
          <a:ln/>
        </p:spPr>
      </p:sp>
      <p:sp>
        <p:nvSpPr>
          <p:cNvPr id="13" name="Text 11"/>
          <p:cNvSpPr txBox="1"/>
          <p:nvPr/>
        </p:nvSpPr>
        <p:spPr>
          <a:xfrm>
            <a:off x="640080" y="1463040"/>
            <a:ext cx="1835658" cy="548640"/>
          </a:xfrm>
          <a:prstGeom prst="rect">
            <a:avLst/>
          </a:prstGeom>
          <a:noFill/>
          <a:ln/>
        </p:spPr>
        <p:txBody>
          <a:bodyPr wrap="square" lIns="0" tIns="0" rIns="0" bIns="0" rtlCol="0" anchor="ctr"/>
          <a:lstStyle/>
          <a:p>
            <a:pPr rtl="1" algn="ctr" indent="0" marL="0">
              <a:buNone/>
            </a:pPr>
            <a:r>
              <a:rPr lang="en-US" sz="2000" b="1" dirty="0">
                <a:solidFill>
                  <a:srgbClr val="E4A42C"/>
                </a:solidFill>
                <a:latin typeface="Arial" pitchFamily="34" charset="0"/>
                <a:ea typeface="Arial" pitchFamily="34" charset="-122"/>
                <a:cs typeface="Arial" pitchFamily="34" charset="-120"/>
              </a:rPr>
              <a:t>2029–2030</a:t>
            </a:r>
            <a:endParaRPr lang="en-US" sz="2000" dirty="0"/>
          </a:p>
        </p:txBody>
      </p:sp>
      <p:sp>
        <p:nvSpPr>
          <p:cNvPr id="14" name="Text 12"/>
          <p:cNvSpPr txBox="1"/>
          <p:nvPr/>
        </p:nvSpPr>
        <p:spPr>
          <a:xfrm>
            <a:off x="640080" y="1965960"/>
            <a:ext cx="1835658" cy="457200"/>
          </a:xfrm>
          <a:prstGeom prst="rect">
            <a:avLst/>
          </a:prstGeom>
          <a:noFill/>
          <a:ln/>
        </p:spPr>
        <p:txBody>
          <a:bodyPr wrap="square" lIns="0" tIns="0" rIns="0" bIns="0" rtlCol="0" anchor="ctr"/>
          <a:lstStyle/>
          <a:p>
            <a:pPr rtl="1" algn="ctr" indent="0" marL="0">
              <a:buNone/>
            </a:pPr>
            <a:r>
              <a:rPr lang="en-US" sz="1400" dirty="0">
                <a:solidFill>
                  <a:srgbClr val="FFFFFF"/>
                </a:solidFill>
                <a:latin typeface="Arial" pitchFamily="34" charset="0"/>
                <a:ea typeface="Arial" pitchFamily="34" charset="-122"/>
                <a:cs typeface="Arial" pitchFamily="34" charset="-120"/>
              </a:rPr>
              <a:t>التنويع والاستعداد</a:t>
            </a:r>
            <a:endParaRPr lang="en-US" sz="1400" dirty="0"/>
          </a:p>
        </p:txBody>
      </p:sp>
      <p:sp>
        <p:nvSpPr>
          <p:cNvPr id="15" name="Shape 13"/>
          <p:cNvSpPr/>
          <p:nvPr/>
        </p:nvSpPr>
        <p:spPr>
          <a:xfrm>
            <a:off x="9994392" y="2743200"/>
            <a:ext cx="1737360" cy="1508760"/>
          </a:xfrm>
          <a:prstGeom prst="roundRect">
            <a:avLst>
              <a:gd name="adj" fmla="val 9697"/>
            </a:avLst>
          </a:prstGeom>
          <a:solidFill>
            <a:srgbClr val="006A46"/>
          </a:solidFill>
          <a:ln/>
        </p:spPr>
      </p:sp>
      <p:sp>
        <p:nvSpPr>
          <p:cNvPr id="16" name="Text 14"/>
          <p:cNvSpPr txBox="1"/>
          <p:nvPr/>
        </p:nvSpPr>
        <p:spPr>
          <a:xfrm>
            <a:off x="9994392" y="2743200"/>
            <a:ext cx="1737360" cy="150876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الإيرادات</a:t>
            </a:r>
            <a:endParaRPr lang="en-US" sz="1800" dirty="0"/>
          </a:p>
        </p:txBody>
      </p:sp>
      <p:sp>
        <p:nvSpPr>
          <p:cNvPr id="17" name="Shape 15"/>
          <p:cNvSpPr/>
          <p:nvPr/>
        </p:nvSpPr>
        <p:spPr>
          <a:xfrm>
            <a:off x="7610094" y="2743200"/>
            <a:ext cx="2201418" cy="1508760"/>
          </a:xfrm>
          <a:prstGeom prst="roundRect">
            <a:avLst>
              <a:gd name="adj" fmla="val 9697"/>
            </a:avLst>
          </a:prstGeom>
          <a:solidFill>
            <a:srgbClr val="FFFFFF"/>
          </a:solidFill>
          <a:ln w="12700">
            <a:solidFill>
              <a:srgbClr val="D5DFDA"/>
            </a:solidFill>
            <a:prstDash val="solid"/>
          </a:ln>
        </p:spPr>
      </p:sp>
      <p:sp>
        <p:nvSpPr>
          <p:cNvPr id="18" name="Text 16"/>
          <p:cNvSpPr txBox="1"/>
          <p:nvPr/>
        </p:nvSpPr>
        <p:spPr>
          <a:xfrm>
            <a:off x="7792974" y="274320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توحيد البيانات واللوحة الموحدة</a:t>
            </a:r>
            <a:endParaRPr lang="en-US" sz="1500" dirty="0"/>
          </a:p>
        </p:txBody>
      </p:sp>
      <p:sp>
        <p:nvSpPr>
          <p:cNvPr id="19" name="Shape 17"/>
          <p:cNvSpPr/>
          <p:nvPr/>
        </p:nvSpPr>
        <p:spPr>
          <a:xfrm>
            <a:off x="5225796" y="2743200"/>
            <a:ext cx="2201418" cy="1508760"/>
          </a:xfrm>
          <a:prstGeom prst="roundRect">
            <a:avLst>
              <a:gd name="adj" fmla="val 9697"/>
            </a:avLst>
          </a:prstGeom>
          <a:solidFill>
            <a:srgbClr val="FFFFFF"/>
          </a:solidFill>
          <a:ln w="12700">
            <a:solidFill>
              <a:srgbClr val="D5DFDA"/>
            </a:solidFill>
            <a:prstDash val="solid"/>
          </a:ln>
        </p:spPr>
      </p:sp>
      <p:sp>
        <p:nvSpPr>
          <p:cNvPr id="20" name="Text 18"/>
          <p:cNvSpPr txBox="1"/>
          <p:nvPr/>
        </p:nvSpPr>
        <p:spPr>
          <a:xfrm>
            <a:off x="5408676" y="274320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نموذج التنبؤ وتوزيع المستهدفات</a:t>
            </a:r>
            <a:endParaRPr lang="en-US" sz="1500" dirty="0"/>
          </a:p>
        </p:txBody>
      </p:sp>
      <p:sp>
        <p:nvSpPr>
          <p:cNvPr id="21" name="Shape 19"/>
          <p:cNvSpPr/>
          <p:nvPr/>
        </p:nvSpPr>
        <p:spPr>
          <a:xfrm>
            <a:off x="2841498" y="2743200"/>
            <a:ext cx="2201418" cy="1508760"/>
          </a:xfrm>
          <a:prstGeom prst="roundRect">
            <a:avLst>
              <a:gd name="adj" fmla="val 9697"/>
            </a:avLst>
          </a:prstGeom>
          <a:solidFill>
            <a:srgbClr val="FFFFFF"/>
          </a:solidFill>
          <a:ln w="12700">
            <a:solidFill>
              <a:srgbClr val="D5DFDA"/>
            </a:solidFill>
            <a:prstDash val="solid"/>
          </a:ln>
        </p:spPr>
      </p:sp>
      <p:sp>
        <p:nvSpPr>
          <p:cNvPr id="22" name="Text 20"/>
          <p:cNvSpPr txBox="1"/>
          <p:nvPr/>
        </p:nvSpPr>
        <p:spPr>
          <a:xfrm>
            <a:off x="3024378" y="274320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كشف الفاقد واجتماع المراجعة</a:t>
            </a:r>
            <a:endParaRPr lang="en-US" sz="1500" dirty="0"/>
          </a:p>
        </p:txBody>
      </p:sp>
      <p:sp>
        <p:nvSpPr>
          <p:cNvPr id="23" name="Shape 21"/>
          <p:cNvSpPr/>
          <p:nvPr/>
        </p:nvSpPr>
        <p:spPr>
          <a:xfrm>
            <a:off x="457200" y="2743200"/>
            <a:ext cx="2201418" cy="1508760"/>
          </a:xfrm>
          <a:prstGeom prst="roundRect">
            <a:avLst>
              <a:gd name="adj" fmla="val 9697"/>
            </a:avLst>
          </a:prstGeom>
          <a:solidFill>
            <a:srgbClr val="FFFFFF"/>
          </a:solidFill>
          <a:ln w="12700">
            <a:solidFill>
              <a:srgbClr val="D5DFDA"/>
            </a:solidFill>
            <a:prstDash val="solid"/>
          </a:ln>
        </p:spPr>
      </p:sp>
      <p:sp>
        <p:nvSpPr>
          <p:cNvPr id="24" name="Text 22"/>
          <p:cNvSpPr txBox="1"/>
          <p:nvPr/>
        </p:nvSpPr>
        <p:spPr>
          <a:xfrm>
            <a:off x="640080" y="274320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مصادر جديدة وإيرادات الأحداث</a:t>
            </a:r>
            <a:endParaRPr lang="en-US" sz="1500" dirty="0"/>
          </a:p>
        </p:txBody>
      </p:sp>
      <p:sp>
        <p:nvSpPr>
          <p:cNvPr id="25" name="Shape 23"/>
          <p:cNvSpPr/>
          <p:nvPr/>
        </p:nvSpPr>
        <p:spPr>
          <a:xfrm>
            <a:off x="9994392" y="4434840"/>
            <a:ext cx="1737360" cy="1508760"/>
          </a:xfrm>
          <a:prstGeom prst="roundRect">
            <a:avLst>
              <a:gd name="adj" fmla="val 9697"/>
            </a:avLst>
          </a:prstGeom>
          <a:solidFill>
            <a:srgbClr val="0B6B73"/>
          </a:solidFill>
          <a:ln/>
        </p:spPr>
      </p:sp>
      <p:sp>
        <p:nvSpPr>
          <p:cNvPr id="26" name="Text 24"/>
          <p:cNvSpPr txBox="1"/>
          <p:nvPr/>
        </p:nvSpPr>
        <p:spPr>
          <a:xfrm>
            <a:off x="9994392" y="4434840"/>
            <a:ext cx="1737360" cy="150876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التمويل</a:t>
            </a:r>
            <a:endParaRPr lang="en-US" sz="1800" dirty="0"/>
          </a:p>
        </p:txBody>
      </p:sp>
      <p:sp>
        <p:nvSpPr>
          <p:cNvPr id="27" name="Shape 25"/>
          <p:cNvSpPr/>
          <p:nvPr/>
        </p:nvSpPr>
        <p:spPr>
          <a:xfrm>
            <a:off x="7610094" y="4434840"/>
            <a:ext cx="2201418" cy="1508760"/>
          </a:xfrm>
          <a:prstGeom prst="roundRect">
            <a:avLst>
              <a:gd name="adj" fmla="val 9697"/>
            </a:avLst>
          </a:prstGeom>
          <a:solidFill>
            <a:srgbClr val="FFFFFF"/>
          </a:solidFill>
          <a:ln w="12700">
            <a:solidFill>
              <a:srgbClr val="D5DFDA"/>
            </a:solidFill>
            <a:prstDash val="solid"/>
          </a:ln>
        </p:spPr>
      </p:sp>
      <p:sp>
        <p:nvSpPr>
          <p:cNvPr id="28" name="Text 26"/>
          <p:cNvSpPr txBox="1"/>
          <p:nvPr/>
        </p:nvSpPr>
        <p:spPr>
          <a:xfrm>
            <a:off x="7792974" y="443484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حصر المشاريع وميثاق اللجنة</a:t>
            </a:r>
            <a:endParaRPr lang="en-US" sz="1500" dirty="0"/>
          </a:p>
        </p:txBody>
      </p:sp>
      <p:sp>
        <p:nvSpPr>
          <p:cNvPr id="29" name="Shape 27"/>
          <p:cNvSpPr/>
          <p:nvPr/>
        </p:nvSpPr>
        <p:spPr>
          <a:xfrm>
            <a:off x="5225796" y="4434840"/>
            <a:ext cx="2201418" cy="1508760"/>
          </a:xfrm>
          <a:prstGeom prst="roundRect">
            <a:avLst>
              <a:gd name="adj" fmla="val 9697"/>
            </a:avLst>
          </a:prstGeom>
          <a:solidFill>
            <a:srgbClr val="FFFFFF"/>
          </a:solidFill>
          <a:ln w="12700">
            <a:solidFill>
              <a:srgbClr val="D5DFDA"/>
            </a:solidFill>
            <a:prstDash val="solid"/>
          </a:ln>
        </p:spPr>
      </p:sp>
      <p:sp>
        <p:nvSpPr>
          <p:cNvPr id="30" name="Text 28"/>
          <p:cNvSpPr txBox="1"/>
          <p:nvPr/>
        </p:nvSpPr>
        <p:spPr>
          <a:xfrm>
            <a:off x="5408676" y="443484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3–5 مشاريع تجريبية والرعايات</a:t>
            </a:r>
            <a:endParaRPr lang="en-US" sz="1500" dirty="0"/>
          </a:p>
        </p:txBody>
      </p:sp>
      <p:sp>
        <p:nvSpPr>
          <p:cNvPr id="31" name="Shape 29"/>
          <p:cNvSpPr/>
          <p:nvPr/>
        </p:nvSpPr>
        <p:spPr>
          <a:xfrm>
            <a:off x="2841498" y="4434840"/>
            <a:ext cx="2201418" cy="1508760"/>
          </a:xfrm>
          <a:prstGeom prst="roundRect">
            <a:avLst>
              <a:gd name="adj" fmla="val 9697"/>
            </a:avLst>
          </a:prstGeom>
          <a:solidFill>
            <a:srgbClr val="FFFFFF"/>
          </a:solidFill>
          <a:ln w="12700">
            <a:solidFill>
              <a:srgbClr val="D5DFDA"/>
            </a:solidFill>
            <a:prstDash val="solid"/>
          </a:ln>
        </p:spPr>
      </p:sp>
      <p:sp>
        <p:nvSpPr>
          <p:cNvPr id="32" name="Text 30"/>
          <p:cNvSpPr txBox="1"/>
          <p:nvPr/>
        </p:nvSpPr>
        <p:spPr>
          <a:xfrm>
            <a:off x="3024378" y="443484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مشاريع كبرى وأول تمويل بنكي</a:t>
            </a:r>
            <a:endParaRPr lang="en-US" sz="1500" dirty="0"/>
          </a:p>
        </p:txBody>
      </p:sp>
      <p:sp>
        <p:nvSpPr>
          <p:cNvPr id="33" name="Shape 31"/>
          <p:cNvSpPr/>
          <p:nvPr/>
        </p:nvSpPr>
        <p:spPr>
          <a:xfrm>
            <a:off x="457200" y="4434840"/>
            <a:ext cx="2201418" cy="1508760"/>
          </a:xfrm>
          <a:prstGeom prst="roundRect">
            <a:avLst>
              <a:gd name="adj" fmla="val 9697"/>
            </a:avLst>
          </a:prstGeom>
          <a:solidFill>
            <a:srgbClr val="FFFFFF"/>
          </a:solidFill>
          <a:ln w="12700">
            <a:solidFill>
              <a:srgbClr val="D5DFDA"/>
            </a:solidFill>
            <a:prstDash val="solid"/>
          </a:ln>
        </p:spPr>
      </p:sp>
      <p:sp>
        <p:nvSpPr>
          <p:cNvPr id="34" name="Text 32"/>
          <p:cNvSpPr txBox="1"/>
          <p:nvPr/>
        </p:nvSpPr>
        <p:spPr>
          <a:xfrm>
            <a:off x="640080" y="443484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محفظة إكسبو ودراسة الصكوك</a:t>
            </a:r>
            <a:endParaRPr lang="en-US" sz="1500" dirty="0"/>
          </a:p>
        </p:txBody>
      </p:sp>
      <p:sp>
        <p:nvSpPr>
          <p:cNvPr id="35" name="Shape 33"/>
          <p:cNvSpPr/>
          <p:nvPr/>
        </p:nvSpPr>
        <p:spPr>
          <a:xfrm>
            <a:off x="9994392" y="6126480"/>
            <a:ext cx="1737360" cy="1508760"/>
          </a:xfrm>
          <a:prstGeom prst="roundRect">
            <a:avLst>
              <a:gd name="adj" fmla="val 9697"/>
            </a:avLst>
          </a:prstGeom>
          <a:solidFill>
            <a:srgbClr val="B7801A"/>
          </a:solidFill>
          <a:ln/>
        </p:spPr>
      </p:sp>
      <p:sp>
        <p:nvSpPr>
          <p:cNvPr id="36" name="Text 34"/>
          <p:cNvSpPr txBox="1"/>
          <p:nvPr/>
        </p:nvSpPr>
        <p:spPr>
          <a:xfrm>
            <a:off x="9994392" y="6126480"/>
            <a:ext cx="1737360" cy="1508760"/>
          </a:xfrm>
          <a:prstGeom prst="rect">
            <a:avLst/>
          </a:prstGeom>
          <a:noFill/>
          <a:ln/>
        </p:spPr>
        <p:txBody>
          <a:bodyPr wrap="square" lIns="0" tIns="0" rIns="0" bIns="0" rtlCol="0" anchor="ctr"/>
          <a:lstStyle/>
          <a:p>
            <a:pPr rtl="1" algn="ctr" indent="0" marL="0">
              <a:buNone/>
            </a:pPr>
            <a:r>
              <a:rPr lang="en-US" sz="1800" b="1" dirty="0">
                <a:solidFill>
                  <a:srgbClr val="FFFFFF"/>
                </a:solidFill>
                <a:latin typeface="Arial" pitchFamily="34" charset="0"/>
                <a:ea typeface="Arial" pitchFamily="34" charset="-122"/>
                <a:cs typeface="Arial" pitchFamily="34" charset="-120"/>
              </a:rPr>
              <a:t>الاستدامة</a:t>
            </a:r>
            <a:endParaRPr lang="en-US" sz="1800" dirty="0"/>
          </a:p>
        </p:txBody>
      </p:sp>
      <p:sp>
        <p:nvSpPr>
          <p:cNvPr id="37" name="Shape 35"/>
          <p:cNvSpPr/>
          <p:nvPr/>
        </p:nvSpPr>
        <p:spPr>
          <a:xfrm>
            <a:off x="7610094" y="6126480"/>
            <a:ext cx="2201418" cy="1508760"/>
          </a:xfrm>
          <a:prstGeom prst="roundRect">
            <a:avLst>
              <a:gd name="adj" fmla="val 9697"/>
            </a:avLst>
          </a:prstGeom>
          <a:solidFill>
            <a:srgbClr val="FFFFFF"/>
          </a:solidFill>
          <a:ln w="12700">
            <a:solidFill>
              <a:srgbClr val="D5DFDA"/>
            </a:solidFill>
            <a:prstDash val="solid"/>
          </a:ln>
        </p:spPr>
      </p:sp>
      <p:sp>
        <p:nvSpPr>
          <p:cNvPr id="38" name="Text 36"/>
          <p:cNvSpPr txBox="1"/>
          <p:nvPr/>
        </p:nvSpPr>
        <p:spPr>
          <a:xfrm>
            <a:off x="7792974" y="612648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سجل الالتزامات والقواعد المالية</a:t>
            </a:r>
            <a:endParaRPr lang="en-US" sz="1500" dirty="0"/>
          </a:p>
        </p:txBody>
      </p:sp>
      <p:sp>
        <p:nvSpPr>
          <p:cNvPr id="39" name="Shape 37"/>
          <p:cNvSpPr/>
          <p:nvPr/>
        </p:nvSpPr>
        <p:spPr>
          <a:xfrm>
            <a:off x="5225796" y="6126480"/>
            <a:ext cx="2201418" cy="1508760"/>
          </a:xfrm>
          <a:prstGeom prst="roundRect">
            <a:avLst>
              <a:gd name="adj" fmla="val 9697"/>
            </a:avLst>
          </a:prstGeom>
          <a:solidFill>
            <a:srgbClr val="FFFFFF"/>
          </a:solidFill>
          <a:ln w="12700">
            <a:solidFill>
              <a:srgbClr val="D5DFDA"/>
            </a:solidFill>
            <a:prstDash val="solid"/>
          </a:ln>
        </p:spPr>
      </p:sp>
      <p:sp>
        <p:nvSpPr>
          <p:cNvPr id="40" name="Text 38"/>
          <p:cNvSpPr txBox="1"/>
          <p:nvPr/>
        </p:nvSpPr>
        <p:spPr>
          <a:xfrm>
            <a:off x="5408676" y="612648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إسقاطات 10 سنوات وأول تقرير</a:t>
            </a:r>
            <a:endParaRPr lang="en-US" sz="1500" dirty="0"/>
          </a:p>
        </p:txBody>
      </p:sp>
      <p:sp>
        <p:nvSpPr>
          <p:cNvPr id="41" name="Shape 39"/>
          <p:cNvSpPr/>
          <p:nvPr/>
        </p:nvSpPr>
        <p:spPr>
          <a:xfrm>
            <a:off x="2841498" y="6126480"/>
            <a:ext cx="2201418" cy="1508760"/>
          </a:xfrm>
          <a:prstGeom prst="roundRect">
            <a:avLst>
              <a:gd name="adj" fmla="val 9697"/>
            </a:avLst>
          </a:prstGeom>
          <a:solidFill>
            <a:srgbClr val="FFFFFF"/>
          </a:solidFill>
          <a:ln w="12700">
            <a:solidFill>
              <a:srgbClr val="D5DFDA"/>
            </a:solidFill>
            <a:prstDash val="solid"/>
          </a:ln>
        </p:spPr>
      </p:sp>
      <p:sp>
        <p:nvSpPr>
          <p:cNvPr id="42" name="Text 40"/>
          <p:cNvSpPr txBox="1"/>
          <p:nvPr/>
        </p:nvSpPr>
        <p:spPr>
          <a:xfrm>
            <a:off x="3024378" y="612648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اختبارات الضغط وتكلفة الخدمات</a:t>
            </a:r>
            <a:endParaRPr lang="en-US" sz="1500" dirty="0"/>
          </a:p>
        </p:txBody>
      </p:sp>
      <p:sp>
        <p:nvSpPr>
          <p:cNvPr id="43" name="Shape 41"/>
          <p:cNvSpPr/>
          <p:nvPr/>
        </p:nvSpPr>
        <p:spPr>
          <a:xfrm>
            <a:off x="457200" y="6126480"/>
            <a:ext cx="2201418" cy="1508760"/>
          </a:xfrm>
          <a:prstGeom prst="roundRect">
            <a:avLst>
              <a:gd name="adj" fmla="val 9697"/>
            </a:avLst>
          </a:prstGeom>
          <a:solidFill>
            <a:srgbClr val="FFFFFF"/>
          </a:solidFill>
          <a:ln w="12700">
            <a:solidFill>
              <a:srgbClr val="D5DFDA"/>
            </a:solidFill>
            <a:prstDash val="solid"/>
          </a:ln>
        </p:spPr>
      </p:sp>
      <p:sp>
        <p:nvSpPr>
          <p:cNvPr id="44" name="Text 42"/>
          <p:cNvSpPr txBox="1"/>
          <p:nvPr/>
        </p:nvSpPr>
        <p:spPr>
          <a:xfrm>
            <a:off x="640080" y="6126480"/>
            <a:ext cx="1835658" cy="1508760"/>
          </a:xfrm>
          <a:prstGeom prst="rect">
            <a:avLst/>
          </a:prstGeom>
          <a:noFill/>
          <a:ln/>
        </p:spPr>
        <p:txBody>
          <a:bodyPr wrap="square" lIns="0" tIns="0" rIns="0" bIns="0" rtlCol="0" anchor="ctr"/>
          <a:lstStyle/>
          <a:p>
            <a:pPr rtl="1" algn="ctr" indent="0" marL="0">
              <a:buNone/>
            </a:pPr>
            <a:r>
              <a:rPr lang="en-US" sz="1500" dirty="0">
                <a:solidFill>
                  <a:srgbClr val="1F2A37"/>
                </a:solidFill>
                <a:latin typeface="Arial" pitchFamily="34" charset="0"/>
                <a:ea typeface="Arial" pitchFamily="34" charset="-122"/>
                <a:cs typeface="Arial" pitchFamily="34" charset="-120"/>
              </a:rPr>
              <a:t>الجاهزية للتصنيف وإرث الأحداث</a:t>
            </a:r>
            <a:endParaRPr lang="en-US" sz="15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مؤشرات الأداء الرئيسية</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6B7785"/>
                </a:solidFill>
                <a:latin typeface="Arial" pitchFamily="34" charset="0"/>
                <a:ea typeface="Arial" pitchFamily="34" charset="-122"/>
                <a:cs typeface="Arial" pitchFamily="34" charset="-120"/>
              </a:rPr>
              <a:t>بقية المستهدفات تُحدَّد بعد بناء خط الأساس في 2026</a:t>
            </a:r>
            <a:endParaRPr lang="en-US" sz="1500" dirty="0"/>
          </a:p>
        </p:txBody>
      </p:sp>
      <p:sp>
        <p:nvSpPr>
          <p:cNvPr id="4" name="Shape 2"/>
          <p:cNvSpPr/>
          <p:nvPr/>
        </p:nvSpPr>
        <p:spPr>
          <a:xfrm>
            <a:off x="8186928" y="1691640"/>
            <a:ext cx="3544824" cy="2788920"/>
          </a:xfrm>
          <a:prstGeom prst="roundRect">
            <a:avLst>
              <a:gd name="adj" fmla="val 5246"/>
            </a:avLst>
          </a:prstGeom>
          <a:solidFill>
            <a:srgbClr val="FFFFFF"/>
          </a:solidFill>
          <a:ln/>
          <a:effectLst>
            <a:outerShdw sx="100000" sy="100000" kx="0" ky="0" algn="bl" rotWithShape="0" blurRad="101600" dist="25400" dir="5400000">
              <a:srgbClr val="000000">
                <a:alpha val="12000"/>
              </a:srgbClr>
            </a:outerShdw>
          </a:effectLst>
        </p:spPr>
      </p:sp>
      <p:sp>
        <p:nvSpPr>
          <p:cNvPr id="5" name="Text 3"/>
          <p:cNvSpPr txBox="1"/>
          <p:nvPr/>
        </p:nvSpPr>
        <p:spPr>
          <a:xfrm>
            <a:off x="8461248" y="1965960"/>
            <a:ext cx="2996184" cy="1005840"/>
          </a:xfrm>
          <a:prstGeom prst="rect">
            <a:avLst/>
          </a:prstGeom>
          <a:noFill/>
          <a:ln/>
        </p:spPr>
        <p:txBody>
          <a:bodyPr wrap="square" lIns="0" tIns="0" rIns="0" bIns="0" rtlCol="0" anchor="ctr"/>
          <a:lstStyle/>
          <a:p>
            <a:pPr rtl="1" algn="r" indent="0" marL="0">
              <a:buNone/>
            </a:pPr>
            <a:r>
              <a:rPr lang="en-US" sz="4600" b="1" dirty="0">
                <a:solidFill>
                  <a:srgbClr val="006A46"/>
                </a:solidFill>
                <a:latin typeface="Arial" pitchFamily="34" charset="0"/>
                <a:ea typeface="Arial" pitchFamily="34" charset="-122"/>
                <a:cs typeface="Arial" pitchFamily="34" charset="-120"/>
              </a:rPr>
              <a:t>5,000</a:t>
            </a:r>
            <a:endParaRPr lang="en-US" sz="4600" dirty="0"/>
          </a:p>
        </p:txBody>
      </p:sp>
      <p:sp>
        <p:nvSpPr>
          <p:cNvPr id="6" name="Text 4"/>
          <p:cNvSpPr txBox="1"/>
          <p:nvPr/>
        </p:nvSpPr>
        <p:spPr>
          <a:xfrm>
            <a:off x="8461248" y="2971800"/>
            <a:ext cx="2996184" cy="411480"/>
          </a:xfrm>
          <a:prstGeom prst="rect">
            <a:avLst/>
          </a:prstGeom>
          <a:noFill/>
          <a:ln/>
        </p:spPr>
        <p:txBody>
          <a:bodyPr wrap="square" lIns="0" tIns="0" rIns="0" bIns="0" rtlCol="0" anchor="ctr"/>
          <a:lstStyle/>
          <a:p>
            <a:pPr rtl="1" algn="r" indent="0" marL="0">
              <a:buNone/>
            </a:pPr>
            <a:r>
              <a:rPr lang="en-US" sz="1400" dirty="0">
                <a:solidFill>
                  <a:srgbClr val="6B7785"/>
                </a:solidFill>
                <a:latin typeface="Arial" pitchFamily="34" charset="0"/>
                <a:ea typeface="Arial" pitchFamily="34" charset="-122"/>
                <a:cs typeface="Arial" pitchFamily="34" charset="-120"/>
              </a:rPr>
              <a:t>مليون ريال</a:t>
            </a:r>
            <a:endParaRPr lang="en-US" sz="1400" dirty="0"/>
          </a:p>
        </p:txBody>
      </p:sp>
      <p:sp>
        <p:nvSpPr>
          <p:cNvPr id="7" name="Text 5"/>
          <p:cNvSpPr txBox="1"/>
          <p:nvPr/>
        </p:nvSpPr>
        <p:spPr>
          <a:xfrm>
            <a:off x="8461248" y="3474720"/>
            <a:ext cx="2996184" cy="82296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إجمالي الإيرادات في 2030</a:t>
            </a:r>
            <a:endParaRPr lang="en-US" sz="1700" dirty="0"/>
          </a:p>
        </p:txBody>
      </p:sp>
      <p:sp>
        <p:nvSpPr>
          <p:cNvPr id="8" name="Shape 6"/>
          <p:cNvSpPr/>
          <p:nvPr/>
        </p:nvSpPr>
        <p:spPr>
          <a:xfrm>
            <a:off x="4322064" y="1691640"/>
            <a:ext cx="3544824" cy="2788920"/>
          </a:xfrm>
          <a:prstGeom prst="roundRect">
            <a:avLst>
              <a:gd name="adj" fmla="val 5246"/>
            </a:avLst>
          </a:prstGeom>
          <a:solidFill>
            <a:srgbClr val="FFFFFF"/>
          </a:solidFill>
          <a:ln/>
          <a:effectLst>
            <a:outerShdw sx="100000" sy="100000" kx="0" ky="0" algn="bl" rotWithShape="0" blurRad="101600" dist="25400" dir="5400000">
              <a:srgbClr val="000000">
                <a:alpha val="12000"/>
              </a:srgbClr>
            </a:outerShdw>
          </a:effectLst>
        </p:spPr>
      </p:sp>
      <p:sp>
        <p:nvSpPr>
          <p:cNvPr id="9" name="Text 7"/>
          <p:cNvSpPr txBox="1"/>
          <p:nvPr/>
        </p:nvSpPr>
        <p:spPr>
          <a:xfrm>
            <a:off x="4596384" y="1965960"/>
            <a:ext cx="2996184" cy="1005840"/>
          </a:xfrm>
          <a:prstGeom prst="rect">
            <a:avLst/>
          </a:prstGeom>
          <a:noFill/>
          <a:ln/>
        </p:spPr>
        <p:txBody>
          <a:bodyPr wrap="square" lIns="0" tIns="0" rIns="0" bIns="0" rtlCol="0" anchor="ctr"/>
          <a:lstStyle/>
          <a:p>
            <a:pPr rtl="1" algn="r" indent="0" marL="0">
              <a:buNone/>
            </a:pPr>
            <a:r>
              <a:rPr lang="en-US" sz="4600" b="1" dirty="0">
                <a:solidFill>
                  <a:srgbClr val="006A46"/>
                </a:solidFill>
                <a:latin typeface="Arial" pitchFamily="34" charset="0"/>
                <a:ea typeface="Arial" pitchFamily="34" charset="-122"/>
                <a:cs typeface="Arial" pitchFamily="34" charset="-120"/>
              </a:rPr>
              <a:t>100%</a:t>
            </a:r>
            <a:endParaRPr lang="en-US" sz="4600" dirty="0"/>
          </a:p>
        </p:txBody>
      </p:sp>
      <p:sp>
        <p:nvSpPr>
          <p:cNvPr id="10" name="Text 8"/>
          <p:cNvSpPr txBox="1"/>
          <p:nvPr/>
        </p:nvSpPr>
        <p:spPr>
          <a:xfrm>
            <a:off x="4596384" y="2971800"/>
            <a:ext cx="2996184" cy="411480"/>
          </a:xfrm>
          <a:prstGeom prst="rect">
            <a:avLst/>
          </a:prstGeom>
          <a:noFill/>
          <a:ln/>
        </p:spPr>
        <p:txBody>
          <a:bodyPr wrap="square" lIns="0" tIns="0" rIns="0" bIns="0" rtlCol="0" anchor="ctr"/>
          <a:lstStyle/>
          <a:p>
            <a:pPr rtl="1" algn="r" indent="0" marL="0">
              <a:buNone/>
            </a:pPr>
            <a:r>
              <a:rPr lang="en-US" sz="1400" dirty="0">
                <a:solidFill>
                  <a:srgbClr val="6B7785"/>
                </a:solidFill>
                <a:latin typeface="Arial" pitchFamily="34" charset="0"/>
                <a:ea typeface="Arial" pitchFamily="34" charset="-122"/>
                <a:cs typeface="Arial" pitchFamily="34" charset="-120"/>
              </a:rPr>
              <a:t>فأكثر سنوياً</a:t>
            </a:r>
            <a:endParaRPr lang="en-US" sz="1400" dirty="0"/>
          </a:p>
        </p:txBody>
      </p:sp>
      <p:sp>
        <p:nvSpPr>
          <p:cNvPr id="11" name="Text 9"/>
          <p:cNvSpPr txBox="1"/>
          <p:nvPr/>
        </p:nvSpPr>
        <p:spPr>
          <a:xfrm>
            <a:off x="4596384" y="3474720"/>
            <a:ext cx="2996184" cy="82296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تحقيق مستهدف الإيرادات</a:t>
            </a:r>
            <a:endParaRPr lang="en-US" sz="1700" dirty="0"/>
          </a:p>
        </p:txBody>
      </p:sp>
      <p:sp>
        <p:nvSpPr>
          <p:cNvPr id="12" name="Shape 10"/>
          <p:cNvSpPr/>
          <p:nvPr/>
        </p:nvSpPr>
        <p:spPr>
          <a:xfrm>
            <a:off x="457200" y="1691640"/>
            <a:ext cx="3544824" cy="2788920"/>
          </a:xfrm>
          <a:prstGeom prst="roundRect">
            <a:avLst>
              <a:gd name="adj" fmla="val 5246"/>
            </a:avLst>
          </a:prstGeom>
          <a:solidFill>
            <a:srgbClr val="FFFFFF"/>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31520" y="1965960"/>
            <a:ext cx="2996184" cy="1005840"/>
          </a:xfrm>
          <a:prstGeom prst="rect">
            <a:avLst/>
          </a:prstGeom>
          <a:noFill/>
          <a:ln/>
        </p:spPr>
        <p:txBody>
          <a:bodyPr wrap="square" lIns="0" tIns="0" rIns="0" bIns="0" rtlCol="0" anchor="ctr"/>
          <a:lstStyle/>
          <a:p>
            <a:pPr rtl="1" algn="r" indent="0" marL="0">
              <a:buNone/>
            </a:pPr>
            <a:r>
              <a:rPr lang="en-US" sz="4600" b="1" dirty="0">
                <a:solidFill>
                  <a:srgbClr val="0B6B73"/>
                </a:solidFill>
                <a:latin typeface="Arial" pitchFamily="34" charset="0"/>
                <a:ea typeface="Arial" pitchFamily="34" charset="-122"/>
                <a:cs typeface="Arial" pitchFamily="34" charset="-120"/>
              </a:rPr>
              <a:t>54 / 54</a:t>
            </a:r>
            <a:endParaRPr lang="en-US" sz="4600" dirty="0"/>
          </a:p>
        </p:txBody>
      </p:sp>
      <p:sp>
        <p:nvSpPr>
          <p:cNvPr id="14" name="Text 12"/>
          <p:cNvSpPr txBox="1"/>
          <p:nvPr/>
        </p:nvSpPr>
        <p:spPr>
          <a:xfrm>
            <a:off x="731520" y="2971800"/>
            <a:ext cx="2996184" cy="411480"/>
          </a:xfrm>
          <a:prstGeom prst="rect">
            <a:avLst/>
          </a:prstGeom>
          <a:noFill/>
          <a:ln/>
        </p:spPr>
        <p:txBody>
          <a:bodyPr wrap="square" lIns="0" tIns="0" rIns="0" bIns="0" rtlCol="0" anchor="ctr"/>
          <a:lstStyle/>
          <a:p>
            <a:pPr rtl="1" algn="r" indent="0" marL="0">
              <a:buNone/>
            </a:pPr>
            <a:r>
              <a:rPr lang="en-US" sz="1400" dirty="0">
                <a:solidFill>
                  <a:srgbClr val="6B7785"/>
                </a:solidFill>
                <a:latin typeface="Arial" pitchFamily="34" charset="0"/>
                <a:ea typeface="Arial" pitchFamily="34" charset="-122"/>
                <a:cs typeface="Arial" pitchFamily="34" charset="-120"/>
              </a:rPr>
              <a:t>من 2026</a:t>
            </a:r>
            <a:endParaRPr lang="en-US" sz="1400" dirty="0"/>
          </a:p>
        </p:txBody>
      </p:sp>
      <p:sp>
        <p:nvSpPr>
          <p:cNvPr id="15" name="Text 13"/>
          <p:cNvSpPr txBox="1"/>
          <p:nvPr/>
        </p:nvSpPr>
        <p:spPr>
          <a:xfrm>
            <a:off x="731520" y="3474720"/>
            <a:ext cx="2996184" cy="82296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جهات على اللوحة الموحدة</a:t>
            </a:r>
            <a:endParaRPr lang="en-US" sz="1700" dirty="0"/>
          </a:p>
        </p:txBody>
      </p:sp>
      <p:sp>
        <p:nvSpPr>
          <p:cNvPr id="16" name="Shape 14"/>
          <p:cNvSpPr/>
          <p:nvPr/>
        </p:nvSpPr>
        <p:spPr>
          <a:xfrm>
            <a:off x="8186928" y="4754880"/>
            <a:ext cx="3544824" cy="2788920"/>
          </a:xfrm>
          <a:prstGeom prst="roundRect">
            <a:avLst>
              <a:gd name="adj" fmla="val 5246"/>
            </a:avLst>
          </a:prstGeom>
          <a:solidFill>
            <a:srgbClr val="FFFFFF"/>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8461248" y="5029200"/>
            <a:ext cx="2996184" cy="1005840"/>
          </a:xfrm>
          <a:prstGeom prst="rect">
            <a:avLst/>
          </a:prstGeom>
          <a:noFill/>
          <a:ln/>
        </p:spPr>
        <p:txBody>
          <a:bodyPr wrap="square" lIns="0" tIns="0" rIns="0" bIns="0" rtlCol="0" anchor="ctr"/>
          <a:lstStyle/>
          <a:p>
            <a:pPr rtl="1" algn="r" indent="0" marL="0">
              <a:buNone/>
            </a:pPr>
            <a:r>
              <a:rPr lang="en-US" sz="4600" b="1" dirty="0">
                <a:solidFill>
                  <a:srgbClr val="0B6B73"/>
                </a:solidFill>
                <a:latin typeface="Arial" pitchFamily="34" charset="0"/>
                <a:ea typeface="Arial" pitchFamily="34" charset="-122"/>
                <a:cs typeface="Arial" pitchFamily="34" charset="-120"/>
              </a:rPr>
              <a:t>100%</a:t>
            </a:r>
            <a:endParaRPr lang="en-US" sz="4600" dirty="0"/>
          </a:p>
        </p:txBody>
      </p:sp>
      <p:sp>
        <p:nvSpPr>
          <p:cNvPr id="18" name="Text 16"/>
          <p:cNvSpPr txBox="1"/>
          <p:nvPr/>
        </p:nvSpPr>
        <p:spPr>
          <a:xfrm>
            <a:off x="8461248" y="6035040"/>
            <a:ext cx="2996184" cy="411480"/>
          </a:xfrm>
          <a:prstGeom prst="rect">
            <a:avLst/>
          </a:prstGeom>
          <a:noFill/>
          <a:ln/>
        </p:spPr>
        <p:txBody>
          <a:bodyPr wrap="square" lIns="0" tIns="0" rIns="0" bIns="0" rtlCol="0" anchor="ctr"/>
          <a:lstStyle/>
          <a:p>
            <a:pPr rtl="1" algn="r" indent="0" marL="0">
              <a:buNone/>
            </a:pPr>
            <a:r>
              <a:rPr lang="en-US" sz="1400" dirty="0">
                <a:solidFill>
                  <a:srgbClr val="6B7785"/>
                </a:solidFill>
                <a:latin typeface="Arial" pitchFamily="34" charset="0"/>
                <a:ea typeface="Arial" pitchFamily="34" charset="-122"/>
                <a:cs typeface="Arial" pitchFamily="34" charset="-120"/>
              </a:rPr>
              <a:t>قبل الطرح</a:t>
            </a:r>
            <a:endParaRPr lang="en-US" sz="1400" dirty="0"/>
          </a:p>
        </p:txBody>
      </p:sp>
      <p:sp>
        <p:nvSpPr>
          <p:cNvPr id="19" name="Text 17"/>
          <p:cNvSpPr txBox="1"/>
          <p:nvPr/>
        </p:nvSpPr>
        <p:spPr>
          <a:xfrm>
            <a:off x="8461248" y="6537960"/>
            <a:ext cx="2996184" cy="82296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مشاريع بدراسة القيمة مقابل المال</a:t>
            </a:r>
            <a:endParaRPr lang="en-US" sz="1700" dirty="0"/>
          </a:p>
        </p:txBody>
      </p:sp>
      <p:sp>
        <p:nvSpPr>
          <p:cNvPr id="20" name="Shape 18"/>
          <p:cNvSpPr/>
          <p:nvPr/>
        </p:nvSpPr>
        <p:spPr>
          <a:xfrm>
            <a:off x="4322064" y="4754880"/>
            <a:ext cx="3544824" cy="2788920"/>
          </a:xfrm>
          <a:prstGeom prst="roundRect">
            <a:avLst>
              <a:gd name="adj" fmla="val 5246"/>
            </a:avLst>
          </a:prstGeom>
          <a:solidFill>
            <a:srgbClr val="FFFFFF"/>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4596384" y="5029200"/>
            <a:ext cx="2996184" cy="1005840"/>
          </a:xfrm>
          <a:prstGeom prst="rect">
            <a:avLst/>
          </a:prstGeom>
          <a:noFill/>
          <a:ln/>
        </p:spPr>
        <p:txBody>
          <a:bodyPr wrap="square" lIns="0" tIns="0" rIns="0" bIns="0" rtlCol="0" anchor="ctr"/>
          <a:lstStyle/>
          <a:p>
            <a:pPr rtl="1" algn="r" indent="0" marL="0">
              <a:buNone/>
            </a:pPr>
            <a:r>
              <a:rPr lang="en-US" sz="4600" b="1" dirty="0">
                <a:solidFill>
                  <a:srgbClr val="B7801A"/>
                </a:solidFill>
                <a:latin typeface="Arial" pitchFamily="34" charset="0"/>
                <a:ea typeface="Arial" pitchFamily="34" charset="-122"/>
                <a:cs typeface="Arial" pitchFamily="34" charset="-120"/>
              </a:rPr>
              <a:t>100%</a:t>
            </a:r>
            <a:endParaRPr lang="en-US" sz="4600" dirty="0"/>
          </a:p>
        </p:txBody>
      </p:sp>
      <p:sp>
        <p:nvSpPr>
          <p:cNvPr id="22" name="Text 20"/>
          <p:cNvSpPr txBox="1"/>
          <p:nvPr/>
        </p:nvSpPr>
        <p:spPr>
          <a:xfrm>
            <a:off x="4596384" y="6035040"/>
            <a:ext cx="2996184" cy="411480"/>
          </a:xfrm>
          <a:prstGeom prst="rect">
            <a:avLst/>
          </a:prstGeom>
          <a:noFill/>
          <a:ln/>
        </p:spPr>
        <p:txBody>
          <a:bodyPr wrap="square" lIns="0" tIns="0" rIns="0" bIns="0" rtlCol="0" anchor="ctr"/>
          <a:lstStyle/>
          <a:p>
            <a:pPr rtl="1" algn="r" indent="0" marL="0">
              <a:buNone/>
            </a:pPr>
            <a:r>
              <a:rPr lang="en-US" sz="1400" dirty="0">
                <a:solidFill>
                  <a:srgbClr val="6B7785"/>
                </a:solidFill>
                <a:latin typeface="Arial" pitchFamily="34" charset="0"/>
                <a:ea typeface="Arial" pitchFamily="34" charset="-122"/>
                <a:cs typeface="Arial" pitchFamily="34" charset="-120"/>
              </a:rPr>
              <a:t>قبل الاعتماد</a:t>
            </a:r>
            <a:endParaRPr lang="en-US" sz="1400" dirty="0"/>
          </a:p>
        </p:txBody>
      </p:sp>
      <p:sp>
        <p:nvSpPr>
          <p:cNvPr id="23" name="Text 21"/>
          <p:cNvSpPr txBox="1"/>
          <p:nvPr/>
        </p:nvSpPr>
        <p:spPr>
          <a:xfrm>
            <a:off x="4596384" y="6537960"/>
            <a:ext cx="2996184" cy="82296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صفقات تمر على مراجعة الاستدامة</a:t>
            </a:r>
            <a:endParaRPr lang="en-US" sz="1700" dirty="0"/>
          </a:p>
        </p:txBody>
      </p:sp>
      <p:sp>
        <p:nvSpPr>
          <p:cNvPr id="24" name="Shape 22"/>
          <p:cNvSpPr/>
          <p:nvPr/>
        </p:nvSpPr>
        <p:spPr>
          <a:xfrm>
            <a:off x="457200" y="4754880"/>
            <a:ext cx="3544824" cy="2788920"/>
          </a:xfrm>
          <a:prstGeom prst="roundRect">
            <a:avLst>
              <a:gd name="adj" fmla="val 5246"/>
            </a:avLst>
          </a:prstGeom>
          <a:solidFill>
            <a:srgbClr val="FFFFFF"/>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731520" y="5029200"/>
            <a:ext cx="2996184" cy="1005840"/>
          </a:xfrm>
          <a:prstGeom prst="rect">
            <a:avLst/>
          </a:prstGeom>
          <a:noFill/>
          <a:ln/>
        </p:spPr>
        <p:txBody>
          <a:bodyPr wrap="square" lIns="0" tIns="0" rIns="0" bIns="0" rtlCol="0" anchor="ctr"/>
          <a:lstStyle/>
          <a:p>
            <a:pPr rtl="1" algn="r" indent="0" marL="0">
              <a:buNone/>
            </a:pPr>
            <a:r>
              <a:rPr lang="en-US" sz="4600" b="1" dirty="0">
                <a:solidFill>
                  <a:srgbClr val="B7801A"/>
                </a:solidFill>
                <a:latin typeface="Arial" pitchFamily="34" charset="0"/>
                <a:ea typeface="Arial" pitchFamily="34" charset="-122"/>
                <a:cs typeface="Arial" pitchFamily="34" charset="-120"/>
              </a:rPr>
              <a:t>ضمن السقف</a:t>
            </a:r>
            <a:endParaRPr lang="en-US" sz="4600" dirty="0"/>
          </a:p>
        </p:txBody>
      </p:sp>
      <p:sp>
        <p:nvSpPr>
          <p:cNvPr id="26" name="Text 24"/>
          <p:cNvSpPr txBox="1"/>
          <p:nvPr/>
        </p:nvSpPr>
        <p:spPr>
          <a:xfrm>
            <a:off x="731520" y="6035040"/>
            <a:ext cx="2996184" cy="411480"/>
          </a:xfrm>
          <a:prstGeom prst="rect">
            <a:avLst/>
          </a:prstGeom>
          <a:noFill/>
          <a:ln/>
        </p:spPr>
        <p:txBody>
          <a:bodyPr wrap="square" lIns="0" tIns="0" rIns="0" bIns="0" rtlCol="0" anchor="ctr"/>
          <a:lstStyle/>
          <a:p>
            <a:pPr rtl="1" algn="r" indent="0" marL="0">
              <a:buNone/>
            </a:pPr>
            <a:r>
              <a:rPr lang="en-US" sz="1400" dirty="0">
                <a:solidFill>
                  <a:srgbClr val="6B7785"/>
                </a:solidFill>
                <a:latin typeface="Arial" pitchFamily="34" charset="0"/>
                <a:ea typeface="Arial" pitchFamily="34" charset="-122"/>
                <a:cs typeface="Arial" pitchFamily="34" charset="-120"/>
              </a:rPr>
              <a:t>ربع سنوي</a:t>
            </a:r>
            <a:endParaRPr lang="en-US" sz="1400" dirty="0"/>
          </a:p>
        </p:txBody>
      </p:sp>
      <p:sp>
        <p:nvSpPr>
          <p:cNvPr id="27" name="Text 25"/>
          <p:cNvSpPr txBox="1"/>
          <p:nvPr/>
        </p:nvSpPr>
        <p:spPr>
          <a:xfrm>
            <a:off x="731520" y="6537960"/>
            <a:ext cx="2996184" cy="822960"/>
          </a:xfrm>
          <a:prstGeom prst="rect">
            <a:avLst/>
          </a:prstGeom>
          <a:noFill/>
          <a:ln/>
        </p:spPr>
        <p:txBody>
          <a:bodyPr wrap="square" lIns="0" tIns="0" rIns="0" bIns="0" rtlCol="0" anchor="t"/>
          <a:lstStyle/>
          <a:p>
            <a:pPr rtl="1" algn="r" indent="0" marL="0">
              <a:buNone/>
            </a:pPr>
            <a:r>
              <a:rPr lang="en-US" sz="1700" b="1" dirty="0">
                <a:solidFill>
                  <a:srgbClr val="1F2A37"/>
                </a:solidFill>
                <a:latin typeface="Arial" pitchFamily="34" charset="0"/>
                <a:ea typeface="Arial" pitchFamily="34" charset="-122"/>
                <a:cs typeface="Arial" pitchFamily="34" charset="-120"/>
              </a:rPr>
              <a:t>خدمة الدين إلى الإيرادات المستقرة</a:t>
            </a:r>
            <a:endParaRPr lang="en-US" sz="17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1F2A37"/>
                </a:solidFill>
                <a:latin typeface="Arial" pitchFamily="34" charset="0"/>
                <a:ea typeface="Arial" pitchFamily="34" charset="-122"/>
                <a:cs typeface="Arial" pitchFamily="34" charset="-120"/>
              </a:rPr>
              <a:t>أبرز المخاطر والمعالجة</a:t>
            </a:r>
            <a:endParaRPr lang="en-US" sz="3200" dirty="0"/>
          </a:p>
        </p:txBody>
      </p:sp>
      <p:sp>
        <p:nvSpPr>
          <p:cNvPr id="3" name="Shape 1"/>
          <p:cNvSpPr/>
          <p:nvPr/>
        </p:nvSpPr>
        <p:spPr>
          <a:xfrm>
            <a:off x="6254496" y="1554480"/>
            <a:ext cx="5477256" cy="18288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4" name="Shape 2"/>
          <p:cNvSpPr/>
          <p:nvPr/>
        </p:nvSpPr>
        <p:spPr>
          <a:xfrm>
            <a:off x="10497312" y="1828800"/>
            <a:ext cx="960120" cy="384048"/>
          </a:xfrm>
          <a:prstGeom prst="roundRect">
            <a:avLst>
              <a:gd name="adj" fmla="val 50000"/>
            </a:avLst>
          </a:prstGeom>
          <a:solidFill>
            <a:srgbClr val="FBE3E1"/>
          </a:solidFill>
          <a:ln/>
        </p:spPr>
      </p:sp>
      <p:sp>
        <p:nvSpPr>
          <p:cNvPr id="5" name="Text 3"/>
          <p:cNvSpPr txBox="1"/>
          <p:nvPr/>
        </p:nvSpPr>
        <p:spPr>
          <a:xfrm>
            <a:off x="10497312" y="1828800"/>
            <a:ext cx="96012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الخطر</a:t>
            </a:r>
            <a:endParaRPr lang="en-US" sz="1300" dirty="0"/>
          </a:p>
        </p:txBody>
      </p:sp>
      <p:sp>
        <p:nvSpPr>
          <p:cNvPr id="6" name="Text 4"/>
          <p:cNvSpPr txBox="1"/>
          <p:nvPr/>
        </p:nvSpPr>
        <p:spPr>
          <a:xfrm>
            <a:off x="6528816" y="1783080"/>
            <a:ext cx="3785616" cy="502920"/>
          </a:xfrm>
          <a:prstGeom prst="rect">
            <a:avLst/>
          </a:prstGeom>
          <a:noFill/>
          <a:ln/>
        </p:spPr>
        <p:txBody>
          <a:bodyPr wrap="square" lIns="0" tIns="0" rIns="0" bIns="0" rtlCol="0" anchor="ctr"/>
          <a:lstStyle/>
          <a:p>
            <a:pPr rtl="1" algn="r" indent="0" marL="0">
              <a:buNone/>
            </a:pPr>
            <a:r>
              <a:rPr lang="en-US" sz="1800" b="1" dirty="0">
                <a:solidFill>
                  <a:srgbClr val="1F2A37"/>
                </a:solidFill>
                <a:latin typeface="Arial" pitchFamily="34" charset="0"/>
                <a:ea typeface="Arial" pitchFamily="34" charset="-122"/>
                <a:cs typeface="Arial" pitchFamily="34" charset="-120"/>
              </a:rPr>
              <a:t>تباطؤ سوق البناء</a:t>
            </a:r>
            <a:endParaRPr lang="en-US" sz="1800" dirty="0"/>
          </a:p>
        </p:txBody>
      </p:sp>
      <p:sp>
        <p:nvSpPr>
          <p:cNvPr id="7" name="Shape 5"/>
          <p:cNvSpPr/>
          <p:nvPr/>
        </p:nvSpPr>
        <p:spPr>
          <a:xfrm>
            <a:off x="10497312" y="2606040"/>
            <a:ext cx="960120" cy="384048"/>
          </a:xfrm>
          <a:prstGeom prst="roundRect">
            <a:avLst>
              <a:gd name="adj" fmla="val 50000"/>
            </a:avLst>
          </a:prstGeom>
          <a:solidFill>
            <a:srgbClr val="E3F0EA"/>
          </a:solidFill>
          <a:ln/>
        </p:spPr>
      </p:sp>
      <p:sp>
        <p:nvSpPr>
          <p:cNvPr id="8" name="Text 6"/>
          <p:cNvSpPr txBox="1"/>
          <p:nvPr/>
        </p:nvSpPr>
        <p:spPr>
          <a:xfrm>
            <a:off x="10497312" y="2606040"/>
            <a:ext cx="96012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المعالجة</a:t>
            </a:r>
            <a:endParaRPr lang="en-US" sz="1300" dirty="0"/>
          </a:p>
        </p:txBody>
      </p:sp>
      <p:sp>
        <p:nvSpPr>
          <p:cNvPr id="9" name="Text 7"/>
          <p:cNvSpPr txBox="1"/>
          <p:nvPr/>
        </p:nvSpPr>
        <p:spPr>
          <a:xfrm>
            <a:off x="6528816" y="2560320"/>
            <a:ext cx="3785616" cy="5029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تنبؤ متحفظ وتنويع المصادر</a:t>
            </a:r>
            <a:endParaRPr lang="en-US" sz="1600" dirty="0"/>
          </a:p>
        </p:txBody>
      </p:sp>
      <p:sp>
        <p:nvSpPr>
          <p:cNvPr id="10" name="Shape 8"/>
          <p:cNvSpPr/>
          <p:nvPr/>
        </p:nvSpPr>
        <p:spPr>
          <a:xfrm>
            <a:off x="457200" y="1554480"/>
            <a:ext cx="5477256" cy="18288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11" name="Shape 9"/>
          <p:cNvSpPr/>
          <p:nvPr/>
        </p:nvSpPr>
        <p:spPr>
          <a:xfrm>
            <a:off x="4700016" y="1828800"/>
            <a:ext cx="960120" cy="384048"/>
          </a:xfrm>
          <a:prstGeom prst="roundRect">
            <a:avLst>
              <a:gd name="adj" fmla="val 50000"/>
            </a:avLst>
          </a:prstGeom>
          <a:solidFill>
            <a:srgbClr val="FBE3E1"/>
          </a:solidFill>
          <a:ln/>
        </p:spPr>
      </p:sp>
      <p:sp>
        <p:nvSpPr>
          <p:cNvPr id="12" name="Text 10"/>
          <p:cNvSpPr txBox="1"/>
          <p:nvPr/>
        </p:nvSpPr>
        <p:spPr>
          <a:xfrm>
            <a:off x="4700016" y="1828800"/>
            <a:ext cx="96012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الخطر</a:t>
            </a:r>
            <a:endParaRPr lang="en-US" sz="1300" dirty="0"/>
          </a:p>
        </p:txBody>
      </p:sp>
      <p:sp>
        <p:nvSpPr>
          <p:cNvPr id="13" name="Text 11"/>
          <p:cNvSpPr txBox="1"/>
          <p:nvPr/>
        </p:nvSpPr>
        <p:spPr>
          <a:xfrm>
            <a:off x="731520" y="1783080"/>
            <a:ext cx="3785616" cy="502920"/>
          </a:xfrm>
          <a:prstGeom prst="rect">
            <a:avLst/>
          </a:prstGeom>
          <a:noFill/>
          <a:ln/>
        </p:spPr>
        <p:txBody>
          <a:bodyPr wrap="square" lIns="0" tIns="0" rIns="0" bIns="0" rtlCol="0" anchor="ctr"/>
          <a:lstStyle/>
          <a:p>
            <a:pPr rtl="1" algn="r" indent="0" marL="0">
              <a:buNone/>
            </a:pPr>
            <a:r>
              <a:rPr lang="en-US" sz="1800" b="1" dirty="0">
                <a:solidFill>
                  <a:srgbClr val="1F2A37"/>
                </a:solidFill>
                <a:latin typeface="Arial" pitchFamily="34" charset="0"/>
                <a:ea typeface="Arial" pitchFamily="34" charset="-122"/>
                <a:cs typeface="Arial" pitchFamily="34" charset="-120"/>
              </a:rPr>
              <a:t>تداخل الأدوار مع الوكالة والإدارة المالية</a:t>
            </a:r>
            <a:endParaRPr lang="en-US" sz="1800" dirty="0"/>
          </a:p>
        </p:txBody>
      </p:sp>
      <p:sp>
        <p:nvSpPr>
          <p:cNvPr id="14" name="Shape 12"/>
          <p:cNvSpPr/>
          <p:nvPr/>
        </p:nvSpPr>
        <p:spPr>
          <a:xfrm>
            <a:off x="4700016" y="2606040"/>
            <a:ext cx="960120" cy="384048"/>
          </a:xfrm>
          <a:prstGeom prst="roundRect">
            <a:avLst>
              <a:gd name="adj" fmla="val 50000"/>
            </a:avLst>
          </a:prstGeom>
          <a:solidFill>
            <a:srgbClr val="E3F0EA"/>
          </a:solidFill>
          <a:ln/>
        </p:spPr>
      </p:sp>
      <p:sp>
        <p:nvSpPr>
          <p:cNvPr id="15" name="Text 13"/>
          <p:cNvSpPr txBox="1"/>
          <p:nvPr/>
        </p:nvSpPr>
        <p:spPr>
          <a:xfrm>
            <a:off x="4700016" y="2606040"/>
            <a:ext cx="96012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المعالجة</a:t>
            </a:r>
            <a:endParaRPr lang="en-US" sz="1300" dirty="0"/>
          </a:p>
        </p:txBody>
      </p:sp>
      <p:sp>
        <p:nvSpPr>
          <p:cNvPr id="16" name="Text 14"/>
          <p:cNvSpPr txBox="1"/>
          <p:nvPr/>
        </p:nvSpPr>
        <p:spPr>
          <a:xfrm>
            <a:off x="731520" y="2560320"/>
            <a:ext cx="3785616" cy="5029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مصفوفة مسؤوليات واتفاقيات مستوى خدمة</a:t>
            </a:r>
            <a:endParaRPr lang="en-US" sz="1600" dirty="0"/>
          </a:p>
        </p:txBody>
      </p:sp>
      <p:sp>
        <p:nvSpPr>
          <p:cNvPr id="17" name="Shape 15"/>
          <p:cNvSpPr/>
          <p:nvPr/>
        </p:nvSpPr>
        <p:spPr>
          <a:xfrm>
            <a:off x="6254496" y="3611880"/>
            <a:ext cx="5477256" cy="18288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18" name="Shape 16"/>
          <p:cNvSpPr/>
          <p:nvPr/>
        </p:nvSpPr>
        <p:spPr>
          <a:xfrm>
            <a:off x="10497312" y="3886200"/>
            <a:ext cx="960120" cy="384048"/>
          </a:xfrm>
          <a:prstGeom prst="roundRect">
            <a:avLst>
              <a:gd name="adj" fmla="val 50000"/>
            </a:avLst>
          </a:prstGeom>
          <a:solidFill>
            <a:srgbClr val="FBE3E1"/>
          </a:solidFill>
          <a:ln/>
        </p:spPr>
      </p:sp>
      <p:sp>
        <p:nvSpPr>
          <p:cNvPr id="19" name="Text 17"/>
          <p:cNvSpPr txBox="1"/>
          <p:nvPr/>
        </p:nvSpPr>
        <p:spPr>
          <a:xfrm>
            <a:off x="10497312" y="3886200"/>
            <a:ext cx="96012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الخطر</a:t>
            </a:r>
            <a:endParaRPr lang="en-US" sz="1300" dirty="0"/>
          </a:p>
        </p:txBody>
      </p:sp>
      <p:sp>
        <p:nvSpPr>
          <p:cNvPr id="20" name="Text 18"/>
          <p:cNvSpPr txBox="1"/>
          <p:nvPr/>
        </p:nvSpPr>
        <p:spPr>
          <a:xfrm>
            <a:off x="6528816" y="3840480"/>
            <a:ext cx="3785616" cy="502920"/>
          </a:xfrm>
          <a:prstGeom prst="rect">
            <a:avLst/>
          </a:prstGeom>
          <a:noFill/>
          <a:ln/>
        </p:spPr>
        <p:txBody>
          <a:bodyPr wrap="square" lIns="0" tIns="0" rIns="0" bIns="0" rtlCol="0" anchor="ctr"/>
          <a:lstStyle/>
          <a:p>
            <a:pPr rtl="1" algn="r" indent="0" marL="0">
              <a:buNone/>
            </a:pPr>
            <a:r>
              <a:rPr lang="en-US" sz="1800" b="1" dirty="0">
                <a:solidFill>
                  <a:srgbClr val="1F2A37"/>
                </a:solidFill>
                <a:latin typeface="Arial" pitchFamily="34" charset="0"/>
                <a:ea typeface="Arial" pitchFamily="34" charset="-122"/>
                <a:cs typeface="Arial" pitchFamily="34" charset="-120"/>
              </a:rPr>
              <a:t>ضعف إقبال المستثمرين</a:t>
            </a:r>
            <a:endParaRPr lang="en-US" sz="1800" dirty="0"/>
          </a:p>
        </p:txBody>
      </p:sp>
      <p:sp>
        <p:nvSpPr>
          <p:cNvPr id="21" name="Shape 19"/>
          <p:cNvSpPr/>
          <p:nvPr/>
        </p:nvSpPr>
        <p:spPr>
          <a:xfrm>
            <a:off x="10497312" y="4663440"/>
            <a:ext cx="960120" cy="384048"/>
          </a:xfrm>
          <a:prstGeom prst="roundRect">
            <a:avLst>
              <a:gd name="adj" fmla="val 50000"/>
            </a:avLst>
          </a:prstGeom>
          <a:solidFill>
            <a:srgbClr val="E3F0EA"/>
          </a:solidFill>
          <a:ln/>
        </p:spPr>
      </p:sp>
      <p:sp>
        <p:nvSpPr>
          <p:cNvPr id="22" name="Text 20"/>
          <p:cNvSpPr txBox="1"/>
          <p:nvPr/>
        </p:nvSpPr>
        <p:spPr>
          <a:xfrm>
            <a:off x="10497312" y="4663440"/>
            <a:ext cx="96012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المعالجة</a:t>
            </a:r>
            <a:endParaRPr lang="en-US" sz="1300" dirty="0"/>
          </a:p>
        </p:txBody>
      </p:sp>
      <p:sp>
        <p:nvSpPr>
          <p:cNvPr id="23" name="Text 21"/>
          <p:cNvSpPr txBox="1"/>
          <p:nvPr/>
        </p:nvSpPr>
        <p:spPr>
          <a:xfrm>
            <a:off x="6528816" y="4617720"/>
            <a:ext cx="3785616" cy="5029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استطلاع السوق والتجميع وحوافز التسمية</a:t>
            </a:r>
            <a:endParaRPr lang="en-US" sz="1600" dirty="0"/>
          </a:p>
        </p:txBody>
      </p:sp>
      <p:sp>
        <p:nvSpPr>
          <p:cNvPr id="24" name="Shape 22"/>
          <p:cNvSpPr/>
          <p:nvPr/>
        </p:nvSpPr>
        <p:spPr>
          <a:xfrm>
            <a:off x="457200" y="3611880"/>
            <a:ext cx="5477256" cy="18288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25" name="Shape 23"/>
          <p:cNvSpPr/>
          <p:nvPr/>
        </p:nvSpPr>
        <p:spPr>
          <a:xfrm>
            <a:off x="4700016" y="3886200"/>
            <a:ext cx="960120" cy="384048"/>
          </a:xfrm>
          <a:prstGeom prst="roundRect">
            <a:avLst>
              <a:gd name="adj" fmla="val 50000"/>
            </a:avLst>
          </a:prstGeom>
          <a:solidFill>
            <a:srgbClr val="FBE3E1"/>
          </a:solidFill>
          <a:ln/>
        </p:spPr>
      </p:sp>
      <p:sp>
        <p:nvSpPr>
          <p:cNvPr id="26" name="Text 24"/>
          <p:cNvSpPr txBox="1"/>
          <p:nvPr/>
        </p:nvSpPr>
        <p:spPr>
          <a:xfrm>
            <a:off x="4700016" y="3886200"/>
            <a:ext cx="96012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الخطر</a:t>
            </a:r>
            <a:endParaRPr lang="en-US" sz="1300" dirty="0"/>
          </a:p>
        </p:txBody>
      </p:sp>
      <p:sp>
        <p:nvSpPr>
          <p:cNvPr id="27" name="Text 25"/>
          <p:cNvSpPr txBox="1"/>
          <p:nvPr/>
        </p:nvSpPr>
        <p:spPr>
          <a:xfrm>
            <a:off x="731520" y="3840480"/>
            <a:ext cx="3785616" cy="502920"/>
          </a:xfrm>
          <a:prstGeom prst="rect">
            <a:avLst/>
          </a:prstGeom>
          <a:noFill/>
          <a:ln/>
        </p:spPr>
        <p:txBody>
          <a:bodyPr wrap="square" lIns="0" tIns="0" rIns="0" bIns="0" rtlCol="0" anchor="ctr"/>
          <a:lstStyle/>
          <a:p>
            <a:pPr rtl="1" algn="r" indent="0" marL="0">
              <a:buNone/>
            </a:pPr>
            <a:r>
              <a:rPr lang="en-US" sz="1800" b="1" dirty="0">
                <a:solidFill>
                  <a:srgbClr val="1F2A37"/>
                </a:solidFill>
                <a:latin typeface="Arial" pitchFamily="34" charset="0"/>
                <a:ea typeface="Arial" pitchFamily="34" charset="-122"/>
                <a:cs typeface="Arial" pitchFamily="34" charset="-120"/>
              </a:rPr>
              <a:t>التزامات مخفية في العقود</a:t>
            </a:r>
            <a:endParaRPr lang="en-US" sz="1800" dirty="0"/>
          </a:p>
        </p:txBody>
      </p:sp>
      <p:sp>
        <p:nvSpPr>
          <p:cNvPr id="28" name="Shape 26"/>
          <p:cNvSpPr/>
          <p:nvPr/>
        </p:nvSpPr>
        <p:spPr>
          <a:xfrm>
            <a:off x="4700016" y="4663440"/>
            <a:ext cx="960120" cy="384048"/>
          </a:xfrm>
          <a:prstGeom prst="roundRect">
            <a:avLst>
              <a:gd name="adj" fmla="val 50000"/>
            </a:avLst>
          </a:prstGeom>
          <a:solidFill>
            <a:srgbClr val="E3F0EA"/>
          </a:solidFill>
          <a:ln/>
        </p:spPr>
      </p:sp>
      <p:sp>
        <p:nvSpPr>
          <p:cNvPr id="29" name="Text 27"/>
          <p:cNvSpPr txBox="1"/>
          <p:nvPr/>
        </p:nvSpPr>
        <p:spPr>
          <a:xfrm>
            <a:off x="4700016" y="4663440"/>
            <a:ext cx="96012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المعالجة</a:t>
            </a:r>
            <a:endParaRPr lang="en-US" sz="1300" dirty="0"/>
          </a:p>
        </p:txBody>
      </p:sp>
      <p:sp>
        <p:nvSpPr>
          <p:cNvPr id="30" name="Text 28"/>
          <p:cNvSpPr txBox="1"/>
          <p:nvPr/>
        </p:nvSpPr>
        <p:spPr>
          <a:xfrm>
            <a:off x="731520" y="4617720"/>
            <a:ext cx="3785616" cy="5029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مراجعة إلزامية وسجل الالتزامات</a:t>
            </a:r>
            <a:endParaRPr lang="en-US" sz="1600" dirty="0"/>
          </a:p>
        </p:txBody>
      </p:sp>
      <p:sp>
        <p:nvSpPr>
          <p:cNvPr id="31" name="Shape 29"/>
          <p:cNvSpPr/>
          <p:nvPr/>
        </p:nvSpPr>
        <p:spPr>
          <a:xfrm>
            <a:off x="6254496" y="5669280"/>
            <a:ext cx="5477256" cy="18288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32" name="Shape 30"/>
          <p:cNvSpPr/>
          <p:nvPr/>
        </p:nvSpPr>
        <p:spPr>
          <a:xfrm>
            <a:off x="10497312" y="5943600"/>
            <a:ext cx="960120" cy="384048"/>
          </a:xfrm>
          <a:prstGeom prst="roundRect">
            <a:avLst>
              <a:gd name="adj" fmla="val 50000"/>
            </a:avLst>
          </a:prstGeom>
          <a:solidFill>
            <a:srgbClr val="FBE3E1"/>
          </a:solidFill>
          <a:ln/>
        </p:spPr>
      </p:sp>
      <p:sp>
        <p:nvSpPr>
          <p:cNvPr id="33" name="Text 31"/>
          <p:cNvSpPr txBox="1"/>
          <p:nvPr/>
        </p:nvSpPr>
        <p:spPr>
          <a:xfrm>
            <a:off x="10497312" y="5943600"/>
            <a:ext cx="96012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الخطر</a:t>
            </a:r>
            <a:endParaRPr lang="en-US" sz="1300" dirty="0"/>
          </a:p>
        </p:txBody>
      </p:sp>
      <p:sp>
        <p:nvSpPr>
          <p:cNvPr id="34" name="Text 32"/>
          <p:cNvSpPr txBox="1"/>
          <p:nvPr/>
        </p:nvSpPr>
        <p:spPr>
          <a:xfrm>
            <a:off x="6528816" y="5897880"/>
            <a:ext cx="3785616" cy="502920"/>
          </a:xfrm>
          <a:prstGeom prst="rect">
            <a:avLst/>
          </a:prstGeom>
          <a:noFill/>
          <a:ln/>
        </p:spPr>
        <p:txBody>
          <a:bodyPr wrap="square" lIns="0" tIns="0" rIns="0" bIns="0" rtlCol="0" anchor="ctr"/>
          <a:lstStyle/>
          <a:p>
            <a:pPr rtl="1" algn="r" indent="0" marL="0">
              <a:buNone/>
            </a:pPr>
            <a:r>
              <a:rPr lang="en-US" sz="1800" b="1" dirty="0">
                <a:solidFill>
                  <a:srgbClr val="1F2A37"/>
                </a:solidFill>
                <a:latin typeface="Arial" pitchFamily="34" charset="0"/>
                <a:ea typeface="Arial" pitchFamily="34" charset="-122"/>
                <a:cs typeface="Arial" pitchFamily="34" charset="-120"/>
              </a:rPr>
              <a:t>ارتفاع أسعار الفائدة</a:t>
            </a:r>
            <a:endParaRPr lang="en-US" sz="1800" dirty="0"/>
          </a:p>
        </p:txBody>
      </p:sp>
      <p:sp>
        <p:nvSpPr>
          <p:cNvPr id="35" name="Shape 33"/>
          <p:cNvSpPr/>
          <p:nvPr/>
        </p:nvSpPr>
        <p:spPr>
          <a:xfrm>
            <a:off x="10497312" y="6720840"/>
            <a:ext cx="960120" cy="384048"/>
          </a:xfrm>
          <a:prstGeom prst="roundRect">
            <a:avLst>
              <a:gd name="adj" fmla="val 50000"/>
            </a:avLst>
          </a:prstGeom>
          <a:solidFill>
            <a:srgbClr val="E3F0EA"/>
          </a:solidFill>
          <a:ln/>
        </p:spPr>
      </p:sp>
      <p:sp>
        <p:nvSpPr>
          <p:cNvPr id="36" name="Text 34"/>
          <p:cNvSpPr txBox="1"/>
          <p:nvPr/>
        </p:nvSpPr>
        <p:spPr>
          <a:xfrm>
            <a:off x="10497312" y="6720840"/>
            <a:ext cx="96012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المعالجة</a:t>
            </a:r>
            <a:endParaRPr lang="en-US" sz="1300" dirty="0"/>
          </a:p>
        </p:txBody>
      </p:sp>
      <p:sp>
        <p:nvSpPr>
          <p:cNvPr id="37" name="Text 35"/>
          <p:cNvSpPr txBox="1"/>
          <p:nvPr/>
        </p:nvSpPr>
        <p:spPr>
          <a:xfrm>
            <a:off x="6528816" y="6675120"/>
            <a:ext cx="3785616" cy="5029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تنويع الآجال وهامش أمان</a:t>
            </a:r>
            <a:endParaRPr lang="en-US" sz="1600" dirty="0"/>
          </a:p>
        </p:txBody>
      </p:sp>
      <p:sp>
        <p:nvSpPr>
          <p:cNvPr id="38" name="Shape 36"/>
          <p:cNvSpPr/>
          <p:nvPr/>
        </p:nvSpPr>
        <p:spPr>
          <a:xfrm>
            <a:off x="457200" y="5669280"/>
            <a:ext cx="5477256" cy="1828800"/>
          </a:xfrm>
          <a:prstGeom prst="roundRect">
            <a:avLst>
              <a:gd name="adj" fmla="val 8000"/>
            </a:avLst>
          </a:prstGeom>
          <a:solidFill>
            <a:srgbClr val="FFFFFF"/>
          </a:solidFill>
          <a:ln/>
          <a:effectLst>
            <a:outerShdw sx="100000" sy="100000" kx="0" ky="0" algn="bl" rotWithShape="0" blurRad="101600" dist="25400" dir="5400000">
              <a:srgbClr val="000000">
                <a:alpha val="12000"/>
              </a:srgbClr>
            </a:outerShdw>
          </a:effectLst>
        </p:spPr>
      </p:sp>
      <p:sp>
        <p:nvSpPr>
          <p:cNvPr id="39" name="Shape 37"/>
          <p:cNvSpPr/>
          <p:nvPr/>
        </p:nvSpPr>
        <p:spPr>
          <a:xfrm>
            <a:off x="4700016" y="5943600"/>
            <a:ext cx="960120" cy="384048"/>
          </a:xfrm>
          <a:prstGeom prst="roundRect">
            <a:avLst>
              <a:gd name="adj" fmla="val 50000"/>
            </a:avLst>
          </a:prstGeom>
          <a:solidFill>
            <a:srgbClr val="FBE3E1"/>
          </a:solidFill>
          <a:ln/>
        </p:spPr>
      </p:sp>
      <p:sp>
        <p:nvSpPr>
          <p:cNvPr id="40" name="Text 38"/>
          <p:cNvSpPr txBox="1"/>
          <p:nvPr/>
        </p:nvSpPr>
        <p:spPr>
          <a:xfrm>
            <a:off x="4700016" y="5943600"/>
            <a:ext cx="960120" cy="384048"/>
          </a:xfrm>
          <a:prstGeom prst="rect">
            <a:avLst/>
          </a:prstGeom>
          <a:noFill/>
          <a:ln/>
        </p:spPr>
        <p:txBody>
          <a:bodyPr wrap="square" lIns="0" tIns="0" rIns="0" bIns="0" rtlCol="0" anchor="ctr"/>
          <a:lstStyle/>
          <a:p>
            <a:pPr rtl="1" algn="ctr" indent="0" marL="0">
              <a:buNone/>
            </a:pPr>
            <a:r>
              <a:rPr lang="en-US" sz="1300" b="1" dirty="0">
                <a:solidFill>
                  <a:srgbClr val="B4483F"/>
                </a:solidFill>
                <a:latin typeface="Arial" pitchFamily="34" charset="0"/>
                <a:ea typeface="Arial" pitchFamily="34" charset="-122"/>
                <a:cs typeface="Arial" pitchFamily="34" charset="-120"/>
              </a:rPr>
              <a:t>الخطر</a:t>
            </a:r>
            <a:endParaRPr lang="en-US" sz="1300" dirty="0"/>
          </a:p>
        </p:txBody>
      </p:sp>
      <p:sp>
        <p:nvSpPr>
          <p:cNvPr id="41" name="Text 39"/>
          <p:cNvSpPr txBox="1"/>
          <p:nvPr/>
        </p:nvSpPr>
        <p:spPr>
          <a:xfrm>
            <a:off x="731520" y="5897880"/>
            <a:ext cx="3785616" cy="502920"/>
          </a:xfrm>
          <a:prstGeom prst="rect">
            <a:avLst/>
          </a:prstGeom>
          <a:noFill/>
          <a:ln/>
        </p:spPr>
        <p:txBody>
          <a:bodyPr wrap="square" lIns="0" tIns="0" rIns="0" bIns="0" rtlCol="0" anchor="ctr"/>
          <a:lstStyle/>
          <a:p>
            <a:pPr rtl="1" algn="r" indent="0" marL="0">
              <a:buNone/>
            </a:pPr>
            <a:r>
              <a:rPr lang="en-US" sz="1800" b="1" dirty="0">
                <a:solidFill>
                  <a:srgbClr val="1F2A37"/>
                </a:solidFill>
                <a:latin typeface="Arial" pitchFamily="34" charset="0"/>
                <a:ea typeface="Arial" pitchFamily="34" charset="-122"/>
                <a:cs typeface="Arial" pitchFamily="34" charset="-120"/>
              </a:rPr>
              <a:t>نقص الكفاءات وجودة البيانات</a:t>
            </a:r>
            <a:endParaRPr lang="en-US" sz="1800" dirty="0"/>
          </a:p>
        </p:txBody>
      </p:sp>
      <p:sp>
        <p:nvSpPr>
          <p:cNvPr id="42" name="Shape 40"/>
          <p:cNvSpPr/>
          <p:nvPr/>
        </p:nvSpPr>
        <p:spPr>
          <a:xfrm>
            <a:off x="4700016" y="6720840"/>
            <a:ext cx="960120" cy="384048"/>
          </a:xfrm>
          <a:prstGeom prst="roundRect">
            <a:avLst>
              <a:gd name="adj" fmla="val 50000"/>
            </a:avLst>
          </a:prstGeom>
          <a:solidFill>
            <a:srgbClr val="E3F0EA"/>
          </a:solidFill>
          <a:ln/>
        </p:spPr>
      </p:sp>
      <p:sp>
        <p:nvSpPr>
          <p:cNvPr id="43" name="Text 41"/>
          <p:cNvSpPr txBox="1"/>
          <p:nvPr/>
        </p:nvSpPr>
        <p:spPr>
          <a:xfrm>
            <a:off x="4700016" y="6720840"/>
            <a:ext cx="960120" cy="384048"/>
          </a:xfrm>
          <a:prstGeom prst="rect">
            <a:avLst/>
          </a:prstGeom>
          <a:noFill/>
          <a:ln/>
        </p:spPr>
        <p:txBody>
          <a:bodyPr wrap="square" lIns="0" tIns="0" rIns="0" bIns="0" rtlCol="0" anchor="ctr"/>
          <a:lstStyle/>
          <a:p>
            <a:pPr rtl="1" algn="ctr" indent="0" marL="0">
              <a:buNone/>
            </a:pPr>
            <a:r>
              <a:rPr lang="en-US" sz="1300" b="1" dirty="0">
                <a:solidFill>
                  <a:srgbClr val="006A46"/>
                </a:solidFill>
                <a:latin typeface="Arial" pitchFamily="34" charset="0"/>
                <a:ea typeface="Arial" pitchFamily="34" charset="-122"/>
                <a:cs typeface="Arial" pitchFamily="34" charset="-120"/>
              </a:rPr>
              <a:t>المعالجة</a:t>
            </a:r>
            <a:endParaRPr lang="en-US" sz="1300" dirty="0"/>
          </a:p>
        </p:txBody>
      </p:sp>
      <p:sp>
        <p:nvSpPr>
          <p:cNvPr id="44" name="Text 42"/>
          <p:cNvSpPr txBox="1"/>
          <p:nvPr/>
        </p:nvSpPr>
        <p:spPr>
          <a:xfrm>
            <a:off x="731520" y="6675120"/>
            <a:ext cx="3785616" cy="502920"/>
          </a:xfrm>
          <a:prstGeom prst="rect">
            <a:avLst/>
          </a:prstGeom>
          <a:noFill/>
          <a:ln/>
        </p:spPr>
        <p:txBody>
          <a:bodyPr wrap="square" lIns="0" tIns="0" rIns="0" bIns="0" rtlCol="0" anchor="ctr"/>
          <a:lstStyle/>
          <a:p>
            <a:pPr rtl="1" algn="r" indent="0" marL="0">
              <a:buNone/>
            </a:pPr>
            <a:r>
              <a:rPr lang="en-US" sz="1600" dirty="0">
                <a:solidFill>
                  <a:srgbClr val="394B5F"/>
                </a:solidFill>
                <a:latin typeface="Arial" pitchFamily="34" charset="0"/>
                <a:ea typeface="Arial" pitchFamily="34" charset="-122"/>
                <a:cs typeface="Arial" pitchFamily="34" charset="-120"/>
              </a:rPr>
              <a:t>تأهيل وشهادات، ومصدر بيانات موحد</a:t>
            </a:r>
            <a:endParaRPr lang="en-US" sz="16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B"/>
                </a:solidFill>
              </a:defRPr>
            </a:lvl1pPr>
          </a:lstStyle>
          <a:p>
            <a:pPr algn="l"/>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92608"/>
            <a:ext cx="10241280" cy="731520"/>
          </a:xfrm>
          <a:prstGeom prst="rect">
            <a:avLst/>
          </a:prstGeom>
          <a:noFill/>
          <a:ln/>
        </p:spPr>
        <p:txBody>
          <a:bodyPr wrap="square" lIns="0" tIns="0" rIns="0" bIns="0" rtlCol="0" anchor="ctr"/>
          <a:lstStyle/>
          <a:p>
            <a:pPr rtl="1" algn="r" indent="0" marL="0">
              <a:buNone/>
            </a:pPr>
            <a:r>
              <a:rPr lang="en-US" sz="3200" b="1" dirty="0">
                <a:solidFill>
                  <a:srgbClr val="FFFFFF"/>
                </a:solidFill>
                <a:latin typeface="Arial" pitchFamily="34" charset="0"/>
                <a:ea typeface="Arial" pitchFamily="34" charset="-122"/>
                <a:cs typeface="Arial" pitchFamily="34" charset="-120"/>
              </a:rPr>
              <a:t>القرارات المطلوبة</a:t>
            </a:r>
            <a:endParaRPr lang="en-US" sz="3200" dirty="0"/>
          </a:p>
        </p:txBody>
      </p:sp>
      <p:sp>
        <p:nvSpPr>
          <p:cNvPr id="3" name="Text 1"/>
          <p:cNvSpPr txBox="1"/>
          <p:nvPr/>
        </p:nvSpPr>
        <p:spPr>
          <a:xfrm>
            <a:off x="457200" y="1005840"/>
            <a:ext cx="10241280" cy="384048"/>
          </a:xfrm>
          <a:prstGeom prst="rect">
            <a:avLst/>
          </a:prstGeom>
          <a:noFill/>
          <a:ln/>
        </p:spPr>
        <p:txBody>
          <a:bodyPr wrap="square" lIns="0" tIns="0" rIns="0" bIns="0" rtlCol="0" anchor="ctr"/>
          <a:lstStyle/>
          <a:p>
            <a:pPr rtl="1" algn="r" indent="0" marL="0">
              <a:buNone/>
            </a:pPr>
            <a:r>
              <a:rPr lang="en-US" sz="1500" dirty="0">
                <a:solidFill>
                  <a:srgbClr val="CFE3DA"/>
                </a:solidFill>
                <a:latin typeface="Arial" pitchFamily="34" charset="0"/>
                <a:ea typeface="Arial" pitchFamily="34" charset="-122"/>
                <a:cs typeface="Arial" pitchFamily="34" charset="-120"/>
              </a:rPr>
              <a:t>لبدء التنفيذ في 2026</a:t>
            </a:r>
            <a:endParaRPr lang="en-US" sz="1500" dirty="0"/>
          </a:p>
        </p:txBody>
      </p:sp>
      <p:sp>
        <p:nvSpPr>
          <p:cNvPr id="4" name="Shape 2"/>
          <p:cNvSpPr/>
          <p:nvPr/>
        </p:nvSpPr>
        <p:spPr>
          <a:xfrm>
            <a:off x="6254496" y="1783080"/>
            <a:ext cx="5477256" cy="1737360"/>
          </a:xfrm>
          <a:prstGeom prst="roundRect">
            <a:avLst>
              <a:gd name="adj" fmla="val 8421"/>
            </a:avLst>
          </a:prstGeom>
          <a:solidFill>
            <a:srgbClr val="FFFFFF">
              <a:alpha val="10000"/>
            </a:srgbClr>
          </a:solidFill>
          <a:ln w="12700">
            <a:solidFill>
              <a:srgbClr val="5FA98A"/>
            </a:solidFill>
            <a:prstDash val="solid"/>
          </a:ln>
        </p:spPr>
      </p:sp>
      <p:sp>
        <p:nvSpPr>
          <p:cNvPr id="5" name="Shape 3"/>
          <p:cNvSpPr/>
          <p:nvPr/>
        </p:nvSpPr>
        <p:spPr>
          <a:xfrm>
            <a:off x="10771632" y="2286000"/>
            <a:ext cx="731520" cy="731520"/>
          </a:xfrm>
          <a:prstGeom prst="ellipse">
            <a:avLst/>
          </a:prstGeom>
          <a:solidFill>
            <a:srgbClr val="E4A42C"/>
          </a:solidFill>
          <a:ln/>
        </p:spPr>
      </p:sp>
      <p:sp>
        <p:nvSpPr>
          <p:cNvPr id="6" name="Text 4"/>
          <p:cNvSpPr txBox="1"/>
          <p:nvPr/>
        </p:nvSpPr>
        <p:spPr>
          <a:xfrm>
            <a:off x="10771632" y="2286000"/>
            <a:ext cx="731520" cy="731520"/>
          </a:xfrm>
          <a:prstGeom prst="rect">
            <a:avLst/>
          </a:prstGeom>
          <a:noFill/>
          <a:ln/>
        </p:spPr>
        <p:txBody>
          <a:bodyPr wrap="square" lIns="0" tIns="0" rIns="0" bIns="0" rtlCol="0" anchor="ctr"/>
          <a:lstStyle/>
          <a:p>
            <a:pPr rtl="1" algn="ctr" indent="0" marL="0">
              <a:buNone/>
            </a:pPr>
            <a:r>
              <a:rPr lang="en-US" sz="2000" b="1" dirty="0">
                <a:solidFill>
                  <a:srgbClr val="1F2A37"/>
                </a:solidFill>
                <a:latin typeface="Arial" pitchFamily="34" charset="0"/>
                <a:ea typeface="Arial" pitchFamily="34" charset="-122"/>
                <a:cs typeface="Arial" pitchFamily="34" charset="-120"/>
              </a:rPr>
              <a:t>1</a:t>
            </a:r>
            <a:endParaRPr lang="en-US" sz="2000" dirty="0"/>
          </a:p>
        </p:txBody>
      </p:sp>
      <p:sp>
        <p:nvSpPr>
          <p:cNvPr id="7" name="Text 5"/>
          <p:cNvSpPr txBox="1"/>
          <p:nvPr/>
        </p:nvSpPr>
        <p:spPr>
          <a:xfrm>
            <a:off x="6574536" y="1783080"/>
            <a:ext cx="4014216" cy="173736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اعتماد الاستراتيجية والهيكل التنظيمي للإدارة</a:t>
            </a:r>
            <a:endParaRPr lang="en-US" sz="1900" dirty="0"/>
          </a:p>
        </p:txBody>
      </p:sp>
      <p:sp>
        <p:nvSpPr>
          <p:cNvPr id="8" name="Shape 6"/>
          <p:cNvSpPr/>
          <p:nvPr/>
        </p:nvSpPr>
        <p:spPr>
          <a:xfrm>
            <a:off x="457200" y="1783080"/>
            <a:ext cx="5477256" cy="1737360"/>
          </a:xfrm>
          <a:prstGeom prst="roundRect">
            <a:avLst>
              <a:gd name="adj" fmla="val 8421"/>
            </a:avLst>
          </a:prstGeom>
          <a:solidFill>
            <a:srgbClr val="FFFFFF">
              <a:alpha val="10000"/>
            </a:srgbClr>
          </a:solidFill>
          <a:ln w="12700">
            <a:solidFill>
              <a:srgbClr val="5FA98A"/>
            </a:solidFill>
            <a:prstDash val="solid"/>
          </a:ln>
        </p:spPr>
      </p:sp>
      <p:sp>
        <p:nvSpPr>
          <p:cNvPr id="9" name="Shape 7"/>
          <p:cNvSpPr/>
          <p:nvPr/>
        </p:nvSpPr>
        <p:spPr>
          <a:xfrm>
            <a:off x="4974336" y="2286000"/>
            <a:ext cx="731520" cy="731520"/>
          </a:xfrm>
          <a:prstGeom prst="ellipse">
            <a:avLst/>
          </a:prstGeom>
          <a:solidFill>
            <a:srgbClr val="E4A42C"/>
          </a:solidFill>
          <a:ln/>
        </p:spPr>
      </p:sp>
      <p:sp>
        <p:nvSpPr>
          <p:cNvPr id="10" name="Text 8"/>
          <p:cNvSpPr txBox="1"/>
          <p:nvPr/>
        </p:nvSpPr>
        <p:spPr>
          <a:xfrm>
            <a:off x="4974336" y="2286000"/>
            <a:ext cx="731520" cy="731520"/>
          </a:xfrm>
          <a:prstGeom prst="rect">
            <a:avLst/>
          </a:prstGeom>
          <a:noFill/>
          <a:ln/>
        </p:spPr>
        <p:txBody>
          <a:bodyPr wrap="square" lIns="0" tIns="0" rIns="0" bIns="0" rtlCol="0" anchor="ctr"/>
          <a:lstStyle/>
          <a:p>
            <a:pPr rtl="1" algn="ctr" indent="0" marL="0">
              <a:buNone/>
            </a:pPr>
            <a:r>
              <a:rPr lang="en-US" sz="2000" b="1" dirty="0">
                <a:solidFill>
                  <a:srgbClr val="1F2A37"/>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777240" y="1783080"/>
            <a:ext cx="4014216" cy="173736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اعتماد ميثاق اللجنة العليا للتمويل وتسمية أعضائها</a:t>
            </a:r>
            <a:endParaRPr lang="en-US" sz="1900" dirty="0"/>
          </a:p>
        </p:txBody>
      </p:sp>
      <p:sp>
        <p:nvSpPr>
          <p:cNvPr id="12" name="Shape 10"/>
          <p:cNvSpPr/>
          <p:nvPr/>
        </p:nvSpPr>
        <p:spPr>
          <a:xfrm>
            <a:off x="6254496" y="3794760"/>
            <a:ext cx="5477256" cy="1737360"/>
          </a:xfrm>
          <a:prstGeom prst="roundRect">
            <a:avLst>
              <a:gd name="adj" fmla="val 8421"/>
            </a:avLst>
          </a:prstGeom>
          <a:solidFill>
            <a:srgbClr val="FFFFFF">
              <a:alpha val="10000"/>
            </a:srgbClr>
          </a:solidFill>
          <a:ln w="12700">
            <a:solidFill>
              <a:srgbClr val="5FA98A"/>
            </a:solidFill>
            <a:prstDash val="solid"/>
          </a:ln>
        </p:spPr>
      </p:sp>
      <p:sp>
        <p:nvSpPr>
          <p:cNvPr id="13" name="Shape 11"/>
          <p:cNvSpPr/>
          <p:nvPr/>
        </p:nvSpPr>
        <p:spPr>
          <a:xfrm>
            <a:off x="10771632" y="4297680"/>
            <a:ext cx="731520" cy="731520"/>
          </a:xfrm>
          <a:prstGeom prst="ellipse">
            <a:avLst/>
          </a:prstGeom>
          <a:solidFill>
            <a:srgbClr val="E4A42C"/>
          </a:solidFill>
          <a:ln/>
        </p:spPr>
      </p:sp>
      <p:sp>
        <p:nvSpPr>
          <p:cNvPr id="14" name="Text 12"/>
          <p:cNvSpPr txBox="1"/>
          <p:nvPr/>
        </p:nvSpPr>
        <p:spPr>
          <a:xfrm>
            <a:off x="10771632" y="4297680"/>
            <a:ext cx="731520" cy="731520"/>
          </a:xfrm>
          <a:prstGeom prst="rect">
            <a:avLst/>
          </a:prstGeom>
          <a:noFill/>
          <a:ln/>
        </p:spPr>
        <p:txBody>
          <a:bodyPr wrap="square" lIns="0" tIns="0" rIns="0" bIns="0" rtlCol="0" anchor="ctr"/>
          <a:lstStyle/>
          <a:p>
            <a:pPr rtl="1" algn="ctr" indent="0" marL="0">
              <a:buNone/>
            </a:pPr>
            <a:r>
              <a:rPr lang="en-US" sz="2000" b="1" dirty="0">
                <a:solidFill>
                  <a:srgbClr val="1F2A37"/>
                </a:solidFill>
                <a:latin typeface="Arial" pitchFamily="34" charset="0"/>
                <a:ea typeface="Arial" pitchFamily="34" charset="-122"/>
                <a:cs typeface="Arial" pitchFamily="34" charset="-120"/>
              </a:rPr>
              <a:t>3</a:t>
            </a:r>
            <a:endParaRPr lang="en-US" sz="2000" dirty="0"/>
          </a:p>
        </p:txBody>
      </p:sp>
      <p:sp>
        <p:nvSpPr>
          <p:cNvPr id="15" name="Text 13"/>
          <p:cNvSpPr txBox="1"/>
          <p:nvPr/>
        </p:nvSpPr>
        <p:spPr>
          <a:xfrm>
            <a:off x="6574536" y="3794760"/>
            <a:ext cx="4014216" cy="173736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اعتماد مستهدف 5 مليارات ريال بحلول 2030</a:t>
            </a:r>
            <a:endParaRPr lang="en-US" sz="1900" dirty="0"/>
          </a:p>
        </p:txBody>
      </p:sp>
      <p:sp>
        <p:nvSpPr>
          <p:cNvPr id="16" name="Shape 14"/>
          <p:cNvSpPr/>
          <p:nvPr/>
        </p:nvSpPr>
        <p:spPr>
          <a:xfrm>
            <a:off x="457200" y="3794760"/>
            <a:ext cx="5477256" cy="1737360"/>
          </a:xfrm>
          <a:prstGeom prst="roundRect">
            <a:avLst>
              <a:gd name="adj" fmla="val 8421"/>
            </a:avLst>
          </a:prstGeom>
          <a:solidFill>
            <a:srgbClr val="FFFFFF">
              <a:alpha val="10000"/>
            </a:srgbClr>
          </a:solidFill>
          <a:ln w="12700">
            <a:solidFill>
              <a:srgbClr val="5FA98A"/>
            </a:solidFill>
            <a:prstDash val="solid"/>
          </a:ln>
        </p:spPr>
      </p:sp>
      <p:sp>
        <p:nvSpPr>
          <p:cNvPr id="17" name="Shape 15"/>
          <p:cNvSpPr/>
          <p:nvPr/>
        </p:nvSpPr>
        <p:spPr>
          <a:xfrm>
            <a:off x="4974336" y="4297680"/>
            <a:ext cx="731520" cy="731520"/>
          </a:xfrm>
          <a:prstGeom prst="ellipse">
            <a:avLst/>
          </a:prstGeom>
          <a:solidFill>
            <a:srgbClr val="E4A42C"/>
          </a:solidFill>
          <a:ln/>
        </p:spPr>
      </p:sp>
      <p:sp>
        <p:nvSpPr>
          <p:cNvPr id="18" name="Text 16"/>
          <p:cNvSpPr txBox="1"/>
          <p:nvPr/>
        </p:nvSpPr>
        <p:spPr>
          <a:xfrm>
            <a:off x="4974336" y="4297680"/>
            <a:ext cx="731520" cy="731520"/>
          </a:xfrm>
          <a:prstGeom prst="rect">
            <a:avLst/>
          </a:prstGeom>
          <a:noFill/>
          <a:ln/>
        </p:spPr>
        <p:txBody>
          <a:bodyPr wrap="square" lIns="0" tIns="0" rIns="0" bIns="0" rtlCol="0" anchor="ctr"/>
          <a:lstStyle/>
          <a:p>
            <a:pPr rtl="1" algn="ctr" indent="0" marL="0">
              <a:buNone/>
            </a:pPr>
            <a:r>
              <a:rPr lang="en-US" sz="2000" b="1" dirty="0">
                <a:solidFill>
                  <a:srgbClr val="1F2A37"/>
                </a:solidFill>
                <a:latin typeface="Arial" pitchFamily="34" charset="0"/>
                <a:ea typeface="Arial" pitchFamily="34" charset="-122"/>
                <a:cs typeface="Arial" pitchFamily="34" charset="-120"/>
              </a:rPr>
              <a:t>4</a:t>
            </a:r>
            <a:endParaRPr lang="en-US" sz="2000" dirty="0"/>
          </a:p>
        </p:txBody>
      </p:sp>
      <p:sp>
        <p:nvSpPr>
          <p:cNvPr id="19" name="Text 17"/>
          <p:cNvSpPr txBox="1"/>
          <p:nvPr/>
        </p:nvSpPr>
        <p:spPr>
          <a:xfrm>
            <a:off x="777240" y="3794760"/>
            <a:ext cx="4014216" cy="173736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توجيه الجهات بتزويد البيانات لبناء خط الأساس</a:t>
            </a:r>
            <a:endParaRPr lang="en-US" sz="1900" dirty="0"/>
          </a:p>
        </p:txBody>
      </p:sp>
      <p:sp>
        <p:nvSpPr>
          <p:cNvPr id="20" name="Shape 18"/>
          <p:cNvSpPr/>
          <p:nvPr/>
        </p:nvSpPr>
        <p:spPr>
          <a:xfrm>
            <a:off x="6254496" y="5806440"/>
            <a:ext cx="5477256" cy="1737360"/>
          </a:xfrm>
          <a:prstGeom prst="roundRect">
            <a:avLst>
              <a:gd name="adj" fmla="val 8421"/>
            </a:avLst>
          </a:prstGeom>
          <a:solidFill>
            <a:srgbClr val="FFFFFF">
              <a:alpha val="10000"/>
            </a:srgbClr>
          </a:solidFill>
          <a:ln w="12700">
            <a:solidFill>
              <a:srgbClr val="5FA98A"/>
            </a:solidFill>
            <a:prstDash val="solid"/>
          </a:ln>
        </p:spPr>
      </p:sp>
      <p:sp>
        <p:nvSpPr>
          <p:cNvPr id="21" name="Shape 19"/>
          <p:cNvSpPr/>
          <p:nvPr/>
        </p:nvSpPr>
        <p:spPr>
          <a:xfrm>
            <a:off x="10771632" y="6309360"/>
            <a:ext cx="731520" cy="731520"/>
          </a:xfrm>
          <a:prstGeom prst="ellipse">
            <a:avLst/>
          </a:prstGeom>
          <a:solidFill>
            <a:srgbClr val="E4A42C"/>
          </a:solidFill>
          <a:ln/>
        </p:spPr>
      </p:sp>
      <p:sp>
        <p:nvSpPr>
          <p:cNvPr id="22" name="Text 20"/>
          <p:cNvSpPr txBox="1"/>
          <p:nvPr/>
        </p:nvSpPr>
        <p:spPr>
          <a:xfrm>
            <a:off x="10771632" y="6309360"/>
            <a:ext cx="731520" cy="731520"/>
          </a:xfrm>
          <a:prstGeom prst="rect">
            <a:avLst/>
          </a:prstGeom>
          <a:noFill/>
          <a:ln/>
        </p:spPr>
        <p:txBody>
          <a:bodyPr wrap="square" lIns="0" tIns="0" rIns="0" bIns="0" rtlCol="0" anchor="ctr"/>
          <a:lstStyle/>
          <a:p>
            <a:pPr rtl="1" algn="ctr" indent="0" marL="0">
              <a:buNone/>
            </a:pPr>
            <a:r>
              <a:rPr lang="en-US" sz="2000" b="1" dirty="0">
                <a:solidFill>
                  <a:srgbClr val="1F2A37"/>
                </a:solidFill>
                <a:latin typeface="Arial" pitchFamily="34" charset="0"/>
                <a:ea typeface="Arial" pitchFamily="34" charset="-122"/>
                <a:cs typeface="Arial" pitchFamily="34" charset="-120"/>
              </a:rPr>
              <a:t>5</a:t>
            </a:r>
            <a:endParaRPr lang="en-US" sz="2000" dirty="0"/>
          </a:p>
        </p:txBody>
      </p:sp>
      <p:sp>
        <p:nvSpPr>
          <p:cNvPr id="23" name="Text 21"/>
          <p:cNvSpPr txBox="1"/>
          <p:nvPr/>
        </p:nvSpPr>
        <p:spPr>
          <a:xfrm>
            <a:off x="6574536" y="5806440"/>
            <a:ext cx="4014216" cy="173736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اعتماد اتفاقية مستوى الخدمة مع وكالة الاستثمار والتخصيص</a:t>
            </a:r>
            <a:endParaRPr lang="en-US" sz="1900" dirty="0"/>
          </a:p>
        </p:txBody>
      </p:sp>
      <p:sp>
        <p:nvSpPr>
          <p:cNvPr id="24" name="Shape 22"/>
          <p:cNvSpPr/>
          <p:nvPr/>
        </p:nvSpPr>
        <p:spPr>
          <a:xfrm>
            <a:off x="457200" y="5806440"/>
            <a:ext cx="5477256" cy="1737360"/>
          </a:xfrm>
          <a:prstGeom prst="roundRect">
            <a:avLst>
              <a:gd name="adj" fmla="val 8421"/>
            </a:avLst>
          </a:prstGeom>
          <a:solidFill>
            <a:srgbClr val="FFFFFF">
              <a:alpha val="10000"/>
            </a:srgbClr>
          </a:solidFill>
          <a:ln w="12700">
            <a:solidFill>
              <a:srgbClr val="5FA98A"/>
            </a:solidFill>
            <a:prstDash val="solid"/>
          </a:ln>
        </p:spPr>
      </p:sp>
      <p:sp>
        <p:nvSpPr>
          <p:cNvPr id="25" name="Shape 23"/>
          <p:cNvSpPr/>
          <p:nvPr/>
        </p:nvSpPr>
        <p:spPr>
          <a:xfrm>
            <a:off x="4974336" y="6309360"/>
            <a:ext cx="731520" cy="731520"/>
          </a:xfrm>
          <a:prstGeom prst="ellipse">
            <a:avLst/>
          </a:prstGeom>
          <a:solidFill>
            <a:srgbClr val="E4A42C"/>
          </a:solidFill>
          <a:ln/>
        </p:spPr>
      </p:sp>
      <p:sp>
        <p:nvSpPr>
          <p:cNvPr id="26" name="Text 24"/>
          <p:cNvSpPr txBox="1"/>
          <p:nvPr/>
        </p:nvSpPr>
        <p:spPr>
          <a:xfrm>
            <a:off x="4974336" y="6309360"/>
            <a:ext cx="731520" cy="731520"/>
          </a:xfrm>
          <a:prstGeom prst="rect">
            <a:avLst/>
          </a:prstGeom>
          <a:noFill/>
          <a:ln/>
        </p:spPr>
        <p:txBody>
          <a:bodyPr wrap="square" lIns="0" tIns="0" rIns="0" bIns="0" rtlCol="0" anchor="ctr"/>
          <a:lstStyle/>
          <a:p>
            <a:pPr rtl="1" algn="ctr" indent="0" marL="0">
              <a:buNone/>
            </a:pPr>
            <a:r>
              <a:rPr lang="en-US" sz="2000" b="1" dirty="0">
                <a:solidFill>
                  <a:srgbClr val="1F2A37"/>
                </a:solidFill>
                <a:latin typeface="Arial" pitchFamily="34" charset="0"/>
                <a:ea typeface="Arial" pitchFamily="34" charset="-122"/>
                <a:cs typeface="Arial" pitchFamily="34" charset="-120"/>
              </a:rPr>
              <a:t>6</a:t>
            </a:r>
            <a:endParaRPr lang="en-US" sz="2000" dirty="0"/>
          </a:p>
        </p:txBody>
      </p:sp>
      <p:sp>
        <p:nvSpPr>
          <p:cNvPr id="27" name="Text 25"/>
          <p:cNvSpPr txBox="1"/>
          <p:nvPr/>
        </p:nvSpPr>
        <p:spPr>
          <a:xfrm>
            <a:off x="777240" y="5806440"/>
            <a:ext cx="4014216" cy="1737360"/>
          </a:xfrm>
          <a:prstGeom prst="rect">
            <a:avLst/>
          </a:prstGeom>
          <a:noFill/>
          <a:ln/>
        </p:spPr>
        <p:txBody>
          <a:bodyPr wrap="square" lIns="0" tIns="0" rIns="0" bIns="0" rtlCol="0" anchor="ctr"/>
          <a:lstStyle/>
          <a:p>
            <a:pPr rtl="1" algn="r" indent="0" marL="0">
              <a:buNone/>
            </a:pPr>
            <a:r>
              <a:rPr lang="en-US" sz="1900" b="1" dirty="0">
                <a:solidFill>
                  <a:srgbClr val="FFFFFF"/>
                </a:solidFill>
                <a:latin typeface="Arial" pitchFamily="34" charset="0"/>
                <a:ea typeface="Arial" pitchFamily="34" charset="-122"/>
                <a:cs typeface="Arial" pitchFamily="34" charset="-120"/>
              </a:rPr>
              <a:t>البدء في حصر المشاريع غير الممولة</a:t>
            </a:r>
            <a:endParaRPr lang="en-US" sz="1900" dirty="0"/>
          </a:p>
        </p:txBody>
      </p:sp>
      <p:sp>
        <p:nvSpPr>
          <p:cNvPr id="25" name="Slide Number Placeholder 0"/>
          <p:cNvSpPr>
            <a:spLocks noGrp="1"/>
          </p:cNvSpPr>
          <p:nvPr>
            <p:ph type="sldNum" sz="quarter" idx="4294967295"/>
          </p:nvPr>
        </p:nvSpPr>
        <p:spPr>
          <a:xfrm>
            <a:off x="457200" y="811987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CFE3DA"/>
                </a:solidFill>
              </a:defRPr>
            </a:lvl1pPr>
          </a:lstStyle>
          <a:p>
            <a:pPr algn="l"/>
            <a:fld id="{F7021451-1387-4CA6-816F-3879F97B5CBC}" type="slidenum">
              <a:rPr b="1" lang="en-US"/>
              <a:t>20</a:t>
            </a:fld>
            <a:endParaRPr lang="en-US"/>
          </a:p>
        </p:txBody>
      </p:sp>
    </p:spTree>
  </p:cSld>
  <p:clrMapOvr>
    <a:masterClrMapping/>
  </p:clrMapOvr>
</p:sld>
</file>

<file path=ppt/theme/theme1.xml><?xml version="1.0" encoding="utf-8"?>
<a:theme xmlns:a="http://schemas.openxmlformats.org/drawingml/2006/main" name="Amana Strategy">
  <a:themeElements>
    <a:clrScheme name="Amana Strategy">
      <a:dk1>
        <a:srgbClr val="1F2A37"/>
      </a:dk1>
      <a:lt1>
        <a:srgbClr val="FFFFFF"/>
      </a:lt1>
      <a:dk2>
        <a:srgbClr val="394B5F"/>
      </a:dk2>
      <a:lt2>
        <a:srgbClr val="F1F5F3"/>
      </a:lt2>
      <a:accent1>
        <a:srgbClr val="006A46"/>
      </a:accent1>
      <a:accent2>
        <a:srgbClr val="74A4D4"/>
      </a:accent2>
      <a:accent3>
        <a:srgbClr val="E4A42C"/>
      </a:accent3>
      <a:accent4>
        <a:srgbClr val="0B6B73"/>
      </a:accent4>
      <a:accent5>
        <a:srgbClr val="E5736B"/>
      </a:accent5>
      <a:accent6>
        <a:srgbClr val="8CBCAC"/>
      </a:accent6>
      <a:hlink>
        <a:srgbClr val="006A46"/>
      </a:hlink>
      <a:folHlink>
        <a:srgbClr val="5B6B7B"/>
      </a:folHlink>
    </a:clrScheme>
    <a:fontScheme name="Amana Strateg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استراتيجية إدارة الإيرادات والتمويل 2026–2030</dc:title>
  <dc:subject>PptxGenJS Presentation</dc:subject>
  <dc:creator>أمانة منطقة الرياض</dc:creator>
  <cp:lastModifiedBy>أمانة منطقة الرياض</cp:lastModifiedBy>
  <cp:revision>1</cp:revision>
  <dcterms:created xsi:type="dcterms:W3CDTF">2026-10-21T15:19:22Z</dcterms:created>
  <dcterms:modified xsi:type="dcterms:W3CDTF">2026-10-21T15:19:22Z</dcterms:modified>
</cp:coreProperties>
</file>